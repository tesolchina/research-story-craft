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handoutMasterIdLst>
    <p:handoutMasterId r:id="rId14"/>
  </p:handoutMasterIdLst>
  <p:sldIdLst>
    <p:sldId id="256" r:id="rId2"/>
    <p:sldId id="317" r:id="rId3"/>
    <p:sldId id="322" r:id="rId4"/>
    <p:sldId id="318" r:id="rId5"/>
    <p:sldId id="319" r:id="rId6"/>
    <p:sldId id="320" r:id="rId7"/>
    <p:sldId id="330" r:id="rId8"/>
    <p:sldId id="325" r:id="rId9"/>
    <p:sldId id="326" r:id="rId10"/>
    <p:sldId id="321" r:id="rId11"/>
    <p:sldId id="31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8A0000"/>
    <a:srgbClr val="FFE699"/>
    <a:srgbClr val="97C777"/>
    <a:srgbClr val="EBE600"/>
    <a:srgbClr val="E60ACC"/>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3800" autoAdjust="0"/>
  </p:normalViewPr>
  <p:slideViewPr>
    <p:cSldViewPr snapToGrid="0">
      <p:cViewPr varScale="1">
        <p:scale>
          <a:sx n="115" d="100"/>
          <a:sy n="115" d="100"/>
        </p:scale>
        <p:origin x="31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86CBAF-039A-6043-9E5D-CB5CF2248B4A}" type="datetimeFigureOut">
              <a:rPr lang="en-GB" smtClean="0"/>
              <a:t>25/08/2020</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344524-2134-2A40-A3A3-B72E42D4B412}" type="slidenum">
              <a:rPr lang="en-GB" smtClean="0"/>
              <a:t>‹#›</a:t>
            </a:fld>
            <a:endParaRPr lang="en-GB"/>
          </a:p>
        </p:txBody>
      </p:sp>
    </p:spTree>
    <p:extLst>
      <p:ext uri="{BB962C8B-B14F-4D97-AF65-F5344CB8AC3E}">
        <p14:creationId xmlns:p14="http://schemas.microsoft.com/office/powerpoint/2010/main" val="1780439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1122D-5EEF-42D1-9CC4-778990B42052}" type="datetimeFigureOut">
              <a:rPr lang="en-US" smtClean="0"/>
              <a:t>8/25/2020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4029BB-9179-44C0-8F2C-C278A7E48A65}" type="slidenum">
              <a:rPr lang="en-US" smtClean="0"/>
              <a:t>‹#›</a:t>
            </a:fld>
            <a:endParaRPr lang="en-US"/>
          </a:p>
        </p:txBody>
      </p:sp>
    </p:spTree>
    <p:extLst>
      <p:ext uri="{BB962C8B-B14F-4D97-AF65-F5344CB8AC3E}">
        <p14:creationId xmlns:p14="http://schemas.microsoft.com/office/powerpoint/2010/main" val="2362334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2EF1BFEE-691F-4C81-A724-71AAE0153423}"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11478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3943"/>
            <a:ext cx="10515600" cy="1325563"/>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838200" y="1762699"/>
            <a:ext cx="10515600" cy="4715922"/>
          </a:xfrm>
        </p:spPr>
        <p:txBody>
          <a:bodyPr/>
          <a:lstStyle>
            <a:lvl1pPr>
              <a:lnSpc>
                <a:spcPct val="100000"/>
              </a:lnSpc>
              <a:defRPr>
                <a:solidFill>
                  <a:schemeClr val="tx1">
                    <a:lumMod val="85000"/>
                    <a:lumOff val="15000"/>
                  </a:schemeClr>
                </a:solidFill>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566170"/>
            <a:ext cx="2743200" cy="291830"/>
          </a:xfrm>
        </p:spPr>
        <p:txBody>
          <a:bodyPr/>
          <a:lstStyle/>
          <a:p>
            <a:fld id="{606F8D0E-B952-4BCC-B753-35079F19C465}" type="datetime1">
              <a:rPr lang="en-US" smtClean="0"/>
              <a:t>8/25/2020</a:t>
            </a:fld>
            <a:endParaRPr lang="en-US" dirty="0"/>
          </a:p>
        </p:txBody>
      </p:sp>
      <p:sp>
        <p:nvSpPr>
          <p:cNvPr id="5" name="Footer Placeholder 4"/>
          <p:cNvSpPr>
            <a:spLocks noGrp="1"/>
          </p:cNvSpPr>
          <p:nvPr>
            <p:ph type="ftr" sz="quarter" idx="11"/>
          </p:nvPr>
        </p:nvSpPr>
        <p:spPr>
          <a:xfrm>
            <a:off x="4038600" y="6566170"/>
            <a:ext cx="4114800" cy="291830"/>
          </a:xfrm>
        </p:spPr>
        <p:txBody>
          <a:bodyPr/>
          <a:lstStyle/>
          <a:p>
            <a:r>
              <a:rPr lang="en-HK"/>
              <a:t>Sessions 2-3 Structural and linguistic features of RAs 01</a:t>
            </a:r>
            <a:endParaRPr lang="en-US" dirty="0"/>
          </a:p>
        </p:txBody>
      </p:sp>
      <p:sp>
        <p:nvSpPr>
          <p:cNvPr id="6" name="Slide Number Placeholder 5"/>
          <p:cNvSpPr>
            <a:spLocks noGrp="1"/>
          </p:cNvSpPr>
          <p:nvPr>
            <p:ph type="sldNum" sz="quarter" idx="12"/>
          </p:nvPr>
        </p:nvSpPr>
        <p:spPr>
          <a:xfrm>
            <a:off x="8610600" y="6566170"/>
            <a:ext cx="2743200" cy="291830"/>
          </a:xfrm>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4918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0685DD-D69B-435D-87EF-C23F75835B11}"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458672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5861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5861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F801BE-A7DB-494D-8859-C26FC9C8B486}"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340650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203994"/>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599450"/>
            <a:ext cx="5157787"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423362"/>
            <a:ext cx="5157787" cy="39554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0612" y="1599450"/>
            <a:ext cx="5183188"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423362"/>
            <a:ext cx="5183188" cy="39554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549F6B-17C9-4D9E-9ABD-C2B785CB0613}" type="datetime1">
              <a:rPr lang="en-US" smtClean="0"/>
              <a:t>8/25/2020</a:t>
            </a:fld>
            <a:endParaRPr lang="en-US"/>
          </a:p>
        </p:txBody>
      </p:sp>
      <p:sp>
        <p:nvSpPr>
          <p:cNvPr id="8" name="Footer Placeholder 7"/>
          <p:cNvSpPr>
            <a:spLocks noGrp="1"/>
          </p:cNvSpPr>
          <p:nvPr>
            <p:ph type="ftr" sz="quarter" idx="11"/>
          </p:nvPr>
        </p:nvSpPr>
        <p:spPr/>
        <p:txBody>
          <a:bodyPr/>
          <a:lstStyle/>
          <a:p>
            <a:r>
              <a:rPr lang="en-HK"/>
              <a:t>Sessions 2-3 Structural and linguistic features of RAs 01</a:t>
            </a:r>
            <a:endParaRPr lang="en-US"/>
          </a:p>
        </p:txBody>
      </p:sp>
      <p:sp>
        <p:nvSpPr>
          <p:cNvPr id="9" name="Slide Number Placeholder 8"/>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763564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8510D22-33AA-4894-A0C2-63D3D219472B}" type="datetime1">
              <a:rPr lang="en-US" smtClean="0"/>
              <a:t>8/25/2020</a:t>
            </a:fld>
            <a:endParaRPr lang="en-US"/>
          </a:p>
        </p:txBody>
      </p:sp>
      <p:sp>
        <p:nvSpPr>
          <p:cNvPr id="4" name="Footer Placeholder 3"/>
          <p:cNvSpPr>
            <a:spLocks noGrp="1"/>
          </p:cNvSpPr>
          <p:nvPr>
            <p:ph type="ftr" sz="quarter" idx="11"/>
          </p:nvPr>
        </p:nvSpPr>
        <p:spPr/>
        <p:txBody>
          <a:bodyPr/>
          <a:lstStyle/>
          <a:p>
            <a:r>
              <a:rPr lang="en-HK"/>
              <a:t>Sessions 2-3 Structural and linguistic features of RAs 01</a:t>
            </a:r>
            <a:endParaRPr lang="en-US"/>
          </a:p>
        </p:txBody>
      </p:sp>
      <p:sp>
        <p:nvSpPr>
          <p:cNvPr id="5" name="Slide Number Placeholder 4"/>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3154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459BF-5D55-469D-9A87-D197E432D6C6}" type="datetime1">
              <a:rPr lang="en-US" smtClean="0"/>
              <a:t>8/25/2020</a:t>
            </a:fld>
            <a:endParaRPr lang="en-US"/>
          </a:p>
        </p:txBody>
      </p:sp>
      <p:sp>
        <p:nvSpPr>
          <p:cNvPr id="3" name="Footer Placeholder 2"/>
          <p:cNvSpPr>
            <a:spLocks noGrp="1"/>
          </p:cNvSpPr>
          <p:nvPr>
            <p:ph type="ftr" sz="quarter" idx="11"/>
          </p:nvPr>
        </p:nvSpPr>
        <p:spPr/>
        <p:txBody>
          <a:bodyPr/>
          <a:lstStyle/>
          <a:p>
            <a:r>
              <a:rPr lang="en-HK"/>
              <a:t>Sessions 2-3 Structural and linguistic features of RAs 01</a:t>
            </a:r>
            <a:endParaRPr lang="en-US"/>
          </a:p>
        </p:txBody>
      </p:sp>
      <p:sp>
        <p:nvSpPr>
          <p:cNvPr id="4" name="Slide Number Placeholder 3"/>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18463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F58387-3B71-48A9-B12F-490647761740}"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018209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07D85E4-D1E4-40B4-B54D-8EEBE88F7AC4}"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982298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639511-3E89-4EFF-BD5B-087B64B55CCC}"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37637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2D7365-FC03-4B05-9CC0-335AFA57E1D9}"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2635387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206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762699"/>
            <a:ext cx="10515600" cy="464911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46EF36-B9E6-42E6-A3A6-B3767981D87E}" type="datetime1">
              <a:rPr lang="en-US" smtClean="0"/>
              <a:t>8/25/2020</a:t>
            </a:fld>
            <a:endParaRPr lang="en-US"/>
          </a:p>
        </p:txBody>
      </p:sp>
      <p:sp>
        <p:nvSpPr>
          <p:cNvPr id="5" name="Footer Placeholder 4"/>
          <p:cNvSpPr>
            <a:spLocks noGrp="1"/>
          </p:cNvSpPr>
          <p:nvPr>
            <p:ph type="ftr" sz="quarter" idx="3"/>
          </p:nvPr>
        </p:nvSpPr>
        <p:spPr>
          <a:xfrm>
            <a:off x="4038600" y="6492875"/>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HK"/>
              <a:t>Sessions 2-3 Structural and linguistic features of RAs 01</a:t>
            </a:r>
            <a:endParaRPr lang="en-US" dirty="0"/>
          </a:p>
        </p:txBody>
      </p:sp>
      <p:sp>
        <p:nvSpPr>
          <p:cNvPr id="6" name="Slide Number Placeholder 5"/>
          <p:cNvSpPr>
            <a:spLocks noGrp="1"/>
          </p:cNvSpPr>
          <p:nvPr>
            <p:ph type="sldNum" sz="quarter" idx="4"/>
          </p:nvPr>
        </p:nvSpPr>
        <p:spPr>
          <a:xfrm>
            <a:off x="86106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8E3A-99BC-45FF-B0E7-72DEF86357C7}" type="slidenum">
              <a:rPr lang="en-US" smtClean="0"/>
              <a:t>‹#›</a:t>
            </a:fld>
            <a:endParaRPr lang="en-US"/>
          </a:p>
        </p:txBody>
      </p:sp>
    </p:spTree>
    <p:extLst>
      <p:ext uri="{BB962C8B-B14F-4D97-AF65-F5344CB8AC3E}">
        <p14:creationId xmlns:p14="http://schemas.microsoft.com/office/powerpoint/2010/main" val="154847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9546" y="1066800"/>
            <a:ext cx="10997540" cy="4377069"/>
          </a:xfrm>
        </p:spPr>
        <p:txBody>
          <a:bodyPr anchor="t">
            <a:normAutofit/>
          </a:bodyPr>
          <a:lstStyle/>
          <a:p>
            <a:pPr>
              <a:lnSpc>
                <a:spcPct val="150000"/>
              </a:lnSpc>
              <a:spcBef>
                <a:spcPts val="1200"/>
              </a:spcBef>
            </a:pPr>
            <a:r>
              <a:rPr lang="en-US" dirty="0"/>
              <a:t>Session 5  </a:t>
            </a:r>
            <a:br>
              <a:rPr lang="en-US" dirty="0"/>
            </a:br>
            <a:r>
              <a:rPr lang="en-US" b="1" dirty="0"/>
              <a:t>Writing </a:t>
            </a:r>
            <a:r>
              <a:rPr lang="en-US" b="1" dirty="0">
                <a:solidFill>
                  <a:srgbClr val="0070C0"/>
                </a:solidFill>
              </a:rPr>
              <a:t>non-empirical Papers: </a:t>
            </a:r>
            <a:r>
              <a:rPr lang="en-US" b="1" dirty="0">
                <a:solidFill>
                  <a:schemeClr val="tx1">
                    <a:lumMod val="65000"/>
                    <a:lumOff val="35000"/>
                  </a:schemeClr>
                </a:solidFill>
              </a:rPr>
              <a:t>Developing arguments</a:t>
            </a:r>
            <a:endParaRPr lang="en-US" sz="4400" b="1" dirty="0">
              <a:solidFill>
                <a:schemeClr val="tx1">
                  <a:lumMod val="65000"/>
                  <a:lumOff val="35000"/>
                </a:schemeClr>
              </a:solidFill>
            </a:endParaRPr>
          </a:p>
        </p:txBody>
      </p:sp>
      <p:sp>
        <p:nvSpPr>
          <p:cNvPr id="3" name="Subtitle 2"/>
          <p:cNvSpPr>
            <a:spLocks noGrp="1"/>
          </p:cNvSpPr>
          <p:nvPr>
            <p:ph type="subTitle" idx="1"/>
          </p:nvPr>
        </p:nvSpPr>
        <p:spPr>
          <a:xfrm>
            <a:off x="1524000" y="5443869"/>
            <a:ext cx="9144000" cy="1479683"/>
          </a:xfrm>
        </p:spPr>
        <p:txBody>
          <a:bodyPr anchor="ctr"/>
          <a:lstStyle/>
          <a:p>
            <a:r>
              <a:rPr lang="en-US" dirty="0">
                <a:solidFill>
                  <a:schemeClr val="tx1">
                    <a:lumMod val="65000"/>
                    <a:lumOff val="35000"/>
                  </a:schemeClr>
                </a:solidFill>
              </a:rPr>
              <a:t>Language Centre</a:t>
            </a:r>
          </a:p>
          <a:p>
            <a:r>
              <a:rPr lang="en-US" dirty="0">
                <a:solidFill>
                  <a:schemeClr val="tx1">
                    <a:lumMod val="65000"/>
                    <a:lumOff val="35000"/>
                  </a:schemeClr>
                </a:solidFill>
              </a:rPr>
              <a:t>Hong Kong Baptist University</a:t>
            </a:r>
          </a:p>
        </p:txBody>
      </p:sp>
      <p:sp>
        <p:nvSpPr>
          <p:cNvPr id="4" name="Rectangle 3"/>
          <p:cNvSpPr/>
          <p:nvPr/>
        </p:nvSpPr>
        <p:spPr>
          <a:xfrm>
            <a:off x="3048000" y="388834"/>
            <a:ext cx="6096000" cy="523220"/>
          </a:xfrm>
          <a:prstGeom prst="rect">
            <a:avLst/>
          </a:prstGeom>
        </p:spPr>
        <p:txBody>
          <a:bodyPr>
            <a:spAutoFit/>
          </a:bodyPr>
          <a:lstStyle/>
          <a:p>
            <a:pPr algn="ctr"/>
            <a:r>
              <a:rPr lang="en-US" sz="2800" b="1" dirty="0">
                <a:solidFill>
                  <a:schemeClr val="tx1">
                    <a:lumMod val="65000"/>
                    <a:lumOff val="35000"/>
                  </a:schemeClr>
                </a:solidFill>
              </a:rPr>
              <a:t>MCCP7020</a:t>
            </a:r>
            <a:endParaRPr lang="en-US" sz="2800" dirty="0"/>
          </a:p>
        </p:txBody>
      </p:sp>
    </p:spTree>
    <p:extLst>
      <p:ext uri="{BB962C8B-B14F-4D97-AF65-F5344CB8AC3E}">
        <p14:creationId xmlns:p14="http://schemas.microsoft.com/office/powerpoint/2010/main" val="1841889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17" y="0"/>
            <a:ext cx="10515600" cy="1325563"/>
          </a:xfrm>
        </p:spPr>
        <p:txBody>
          <a:bodyPr/>
          <a:lstStyle/>
          <a:p>
            <a:r>
              <a:rPr lang="en-US" dirty="0"/>
              <a:t>Research paper on creative works:</a:t>
            </a:r>
            <a:endParaRPr lang="en-GB" dirty="0"/>
          </a:p>
        </p:txBody>
      </p:sp>
      <p:sp>
        <p:nvSpPr>
          <p:cNvPr id="3" name="Content Placeholder 2"/>
          <p:cNvSpPr>
            <a:spLocks noGrp="1"/>
          </p:cNvSpPr>
          <p:nvPr>
            <p:ph idx="1"/>
          </p:nvPr>
        </p:nvSpPr>
        <p:spPr>
          <a:xfrm>
            <a:off x="645017" y="1325563"/>
            <a:ext cx="11126273" cy="5358572"/>
          </a:xfrm>
        </p:spPr>
        <p:txBody>
          <a:bodyPr>
            <a:normAutofit lnSpcReduction="10000"/>
          </a:bodyPr>
          <a:lstStyle/>
          <a:p>
            <a:pPr marL="0" indent="0">
              <a:buNone/>
            </a:pPr>
            <a:r>
              <a:rPr lang="en-US" dirty="0"/>
              <a:t>In communication, according to my observation, research is often done on the analysis of a limited number of creative works (e.g. 2-3 products/films)</a:t>
            </a:r>
          </a:p>
          <a:p>
            <a:pPr marL="0" indent="0">
              <a:spcBef>
                <a:spcPts val="1200"/>
              </a:spcBef>
              <a:buNone/>
            </a:pPr>
            <a:r>
              <a:rPr lang="en-US" dirty="0"/>
              <a:t>This type of research is more of qualitative nature, NOT involving much data collection. However, such research emphasizes on the development of arguments, conceptualization of certain observations, formation of even theories.</a:t>
            </a:r>
          </a:p>
          <a:p>
            <a:pPr marL="0" indent="0">
              <a:spcBef>
                <a:spcPts val="1200"/>
              </a:spcBef>
              <a:buNone/>
            </a:pPr>
            <a:r>
              <a:rPr lang="en-US" dirty="0"/>
              <a:t>The communication papers are, therefore, not </a:t>
            </a:r>
            <a:r>
              <a:rPr lang="en-US" dirty="0" err="1"/>
              <a:t>organised</a:t>
            </a:r>
            <a:r>
              <a:rPr lang="en-US" dirty="0"/>
              <a:t> following the typical structure of empirical RAs, i.e., the </a:t>
            </a:r>
            <a:r>
              <a:rPr lang="en-US" dirty="0" err="1"/>
              <a:t>IMRaD</a:t>
            </a:r>
            <a:r>
              <a:rPr lang="en-US" dirty="0"/>
              <a:t> structure. Rather, they are often </a:t>
            </a:r>
            <a:r>
              <a:rPr lang="en-US" dirty="0" err="1"/>
              <a:t>organised</a:t>
            </a:r>
            <a:r>
              <a:rPr lang="en-US" dirty="0"/>
              <a:t> according to the </a:t>
            </a:r>
            <a:r>
              <a:rPr lang="en-US" b="1" dirty="0"/>
              <a:t>themes</a:t>
            </a:r>
            <a:r>
              <a:rPr lang="en-US" dirty="0"/>
              <a:t> of the analysis.</a:t>
            </a:r>
          </a:p>
          <a:p>
            <a:pPr marL="0" indent="0">
              <a:spcBef>
                <a:spcPts val="1200"/>
              </a:spcBef>
              <a:buNone/>
            </a:pPr>
            <a:r>
              <a:rPr lang="en-US" dirty="0"/>
              <a:t>In the next few slides, you will see observations of the development of literary critical papers, which I think bear much similarity to writing in communication.</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2</a:t>
            </a:fld>
            <a:endParaRPr lang="en-US"/>
          </a:p>
        </p:txBody>
      </p:sp>
    </p:spTree>
    <p:extLst>
      <p:ext uri="{BB962C8B-B14F-4D97-AF65-F5344CB8AC3E}">
        <p14:creationId xmlns:p14="http://schemas.microsoft.com/office/powerpoint/2010/main" val="3350550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Moves (Propositions)</a:t>
            </a:r>
            <a:endParaRPr lang="en-GB" dirty="0"/>
          </a:p>
        </p:txBody>
      </p:sp>
      <p:sp>
        <p:nvSpPr>
          <p:cNvPr id="3" name="Content Placeholder 2"/>
          <p:cNvSpPr>
            <a:spLocks noGrp="1"/>
          </p:cNvSpPr>
          <p:nvPr>
            <p:ph idx="1"/>
          </p:nvPr>
        </p:nvSpPr>
        <p:spPr/>
        <p:txBody>
          <a:bodyPr/>
          <a:lstStyle/>
          <a:p>
            <a:pPr marL="0" indent="0">
              <a:buNone/>
            </a:pPr>
            <a:r>
              <a:rPr lang="en-US" dirty="0"/>
              <a:t>Shaw (1998) and </a:t>
            </a:r>
            <a:r>
              <a:rPr lang="en-US" dirty="0" err="1"/>
              <a:t>MacMonald</a:t>
            </a:r>
            <a:r>
              <a:rPr lang="en-US" dirty="0"/>
              <a:t> (1994) found that critique type of writing in humanities often has </a:t>
            </a:r>
            <a:r>
              <a:rPr lang="en-HK" dirty="0"/>
              <a:t>more phenomenally-oriented introductions which launch directly into discussion of the topic of the article.</a:t>
            </a:r>
          </a:p>
          <a:p>
            <a:pPr marL="0" indent="0">
              <a:buNone/>
            </a:pPr>
            <a:endParaRPr lang="en-HK" dirty="0"/>
          </a:p>
          <a:p>
            <a:pPr marL="0" indent="0">
              <a:buNone/>
            </a:pPr>
            <a:r>
              <a:rPr lang="en-HK" dirty="0"/>
              <a:t>Shaw (1998), by examining research journal articles in this field, proposed essential moves of this type of RAs. See the next slide.</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3</a:t>
            </a:fld>
            <a:endParaRPr lang="en-US"/>
          </a:p>
        </p:txBody>
      </p:sp>
    </p:spTree>
    <p:extLst>
      <p:ext uri="{BB962C8B-B14F-4D97-AF65-F5344CB8AC3E}">
        <p14:creationId xmlns:p14="http://schemas.microsoft.com/office/powerpoint/2010/main" val="1116245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10597573"/>
              </p:ext>
            </p:extLst>
          </p:nvPr>
        </p:nvGraphicFramePr>
        <p:xfrm>
          <a:off x="197476" y="180541"/>
          <a:ext cx="11797047" cy="6544109"/>
        </p:xfrm>
        <a:graphic>
          <a:graphicData uri="http://schemas.openxmlformats.org/drawingml/2006/table">
            <a:tbl>
              <a:tblPr firstRow="1" firstCol="1" bandRow="1">
                <a:tableStyleId>{5C22544A-7EE6-4342-B048-85BDC9FD1C3A}</a:tableStyleId>
              </a:tblPr>
              <a:tblGrid>
                <a:gridCol w="3503053">
                  <a:extLst>
                    <a:ext uri="{9D8B030D-6E8A-4147-A177-3AD203B41FA5}">
                      <a16:colId xmlns:a16="http://schemas.microsoft.com/office/drawing/2014/main" val="3737365957"/>
                    </a:ext>
                  </a:extLst>
                </a:gridCol>
                <a:gridCol w="8293994">
                  <a:extLst>
                    <a:ext uri="{9D8B030D-6E8A-4147-A177-3AD203B41FA5}">
                      <a16:colId xmlns:a16="http://schemas.microsoft.com/office/drawing/2014/main" val="2945421907"/>
                    </a:ext>
                  </a:extLst>
                </a:gridCol>
              </a:tblGrid>
              <a:tr h="254432">
                <a:tc>
                  <a:txBody>
                    <a:bodyPr/>
                    <a:lstStyle/>
                    <a:p>
                      <a:pPr marL="0" marR="0">
                        <a:lnSpc>
                          <a:spcPct val="115000"/>
                        </a:lnSpc>
                        <a:spcBef>
                          <a:spcPts val="0"/>
                        </a:spcBef>
                        <a:spcAft>
                          <a:spcPts val="0"/>
                        </a:spcAft>
                      </a:pPr>
                      <a:r>
                        <a:rPr lang="en-GB" sz="2000" dirty="0">
                          <a:effectLst/>
                        </a:rPr>
                        <a:t>Move (Proposition type)</a:t>
                      </a:r>
                      <a:endParaRPr lang="en-GB" sz="20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a:effectLst/>
                        </a:rPr>
                        <a:t>Example</a:t>
                      </a:r>
                      <a:endParaRPr lang="en-GB" sz="20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2446170"/>
                  </a:ext>
                </a:extLst>
              </a:tr>
              <a:tr h="526002">
                <a:tc>
                  <a:txBody>
                    <a:bodyPr/>
                    <a:lstStyle/>
                    <a:p>
                      <a:pPr marL="0" marR="0">
                        <a:lnSpc>
                          <a:spcPct val="115000"/>
                        </a:lnSpc>
                        <a:spcBef>
                          <a:spcPts val="0"/>
                        </a:spcBef>
                        <a:spcAft>
                          <a:spcPts val="0"/>
                        </a:spcAft>
                      </a:pPr>
                      <a:r>
                        <a:rPr lang="en-GB" sz="2000">
                          <a:effectLst/>
                        </a:rPr>
                        <a:t>Aim of the Study</a:t>
                      </a:r>
                      <a:endParaRPr lang="en-GB" sz="20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b="1" i="1" dirty="0">
                          <a:effectLst/>
                        </a:rPr>
                        <a:t>I will focus on </a:t>
                      </a:r>
                      <a:r>
                        <a:rPr lang="en-GB" sz="2000" i="1" dirty="0">
                          <a:effectLst/>
                        </a:rPr>
                        <a:t>the anomalous figure of the woman political orator as she is figured in.. ...Henry James' The Bostonians</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33730590"/>
                  </a:ext>
                </a:extLst>
              </a:tr>
              <a:tr h="1069139">
                <a:tc>
                  <a:txBody>
                    <a:bodyPr/>
                    <a:lstStyle/>
                    <a:p>
                      <a:pPr marL="0" marR="0">
                        <a:lnSpc>
                          <a:spcPct val="115000"/>
                        </a:lnSpc>
                        <a:spcBef>
                          <a:spcPts val="0"/>
                        </a:spcBef>
                        <a:spcAft>
                          <a:spcPts val="0"/>
                        </a:spcAft>
                      </a:pPr>
                      <a:r>
                        <a:rPr lang="en-GB" sz="2000">
                          <a:effectLst/>
                        </a:rPr>
                        <a:t>Gap Indication</a:t>
                      </a:r>
                      <a:endParaRPr lang="en-GB" sz="20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i="1" dirty="0">
                          <a:effectLst/>
                        </a:rPr>
                        <a:t>..current critical accounts of women's speech in nineteenth-century America, </a:t>
                      </a:r>
                      <a:r>
                        <a:rPr lang="en-GB" sz="2000" b="1" i="1" dirty="0">
                          <a:effectLst/>
                        </a:rPr>
                        <a:t>which consistently fail to acknowledge </a:t>
                      </a:r>
                      <a:r>
                        <a:rPr lang="en-GB" sz="2000" i="1" dirty="0">
                          <a:effectLst/>
                        </a:rPr>
                        <a:t>the political interests structuring the associations between women's speech and sexual identity</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53582725"/>
                  </a:ext>
                </a:extLst>
              </a:tr>
              <a:tr h="797570">
                <a:tc>
                  <a:txBody>
                    <a:bodyPr/>
                    <a:lstStyle/>
                    <a:p>
                      <a:pPr marL="0" marR="0">
                        <a:lnSpc>
                          <a:spcPct val="115000"/>
                        </a:lnSpc>
                        <a:spcBef>
                          <a:spcPts val="0"/>
                        </a:spcBef>
                        <a:spcAft>
                          <a:spcPts val="0"/>
                        </a:spcAft>
                      </a:pPr>
                      <a:r>
                        <a:rPr lang="en-GB" sz="2000">
                          <a:effectLst/>
                        </a:rPr>
                        <a:t>Claim</a:t>
                      </a:r>
                      <a:endParaRPr lang="en-GB" sz="20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b="1" i="1" dirty="0">
                          <a:effectLst/>
                        </a:rPr>
                        <a:t>Such writers described and attempted to </a:t>
                      </a:r>
                      <a:r>
                        <a:rPr lang="en-GB" sz="2000" i="1" dirty="0">
                          <a:effectLst/>
                        </a:rPr>
                        <a:t>curb women's persistent public outspokenness </a:t>
                      </a:r>
                      <a:r>
                        <a:rPr lang="en-GB" sz="2000" i="1" u="sng" dirty="0">
                          <a:effectLst/>
                        </a:rPr>
                        <a:t>by invoking</a:t>
                      </a:r>
                      <a:r>
                        <a:rPr lang="en-GB" sz="2000" i="1" dirty="0">
                          <a:effectLst/>
                        </a:rPr>
                        <a:t> as an emblem the body that they thought of as determining female language.</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03361053"/>
                  </a:ext>
                </a:extLst>
              </a:tr>
              <a:tr h="797570">
                <a:tc>
                  <a:txBody>
                    <a:bodyPr/>
                    <a:lstStyle/>
                    <a:p>
                      <a:pPr marL="0" marR="0">
                        <a:lnSpc>
                          <a:spcPct val="115000"/>
                        </a:lnSpc>
                        <a:spcBef>
                          <a:spcPts val="0"/>
                        </a:spcBef>
                        <a:spcAft>
                          <a:spcPts val="0"/>
                        </a:spcAft>
                      </a:pPr>
                      <a:r>
                        <a:rPr lang="en-GB" sz="2000" dirty="0">
                          <a:effectLst/>
                        </a:rPr>
                        <a:t>Data Interpretation </a:t>
                      </a:r>
                    </a:p>
                    <a:p>
                      <a:pPr marL="0" marR="0">
                        <a:lnSpc>
                          <a:spcPct val="115000"/>
                        </a:lnSpc>
                        <a:spcBef>
                          <a:spcPts val="0"/>
                        </a:spcBef>
                        <a:spcAft>
                          <a:spcPts val="0"/>
                        </a:spcAft>
                      </a:pPr>
                      <a:r>
                        <a:rPr lang="en-GB" sz="2000" dirty="0">
                          <a:effectLst/>
                        </a:rPr>
                        <a:t>(</a:t>
                      </a:r>
                      <a:r>
                        <a:rPr lang="en-GB" sz="2000" u="sng" dirty="0">
                          <a:effectLst/>
                        </a:rPr>
                        <a:t>Background</a:t>
                      </a:r>
                      <a:r>
                        <a:rPr lang="en-GB" sz="2000" dirty="0">
                          <a:effectLst/>
                        </a:rPr>
                        <a:t>)</a:t>
                      </a:r>
                      <a:endParaRPr lang="en-GB" sz="20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b="1" i="1" dirty="0">
                          <a:effectLst/>
                        </a:rPr>
                        <a:t>In title </a:t>
                      </a:r>
                      <a:r>
                        <a:rPr lang="en-GB" sz="2000" b="1" i="1" dirty="0" err="1">
                          <a:effectLst/>
                        </a:rPr>
                        <a:t>Ellin</a:t>
                      </a:r>
                      <a:r>
                        <a:rPr lang="en-GB" sz="2000" b="1" i="1" dirty="0">
                          <a:effectLst/>
                        </a:rPr>
                        <a:t> </a:t>
                      </a:r>
                      <a:r>
                        <a:rPr lang="en-GB" sz="2000" b="1" i="1" dirty="0" err="1">
                          <a:effectLst/>
                        </a:rPr>
                        <a:t>Devis</a:t>
                      </a:r>
                      <a:r>
                        <a:rPr lang="en-GB" sz="2000" b="1" i="1" dirty="0">
                          <a:effectLst/>
                        </a:rPr>
                        <a:t> similarly claimed that </a:t>
                      </a:r>
                      <a:r>
                        <a:rPr lang="en-GB" sz="2000" i="1" dirty="0">
                          <a:effectLst/>
                        </a:rPr>
                        <a:t>for women verbal forwardness leads to charges of sexual forwardness and that 'a multitude of words, is no advantage to....women'.</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66174311"/>
                  </a:ext>
                </a:extLst>
              </a:tr>
              <a:tr h="1612277">
                <a:tc>
                  <a:txBody>
                    <a:bodyPr/>
                    <a:lstStyle/>
                    <a:p>
                      <a:pPr marL="0" marR="0">
                        <a:lnSpc>
                          <a:spcPct val="115000"/>
                        </a:lnSpc>
                        <a:spcBef>
                          <a:spcPts val="0"/>
                        </a:spcBef>
                        <a:spcAft>
                          <a:spcPts val="0"/>
                        </a:spcAft>
                      </a:pPr>
                      <a:r>
                        <a:rPr lang="en-GB" sz="2000" dirty="0">
                          <a:effectLst/>
                        </a:rPr>
                        <a:t>Data Interpretation </a:t>
                      </a:r>
                    </a:p>
                    <a:p>
                      <a:pPr marL="0" marR="0">
                        <a:lnSpc>
                          <a:spcPct val="115000"/>
                        </a:lnSpc>
                        <a:spcBef>
                          <a:spcPts val="0"/>
                        </a:spcBef>
                        <a:spcAft>
                          <a:spcPts val="0"/>
                        </a:spcAft>
                      </a:pPr>
                      <a:r>
                        <a:rPr lang="en-GB" sz="2000" dirty="0">
                          <a:effectLst/>
                        </a:rPr>
                        <a:t>(</a:t>
                      </a:r>
                      <a:r>
                        <a:rPr lang="en-GB" sz="2000" u="sng" dirty="0">
                          <a:effectLst/>
                        </a:rPr>
                        <a:t>Interpretive recount</a:t>
                      </a:r>
                      <a:r>
                        <a:rPr lang="en-GB" sz="2000" dirty="0">
                          <a:effectLst/>
                        </a:rPr>
                        <a:t>, i.e. summary of the examined work including character,  plot, and other details)</a:t>
                      </a:r>
                      <a:endParaRPr lang="en-GB" sz="20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i="1" dirty="0">
                          <a:effectLst/>
                        </a:rPr>
                        <a:t>...Though she escapes, she is 'herself no longer'. The hostile voices in the audience cause Marian to reanalyse her own and then to hear another during her ensuing illness.....</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250999308"/>
                  </a:ext>
                </a:extLst>
              </a:tr>
              <a:tr h="526002">
                <a:tc>
                  <a:txBody>
                    <a:bodyPr/>
                    <a:lstStyle/>
                    <a:p>
                      <a:pPr marL="0" marR="0">
                        <a:lnSpc>
                          <a:spcPct val="115000"/>
                        </a:lnSpc>
                        <a:spcBef>
                          <a:spcPts val="0"/>
                        </a:spcBef>
                        <a:spcAft>
                          <a:spcPts val="0"/>
                        </a:spcAft>
                      </a:pPr>
                      <a:r>
                        <a:rPr lang="en-GB" sz="2000" dirty="0">
                          <a:effectLst/>
                        </a:rPr>
                        <a:t>Review critics</a:t>
                      </a:r>
                      <a:endParaRPr lang="en-GB" sz="20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2000" i="1" dirty="0">
                          <a:effectLst/>
                        </a:rPr>
                        <a:t>… compelled these elite men, </a:t>
                      </a:r>
                      <a:r>
                        <a:rPr lang="en-GB" sz="2000" b="1" i="1" dirty="0">
                          <a:effectLst/>
                        </a:rPr>
                        <a:t>as </a:t>
                      </a:r>
                      <a:r>
                        <a:rPr lang="en-GB" sz="2000" b="1" i="1" dirty="0" err="1">
                          <a:effectLst/>
                        </a:rPr>
                        <a:t>Cmiel</a:t>
                      </a:r>
                      <a:r>
                        <a:rPr lang="en-GB" sz="2000" b="1" i="1" dirty="0">
                          <a:effectLst/>
                        </a:rPr>
                        <a:t> notes, </a:t>
                      </a:r>
                      <a:r>
                        <a:rPr lang="en-GB" sz="2000" i="1" dirty="0">
                          <a:effectLst/>
                        </a:rPr>
                        <a:t>to modify their rhetorical practices</a:t>
                      </a:r>
                      <a:endParaRPr lang="en-GB" sz="2000" i="1"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040007018"/>
                  </a:ext>
                </a:extLst>
              </a:tr>
            </a:tbl>
          </a:graphicData>
        </a:graphic>
      </p:graphicFrame>
      <p:sp>
        <p:nvSpPr>
          <p:cNvPr id="4" name="Slide Number Placeholder 3"/>
          <p:cNvSpPr>
            <a:spLocks noGrp="1"/>
          </p:cNvSpPr>
          <p:nvPr>
            <p:ph type="sldNum" sz="quarter" idx="12"/>
          </p:nvPr>
        </p:nvSpPr>
        <p:spPr/>
        <p:txBody>
          <a:bodyPr/>
          <a:lstStyle/>
          <a:p>
            <a:fld id="{61498E3A-99BC-45FF-B0E7-72DEF86357C7}" type="slidenum">
              <a:rPr lang="en-US" smtClean="0"/>
              <a:t>4</a:t>
            </a:fld>
            <a:endParaRPr lang="en-US"/>
          </a:p>
        </p:txBody>
      </p:sp>
    </p:spTree>
    <p:extLst>
      <p:ext uri="{BB962C8B-B14F-4D97-AF65-F5344CB8AC3E}">
        <p14:creationId xmlns:p14="http://schemas.microsoft.com/office/powerpoint/2010/main" val="1556996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Another pattern of developing arguments:</a:t>
            </a:r>
            <a:endParaRPr lang="en-GB" dirty="0"/>
          </a:p>
        </p:txBody>
      </p:sp>
      <p:sp>
        <p:nvSpPr>
          <p:cNvPr id="3" name="Content Placeholder 2"/>
          <p:cNvSpPr>
            <a:spLocks noGrp="1"/>
          </p:cNvSpPr>
          <p:nvPr>
            <p:ph idx="1"/>
          </p:nvPr>
        </p:nvSpPr>
        <p:spPr/>
        <p:txBody>
          <a:bodyPr>
            <a:normAutofit/>
          </a:bodyPr>
          <a:lstStyle/>
          <a:p>
            <a:r>
              <a:rPr lang="en-GB" sz="3200" b="1" dirty="0"/>
              <a:t>Tucker (2004) analysed the same type of writing and suggested similar patterns of developing arguments:</a:t>
            </a:r>
            <a:endParaRPr lang="en-GB" sz="3200" dirty="0"/>
          </a:p>
          <a:p>
            <a:pPr marL="0" indent="0">
              <a:buNone/>
            </a:pPr>
            <a:r>
              <a:rPr lang="en-GB" sz="3200" b="1" dirty="0">
                <a:solidFill>
                  <a:srgbClr val="0070C0"/>
                </a:solidFill>
              </a:rPr>
              <a:t>Preview claim –&gt; quotation –&gt; interpretive recount –&gt; </a:t>
            </a:r>
          </a:p>
          <a:p>
            <a:pPr marL="0" indent="0">
              <a:buNone/>
            </a:pPr>
            <a:r>
              <a:rPr lang="en-GB" sz="3200" b="1" dirty="0">
                <a:solidFill>
                  <a:srgbClr val="0070C0"/>
                </a:solidFill>
              </a:rPr>
              <a:t>claim marker –&gt; claim </a:t>
            </a:r>
          </a:p>
        </p:txBody>
      </p:sp>
      <p:sp>
        <p:nvSpPr>
          <p:cNvPr id="4" name="Slide Number Placeholder 3"/>
          <p:cNvSpPr>
            <a:spLocks noGrp="1"/>
          </p:cNvSpPr>
          <p:nvPr>
            <p:ph type="sldNum" sz="quarter" idx="12"/>
          </p:nvPr>
        </p:nvSpPr>
        <p:spPr/>
        <p:txBody>
          <a:bodyPr/>
          <a:lstStyle/>
          <a:p>
            <a:fld id="{61498E3A-99BC-45FF-B0E7-72DEF86357C7}" type="slidenum">
              <a:rPr lang="en-US" smtClean="0"/>
              <a:t>5</a:t>
            </a:fld>
            <a:endParaRPr lang="en-US"/>
          </a:p>
        </p:txBody>
      </p:sp>
    </p:spTree>
    <p:extLst>
      <p:ext uri="{BB962C8B-B14F-4D97-AF65-F5344CB8AC3E}">
        <p14:creationId xmlns:p14="http://schemas.microsoft.com/office/powerpoint/2010/main" val="50777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Another way of organizing conceptual/critique papers:</a:t>
            </a:r>
            <a:endParaRPr lang="en-GB" dirty="0"/>
          </a:p>
        </p:txBody>
      </p:sp>
      <p:sp>
        <p:nvSpPr>
          <p:cNvPr id="3" name="Content Placeholder 2"/>
          <p:cNvSpPr>
            <a:spLocks noGrp="1"/>
          </p:cNvSpPr>
          <p:nvPr>
            <p:ph idx="1"/>
          </p:nvPr>
        </p:nvSpPr>
        <p:spPr>
          <a:xfrm>
            <a:off x="643944" y="1762699"/>
            <a:ext cx="11153104" cy="4947194"/>
          </a:xfrm>
        </p:spPr>
        <p:txBody>
          <a:bodyPr>
            <a:normAutofit fontScale="92500"/>
          </a:bodyPr>
          <a:lstStyle/>
          <a:p>
            <a:pPr marL="0" indent="0">
              <a:buNone/>
            </a:pPr>
            <a:r>
              <a:rPr lang="en-GB" b="1" dirty="0">
                <a:solidFill>
                  <a:srgbClr val="0070C0"/>
                </a:solidFill>
              </a:rPr>
              <a:t>When Nolan &amp; Rocco (2009) taught their Humanities students to write conceptual papers, they introduced the following structure to their students.</a:t>
            </a:r>
          </a:p>
          <a:p>
            <a:pPr marL="0" indent="0">
              <a:buNone/>
            </a:pPr>
            <a:r>
              <a:rPr lang="en-GB" b="1" dirty="0"/>
              <a:t>(a) Introduction </a:t>
            </a:r>
            <a:r>
              <a:rPr lang="en-GB" dirty="0"/>
              <a:t/>
            </a:r>
            <a:br>
              <a:rPr lang="en-GB" dirty="0"/>
            </a:br>
            <a:r>
              <a:rPr lang="en-GB" dirty="0"/>
              <a:t>(background to problem, problem statement, purpose, organizing questions or objectives, and a conceptual/theoretical framework), </a:t>
            </a:r>
          </a:p>
          <a:p>
            <a:pPr marL="0" indent="0">
              <a:buNone/>
            </a:pPr>
            <a:r>
              <a:rPr lang="en-GB" b="1" dirty="0"/>
              <a:t>(b) Discussion </a:t>
            </a:r>
            <a:r>
              <a:rPr lang="en-GB" dirty="0"/>
              <a:t/>
            </a:r>
            <a:br>
              <a:rPr lang="en-GB" dirty="0"/>
            </a:br>
            <a:r>
              <a:rPr lang="en-GB" dirty="0"/>
              <a:t>(organized around </a:t>
            </a:r>
            <a:r>
              <a:rPr lang="en-GB" b="1" dirty="0">
                <a:solidFill>
                  <a:srgbClr val="800000"/>
                </a:solidFill>
              </a:rPr>
              <a:t>themes</a:t>
            </a:r>
            <a:r>
              <a:rPr lang="en-GB" dirty="0"/>
              <a:t> or </a:t>
            </a:r>
            <a:r>
              <a:rPr lang="en-GB" b="1" dirty="0">
                <a:solidFill>
                  <a:srgbClr val="800000"/>
                </a:solidFill>
              </a:rPr>
              <a:t>categories</a:t>
            </a:r>
            <a:r>
              <a:rPr lang="en-GB" dirty="0"/>
              <a:t> or </a:t>
            </a:r>
            <a:r>
              <a:rPr lang="en-GB" b="1" dirty="0">
                <a:solidFill>
                  <a:srgbClr val="800000"/>
                </a:solidFill>
              </a:rPr>
              <a:t>headings</a:t>
            </a:r>
            <a:r>
              <a:rPr lang="en-GB" dirty="0"/>
              <a:t> </a:t>
            </a:r>
            <a:r>
              <a:rPr lang="en-GB" u="sng" dirty="0"/>
              <a:t>that guide the argument</a:t>
            </a:r>
            <a:r>
              <a:rPr lang="en-GB" dirty="0"/>
              <a:t>), </a:t>
            </a:r>
          </a:p>
          <a:p>
            <a:pPr marL="0" indent="0">
              <a:buNone/>
            </a:pPr>
            <a:r>
              <a:rPr lang="en-GB" b="1" dirty="0"/>
              <a:t>(c) Implications </a:t>
            </a:r>
            <a:r>
              <a:rPr lang="en-GB" dirty="0"/>
              <a:t/>
            </a:r>
            <a:br>
              <a:rPr lang="en-GB" dirty="0"/>
            </a:br>
            <a:r>
              <a:rPr lang="en-GB" dirty="0"/>
              <a:t>(sometimes with tables or diagrams to illustrate the argument or discussion and specific relevance to the field) (Nolan &amp; Rocco, 2009)</a:t>
            </a:r>
          </a:p>
          <a:p>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6</a:t>
            </a:fld>
            <a:endParaRPr lang="en-US"/>
          </a:p>
        </p:txBody>
      </p:sp>
    </p:spTree>
    <p:extLst>
      <p:ext uri="{BB962C8B-B14F-4D97-AF65-F5344CB8AC3E}">
        <p14:creationId xmlns:p14="http://schemas.microsoft.com/office/powerpoint/2010/main" val="100422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4DBD-D39E-A14C-9D2E-A7D7E9FB371E}"/>
              </a:ext>
            </a:extLst>
          </p:cNvPr>
          <p:cNvSpPr>
            <a:spLocks noGrp="1"/>
          </p:cNvSpPr>
          <p:nvPr>
            <p:ph type="title"/>
          </p:nvPr>
        </p:nvSpPr>
        <p:spPr/>
        <p:txBody>
          <a:bodyPr/>
          <a:lstStyle/>
          <a:p>
            <a:r>
              <a:rPr lang="en-GB" dirty="0"/>
              <a:t>4. Self-manifestation in arguments</a:t>
            </a:r>
          </a:p>
        </p:txBody>
      </p:sp>
      <p:sp>
        <p:nvSpPr>
          <p:cNvPr id="3" name="Content Placeholder 2">
            <a:extLst>
              <a:ext uri="{FF2B5EF4-FFF2-40B4-BE49-F238E27FC236}">
                <a16:creationId xmlns:a16="http://schemas.microsoft.com/office/drawing/2014/main" id="{412E968B-80BD-8E44-A578-FF41A3543E31}"/>
              </a:ext>
            </a:extLst>
          </p:cNvPr>
          <p:cNvSpPr>
            <a:spLocks noGrp="1"/>
          </p:cNvSpPr>
          <p:nvPr>
            <p:ph idx="1"/>
          </p:nvPr>
        </p:nvSpPr>
        <p:spPr/>
        <p:txBody>
          <a:bodyPr/>
          <a:lstStyle/>
          <a:p>
            <a:r>
              <a:rPr lang="en-HK" i="1" dirty="0"/>
              <a:t>I </a:t>
            </a:r>
            <a:r>
              <a:rPr lang="en-HK" b="1" i="1" dirty="0"/>
              <a:t>believe </a:t>
            </a:r>
            <a:r>
              <a:rPr lang="en-HK" i="1" dirty="0"/>
              <a:t>this marriage symbolizes the reunion of Puritan and Catholic which was one of James I’s major policy goals. </a:t>
            </a:r>
          </a:p>
          <a:p>
            <a:r>
              <a:rPr lang="en-HK" i="1" dirty="0"/>
              <a:t>Thus while it is reasonable to</a:t>
            </a:r>
            <a:r>
              <a:rPr lang="en-HK" b="1" i="1" dirty="0"/>
              <a:t> assume </a:t>
            </a:r>
            <a:r>
              <a:rPr lang="en-HK" i="1" dirty="0"/>
              <a:t>that</a:t>
            </a:r>
            <a:r>
              <a:rPr lang="en-HK" b="1" i="1" dirty="0"/>
              <a:t> </a:t>
            </a:r>
            <a:r>
              <a:rPr lang="en-HK" i="1" dirty="0"/>
              <a:t>the instances of ne deletion found in the children’s speech were largely developmental, it is possible that such instances could, to some extent, reflect the speech that the children were (presumably) most consistently exposed to.</a:t>
            </a:r>
          </a:p>
          <a:p>
            <a:endParaRPr lang="en-GB" dirty="0"/>
          </a:p>
        </p:txBody>
      </p:sp>
      <p:sp>
        <p:nvSpPr>
          <p:cNvPr id="4" name="Slide Number Placeholder 3">
            <a:extLst>
              <a:ext uri="{FF2B5EF4-FFF2-40B4-BE49-F238E27FC236}">
                <a16:creationId xmlns:a16="http://schemas.microsoft.com/office/drawing/2014/main" id="{9620937F-2E96-7147-AD05-472237C19B73}"/>
              </a:ext>
            </a:extLst>
          </p:cNvPr>
          <p:cNvSpPr>
            <a:spLocks noGrp="1"/>
          </p:cNvSpPr>
          <p:nvPr>
            <p:ph type="sldNum" sz="quarter" idx="12"/>
          </p:nvPr>
        </p:nvSpPr>
        <p:spPr/>
        <p:txBody>
          <a:bodyPr/>
          <a:lstStyle/>
          <a:p>
            <a:fld id="{61498E3A-99BC-45FF-B0E7-72DEF86357C7}" type="slidenum">
              <a:rPr lang="en-US" smtClean="0"/>
              <a:t>7</a:t>
            </a:fld>
            <a:endParaRPr lang="en-US"/>
          </a:p>
        </p:txBody>
      </p:sp>
    </p:spTree>
    <p:extLst>
      <p:ext uri="{BB962C8B-B14F-4D97-AF65-F5344CB8AC3E}">
        <p14:creationId xmlns:p14="http://schemas.microsoft.com/office/powerpoint/2010/main" val="2288554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Other manifestation in arguments</a:t>
            </a:r>
          </a:p>
        </p:txBody>
      </p:sp>
      <p:sp>
        <p:nvSpPr>
          <p:cNvPr id="3" name="Content Placeholder 2"/>
          <p:cNvSpPr>
            <a:spLocks noGrp="1"/>
          </p:cNvSpPr>
          <p:nvPr>
            <p:ph idx="1"/>
          </p:nvPr>
        </p:nvSpPr>
        <p:spPr/>
        <p:txBody>
          <a:bodyPr>
            <a:normAutofit/>
          </a:bodyPr>
          <a:lstStyle/>
          <a:p>
            <a:r>
              <a:rPr lang="en-HK" i="1" dirty="0"/>
              <a:t>Keen </a:t>
            </a:r>
            <a:r>
              <a:rPr lang="en-HK" b="1" i="1" dirty="0"/>
              <a:t>argues</a:t>
            </a:r>
            <a:r>
              <a:rPr lang="en-HK" i="1" dirty="0"/>
              <a:t> that such conservative faith in the king amounts to the “greatest deception of the agrarian public” (1995 p. 23). </a:t>
            </a:r>
          </a:p>
          <a:p>
            <a:pPr>
              <a:spcBef>
                <a:spcPts val="2200"/>
              </a:spcBef>
            </a:pPr>
            <a:r>
              <a:rPr lang="en-HK" i="1" dirty="0"/>
              <a:t>It was subsequently </a:t>
            </a:r>
            <a:r>
              <a:rPr lang="en-HK" b="1" i="1" dirty="0"/>
              <a:t>proposed</a:t>
            </a:r>
            <a:r>
              <a:rPr lang="en-HK" i="1" dirty="0"/>
              <a:t> that LH regions that </a:t>
            </a:r>
            <a:r>
              <a:rPr lang="en-HK" i="1" dirty="0" err="1"/>
              <a:t>subserve</a:t>
            </a:r>
            <a:r>
              <a:rPr lang="en-HK" i="1" dirty="0"/>
              <a:t> speech perception may be fundamentally specialized for the processing of rapidly changing acoustic information (</a:t>
            </a:r>
            <a:r>
              <a:rPr lang="en-HK" i="1" dirty="0" err="1"/>
              <a:t>Tallal</a:t>
            </a:r>
            <a:r>
              <a:rPr lang="en-HK" i="1" dirty="0"/>
              <a:t>, Miller, &amp; Fitch, 1993). </a:t>
            </a:r>
          </a:p>
          <a:p>
            <a:pPr>
              <a:spcBef>
                <a:spcPts val="2200"/>
              </a:spcBef>
            </a:pPr>
            <a:r>
              <a:rPr lang="en-HK" dirty="0" err="1"/>
              <a:t>Hunston</a:t>
            </a:r>
            <a:r>
              <a:rPr lang="en-HK" dirty="0"/>
              <a:t> (1995): “[…] the responsibility for the veracity of a statement is transferred when the statement is attributed” (1995: 134).</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8</a:t>
            </a:fld>
            <a:endParaRPr lang="en-US"/>
          </a:p>
        </p:txBody>
      </p:sp>
    </p:spTree>
    <p:extLst>
      <p:ext uri="{BB962C8B-B14F-4D97-AF65-F5344CB8AC3E}">
        <p14:creationId xmlns:p14="http://schemas.microsoft.com/office/powerpoint/2010/main" val="1545218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424" y="244420"/>
            <a:ext cx="10515600" cy="1325563"/>
          </a:xfrm>
        </p:spPr>
        <p:txBody>
          <a:bodyPr/>
          <a:lstStyle/>
          <a:p>
            <a:endParaRPr lang="en-GB"/>
          </a:p>
        </p:txBody>
      </p:sp>
      <p:sp>
        <p:nvSpPr>
          <p:cNvPr id="3" name="Content Placeholder 2"/>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fld id="{61498E3A-99BC-45FF-B0E7-72DEF86357C7}" type="slidenum">
              <a:rPr lang="en-US" smtClean="0"/>
              <a:t>9</a:t>
            </a:fld>
            <a:endParaRPr lang="en-US"/>
          </a:p>
        </p:txBody>
      </p:sp>
      <p:pic>
        <p:nvPicPr>
          <p:cNvPr id="5" name="Picture 4"/>
          <p:cNvPicPr>
            <a:picLocks noChangeAspect="1"/>
          </p:cNvPicPr>
          <p:nvPr/>
        </p:nvPicPr>
        <p:blipFill rotWithShape="1">
          <a:blip r:embed="rId2"/>
          <a:srcRect t="2612" b="1563"/>
          <a:stretch/>
        </p:blipFill>
        <p:spPr>
          <a:xfrm>
            <a:off x="187260" y="0"/>
            <a:ext cx="12004740" cy="6849733"/>
          </a:xfrm>
          <a:prstGeom prst="rect">
            <a:avLst/>
          </a:prstGeom>
        </p:spPr>
      </p:pic>
    </p:spTree>
    <p:extLst>
      <p:ext uri="{BB962C8B-B14F-4D97-AF65-F5344CB8AC3E}">
        <p14:creationId xmlns:p14="http://schemas.microsoft.com/office/powerpoint/2010/main" val="768451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you need to do:</a:t>
            </a:r>
            <a:endParaRPr lang="en-GB"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HK" b="1" dirty="0">
                <a:solidFill>
                  <a:srgbClr val="0070C0"/>
                </a:solidFill>
              </a:rPr>
              <a:t>Find one RA as an example and analyse how arguments are formed in the RA in your field.</a:t>
            </a:r>
            <a:endParaRPr lang="en-HK" dirty="0"/>
          </a:p>
          <a:p>
            <a:pPr marL="514350" indent="-514350">
              <a:buFont typeface="+mj-lt"/>
              <a:buAutoNum type="arabicPeriod"/>
            </a:pPr>
            <a:endParaRPr lang="en-US" dirty="0"/>
          </a:p>
          <a:p>
            <a:pPr marL="514350" indent="-514350">
              <a:buFont typeface="+mj-lt"/>
              <a:buAutoNum type="arabicPeriod"/>
            </a:pPr>
            <a:r>
              <a:rPr lang="en-US" b="1" dirty="0">
                <a:solidFill>
                  <a:srgbClr val="0070C0"/>
                </a:solidFill>
              </a:rPr>
              <a:t>When you </a:t>
            </a:r>
            <a:r>
              <a:rPr lang="en-US" b="1" dirty="0" err="1">
                <a:solidFill>
                  <a:srgbClr val="0070C0"/>
                </a:solidFill>
              </a:rPr>
              <a:t>analyse</a:t>
            </a:r>
            <a:r>
              <a:rPr lang="en-US" b="1" dirty="0">
                <a:solidFill>
                  <a:srgbClr val="0070C0"/>
                </a:solidFill>
              </a:rPr>
              <a:t> the moves/formation of arguments, think about the questions on the next slide.</a:t>
            </a:r>
            <a:endParaRPr lang="en-GB" b="1" dirty="0">
              <a:solidFill>
                <a:srgbClr val="0070C0"/>
              </a:solidFill>
            </a:endParaRPr>
          </a:p>
          <a:p>
            <a:endParaRPr lang="en-GB" dirty="0"/>
          </a:p>
          <a:p>
            <a:pPr marL="514350" indent="-514350">
              <a:buFont typeface="+mj-lt"/>
              <a:buAutoNum type="arabicPeriod" startAt="3"/>
            </a:pPr>
            <a:r>
              <a:rPr lang="en-GB" b="1" dirty="0">
                <a:solidFill>
                  <a:srgbClr val="0070C0"/>
                </a:solidFill>
              </a:rPr>
              <a:t>Copy and paste one or two sections to the shared Google Doc (Note that your worksheets are No. 19, 20, 21 respectively) and complete the analysis of argument development in the article.</a:t>
            </a:r>
          </a:p>
        </p:txBody>
      </p:sp>
      <p:sp>
        <p:nvSpPr>
          <p:cNvPr id="4" name="Slide Number Placeholder 3"/>
          <p:cNvSpPr>
            <a:spLocks noGrp="1"/>
          </p:cNvSpPr>
          <p:nvPr>
            <p:ph type="sldNum" sz="quarter" idx="12"/>
          </p:nvPr>
        </p:nvSpPr>
        <p:spPr/>
        <p:txBody>
          <a:bodyPr/>
          <a:lstStyle/>
          <a:p>
            <a:fld id="{61498E3A-99BC-45FF-B0E7-72DEF86357C7}" type="slidenum">
              <a:rPr lang="en-US" smtClean="0"/>
              <a:t>10</a:t>
            </a:fld>
            <a:endParaRPr lang="en-US"/>
          </a:p>
        </p:txBody>
      </p:sp>
    </p:spTree>
    <p:extLst>
      <p:ext uri="{BB962C8B-B14F-4D97-AF65-F5344CB8AC3E}">
        <p14:creationId xmlns:p14="http://schemas.microsoft.com/office/powerpoint/2010/main" val="2034182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086"/>
            <a:ext cx="10515600" cy="1325563"/>
          </a:xfrm>
        </p:spPr>
        <p:txBody>
          <a:bodyPr/>
          <a:lstStyle/>
          <a:p>
            <a:r>
              <a:rPr lang="en-US" dirty="0"/>
              <a:t>Questions to think:</a:t>
            </a:r>
            <a:endParaRPr lang="en-GB" dirty="0"/>
          </a:p>
        </p:txBody>
      </p:sp>
      <p:sp>
        <p:nvSpPr>
          <p:cNvPr id="3" name="Content Placeholder 2"/>
          <p:cNvSpPr>
            <a:spLocks noGrp="1"/>
          </p:cNvSpPr>
          <p:nvPr>
            <p:ph idx="1"/>
          </p:nvPr>
        </p:nvSpPr>
        <p:spPr>
          <a:xfrm>
            <a:off x="838199" y="1621971"/>
            <a:ext cx="11092543" cy="5032086"/>
          </a:xfrm>
        </p:spPr>
        <p:txBody>
          <a:bodyPr>
            <a:normAutofit/>
          </a:bodyPr>
          <a:lstStyle/>
          <a:p>
            <a:pPr marL="514350" indent="-514350">
              <a:buFont typeface="+mj-lt"/>
              <a:buAutoNum type="arabicPeriod"/>
            </a:pPr>
            <a:r>
              <a:rPr lang="en-US" dirty="0"/>
              <a:t>By looking at the headings of the paper, can you easily see the </a:t>
            </a:r>
            <a:r>
              <a:rPr lang="en-US" dirty="0" err="1"/>
              <a:t>organisation</a:t>
            </a:r>
            <a:r>
              <a:rPr lang="en-US" dirty="0"/>
              <a:t> logic of the themes?</a:t>
            </a:r>
          </a:p>
          <a:p>
            <a:pPr marL="514350" indent="-514350">
              <a:buFont typeface="+mj-lt"/>
              <a:buAutoNum type="arabicPeriod"/>
            </a:pPr>
            <a:r>
              <a:rPr lang="en-US" dirty="0"/>
              <a:t>Go through the article and then identify the theories or major theoretical perspectives adopted by the writer(s). How do(</a:t>
            </a:r>
            <a:r>
              <a:rPr lang="en-US" dirty="0" err="1"/>
              <a:t>es</a:t>
            </a:r>
            <a:r>
              <a:rPr lang="en-US" dirty="0"/>
              <a:t>) the writer cite others’ work/theories?</a:t>
            </a:r>
          </a:p>
          <a:p>
            <a:pPr marL="514350" indent="-514350">
              <a:buFont typeface="+mj-lt"/>
              <a:buAutoNum type="arabicPeriod"/>
            </a:pPr>
            <a:r>
              <a:rPr lang="en-US" dirty="0"/>
              <a:t>When analyzing the paper, do you see any moves of argument development introduced on slides 4-6 used by the writer? </a:t>
            </a:r>
            <a:r>
              <a:rPr lang="en-GB" dirty="0"/>
              <a:t>Can you identify the writer(s)’ patterns of developing arguments?</a:t>
            </a:r>
          </a:p>
          <a:p>
            <a:pPr marL="514350" indent="-514350">
              <a:buFont typeface="+mj-lt"/>
              <a:buAutoNum type="arabicPeriod"/>
            </a:pPr>
            <a:r>
              <a:rPr lang="en-GB" dirty="0"/>
              <a:t>How is self-manifestation and/or other-manifestation is realised in the article? Which one is more prominent in the article?</a:t>
            </a:r>
            <a:endParaRPr lang="en-US" dirty="0"/>
          </a:p>
        </p:txBody>
      </p:sp>
      <p:sp>
        <p:nvSpPr>
          <p:cNvPr id="4" name="Slide Number Placeholder 3"/>
          <p:cNvSpPr>
            <a:spLocks noGrp="1"/>
          </p:cNvSpPr>
          <p:nvPr>
            <p:ph type="sldNum" sz="quarter" idx="12"/>
          </p:nvPr>
        </p:nvSpPr>
        <p:spPr/>
        <p:txBody>
          <a:bodyPr/>
          <a:lstStyle/>
          <a:p>
            <a:fld id="{61498E3A-99BC-45FF-B0E7-72DEF86357C7}" type="slidenum">
              <a:rPr lang="en-US" smtClean="0"/>
              <a:t>11</a:t>
            </a:fld>
            <a:endParaRPr lang="en-US"/>
          </a:p>
        </p:txBody>
      </p:sp>
    </p:spTree>
    <p:extLst>
      <p:ext uri="{BB962C8B-B14F-4D97-AF65-F5344CB8AC3E}">
        <p14:creationId xmlns:p14="http://schemas.microsoft.com/office/powerpoint/2010/main" val="482048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3774</TotalTime>
  <Words>850</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DengXian</vt:lpstr>
      <vt:lpstr>Arial</vt:lpstr>
      <vt:lpstr>Calibri</vt:lpstr>
      <vt:lpstr>Times New Roman</vt:lpstr>
      <vt:lpstr>Office Theme</vt:lpstr>
      <vt:lpstr>Session 5   Writing non-empirical Papers: Developing arguments</vt:lpstr>
      <vt:lpstr>Research paper on creative works:</vt:lpstr>
      <vt:lpstr>1. Moves (Propositions)</vt:lpstr>
      <vt:lpstr>PowerPoint Presentation</vt:lpstr>
      <vt:lpstr>2. Another pattern of developing arguments:</vt:lpstr>
      <vt:lpstr>3. Another way of organizing conceptual/critique papers:</vt:lpstr>
      <vt:lpstr>4. Self-manifestation in arguments</vt:lpstr>
      <vt:lpstr>5. Other manifestation in arguments</vt:lpstr>
      <vt:lpstr>PowerPoint Presentation</vt:lpstr>
      <vt:lpstr>What you need to do:</vt:lpstr>
      <vt:lpstr>Questions to think: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Structural and Linguistic Features of Research Articles</dc:title>
  <dc:creator>Chen Meilin</dc:creator>
  <cp:lastModifiedBy>Windows User</cp:lastModifiedBy>
  <cp:revision>525</cp:revision>
  <dcterms:created xsi:type="dcterms:W3CDTF">2018-09-13T08:53:38Z</dcterms:created>
  <dcterms:modified xsi:type="dcterms:W3CDTF">2020-08-25T05:58:41Z</dcterms:modified>
</cp:coreProperties>
</file>