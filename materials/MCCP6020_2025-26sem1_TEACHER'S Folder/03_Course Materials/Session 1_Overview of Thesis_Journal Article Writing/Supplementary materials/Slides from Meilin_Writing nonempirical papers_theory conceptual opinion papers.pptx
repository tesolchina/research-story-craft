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1"/>
  </p:notesMasterIdLst>
  <p:handoutMasterIdLst>
    <p:handoutMasterId r:id="rId22"/>
  </p:handoutMasterIdLst>
  <p:sldIdLst>
    <p:sldId id="256" r:id="rId2"/>
    <p:sldId id="316" r:id="rId3"/>
    <p:sldId id="315" r:id="rId4"/>
    <p:sldId id="302" r:id="rId5"/>
    <p:sldId id="303" r:id="rId6"/>
    <p:sldId id="304" r:id="rId7"/>
    <p:sldId id="300" r:id="rId8"/>
    <p:sldId id="301" r:id="rId9"/>
    <p:sldId id="305" r:id="rId10"/>
    <p:sldId id="308" r:id="rId11"/>
    <p:sldId id="306" r:id="rId12"/>
    <p:sldId id="313" r:id="rId13"/>
    <p:sldId id="309" r:id="rId14"/>
    <p:sldId id="310" r:id="rId15"/>
    <p:sldId id="314" r:id="rId16"/>
    <p:sldId id="311" r:id="rId17"/>
    <p:sldId id="312" r:id="rId18"/>
    <p:sldId id="318" r:id="rId19"/>
    <p:sldId id="30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a:srgbClr val="8A0000"/>
    <a:srgbClr val="FFE699"/>
    <a:srgbClr val="97C777"/>
    <a:srgbClr val="EBE600"/>
    <a:srgbClr val="E60ACC"/>
    <a:srgbClr val="FFFFF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3" autoAdjust="0"/>
    <p:restoredTop sz="93800" autoAdjust="0"/>
  </p:normalViewPr>
  <p:slideViewPr>
    <p:cSldViewPr snapToGrid="0">
      <p:cViewPr varScale="1">
        <p:scale>
          <a:sx n="115" d="100"/>
          <a:sy n="115" d="100"/>
        </p:scale>
        <p:origin x="31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686CBAF-039A-6043-9E5D-CB5CF2248B4A}" type="datetimeFigureOut">
              <a:rPr lang="en-GB" smtClean="0"/>
              <a:t>25/08/2020</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7344524-2134-2A40-A3A3-B72E42D4B412}" type="slidenum">
              <a:rPr lang="en-GB" smtClean="0"/>
              <a:t>‹#›</a:t>
            </a:fld>
            <a:endParaRPr lang="en-GB"/>
          </a:p>
        </p:txBody>
      </p:sp>
    </p:spTree>
    <p:extLst>
      <p:ext uri="{BB962C8B-B14F-4D97-AF65-F5344CB8AC3E}">
        <p14:creationId xmlns:p14="http://schemas.microsoft.com/office/powerpoint/2010/main" val="17804394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91122D-5EEF-42D1-9CC4-778990B42052}" type="datetimeFigureOut">
              <a:rPr lang="en-US" smtClean="0"/>
              <a:t>8/25/2020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4029BB-9179-44C0-8F2C-C278A7E48A65}" type="slidenum">
              <a:rPr lang="en-US" smtClean="0"/>
              <a:t>‹#›</a:t>
            </a:fld>
            <a:endParaRPr lang="en-US"/>
          </a:p>
        </p:txBody>
      </p:sp>
    </p:spTree>
    <p:extLst>
      <p:ext uri="{BB962C8B-B14F-4D97-AF65-F5344CB8AC3E}">
        <p14:creationId xmlns:p14="http://schemas.microsoft.com/office/powerpoint/2010/main" val="2362334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2EF1BFEE-691F-4C81-A724-71AAE0153423}" type="datetime1">
              <a:rPr lang="en-US" smtClean="0"/>
              <a:t>8/25/2020</a:t>
            </a:fld>
            <a:endParaRPr lang="en-US"/>
          </a:p>
        </p:txBody>
      </p:sp>
      <p:sp>
        <p:nvSpPr>
          <p:cNvPr id="5" name="Footer Placeholder 4"/>
          <p:cNvSpPr>
            <a:spLocks noGrp="1"/>
          </p:cNvSpPr>
          <p:nvPr>
            <p:ph type="ftr" sz="quarter" idx="11"/>
          </p:nvPr>
        </p:nvSpPr>
        <p:spPr/>
        <p:txBody>
          <a:bodyPr/>
          <a:lstStyle/>
          <a:p>
            <a:r>
              <a:rPr lang="en-HK"/>
              <a:t>Sessions 2-3 Structural and linguistic features of RAs 01</a:t>
            </a:r>
            <a:endParaRPr lang="en-US"/>
          </a:p>
        </p:txBody>
      </p:sp>
      <p:sp>
        <p:nvSpPr>
          <p:cNvPr id="6" name="Slide Number Placeholder 5"/>
          <p:cNvSpPr>
            <a:spLocks noGrp="1"/>
          </p:cNvSpPr>
          <p:nvPr>
            <p:ph type="sldNum" sz="quarter" idx="12"/>
          </p:nvPr>
        </p:nvSpPr>
        <p:spPr/>
        <p:txBody>
          <a:bodyPr/>
          <a:lstStyle/>
          <a:p>
            <a:fld id="{61498E3A-99BC-45FF-B0E7-72DEF86357C7}" type="slidenum">
              <a:rPr lang="en-US" smtClean="0"/>
              <a:t>‹#›</a:t>
            </a:fld>
            <a:endParaRPr lang="en-US"/>
          </a:p>
        </p:txBody>
      </p:sp>
    </p:spTree>
    <p:extLst>
      <p:ext uri="{BB962C8B-B14F-4D97-AF65-F5344CB8AC3E}">
        <p14:creationId xmlns:p14="http://schemas.microsoft.com/office/powerpoint/2010/main" val="1114782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203943"/>
            <a:ext cx="10515600" cy="1325563"/>
          </a:xfrm>
        </p:spPr>
        <p:txBody>
          <a:bodyPr/>
          <a:lstStyle>
            <a:lvl1pPr>
              <a:lnSpc>
                <a:spcPct val="100000"/>
              </a:lnSpc>
              <a:defRPr/>
            </a:lvl1pPr>
          </a:lstStyle>
          <a:p>
            <a:r>
              <a:rPr lang="en-US" dirty="0"/>
              <a:t>Click to edit Master title style</a:t>
            </a:r>
          </a:p>
        </p:txBody>
      </p:sp>
      <p:sp>
        <p:nvSpPr>
          <p:cNvPr id="3" name="Content Placeholder 2"/>
          <p:cNvSpPr>
            <a:spLocks noGrp="1"/>
          </p:cNvSpPr>
          <p:nvPr>
            <p:ph idx="1"/>
          </p:nvPr>
        </p:nvSpPr>
        <p:spPr>
          <a:xfrm>
            <a:off x="838200" y="1762699"/>
            <a:ext cx="10515600" cy="4715922"/>
          </a:xfrm>
        </p:spPr>
        <p:txBody>
          <a:bodyPr/>
          <a:lstStyle>
            <a:lvl1pPr>
              <a:lnSpc>
                <a:spcPct val="100000"/>
              </a:lnSpc>
              <a:defRPr>
                <a:solidFill>
                  <a:schemeClr val="tx1">
                    <a:lumMod val="85000"/>
                    <a:lumOff val="15000"/>
                  </a:schemeClr>
                </a:solidFill>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566170"/>
            <a:ext cx="2743200" cy="291830"/>
          </a:xfrm>
        </p:spPr>
        <p:txBody>
          <a:bodyPr/>
          <a:lstStyle/>
          <a:p>
            <a:fld id="{606F8D0E-B952-4BCC-B753-35079F19C465}" type="datetime1">
              <a:rPr lang="en-US" smtClean="0"/>
              <a:t>8/25/2020</a:t>
            </a:fld>
            <a:endParaRPr lang="en-US" dirty="0"/>
          </a:p>
        </p:txBody>
      </p:sp>
      <p:sp>
        <p:nvSpPr>
          <p:cNvPr id="5" name="Footer Placeholder 4"/>
          <p:cNvSpPr>
            <a:spLocks noGrp="1"/>
          </p:cNvSpPr>
          <p:nvPr>
            <p:ph type="ftr" sz="quarter" idx="11"/>
          </p:nvPr>
        </p:nvSpPr>
        <p:spPr>
          <a:xfrm>
            <a:off x="4038600" y="6566170"/>
            <a:ext cx="4114800" cy="291830"/>
          </a:xfrm>
        </p:spPr>
        <p:txBody>
          <a:bodyPr/>
          <a:lstStyle/>
          <a:p>
            <a:r>
              <a:rPr lang="en-HK"/>
              <a:t>Sessions 2-3 Structural and linguistic features of RAs 01</a:t>
            </a:r>
            <a:endParaRPr lang="en-US" dirty="0"/>
          </a:p>
        </p:txBody>
      </p:sp>
      <p:sp>
        <p:nvSpPr>
          <p:cNvPr id="6" name="Slide Number Placeholder 5"/>
          <p:cNvSpPr>
            <a:spLocks noGrp="1"/>
          </p:cNvSpPr>
          <p:nvPr>
            <p:ph type="sldNum" sz="quarter" idx="12"/>
          </p:nvPr>
        </p:nvSpPr>
        <p:spPr>
          <a:xfrm>
            <a:off x="8610600" y="6566170"/>
            <a:ext cx="2743200" cy="291830"/>
          </a:xfrm>
        </p:spPr>
        <p:txBody>
          <a:bodyPr/>
          <a:lstStyle/>
          <a:p>
            <a:fld id="{61498E3A-99BC-45FF-B0E7-72DEF86357C7}" type="slidenum">
              <a:rPr lang="en-US" smtClean="0"/>
              <a:t>‹#›</a:t>
            </a:fld>
            <a:endParaRPr lang="en-US"/>
          </a:p>
        </p:txBody>
      </p:sp>
    </p:spTree>
    <p:extLst>
      <p:ext uri="{BB962C8B-B14F-4D97-AF65-F5344CB8AC3E}">
        <p14:creationId xmlns:p14="http://schemas.microsoft.com/office/powerpoint/2010/main" val="149183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30685DD-D69B-435D-87EF-C23F75835B11}" type="datetime1">
              <a:rPr lang="en-US" smtClean="0"/>
              <a:t>8/25/2020</a:t>
            </a:fld>
            <a:endParaRPr lang="en-US"/>
          </a:p>
        </p:txBody>
      </p:sp>
      <p:sp>
        <p:nvSpPr>
          <p:cNvPr id="5" name="Footer Placeholder 4"/>
          <p:cNvSpPr>
            <a:spLocks noGrp="1"/>
          </p:cNvSpPr>
          <p:nvPr>
            <p:ph type="ftr" sz="quarter" idx="11"/>
          </p:nvPr>
        </p:nvSpPr>
        <p:spPr/>
        <p:txBody>
          <a:bodyPr/>
          <a:lstStyle/>
          <a:p>
            <a:r>
              <a:rPr lang="en-HK"/>
              <a:t>Sessions 2-3 Structural and linguistic features of RAs 01</a:t>
            </a:r>
            <a:endParaRPr lang="en-US"/>
          </a:p>
        </p:txBody>
      </p:sp>
      <p:sp>
        <p:nvSpPr>
          <p:cNvPr id="6" name="Slide Number Placeholder 5"/>
          <p:cNvSpPr>
            <a:spLocks noGrp="1"/>
          </p:cNvSpPr>
          <p:nvPr>
            <p:ph type="sldNum" sz="quarter" idx="12"/>
          </p:nvPr>
        </p:nvSpPr>
        <p:spPr/>
        <p:txBody>
          <a:bodyPr/>
          <a:lstStyle/>
          <a:p>
            <a:fld id="{61498E3A-99BC-45FF-B0E7-72DEF86357C7}" type="slidenum">
              <a:rPr lang="en-US" smtClean="0"/>
              <a:t>‹#›</a:t>
            </a:fld>
            <a:endParaRPr lang="en-US"/>
          </a:p>
        </p:txBody>
      </p:sp>
    </p:spTree>
    <p:extLst>
      <p:ext uri="{BB962C8B-B14F-4D97-AF65-F5344CB8AC3E}">
        <p14:creationId xmlns:p14="http://schemas.microsoft.com/office/powerpoint/2010/main" val="3458672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5861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5861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5F801BE-A7DB-494D-8859-C26FC9C8B486}" type="datetime1">
              <a:rPr lang="en-US" smtClean="0"/>
              <a:t>8/25/2020</a:t>
            </a:fld>
            <a:endParaRPr lang="en-US"/>
          </a:p>
        </p:txBody>
      </p:sp>
      <p:sp>
        <p:nvSpPr>
          <p:cNvPr id="6" name="Footer Placeholder 5"/>
          <p:cNvSpPr>
            <a:spLocks noGrp="1"/>
          </p:cNvSpPr>
          <p:nvPr>
            <p:ph type="ftr" sz="quarter" idx="11"/>
          </p:nvPr>
        </p:nvSpPr>
        <p:spPr/>
        <p:txBody>
          <a:bodyPr/>
          <a:lstStyle/>
          <a:p>
            <a:r>
              <a:rPr lang="en-HK"/>
              <a:t>Sessions 2-3 Structural and linguistic features of RAs 01</a:t>
            </a:r>
            <a:endParaRPr lang="en-US"/>
          </a:p>
        </p:txBody>
      </p:sp>
      <p:sp>
        <p:nvSpPr>
          <p:cNvPr id="7" name="Slide Number Placeholder 6"/>
          <p:cNvSpPr>
            <a:spLocks noGrp="1"/>
          </p:cNvSpPr>
          <p:nvPr>
            <p:ph type="sldNum" sz="quarter" idx="12"/>
          </p:nvPr>
        </p:nvSpPr>
        <p:spPr/>
        <p:txBody>
          <a:bodyPr/>
          <a:lstStyle/>
          <a:p>
            <a:fld id="{61498E3A-99BC-45FF-B0E7-72DEF86357C7}" type="slidenum">
              <a:rPr lang="en-US" smtClean="0"/>
              <a:t>‹#›</a:t>
            </a:fld>
            <a:endParaRPr lang="en-US"/>
          </a:p>
        </p:txBody>
      </p:sp>
    </p:spTree>
    <p:extLst>
      <p:ext uri="{BB962C8B-B14F-4D97-AF65-F5344CB8AC3E}">
        <p14:creationId xmlns:p14="http://schemas.microsoft.com/office/powerpoint/2010/main" val="3340650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8200" y="203994"/>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599450"/>
            <a:ext cx="5157787" cy="823912"/>
          </a:xfrm>
        </p:spPr>
        <p:txBody>
          <a:bodyPr anchor="ct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839788" y="2423362"/>
            <a:ext cx="5157787" cy="39554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0612" y="1599450"/>
            <a:ext cx="5183188" cy="823912"/>
          </a:xfrm>
        </p:spPr>
        <p:txBody>
          <a:bodyPr anchor="ct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6172200" y="2423362"/>
            <a:ext cx="5183188" cy="39554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C549F6B-17C9-4D9E-9ABD-C2B785CB0613}" type="datetime1">
              <a:rPr lang="en-US" smtClean="0"/>
              <a:t>8/25/2020</a:t>
            </a:fld>
            <a:endParaRPr lang="en-US"/>
          </a:p>
        </p:txBody>
      </p:sp>
      <p:sp>
        <p:nvSpPr>
          <p:cNvPr id="8" name="Footer Placeholder 7"/>
          <p:cNvSpPr>
            <a:spLocks noGrp="1"/>
          </p:cNvSpPr>
          <p:nvPr>
            <p:ph type="ftr" sz="quarter" idx="11"/>
          </p:nvPr>
        </p:nvSpPr>
        <p:spPr/>
        <p:txBody>
          <a:bodyPr/>
          <a:lstStyle/>
          <a:p>
            <a:r>
              <a:rPr lang="en-HK"/>
              <a:t>Sessions 2-3 Structural and linguistic features of RAs 01</a:t>
            </a:r>
            <a:endParaRPr lang="en-US"/>
          </a:p>
        </p:txBody>
      </p:sp>
      <p:sp>
        <p:nvSpPr>
          <p:cNvPr id="9" name="Slide Number Placeholder 8"/>
          <p:cNvSpPr>
            <a:spLocks noGrp="1"/>
          </p:cNvSpPr>
          <p:nvPr>
            <p:ph type="sldNum" sz="quarter" idx="12"/>
          </p:nvPr>
        </p:nvSpPr>
        <p:spPr/>
        <p:txBody>
          <a:bodyPr/>
          <a:lstStyle/>
          <a:p>
            <a:fld id="{61498E3A-99BC-45FF-B0E7-72DEF86357C7}" type="slidenum">
              <a:rPr lang="en-US" smtClean="0"/>
              <a:t>‹#›</a:t>
            </a:fld>
            <a:endParaRPr lang="en-US"/>
          </a:p>
        </p:txBody>
      </p:sp>
    </p:spTree>
    <p:extLst>
      <p:ext uri="{BB962C8B-B14F-4D97-AF65-F5344CB8AC3E}">
        <p14:creationId xmlns:p14="http://schemas.microsoft.com/office/powerpoint/2010/main" val="17635645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8510D22-33AA-4894-A0C2-63D3D219472B}" type="datetime1">
              <a:rPr lang="en-US" smtClean="0"/>
              <a:t>8/25/2020</a:t>
            </a:fld>
            <a:endParaRPr lang="en-US"/>
          </a:p>
        </p:txBody>
      </p:sp>
      <p:sp>
        <p:nvSpPr>
          <p:cNvPr id="4" name="Footer Placeholder 3"/>
          <p:cNvSpPr>
            <a:spLocks noGrp="1"/>
          </p:cNvSpPr>
          <p:nvPr>
            <p:ph type="ftr" sz="quarter" idx="11"/>
          </p:nvPr>
        </p:nvSpPr>
        <p:spPr/>
        <p:txBody>
          <a:bodyPr/>
          <a:lstStyle/>
          <a:p>
            <a:r>
              <a:rPr lang="en-HK"/>
              <a:t>Sessions 2-3 Structural and linguistic features of RAs 01</a:t>
            </a:r>
            <a:endParaRPr lang="en-US"/>
          </a:p>
        </p:txBody>
      </p:sp>
      <p:sp>
        <p:nvSpPr>
          <p:cNvPr id="5" name="Slide Number Placeholder 4"/>
          <p:cNvSpPr>
            <a:spLocks noGrp="1"/>
          </p:cNvSpPr>
          <p:nvPr>
            <p:ph type="sldNum" sz="quarter" idx="12"/>
          </p:nvPr>
        </p:nvSpPr>
        <p:spPr/>
        <p:txBody>
          <a:bodyPr/>
          <a:lstStyle/>
          <a:p>
            <a:fld id="{61498E3A-99BC-45FF-B0E7-72DEF86357C7}" type="slidenum">
              <a:rPr lang="en-US" smtClean="0"/>
              <a:t>‹#›</a:t>
            </a:fld>
            <a:endParaRPr lang="en-US"/>
          </a:p>
        </p:txBody>
      </p:sp>
    </p:spTree>
    <p:extLst>
      <p:ext uri="{BB962C8B-B14F-4D97-AF65-F5344CB8AC3E}">
        <p14:creationId xmlns:p14="http://schemas.microsoft.com/office/powerpoint/2010/main" val="131544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5459BF-5D55-469D-9A87-D197E432D6C6}" type="datetime1">
              <a:rPr lang="en-US" smtClean="0"/>
              <a:t>8/25/2020</a:t>
            </a:fld>
            <a:endParaRPr lang="en-US"/>
          </a:p>
        </p:txBody>
      </p:sp>
      <p:sp>
        <p:nvSpPr>
          <p:cNvPr id="3" name="Footer Placeholder 2"/>
          <p:cNvSpPr>
            <a:spLocks noGrp="1"/>
          </p:cNvSpPr>
          <p:nvPr>
            <p:ph type="ftr" sz="quarter" idx="11"/>
          </p:nvPr>
        </p:nvSpPr>
        <p:spPr/>
        <p:txBody>
          <a:bodyPr/>
          <a:lstStyle/>
          <a:p>
            <a:r>
              <a:rPr lang="en-HK"/>
              <a:t>Sessions 2-3 Structural and linguistic features of RAs 01</a:t>
            </a:r>
            <a:endParaRPr lang="en-US"/>
          </a:p>
        </p:txBody>
      </p:sp>
      <p:sp>
        <p:nvSpPr>
          <p:cNvPr id="4" name="Slide Number Placeholder 3"/>
          <p:cNvSpPr>
            <a:spLocks noGrp="1"/>
          </p:cNvSpPr>
          <p:nvPr>
            <p:ph type="sldNum" sz="quarter" idx="12"/>
          </p:nvPr>
        </p:nvSpPr>
        <p:spPr/>
        <p:txBody>
          <a:bodyPr/>
          <a:lstStyle/>
          <a:p>
            <a:fld id="{61498E3A-99BC-45FF-B0E7-72DEF86357C7}" type="slidenum">
              <a:rPr lang="en-US" smtClean="0"/>
              <a:t>‹#›</a:t>
            </a:fld>
            <a:endParaRPr lang="en-US"/>
          </a:p>
        </p:txBody>
      </p:sp>
    </p:spTree>
    <p:extLst>
      <p:ext uri="{BB962C8B-B14F-4D97-AF65-F5344CB8AC3E}">
        <p14:creationId xmlns:p14="http://schemas.microsoft.com/office/powerpoint/2010/main" val="1184632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BF58387-3B71-48A9-B12F-490647761740}" type="datetime1">
              <a:rPr lang="en-US" smtClean="0"/>
              <a:t>8/25/2020</a:t>
            </a:fld>
            <a:endParaRPr lang="en-US"/>
          </a:p>
        </p:txBody>
      </p:sp>
      <p:sp>
        <p:nvSpPr>
          <p:cNvPr id="6" name="Footer Placeholder 5"/>
          <p:cNvSpPr>
            <a:spLocks noGrp="1"/>
          </p:cNvSpPr>
          <p:nvPr>
            <p:ph type="ftr" sz="quarter" idx="11"/>
          </p:nvPr>
        </p:nvSpPr>
        <p:spPr/>
        <p:txBody>
          <a:bodyPr/>
          <a:lstStyle/>
          <a:p>
            <a:r>
              <a:rPr lang="en-HK"/>
              <a:t>Sessions 2-3 Structural and linguistic features of RAs 01</a:t>
            </a:r>
            <a:endParaRPr lang="en-US"/>
          </a:p>
        </p:txBody>
      </p:sp>
      <p:sp>
        <p:nvSpPr>
          <p:cNvPr id="7" name="Slide Number Placeholder 6"/>
          <p:cNvSpPr>
            <a:spLocks noGrp="1"/>
          </p:cNvSpPr>
          <p:nvPr>
            <p:ph type="sldNum" sz="quarter" idx="12"/>
          </p:nvPr>
        </p:nvSpPr>
        <p:spPr/>
        <p:txBody>
          <a:bodyPr/>
          <a:lstStyle/>
          <a:p>
            <a:fld id="{61498E3A-99BC-45FF-B0E7-72DEF86357C7}" type="slidenum">
              <a:rPr lang="en-US" smtClean="0"/>
              <a:t>‹#›</a:t>
            </a:fld>
            <a:endParaRPr lang="en-US"/>
          </a:p>
        </p:txBody>
      </p:sp>
    </p:spTree>
    <p:extLst>
      <p:ext uri="{BB962C8B-B14F-4D97-AF65-F5344CB8AC3E}">
        <p14:creationId xmlns:p14="http://schemas.microsoft.com/office/powerpoint/2010/main" val="1018209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07D85E4-D1E4-40B4-B54D-8EEBE88F7AC4}" type="datetime1">
              <a:rPr lang="en-US" smtClean="0"/>
              <a:t>8/25/2020</a:t>
            </a:fld>
            <a:endParaRPr lang="en-US"/>
          </a:p>
        </p:txBody>
      </p:sp>
      <p:sp>
        <p:nvSpPr>
          <p:cNvPr id="6" name="Footer Placeholder 5"/>
          <p:cNvSpPr>
            <a:spLocks noGrp="1"/>
          </p:cNvSpPr>
          <p:nvPr>
            <p:ph type="ftr" sz="quarter" idx="11"/>
          </p:nvPr>
        </p:nvSpPr>
        <p:spPr/>
        <p:txBody>
          <a:bodyPr/>
          <a:lstStyle/>
          <a:p>
            <a:r>
              <a:rPr lang="en-HK"/>
              <a:t>Sessions 2-3 Structural and linguistic features of RAs 01</a:t>
            </a:r>
            <a:endParaRPr lang="en-US"/>
          </a:p>
        </p:txBody>
      </p:sp>
      <p:sp>
        <p:nvSpPr>
          <p:cNvPr id="7" name="Slide Number Placeholder 6"/>
          <p:cNvSpPr>
            <a:spLocks noGrp="1"/>
          </p:cNvSpPr>
          <p:nvPr>
            <p:ph type="sldNum" sz="quarter" idx="12"/>
          </p:nvPr>
        </p:nvSpPr>
        <p:spPr/>
        <p:txBody>
          <a:bodyPr/>
          <a:lstStyle/>
          <a:p>
            <a:fld id="{61498E3A-99BC-45FF-B0E7-72DEF86357C7}" type="slidenum">
              <a:rPr lang="en-US" smtClean="0"/>
              <a:t>‹#›</a:t>
            </a:fld>
            <a:endParaRPr lang="en-US"/>
          </a:p>
        </p:txBody>
      </p:sp>
    </p:spTree>
    <p:extLst>
      <p:ext uri="{BB962C8B-B14F-4D97-AF65-F5344CB8AC3E}">
        <p14:creationId xmlns:p14="http://schemas.microsoft.com/office/powerpoint/2010/main" val="3982298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639511-3E89-4EFF-BD5B-087B64B55CCC}" type="datetime1">
              <a:rPr lang="en-US" smtClean="0"/>
              <a:t>8/25/2020</a:t>
            </a:fld>
            <a:endParaRPr lang="en-US"/>
          </a:p>
        </p:txBody>
      </p:sp>
      <p:sp>
        <p:nvSpPr>
          <p:cNvPr id="5" name="Footer Placeholder 4"/>
          <p:cNvSpPr>
            <a:spLocks noGrp="1"/>
          </p:cNvSpPr>
          <p:nvPr>
            <p:ph type="ftr" sz="quarter" idx="11"/>
          </p:nvPr>
        </p:nvSpPr>
        <p:spPr/>
        <p:txBody>
          <a:bodyPr/>
          <a:lstStyle/>
          <a:p>
            <a:r>
              <a:rPr lang="en-HK"/>
              <a:t>Sessions 2-3 Structural and linguistic features of RAs 01</a:t>
            </a:r>
            <a:endParaRPr lang="en-US"/>
          </a:p>
        </p:txBody>
      </p:sp>
      <p:sp>
        <p:nvSpPr>
          <p:cNvPr id="6" name="Slide Number Placeholder 5"/>
          <p:cNvSpPr>
            <a:spLocks noGrp="1"/>
          </p:cNvSpPr>
          <p:nvPr>
            <p:ph type="sldNum" sz="quarter" idx="12"/>
          </p:nvPr>
        </p:nvSpPr>
        <p:spPr/>
        <p:txBody>
          <a:bodyPr/>
          <a:lstStyle/>
          <a:p>
            <a:fld id="{61498E3A-99BC-45FF-B0E7-72DEF86357C7}" type="slidenum">
              <a:rPr lang="en-US" smtClean="0"/>
              <a:t>‹#›</a:t>
            </a:fld>
            <a:endParaRPr lang="en-US"/>
          </a:p>
        </p:txBody>
      </p:sp>
    </p:spTree>
    <p:extLst>
      <p:ext uri="{BB962C8B-B14F-4D97-AF65-F5344CB8AC3E}">
        <p14:creationId xmlns:p14="http://schemas.microsoft.com/office/powerpoint/2010/main" val="1376373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2D7365-FC03-4B05-9CC0-335AFA57E1D9}" type="datetime1">
              <a:rPr lang="en-US" smtClean="0"/>
              <a:t>8/25/2020</a:t>
            </a:fld>
            <a:endParaRPr lang="en-US"/>
          </a:p>
        </p:txBody>
      </p:sp>
      <p:sp>
        <p:nvSpPr>
          <p:cNvPr id="5" name="Footer Placeholder 4"/>
          <p:cNvSpPr>
            <a:spLocks noGrp="1"/>
          </p:cNvSpPr>
          <p:nvPr>
            <p:ph type="ftr" sz="quarter" idx="11"/>
          </p:nvPr>
        </p:nvSpPr>
        <p:spPr/>
        <p:txBody>
          <a:bodyPr/>
          <a:lstStyle/>
          <a:p>
            <a:r>
              <a:rPr lang="en-HK"/>
              <a:t>Sessions 2-3 Structural and linguistic features of RAs 01</a:t>
            </a:r>
            <a:endParaRPr lang="en-US"/>
          </a:p>
        </p:txBody>
      </p:sp>
      <p:sp>
        <p:nvSpPr>
          <p:cNvPr id="6" name="Slide Number Placeholder 5"/>
          <p:cNvSpPr>
            <a:spLocks noGrp="1"/>
          </p:cNvSpPr>
          <p:nvPr>
            <p:ph type="sldNum" sz="quarter" idx="12"/>
          </p:nvPr>
        </p:nvSpPr>
        <p:spPr/>
        <p:txBody>
          <a:bodyPr/>
          <a:lstStyle/>
          <a:p>
            <a:fld id="{61498E3A-99BC-45FF-B0E7-72DEF86357C7}" type="slidenum">
              <a:rPr lang="en-US" smtClean="0"/>
              <a:t>‹#›</a:t>
            </a:fld>
            <a:endParaRPr lang="en-US"/>
          </a:p>
        </p:txBody>
      </p:sp>
    </p:spTree>
    <p:extLst>
      <p:ext uri="{BB962C8B-B14F-4D97-AF65-F5344CB8AC3E}">
        <p14:creationId xmlns:p14="http://schemas.microsoft.com/office/powerpoint/2010/main" val="2635387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2067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762699"/>
            <a:ext cx="10515600" cy="464911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492875"/>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46EF36-B9E6-42E6-A3A6-B3767981D87E}" type="datetime1">
              <a:rPr lang="en-US" smtClean="0"/>
              <a:t>8/25/2020</a:t>
            </a:fld>
            <a:endParaRPr lang="en-US"/>
          </a:p>
        </p:txBody>
      </p:sp>
      <p:sp>
        <p:nvSpPr>
          <p:cNvPr id="5" name="Footer Placeholder 4"/>
          <p:cNvSpPr>
            <a:spLocks noGrp="1"/>
          </p:cNvSpPr>
          <p:nvPr>
            <p:ph type="ftr" sz="quarter" idx="3"/>
          </p:nvPr>
        </p:nvSpPr>
        <p:spPr>
          <a:xfrm>
            <a:off x="4038600" y="6492875"/>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HK"/>
              <a:t>Sessions 2-3 Structural and linguistic features of RAs 01</a:t>
            </a:r>
            <a:endParaRPr lang="en-US" dirty="0"/>
          </a:p>
        </p:txBody>
      </p:sp>
      <p:sp>
        <p:nvSpPr>
          <p:cNvPr id="6" name="Slide Number Placeholder 5"/>
          <p:cNvSpPr>
            <a:spLocks noGrp="1"/>
          </p:cNvSpPr>
          <p:nvPr>
            <p:ph type="sldNum" sz="quarter" idx="4"/>
          </p:nvPr>
        </p:nvSpPr>
        <p:spPr>
          <a:xfrm>
            <a:off x="8610600" y="6492875"/>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498E3A-99BC-45FF-B0E7-72DEF86357C7}" type="slidenum">
              <a:rPr lang="en-US" smtClean="0"/>
              <a:t>‹#›</a:t>
            </a:fld>
            <a:endParaRPr lang="en-US"/>
          </a:p>
        </p:txBody>
      </p:sp>
    </p:spTree>
    <p:extLst>
      <p:ext uri="{BB962C8B-B14F-4D97-AF65-F5344CB8AC3E}">
        <p14:creationId xmlns:p14="http://schemas.microsoft.com/office/powerpoint/2010/main" val="15484707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19546" y="1517073"/>
            <a:ext cx="10325100" cy="3926796"/>
          </a:xfrm>
        </p:spPr>
        <p:txBody>
          <a:bodyPr anchor="t">
            <a:normAutofit fontScale="90000"/>
          </a:bodyPr>
          <a:lstStyle/>
          <a:p>
            <a:pPr>
              <a:lnSpc>
                <a:spcPct val="150000"/>
              </a:lnSpc>
              <a:spcBef>
                <a:spcPts val="1200"/>
              </a:spcBef>
            </a:pPr>
            <a:r>
              <a:rPr lang="en-US" b="1" dirty="0"/>
              <a:t>Session 4</a:t>
            </a:r>
            <a:br>
              <a:rPr lang="en-US" b="1" dirty="0"/>
            </a:br>
            <a:r>
              <a:rPr lang="en-US" b="1" dirty="0"/>
              <a:t>Writing </a:t>
            </a:r>
            <a:r>
              <a:rPr lang="en-US" b="1" dirty="0">
                <a:solidFill>
                  <a:srgbClr val="0070C0"/>
                </a:solidFill>
              </a:rPr>
              <a:t>non-empirical Papers: </a:t>
            </a:r>
            <a:r>
              <a:rPr lang="en-US" b="1" dirty="0">
                <a:solidFill>
                  <a:schemeClr val="tx1">
                    <a:lumMod val="65000"/>
                    <a:lumOff val="35000"/>
                  </a:schemeClr>
                </a:solidFill>
              </a:rPr>
              <a:t>Three Types</a:t>
            </a:r>
            <a:endParaRPr lang="en-US" sz="4400" b="1" dirty="0">
              <a:solidFill>
                <a:schemeClr val="tx1">
                  <a:lumMod val="65000"/>
                  <a:lumOff val="35000"/>
                </a:schemeClr>
              </a:solidFill>
            </a:endParaRPr>
          </a:p>
        </p:txBody>
      </p:sp>
      <p:sp>
        <p:nvSpPr>
          <p:cNvPr id="3" name="Subtitle 2"/>
          <p:cNvSpPr>
            <a:spLocks noGrp="1"/>
          </p:cNvSpPr>
          <p:nvPr>
            <p:ph type="subTitle" idx="1"/>
          </p:nvPr>
        </p:nvSpPr>
        <p:spPr>
          <a:xfrm>
            <a:off x="1524000" y="5443869"/>
            <a:ext cx="9144000" cy="1479683"/>
          </a:xfrm>
        </p:spPr>
        <p:txBody>
          <a:bodyPr anchor="ctr"/>
          <a:lstStyle/>
          <a:p>
            <a:r>
              <a:rPr lang="en-US" dirty="0">
                <a:solidFill>
                  <a:schemeClr val="tx1">
                    <a:lumMod val="65000"/>
                    <a:lumOff val="35000"/>
                  </a:schemeClr>
                </a:solidFill>
              </a:rPr>
              <a:t>Language Centre</a:t>
            </a:r>
          </a:p>
          <a:p>
            <a:r>
              <a:rPr lang="en-US" dirty="0">
                <a:solidFill>
                  <a:schemeClr val="tx1">
                    <a:lumMod val="65000"/>
                    <a:lumOff val="35000"/>
                  </a:schemeClr>
                </a:solidFill>
              </a:rPr>
              <a:t>Hong Kong Baptist University</a:t>
            </a:r>
          </a:p>
        </p:txBody>
      </p:sp>
      <p:sp>
        <p:nvSpPr>
          <p:cNvPr id="4" name="Rectangle 3"/>
          <p:cNvSpPr/>
          <p:nvPr/>
        </p:nvSpPr>
        <p:spPr>
          <a:xfrm>
            <a:off x="3048000" y="388834"/>
            <a:ext cx="6096000" cy="523220"/>
          </a:xfrm>
          <a:prstGeom prst="rect">
            <a:avLst/>
          </a:prstGeom>
        </p:spPr>
        <p:txBody>
          <a:bodyPr>
            <a:spAutoFit/>
          </a:bodyPr>
          <a:lstStyle/>
          <a:p>
            <a:pPr algn="ctr"/>
            <a:r>
              <a:rPr lang="en-US" sz="2800" b="1" dirty="0">
                <a:solidFill>
                  <a:schemeClr val="tx1">
                    <a:lumMod val="65000"/>
                    <a:lumOff val="35000"/>
                  </a:schemeClr>
                </a:solidFill>
              </a:rPr>
              <a:t>MCCP7020</a:t>
            </a:r>
            <a:endParaRPr lang="en-US" sz="2800" dirty="0"/>
          </a:p>
        </p:txBody>
      </p:sp>
    </p:spTree>
    <p:extLst>
      <p:ext uri="{BB962C8B-B14F-4D97-AF65-F5344CB8AC3E}">
        <p14:creationId xmlns:p14="http://schemas.microsoft.com/office/powerpoint/2010/main" val="18418897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 this Session,</a:t>
            </a:r>
          </a:p>
        </p:txBody>
      </p:sp>
      <p:sp>
        <p:nvSpPr>
          <p:cNvPr id="3" name="Content Placeholder 2"/>
          <p:cNvSpPr>
            <a:spLocks noGrp="1"/>
          </p:cNvSpPr>
          <p:nvPr>
            <p:ph idx="1"/>
          </p:nvPr>
        </p:nvSpPr>
        <p:spPr/>
        <p:txBody>
          <a:bodyPr/>
          <a:lstStyle/>
          <a:p>
            <a:pPr marL="0" indent="0">
              <a:buNone/>
            </a:pPr>
            <a:r>
              <a:rPr lang="en-GB" dirty="0"/>
              <a:t>You will be introduced to three types of non-empirical papers:</a:t>
            </a:r>
          </a:p>
          <a:p>
            <a:pPr marL="0" indent="0">
              <a:buNone/>
            </a:pPr>
            <a:endParaRPr lang="en-GB" dirty="0"/>
          </a:p>
          <a:p>
            <a:pPr marL="514350" indent="-514350">
              <a:lnSpc>
                <a:spcPct val="150000"/>
              </a:lnSpc>
              <a:buFont typeface="+mj-lt"/>
              <a:buAutoNum type="arabicPeriod"/>
            </a:pPr>
            <a:r>
              <a:rPr lang="en-GB" dirty="0"/>
              <a:t>Theory Papers</a:t>
            </a:r>
          </a:p>
          <a:p>
            <a:pPr marL="514350" indent="-514350">
              <a:lnSpc>
                <a:spcPct val="150000"/>
              </a:lnSpc>
              <a:buFont typeface="+mj-lt"/>
              <a:buAutoNum type="arabicPeriod"/>
            </a:pPr>
            <a:r>
              <a:rPr lang="en-GB" dirty="0"/>
              <a:t>Conceptual articles</a:t>
            </a:r>
          </a:p>
          <a:p>
            <a:pPr marL="514350" indent="-514350">
              <a:lnSpc>
                <a:spcPct val="150000"/>
              </a:lnSpc>
              <a:buFont typeface="+mj-lt"/>
              <a:buAutoNum type="arabicPeriod"/>
            </a:pPr>
            <a:r>
              <a:rPr lang="en-GB" dirty="0"/>
              <a:t>Opinion Articles</a:t>
            </a:r>
          </a:p>
        </p:txBody>
      </p:sp>
      <p:sp>
        <p:nvSpPr>
          <p:cNvPr id="4" name="Slide Number Placeholder 3"/>
          <p:cNvSpPr>
            <a:spLocks noGrp="1"/>
          </p:cNvSpPr>
          <p:nvPr>
            <p:ph type="sldNum" sz="quarter" idx="12"/>
          </p:nvPr>
        </p:nvSpPr>
        <p:spPr/>
        <p:txBody>
          <a:bodyPr/>
          <a:lstStyle/>
          <a:p>
            <a:fld id="{61498E3A-99BC-45FF-B0E7-72DEF86357C7}" type="slidenum">
              <a:rPr lang="en-US" smtClean="0"/>
              <a:t>2</a:t>
            </a:fld>
            <a:endParaRPr lang="en-US"/>
          </a:p>
        </p:txBody>
      </p:sp>
    </p:spTree>
    <p:extLst>
      <p:ext uri="{BB962C8B-B14F-4D97-AF65-F5344CB8AC3E}">
        <p14:creationId xmlns:p14="http://schemas.microsoft.com/office/powerpoint/2010/main" val="482048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7195" y="0"/>
            <a:ext cx="10515600" cy="1325563"/>
          </a:xfrm>
        </p:spPr>
        <p:txBody>
          <a:bodyPr/>
          <a:lstStyle/>
          <a:p>
            <a:r>
              <a:rPr lang="en-US" dirty="0"/>
              <a:t>Before start writing a </a:t>
            </a:r>
            <a:r>
              <a:rPr lang="en-US" dirty="0" err="1"/>
              <a:t>nonempirical</a:t>
            </a:r>
            <a:r>
              <a:rPr lang="en-US" dirty="0"/>
              <a:t> paper:</a:t>
            </a:r>
            <a:endParaRPr lang="en-GB" dirty="0"/>
          </a:p>
        </p:txBody>
      </p:sp>
      <p:sp>
        <p:nvSpPr>
          <p:cNvPr id="3" name="Content Placeholder 2"/>
          <p:cNvSpPr>
            <a:spLocks noGrp="1"/>
          </p:cNvSpPr>
          <p:nvPr>
            <p:ph idx="1"/>
          </p:nvPr>
        </p:nvSpPr>
        <p:spPr>
          <a:xfrm>
            <a:off x="696191" y="1529506"/>
            <a:ext cx="11378045" cy="5214194"/>
          </a:xfrm>
        </p:spPr>
        <p:txBody>
          <a:bodyPr>
            <a:normAutofit/>
          </a:bodyPr>
          <a:lstStyle/>
          <a:p>
            <a:pPr marL="457200" indent="-457200">
              <a:buFont typeface="+mj-lt"/>
              <a:buAutoNum type="arabicPeriod"/>
            </a:pPr>
            <a:r>
              <a:rPr lang="en-HK" dirty="0"/>
              <a:t>Do I want to publish in a </a:t>
            </a:r>
            <a:r>
              <a:rPr lang="en-HK" dirty="0">
                <a:solidFill>
                  <a:srgbClr val="800000"/>
                </a:solidFill>
              </a:rPr>
              <a:t>journal</a:t>
            </a:r>
            <a:r>
              <a:rPr lang="en-HK" dirty="0"/>
              <a:t> that is primarily theoretical and conceptual, or do I want to include it in a journal with broader inclusion of article types? </a:t>
            </a:r>
          </a:p>
          <a:p>
            <a:pPr marL="457200" indent="-457200">
              <a:buFont typeface="+mj-lt"/>
              <a:buAutoNum type="arabicPeriod"/>
            </a:pPr>
            <a:r>
              <a:rPr lang="en-HK" dirty="0"/>
              <a:t>What </a:t>
            </a:r>
            <a:r>
              <a:rPr lang="en-HK" dirty="0">
                <a:solidFill>
                  <a:srgbClr val="800000"/>
                </a:solidFill>
              </a:rPr>
              <a:t>audience</a:t>
            </a:r>
            <a:r>
              <a:rPr lang="en-HK" dirty="0"/>
              <a:t> do I want to inﬂuence? </a:t>
            </a:r>
          </a:p>
          <a:p>
            <a:pPr marL="457200" indent="-457200">
              <a:buFont typeface="+mj-lt"/>
              <a:buAutoNum type="arabicPeriod"/>
            </a:pPr>
            <a:r>
              <a:rPr lang="en-HK" dirty="0"/>
              <a:t>What is my </a:t>
            </a:r>
            <a:r>
              <a:rPr lang="en-HK" dirty="0">
                <a:solidFill>
                  <a:srgbClr val="800000"/>
                </a:solidFill>
              </a:rPr>
              <a:t>purpose</a:t>
            </a:r>
            <a:r>
              <a:rPr lang="en-HK" dirty="0"/>
              <a:t> for writing this article? </a:t>
            </a:r>
          </a:p>
          <a:p>
            <a:pPr marL="457200" indent="-457200">
              <a:buFont typeface="+mj-lt"/>
              <a:buAutoNum type="arabicPeriod"/>
            </a:pPr>
            <a:r>
              <a:rPr lang="en-HK" dirty="0"/>
              <a:t>What journals are interested in the </a:t>
            </a:r>
            <a:r>
              <a:rPr lang="en-HK" dirty="0">
                <a:solidFill>
                  <a:srgbClr val="800000"/>
                </a:solidFill>
              </a:rPr>
              <a:t>content matter </a:t>
            </a:r>
            <a:r>
              <a:rPr lang="en-HK" dirty="0"/>
              <a:t>of my article? </a:t>
            </a:r>
          </a:p>
          <a:p>
            <a:pPr marL="457200" indent="-457200">
              <a:buFont typeface="+mj-lt"/>
              <a:buAutoNum type="arabicPeriod"/>
            </a:pPr>
            <a:r>
              <a:rPr lang="en-HK" dirty="0"/>
              <a:t>What journals do I most often </a:t>
            </a:r>
            <a:r>
              <a:rPr lang="en-HK" dirty="0">
                <a:solidFill>
                  <a:srgbClr val="800000"/>
                </a:solidFill>
              </a:rPr>
              <a:t>cite</a:t>
            </a:r>
            <a:r>
              <a:rPr lang="en-HK" dirty="0"/>
              <a:t> in my article? </a:t>
            </a:r>
          </a:p>
          <a:p>
            <a:pPr marL="457200" indent="-457200">
              <a:buFont typeface="+mj-lt"/>
              <a:buAutoNum type="arabicPeriod"/>
            </a:pPr>
            <a:r>
              <a:rPr lang="en-HK" dirty="0"/>
              <a:t>Do I want fast turnaround, or am I willing to wait longer? </a:t>
            </a:r>
            <a:br>
              <a:rPr lang="en-HK" dirty="0"/>
            </a:br>
            <a:r>
              <a:rPr lang="en-HK" sz="2400" dirty="0">
                <a:solidFill>
                  <a:srgbClr val="002060"/>
                </a:solidFill>
              </a:rPr>
              <a:t>Some journals take very long for the referee process; others are much faster.</a:t>
            </a:r>
            <a:r>
              <a:rPr lang="en-HK" dirty="0"/>
              <a:t>  </a:t>
            </a:r>
          </a:p>
          <a:p>
            <a:pPr marL="457200" indent="-457200">
              <a:buFont typeface="+mj-lt"/>
              <a:buAutoNum type="arabicPeriod"/>
            </a:pPr>
            <a:r>
              <a:rPr lang="en-HK" dirty="0"/>
              <a:t>Where do leaders in my ﬁeld publish? </a:t>
            </a:r>
            <a:endParaRPr lang="en-GB" dirty="0"/>
          </a:p>
        </p:txBody>
      </p:sp>
      <p:sp>
        <p:nvSpPr>
          <p:cNvPr id="4" name="Slide Number Placeholder 3"/>
          <p:cNvSpPr>
            <a:spLocks noGrp="1"/>
          </p:cNvSpPr>
          <p:nvPr>
            <p:ph type="sldNum" sz="quarter" idx="12"/>
          </p:nvPr>
        </p:nvSpPr>
        <p:spPr/>
        <p:txBody>
          <a:bodyPr/>
          <a:lstStyle/>
          <a:p>
            <a:fld id="{61498E3A-99BC-45FF-B0E7-72DEF86357C7}" type="slidenum">
              <a:rPr lang="en-US" smtClean="0"/>
              <a:t>3</a:t>
            </a:fld>
            <a:endParaRPr lang="en-US"/>
          </a:p>
        </p:txBody>
      </p:sp>
    </p:spTree>
    <p:extLst>
      <p:ext uri="{BB962C8B-B14F-4D97-AF65-F5344CB8AC3E}">
        <p14:creationId xmlns:p14="http://schemas.microsoft.com/office/powerpoint/2010/main" val="2631823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HK" sz="5400" dirty="0"/>
              <a:t>Writing </a:t>
            </a:r>
            <a:r>
              <a:rPr lang="en-HK" sz="5400" dirty="0">
                <a:solidFill>
                  <a:srgbClr val="8A0000"/>
                </a:solidFill>
              </a:rPr>
              <a:t>Theory Papers</a:t>
            </a:r>
            <a:endParaRPr lang="en-US" sz="5400" dirty="0">
              <a:solidFill>
                <a:srgbClr val="8A0000"/>
              </a:solidFill>
            </a:endParaRPr>
          </a:p>
        </p:txBody>
      </p:sp>
      <p:sp>
        <p:nvSpPr>
          <p:cNvPr id="7" name="Text Placeholder 6"/>
          <p:cNvSpPr>
            <a:spLocks noGrp="1"/>
          </p:cNvSpPr>
          <p:nvPr>
            <p:ph type="body" idx="1"/>
          </p:nvPr>
        </p:nvSpPr>
        <p:spPr/>
        <p:txBody>
          <a:bodyPr/>
          <a:lstStyle/>
          <a:p>
            <a:endParaRPr lang="en-US"/>
          </a:p>
        </p:txBody>
      </p:sp>
      <p:sp>
        <p:nvSpPr>
          <p:cNvPr id="2" name="Slide Number Placeholder 1"/>
          <p:cNvSpPr>
            <a:spLocks noGrp="1"/>
          </p:cNvSpPr>
          <p:nvPr>
            <p:ph type="sldNum" sz="quarter" idx="12"/>
          </p:nvPr>
        </p:nvSpPr>
        <p:spPr/>
        <p:txBody>
          <a:bodyPr/>
          <a:lstStyle/>
          <a:p>
            <a:fld id="{61498E3A-99BC-45FF-B0E7-72DEF86357C7}" type="slidenum">
              <a:rPr lang="en-US" smtClean="0"/>
              <a:t>4</a:t>
            </a:fld>
            <a:endParaRPr lang="en-US"/>
          </a:p>
        </p:txBody>
      </p:sp>
    </p:spTree>
    <p:extLst>
      <p:ext uri="{BB962C8B-B14F-4D97-AF65-F5344CB8AC3E}">
        <p14:creationId xmlns:p14="http://schemas.microsoft.com/office/powerpoint/2010/main" val="2957248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Theory building:</a:t>
            </a:r>
            <a:endParaRPr lang="en-GB" dirty="0"/>
          </a:p>
        </p:txBody>
      </p:sp>
      <p:sp>
        <p:nvSpPr>
          <p:cNvPr id="6" name="Content Placeholder 5"/>
          <p:cNvSpPr>
            <a:spLocks noGrp="1"/>
          </p:cNvSpPr>
          <p:nvPr>
            <p:ph idx="1"/>
          </p:nvPr>
        </p:nvSpPr>
        <p:spPr/>
        <p:txBody>
          <a:bodyPr/>
          <a:lstStyle/>
          <a:p>
            <a:endParaRPr lang="en-US" dirty="0"/>
          </a:p>
          <a:p>
            <a:pPr marL="0" indent="0">
              <a:buNone/>
            </a:pPr>
            <a:r>
              <a:rPr lang="en-HK" dirty="0"/>
              <a:t>Theory building: “the purposeful process or recurring cycle by which </a:t>
            </a:r>
            <a:r>
              <a:rPr lang="en-HK" dirty="0">
                <a:solidFill>
                  <a:srgbClr val="0070C0"/>
                </a:solidFill>
              </a:rPr>
              <a:t>coherent descriptions</a:t>
            </a:r>
            <a:r>
              <a:rPr lang="en-HK" dirty="0"/>
              <a:t>, </a:t>
            </a:r>
            <a:r>
              <a:rPr lang="en-HK" dirty="0">
                <a:solidFill>
                  <a:srgbClr val="0070C0"/>
                </a:solidFill>
              </a:rPr>
              <a:t>explanations</a:t>
            </a:r>
            <a:r>
              <a:rPr lang="en-HK" dirty="0"/>
              <a:t>, and </a:t>
            </a:r>
            <a:r>
              <a:rPr lang="en-HK" dirty="0">
                <a:solidFill>
                  <a:srgbClr val="0070C0"/>
                </a:solidFill>
              </a:rPr>
              <a:t>representations</a:t>
            </a:r>
            <a:r>
              <a:rPr lang="en-HK" dirty="0"/>
              <a:t> of </a:t>
            </a:r>
            <a:r>
              <a:rPr lang="en-HK" dirty="0">
                <a:solidFill>
                  <a:srgbClr val="800000"/>
                </a:solidFill>
              </a:rPr>
              <a:t>observed or experienced phenomena</a:t>
            </a:r>
            <a:r>
              <a:rPr lang="en-HK" dirty="0"/>
              <a:t> are </a:t>
            </a:r>
            <a:r>
              <a:rPr lang="en-HK" dirty="0">
                <a:solidFill>
                  <a:schemeClr val="accent6">
                    <a:lumMod val="75000"/>
                  </a:schemeClr>
                </a:solidFill>
              </a:rPr>
              <a:t>generated</a:t>
            </a:r>
            <a:r>
              <a:rPr lang="en-HK" dirty="0"/>
              <a:t>, </a:t>
            </a:r>
            <a:r>
              <a:rPr lang="en-HK" dirty="0">
                <a:solidFill>
                  <a:schemeClr val="accent6">
                    <a:lumMod val="75000"/>
                  </a:schemeClr>
                </a:solidFill>
              </a:rPr>
              <a:t>veriﬁed</a:t>
            </a:r>
            <a:r>
              <a:rPr lang="en-HK" dirty="0"/>
              <a:t>, and </a:t>
            </a:r>
            <a:r>
              <a:rPr lang="en-HK" dirty="0">
                <a:solidFill>
                  <a:schemeClr val="accent6">
                    <a:lumMod val="75000"/>
                  </a:schemeClr>
                </a:solidFill>
              </a:rPr>
              <a:t>reﬁned</a:t>
            </a:r>
            <a:r>
              <a:rPr lang="en-HK" dirty="0"/>
              <a:t> ” </a:t>
            </a:r>
          </a:p>
          <a:p>
            <a:pPr marL="0" indent="0" algn="r">
              <a:buNone/>
            </a:pPr>
            <a:r>
              <a:rPr lang="en-HK" dirty="0"/>
              <a:t>(</a:t>
            </a:r>
            <a:r>
              <a:rPr lang="en-HK" dirty="0" err="1"/>
              <a:t>Lynham</a:t>
            </a:r>
            <a:r>
              <a:rPr lang="en-HK" dirty="0"/>
              <a:t>, 2000a: 161) </a:t>
            </a:r>
            <a:endParaRPr lang="en-GB" dirty="0"/>
          </a:p>
        </p:txBody>
      </p:sp>
      <p:sp>
        <p:nvSpPr>
          <p:cNvPr id="4" name="Slide Number Placeholder 3"/>
          <p:cNvSpPr>
            <a:spLocks noGrp="1"/>
          </p:cNvSpPr>
          <p:nvPr>
            <p:ph type="sldNum" sz="quarter" idx="12"/>
          </p:nvPr>
        </p:nvSpPr>
        <p:spPr/>
        <p:txBody>
          <a:bodyPr/>
          <a:lstStyle/>
          <a:p>
            <a:fld id="{61498E3A-99BC-45FF-B0E7-72DEF86357C7}" type="slidenum">
              <a:rPr lang="en-US" smtClean="0"/>
              <a:t>5</a:t>
            </a:fld>
            <a:endParaRPr lang="en-US"/>
          </a:p>
        </p:txBody>
      </p:sp>
    </p:spTree>
    <p:extLst>
      <p:ext uri="{BB962C8B-B14F-4D97-AF65-F5344CB8AC3E}">
        <p14:creationId xmlns:p14="http://schemas.microsoft.com/office/powerpoint/2010/main" val="18412014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Theory papers in HRD:</a:t>
            </a:r>
            <a:endParaRPr lang="en-GB" dirty="0"/>
          </a:p>
        </p:txBody>
      </p:sp>
      <p:sp>
        <p:nvSpPr>
          <p:cNvPr id="3" name="Content Placeholder 2"/>
          <p:cNvSpPr>
            <a:spLocks noGrp="1"/>
          </p:cNvSpPr>
          <p:nvPr>
            <p:ph idx="1"/>
          </p:nvPr>
        </p:nvSpPr>
        <p:spPr>
          <a:xfrm>
            <a:off x="748145" y="1529506"/>
            <a:ext cx="10605655" cy="4876293"/>
          </a:xfrm>
        </p:spPr>
        <p:txBody>
          <a:bodyPr>
            <a:normAutofit fontScale="92500"/>
          </a:bodyPr>
          <a:lstStyle/>
          <a:p>
            <a:pPr marL="0" indent="0">
              <a:buNone/>
            </a:pPr>
            <a:r>
              <a:rPr lang="en-HK" b="1" i="1" dirty="0"/>
              <a:t>Human Resource Development Review </a:t>
            </a:r>
            <a:r>
              <a:rPr lang="en-HK" dirty="0"/>
              <a:t>(the theory journal for the Academy of HRD): </a:t>
            </a:r>
          </a:p>
          <a:p>
            <a:pPr marL="0" indent="0">
              <a:spcBef>
                <a:spcPts val="1200"/>
              </a:spcBef>
              <a:buNone/>
            </a:pPr>
            <a:r>
              <a:rPr lang="en-HK" i="1" dirty="0"/>
              <a:t>“Such papers may include </a:t>
            </a:r>
            <a:r>
              <a:rPr lang="en-HK" b="1" i="1" dirty="0"/>
              <a:t>syntheses of</a:t>
            </a:r>
            <a:r>
              <a:rPr lang="en-HK" i="1" dirty="0"/>
              <a:t> </a:t>
            </a:r>
            <a:r>
              <a:rPr lang="en-HK" i="1" dirty="0">
                <a:solidFill>
                  <a:srgbClr val="0070C0"/>
                </a:solidFill>
              </a:rPr>
              <a:t>existing bodies of theory</a:t>
            </a:r>
            <a:r>
              <a:rPr lang="en-HK" i="1" dirty="0"/>
              <a:t>, </a:t>
            </a:r>
            <a:r>
              <a:rPr lang="en-HK" i="1" dirty="0">
                <a:solidFill>
                  <a:srgbClr val="0070C0"/>
                </a:solidFill>
              </a:rPr>
              <a:t>new substantive theories</a:t>
            </a:r>
            <a:r>
              <a:rPr lang="en-HK" i="1" dirty="0"/>
              <a:t>, </a:t>
            </a:r>
            <a:r>
              <a:rPr lang="en-HK" i="1" dirty="0">
                <a:solidFill>
                  <a:srgbClr val="0070C0"/>
                </a:solidFill>
              </a:rPr>
              <a:t>exploratory conceptual models</a:t>
            </a:r>
            <a:r>
              <a:rPr lang="en-HK" i="1" dirty="0"/>
              <a:t>, </a:t>
            </a:r>
            <a:r>
              <a:rPr lang="en-HK" i="1" dirty="0">
                <a:solidFill>
                  <a:srgbClr val="0070C0"/>
                </a:solidFill>
              </a:rPr>
              <a:t>taxonomies and typology</a:t>
            </a:r>
            <a:r>
              <a:rPr lang="en-HK" i="1" dirty="0"/>
              <a:t> developed as foundations for theory, </a:t>
            </a:r>
            <a:r>
              <a:rPr lang="en-HK" i="1" dirty="0">
                <a:solidFill>
                  <a:srgbClr val="0070C0"/>
                </a:solidFill>
              </a:rPr>
              <a:t>treatises in formal theory construction</a:t>
            </a:r>
            <a:r>
              <a:rPr lang="en-HK" i="1" dirty="0"/>
              <a:t>, papers on the history of theory, critique of theory that includes alternative research propositions, metatheory, and integrative literature reviews with strong theoretical implications. Papers addressing foundations of HRD might address philosophies of HRD, historical foundations, deﬁnitions </a:t>
            </a:r>
            <a:r>
              <a:rPr lang="en-HK" i="1" dirty="0" err="1"/>
              <a:t>ofthe</a:t>
            </a:r>
            <a:r>
              <a:rPr lang="en-HK" i="1" dirty="0"/>
              <a:t> ﬁeld, conceptual organization of the ﬁeld, and ethical foundations.”</a:t>
            </a:r>
          </a:p>
          <a:p>
            <a:pPr marL="0" indent="0" algn="r">
              <a:buNone/>
            </a:pPr>
            <a:r>
              <a:rPr lang="en-HK" dirty="0"/>
              <a:t>(</a:t>
            </a:r>
            <a:r>
              <a:rPr lang="en-HK" dirty="0" err="1"/>
              <a:t>Torraco</a:t>
            </a:r>
            <a:r>
              <a:rPr lang="en-HK" dirty="0"/>
              <a:t>, 2005b)</a:t>
            </a:r>
            <a:endParaRPr lang="en-GB" dirty="0"/>
          </a:p>
        </p:txBody>
      </p:sp>
      <p:sp>
        <p:nvSpPr>
          <p:cNvPr id="4" name="Slide Number Placeholder 3"/>
          <p:cNvSpPr>
            <a:spLocks noGrp="1"/>
          </p:cNvSpPr>
          <p:nvPr>
            <p:ph type="sldNum" sz="quarter" idx="12"/>
          </p:nvPr>
        </p:nvSpPr>
        <p:spPr/>
        <p:txBody>
          <a:bodyPr/>
          <a:lstStyle/>
          <a:p>
            <a:fld id="{61498E3A-99BC-45FF-B0E7-72DEF86357C7}" type="slidenum">
              <a:rPr lang="en-US" smtClean="0"/>
              <a:t>6</a:t>
            </a:fld>
            <a:endParaRPr lang="en-US"/>
          </a:p>
        </p:txBody>
      </p:sp>
      <p:sp>
        <p:nvSpPr>
          <p:cNvPr id="5" name="Rectangle 4"/>
          <p:cNvSpPr/>
          <p:nvPr/>
        </p:nvSpPr>
        <p:spPr>
          <a:xfrm>
            <a:off x="592281" y="6436713"/>
            <a:ext cx="9133610" cy="400110"/>
          </a:xfrm>
          <a:prstGeom prst="rect">
            <a:avLst/>
          </a:prstGeom>
        </p:spPr>
        <p:txBody>
          <a:bodyPr wrap="square">
            <a:spAutoFit/>
          </a:bodyPr>
          <a:lstStyle/>
          <a:p>
            <a:r>
              <a:rPr lang="en-HK" sz="2000" b="1" dirty="0">
                <a:solidFill>
                  <a:schemeClr val="bg2">
                    <a:lumMod val="50000"/>
                  </a:schemeClr>
                </a:solidFill>
              </a:rPr>
              <a:t>treatise: </a:t>
            </a:r>
            <a:r>
              <a:rPr lang="en-HK" sz="2000" dirty="0">
                <a:solidFill>
                  <a:schemeClr val="bg2">
                    <a:lumMod val="50000"/>
                  </a:schemeClr>
                </a:solidFill>
              </a:rPr>
              <a:t>[n] a formal piece of writing that considers and examines a particular subject</a:t>
            </a:r>
            <a:endParaRPr lang="en-GB" sz="2000" dirty="0">
              <a:solidFill>
                <a:schemeClr val="bg2">
                  <a:lumMod val="50000"/>
                </a:schemeClr>
              </a:solidFill>
            </a:endParaRPr>
          </a:p>
        </p:txBody>
      </p:sp>
    </p:spTree>
    <p:extLst>
      <p:ext uri="{BB962C8B-B14F-4D97-AF65-F5344CB8AC3E}">
        <p14:creationId xmlns:p14="http://schemas.microsoft.com/office/powerpoint/2010/main" val="489715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 of a theory paper:</a:t>
            </a:r>
            <a:endParaRPr lang="en-GB" dirty="0"/>
          </a:p>
        </p:txBody>
      </p:sp>
      <p:sp>
        <p:nvSpPr>
          <p:cNvPr id="3" name="Content Placeholder 2"/>
          <p:cNvSpPr>
            <a:spLocks noGrp="1"/>
          </p:cNvSpPr>
          <p:nvPr>
            <p:ph idx="1"/>
          </p:nvPr>
        </p:nvSpPr>
        <p:spPr/>
        <p:txBody>
          <a:bodyPr>
            <a:normAutofit/>
          </a:bodyPr>
          <a:lstStyle/>
          <a:p>
            <a:pPr marL="514350" indent="-514350">
              <a:buFont typeface="+mj-lt"/>
              <a:buAutoNum type="arabicParenR"/>
            </a:pPr>
            <a:r>
              <a:rPr lang="en-HK" dirty="0"/>
              <a:t>Conceptual development </a:t>
            </a:r>
          </a:p>
          <a:p>
            <a:pPr marL="514350" indent="-514350">
              <a:buFont typeface="+mj-lt"/>
              <a:buAutoNum type="arabicParenR"/>
            </a:pPr>
            <a:r>
              <a:rPr lang="en-HK" dirty="0"/>
              <a:t>Operationalization </a:t>
            </a:r>
          </a:p>
          <a:p>
            <a:pPr marL="514350" indent="-514350">
              <a:buFont typeface="+mj-lt"/>
              <a:buAutoNum type="arabicParenR"/>
            </a:pPr>
            <a:r>
              <a:rPr lang="en-HK" dirty="0"/>
              <a:t>Application </a:t>
            </a:r>
          </a:p>
          <a:p>
            <a:pPr marL="514350" indent="-514350">
              <a:buFont typeface="+mj-lt"/>
              <a:buAutoNum type="arabicParenR"/>
            </a:pPr>
            <a:r>
              <a:rPr lang="en-HK" dirty="0"/>
              <a:t>Conﬁrmation or disconﬁrmation  </a:t>
            </a:r>
          </a:p>
          <a:p>
            <a:pPr marL="514350" indent="-514350">
              <a:buFont typeface="+mj-lt"/>
              <a:buAutoNum type="arabicParenR"/>
            </a:pPr>
            <a:r>
              <a:rPr lang="en-HK" dirty="0"/>
              <a:t>Continuous reﬁnement and development (of the theory) </a:t>
            </a:r>
          </a:p>
          <a:p>
            <a:pPr marL="0" indent="0" algn="r">
              <a:buNone/>
            </a:pPr>
            <a:r>
              <a:rPr lang="en-HK" dirty="0"/>
              <a:t>(</a:t>
            </a:r>
            <a:r>
              <a:rPr lang="en-HK" dirty="0" err="1"/>
              <a:t>Lynham</a:t>
            </a:r>
            <a:r>
              <a:rPr lang="en-HK" dirty="0"/>
              <a:t>, 2002b: 229) </a:t>
            </a:r>
            <a:endParaRPr lang="en-GB" dirty="0"/>
          </a:p>
        </p:txBody>
      </p:sp>
      <p:sp>
        <p:nvSpPr>
          <p:cNvPr id="5" name="Slide Number Placeholder 4"/>
          <p:cNvSpPr>
            <a:spLocks noGrp="1"/>
          </p:cNvSpPr>
          <p:nvPr>
            <p:ph type="sldNum" sz="quarter" idx="12"/>
          </p:nvPr>
        </p:nvSpPr>
        <p:spPr/>
        <p:txBody>
          <a:bodyPr/>
          <a:lstStyle/>
          <a:p>
            <a:fld id="{61498E3A-99BC-45FF-B0E7-72DEF86357C7}" type="slidenum">
              <a:rPr lang="en-US" smtClean="0"/>
              <a:t>7</a:t>
            </a:fld>
            <a:endParaRPr lang="en-US"/>
          </a:p>
        </p:txBody>
      </p:sp>
    </p:spTree>
    <p:extLst>
      <p:ext uri="{BB962C8B-B14F-4D97-AF65-F5344CB8AC3E}">
        <p14:creationId xmlns:p14="http://schemas.microsoft.com/office/powerpoint/2010/main" val="1944191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5464" y="0"/>
            <a:ext cx="10515600" cy="1325563"/>
          </a:xfrm>
        </p:spPr>
        <p:txBody>
          <a:bodyPr/>
          <a:lstStyle/>
          <a:p>
            <a:r>
              <a:rPr lang="en-HK" dirty="0"/>
              <a:t>Guidelines for developing good theory:</a:t>
            </a:r>
            <a:endParaRPr lang="en-GB" dirty="0"/>
          </a:p>
        </p:txBody>
      </p:sp>
      <p:sp>
        <p:nvSpPr>
          <p:cNvPr id="3" name="Content Placeholder 2"/>
          <p:cNvSpPr>
            <a:spLocks noGrp="1"/>
          </p:cNvSpPr>
          <p:nvPr>
            <p:ph idx="1"/>
          </p:nvPr>
        </p:nvSpPr>
        <p:spPr>
          <a:xfrm>
            <a:off x="654627" y="1506682"/>
            <a:ext cx="11170227" cy="5226627"/>
          </a:xfrm>
        </p:spPr>
        <p:txBody>
          <a:bodyPr>
            <a:normAutofit fontScale="85000" lnSpcReduction="20000"/>
          </a:bodyPr>
          <a:lstStyle/>
          <a:p>
            <a:pPr marL="514350" indent="-514350">
              <a:buFont typeface="+mj-lt"/>
              <a:buAutoNum type="arabicParenR"/>
            </a:pPr>
            <a:r>
              <a:rPr lang="en-HK" dirty="0"/>
              <a:t>The theorist should </a:t>
            </a:r>
            <a:r>
              <a:rPr lang="en-HK" u="sng" dirty="0"/>
              <a:t>have</a:t>
            </a:r>
            <a:r>
              <a:rPr lang="en-HK" dirty="0"/>
              <a:t> </a:t>
            </a:r>
            <a:r>
              <a:rPr lang="en-HK" dirty="0">
                <a:solidFill>
                  <a:srgbClr val="8A0000"/>
                </a:solidFill>
              </a:rPr>
              <a:t>substantial knowledge </a:t>
            </a:r>
            <a:r>
              <a:rPr lang="en-HK" dirty="0"/>
              <a:t>about the two domains for theory building. </a:t>
            </a:r>
          </a:p>
          <a:p>
            <a:pPr marL="862013" lvl="1" indent="-404813">
              <a:buFont typeface="+mj-lt"/>
              <a:buAutoNum type="alphaLcParenR"/>
            </a:pPr>
            <a:r>
              <a:rPr lang="en-HK" dirty="0"/>
              <a:t>Knowledge of the elements of theory and of the process of developing new theoretical knowledge </a:t>
            </a:r>
            <a:r>
              <a:rPr lang="en-HK" dirty="0">
                <a:solidFill>
                  <a:srgbClr val="0070C0"/>
                </a:solidFill>
              </a:rPr>
              <a:t>(i.e., knowledge of theory building) </a:t>
            </a:r>
          </a:p>
          <a:p>
            <a:pPr marL="862013" lvl="1" indent="-404813">
              <a:buFont typeface="+mj-lt"/>
              <a:buAutoNum type="alphaLcParenR"/>
            </a:pPr>
            <a:r>
              <a:rPr lang="en-HK" dirty="0"/>
              <a:t>Deep conceptual understanding and practical knowledge </a:t>
            </a:r>
            <a:r>
              <a:rPr lang="en-HK" dirty="0">
                <a:solidFill>
                  <a:srgbClr val="0070C0"/>
                </a:solidFill>
              </a:rPr>
              <a:t>(knowledge from experience) </a:t>
            </a:r>
            <a:r>
              <a:rPr lang="en-HK" dirty="0"/>
              <a:t>of the phenomenon or topic to be </a:t>
            </a:r>
            <a:r>
              <a:rPr lang="en-HK" dirty="0" err="1"/>
              <a:t>modeled</a:t>
            </a:r>
            <a:r>
              <a:rPr lang="en-HK" dirty="0"/>
              <a:t> by the theory </a:t>
            </a:r>
          </a:p>
          <a:p>
            <a:pPr marL="514350" indent="-514350">
              <a:buFont typeface="+mj-lt"/>
              <a:buAutoNum type="arabicParenR"/>
            </a:pPr>
            <a:r>
              <a:rPr lang="en-HK" dirty="0"/>
              <a:t>The theory should be </a:t>
            </a:r>
            <a:r>
              <a:rPr lang="en-HK" u="sng" dirty="0"/>
              <a:t>based on </a:t>
            </a:r>
            <a:r>
              <a:rPr lang="en-HK" dirty="0"/>
              <a:t>the </a:t>
            </a:r>
            <a:r>
              <a:rPr lang="en-HK" dirty="0">
                <a:solidFill>
                  <a:srgbClr val="8A0000"/>
                </a:solidFill>
              </a:rPr>
              <a:t>clear speciﬁcation of the problem </a:t>
            </a:r>
            <a:r>
              <a:rPr lang="en-HK" dirty="0"/>
              <a:t>or </a:t>
            </a:r>
            <a:r>
              <a:rPr lang="en-HK" dirty="0">
                <a:solidFill>
                  <a:srgbClr val="8A0000"/>
                </a:solidFill>
              </a:rPr>
              <a:t>the need </a:t>
            </a:r>
            <a:r>
              <a:rPr lang="en-HK" dirty="0"/>
              <a:t>for theory building. </a:t>
            </a:r>
          </a:p>
          <a:p>
            <a:pPr marL="514350" indent="-514350">
              <a:buFont typeface="+mj-lt"/>
              <a:buAutoNum type="arabicParenR"/>
            </a:pPr>
            <a:r>
              <a:rPr lang="en-HK" dirty="0"/>
              <a:t>The research should </a:t>
            </a:r>
            <a:r>
              <a:rPr lang="en-HK" u="sng" dirty="0"/>
              <a:t>demonstrate</a:t>
            </a:r>
            <a:r>
              <a:rPr lang="en-HK" dirty="0"/>
              <a:t> explicitly </a:t>
            </a:r>
            <a:r>
              <a:rPr lang="en-HK" dirty="0">
                <a:solidFill>
                  <a:srgbClr val="8A0000"/>
                </a:solidFill>
              </a:rPr>
              <a:t>the logic and theoretical reasoning </a:t>
            </a:r>
            <a:r>
              <a:rPr lang="en-HK" dirty="0"/>
              <a:t>used by the theorist to link the research problem with the theoretical outcome (e.g., the theory or model). </a:t>
            </a:r>
          </a:p>
          <a:p>
            <a:pPr marL="514350" indent="-514350">
              <a:buFont typeface="+mj-lt"/>
              <a:buAutoNum type="arabicParenR"/>
            </a:pPr>
            <a:r>
              <a:rPr lang="en-HK" dirty="0"/>
              <a:t>The work should </a:t>
            </a:r>
            <a:r>
              <a:rPr lang="en-HK" u="sng" dirty="0"/>
              <a:t>propose</a:t>
            </a:r>
            <a:r>
              <a:rPr lang="en-HK" dirty="0"/>
              <a:t> and </a:t>
            </a:r>
            <a:r>
              <a:rPr lang="en-HK" u="sng" dirty="0"/>
              <a:t>discuss</a:t>
            </a:r>
            <a:r>
              <a:rPr lang="en-HK" dirty="0"/>
              <a:t> </a:t>
            </a:r>
            <a:r>
              <a:rPr lang="en-HK" dirty="0">
                <a:solidFill>
                  <a:srgbClr val="8A0000"/>
                </a:solidFill>
              </a:rPr>
              <a:t>research propositions, questions, </a:t>
            </a:r>
            <a:r>
              <a:rPr lang="en-HK" dirty="0"/>
              <a:t>or </a:t>
            </a:r>
            <a:r>
              <a:rPr lang="en-HK" dirty="0">
                <a:solidFill>
                  <a:srgbClr val="8A0000"/>
                </a:solidFill>
              </a:rPr>
              <a:t>hypotheses</a:t>
            </a:r>
            <a:r>
              <a:rPr lang="en-HK" dirty="0"/>
              <a:t> for further theoretical and empirical study of the phenomenon </a:t>
            </a:r>
            <a:r>
              <a:rPr lang="en-HK" dirty="0" err="1"/>
              <a:t>modeled</a:t>
            </a:r>
            <a:r>
              <a:rPr lang="en-HK" dirty="0"/>
              <a:t> by the theory</a:t>
            </a:r>
          </a:p>
          <a:p>
            <a:pPr marL="0" indent="0" algn="r">
              <a:buNone/>
            </a:pPr>
            <a:r>
              <a:rPr lang="en-HK" dirty="0"/>
              <a:t>(</a:t>
            </a:r>
            <a:r>
              <a:rPr lang="en-HK" dirty="0" err="1"/>
              <a:t>Torraco</a:t>
            </a:r>
            <a:r>
              <a:rPr lang="en-HK" dirty="0"/>
              <a:t>, 2005a: 364)</a:t>
            </a:r>
            <a:endParaRPr lang="en-GB" dirty="0"/>
          </a:p>
        </p:txBody>
      </p:sp>
      <p:sp>
        <p:nvSpPr>
          <p:cNvPr id="5" name="Slide Number Placeholder 4"/>
          <p:cNvSpPr>
            <a:spLocks noGrp="1"/>
          </p:cNvSpPr>
          <p:nvPr>
            <p:ph type="sldNum" sz="quarter" idx="12"/>
          </p:nvPr>
        </p:nvSpPr>
        <p:spPr/>
        <p:txBody>
          <a:bodyPr/>
          <a:lstStyle/>
          <a:p>
            <a:fld id="{61498E3A-99BC-45FF-B0E7-72DEF86357C7}" type="slidenum">
              <a:rPr lang="en-US" smtClean="0"/>
              <a:t>8</a:t>
            </a:fld>
            <a:endParaRPr lang="en-US"/>
          </a:p>
        </p:txBody>
      </p:sp>
    </p:spTree>
    <p:extLst>
      <p:ext uri="{BB962C8B-B14F-4D97-AF65-F5344CB8AC3E}">
        <p14:creationId xmlns:p14="http://schemas.microsoft.com/office/powerpoint/2010/main" val="21258853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Examples of theory papers:</a:t>
            </a:r>
            <a:endParaRPr lang="en-GB" dirty="0"/>
          </a:p>
        </p:txBody>
      </p:sp>
      <p:sp>
        <p:nvSpPr>
          <p:cNvPr id="3" name="Content Placeholder 2"/>
          <p:cNvSpPr>
            <a:spLocks noGrp="1"/>
          </p:cNvSpPr>
          <p:nvPr>
            <p:ph idx="1"/>
          </p:nvPr>
        </p:nvSpPr>
        <p:spPr>
          <a:xfrm>
            <a:off x="426027" y="1558636"/>
            <a:ext cx="11242964" cy="5153891"/>
          </a:xfrm>
        </p:spPr>
        <p:txBody>
          <a:bodyPr>
            <a:normAutofit fontScale="92500" lnSpcReduction="10000"/>
          </a:bodyPr>
          <a:lstStyle/>
          <a:p>
            <a:r>
              <a:rPr lang="en-HK" dirty="0"/>
              <a:t>McLean (2004) </a:t>
            </a:r>
            <a:r>
              <a:rPr lang="en-HK" dirty="0">
                <a:solidFill>
                  <a:srgbClr val="0070C0"/>
                </a:solidFill>
              </a:rPr>
              <a:t>conceptualized</a:t>
            </a:r>
            <a:r>
              <a:rPr lang="en-HK" dirty="0"/>
              <a:t> </a:t>
            </a:r>
            <a:r>
              <a:rPr lang="en-HK" dirty="0">
                <a:solidFill>
                  <a:srgbClr val="8A0000"/>
                </a:solidFill>
              </a:rPr>
              <a:t>the meaning of NHRD </a:t>
            </a:r>
            <a:r>
              <a:rPr lang="en-HK" dirty="0"/>
              <a:t>(National Human Resource Development) based on previous research on the concept and then </a:t>
            </a:r>
            <a:r>
              <a:rPr lang="en-HK" dirty="0">
                <a:solidFill>
                  <a:srgbClr val="0070C0"/>
                </a:solidFill>
              </a:rPr>
              <a:t>developed</a:t>
            </a:r>
            <a:r>
              <a:rPr lang="en-HK" dirty="0"/>
              <a:t> </a:t>
            </a:r>
            <a:r>
              <a:rPr lang="en-HK" dirty="0">
                <a:solidFill>
                  <a:srgbClr val="800000"/>
                </a:solidFill>
              </a:rPr>
              <a:t>the operationalization and implementation </a:t>
            </a:r>
            <a:r>
              <a:rPr lang="en-HK" dirty="0"/>
              <a:t>of the concept </a:t>
            </a:r>
            <a:r>
              <a:rPr lang="en-HK" u="sng" dirty="0"/>
              <a:t>through thirteen case studies</a:t>
            </a:r>
            <a:r>
              <a:rPr lang="en-HK" dirty="0"/>
              <a:t>. </a:t>
            </a:r>
          </a:p>
          <a:p>
            <a:r>
              <a:rPr lang="en-HK" dirty="0"/>
              <a:t>Cho and McLean (2004): the process of McLean’s (2004) operationalization and implementation indicates that there appeared to be at least </a:t>
            </a:r>
            <a:r>
              <a:rPr lang="en-HK" u="sng" dirty="0"/>
              <a:t>ﬁve tentative models </a:t>
            </a:r>
            <a:r>
              <a:rPr lang="en-HK" dirty="0"/>
              <a:t>for NHRD. </a:t>
            </a:r>
          </a:p>
          <a:p>
            <a:r>
              <a:rPr lang="en-HK" dirty="0" err="1"/>
              <a:t>Lynham</a:t>
            </a:r>
            <a:r>
              <a:rPr lang="en-HK" dirty="0"/>
              <a:t>, </a:t>
            </a:r>
            <a:r>
              <a:rPr lang="en-HK" dirty="0" err="1"/>
              <a:t>Paprock</a:t>
            </a:r>
            <a:r>
              <a:rPr lang="en-HK" dirty="0"/>
              <a:t>, and Cunningham (2006) extended the exploration into the theory of NHRD with a focus on NHRD </a:t>
            </a:r>
            <a:r>
              <a:rPr lang="en-HK" u="sng" dirty="0"/>
              <a:t>solely on transitioning societies</a:t>
            </a:r>
            <a:r>
              <a:rPr lang="en-HK" dirty="0"/>
              <a:t>. </a:t>
            </a:r>
          </a:p>
          <a:p>
            <a:r>
              <a:rPr lang="en-HK" dirty="0"/>
              <a:t>Wang and Swanson (2008a), taking exception to the broadening deﬁnition of HRD, </a:t>
            </a:r>
            <a:r>
              <a:rPr lang="en-HK" dirty="0">
                <a:solidFill>
                  <a:srgbClr val="0070C0"/>
                </a:solidFill>
              </a:rPr>
              <a:t>critiqued</a:t>
            </a:r>
            <a:r>
              <a:rPr lang="en-HK" dirty="0"/>
              <a:t> the concept of NHRD as being inadequately based on good theory and </a:t>
            </a:r>
            <a:r>
              <a:rPr lang="en-HK" dirty="0">
                <a:solidFill>
                  <a:srgbClr val="0070C0"/>
                </a:solidFill>
              </a:rPr>
              <a:t>used an economics paradigm to refute </a:t>
            </a:r>
            <a:r>
              <a:rPr lang="en-HK" dirty="0"/>
              <a:t>the theories and models that were evolving. </a:t>
            </a:r>
            <a:endParaRPr lang="en-GB" dirty="0"/>
          </a:p>
        </p:txBody>
      </p:sp>
      <p:sp>
        <p:nvSpPr>
          <p:cNvPr id="4" name="Slide Number Placeholder 3"/>
          <p:cNvSpPr>
            <a:spLocks noGrp="1"/>
          </p:cNvSpPr>
          <p:nvPr>
            <p:ph type="sldNum" sz="quarter" idx="12"/>
          </p:nvPr>
        </p:nvSpPr>
        <p:spPr/>
        <p:txBody>
          <a:bodyPr/>
          <a:lstStyle/>
          <a:p>
            <a:fld id="{61498E3A-99BC-45FF-B0E7-72DEF86357C7}" type="slidenum">
              <a:rPr lang="en-US" smtClean="0"/>
              <a:t>9</a:t>
            </a:fld>
            <a:endParaRPr lang="en-US"/>
          </a:p>
        </p:txBody>
      </p:sp>
    </p:spTree>
    <p:extLst>
      <p:ext uri="{BB962C8B-B14F-4D97-AF65-F5344CB8AC3E}">
        <p14:creationId xmlns:p14="http://schemas.microsoft.com/office/powerpoint/2010/main" val="937531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Writing </a:t>
            </a:r>
            <a:r>
              <a:rPr lang="en-US" dirty="0">
                <a:solidFill>
                  <a:srgbClr val="8A0000"/>
                </a:solidFill>
              </a:rPr>
              <a:t>Conceptual Articles</a:t>
            </a:r>
            <a:endParaRPr lang="en-GB" dirty="0">
              <a:solidFill>
                <a:srgbClr val="8A0000"/>
              </a:solidFill>
            </a:endParaRPr>
          </a:p>
        </p:txBody>
      </p:sp>
      <p:sp>
        <p:nvSpPr>
          <p:cNvPr id="6" name="Text Placeholder 5"/>
          <p:cNvSpPr>
            <a:spLocks noGrp="1"/>
          </p:cNvSpPr>
          <p:nvPr>
            <p:ph type="body" idx="1"/>
          </p:nvPr>
        </p:nvSpPr>
        <p:spPr/>
        <p:txBody>
          <a:bodyPr/>
          <a:lstStyle/>
          <a:p>
            <a:endParaRPr lang="en-GB"/>
          </a:p>
        </p:txBody>
      </p:sp>
      <p:sp>
        <p:nvSpPr>
          <p:cNvPr id="4" name="Slide Number Placeholder 3"/>
          <p:cNvSpPr>
            <a:spLocks noGrp="1"/>
          </p:cNvSpPr>
          <p:nvPr>
            <p:ph type="sldNum" sz="quarter" idx="12"/>
          </p:nvPr>
        </p:nvSpPr>
        <p:spPr/>
        <p:txBody>
          <a:bodyPr/>
          <a:lstStyle/>
          <a:p>
            <a:fld id="{61498E3A-99BC-45FF-B0E7-72DEF86357C7}" type="slidenum">
              <a:rPr lang="en-US" smtClean="0"/>
              <a:t>10</a:t>
            </a:fld>
            <a:endParaRPr lang="en-US"/>
          </a:p>
        </p:txBody>
      </p:sp>
    </p:spTree>
    <p:extLst>
      <p:ext uri="{BB962C8B-B14F-4D97-AF65-F5344CB8AC3E}">
        <p14:creationId xmlns:p14="http://schemas.microsoft.com/office/powerpoint/2010/main" val="2898920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err="1"/>
              <a:t>Conceptualisation</a:t>
            </a:r>
            <a:r>
              <a:rPr lang="en-US" dirty="0"/>
              <a:t>:</a:t>
            </a:r>
            <a:endParaRPr lang="en-GB" dirty="0"/>
          </a:p>
        </p:txBody>
      </p:sp>
      <p:sp>
        <p:nvSpPr>
          <p:cNvPr id="3" name="Content Placeholder 2"/>
          <p:cNvSpPr>
            <a:spLocks noGrp="1"/>
          </p:cNvSpPr>
          <p:nvPr>
            <p:ph idx="1"/>
          </p:nvPr>
        </p:nvSpPr>
        <p:spPr>
          <a:xfrm>
            <a:off x="665017" y="1496291"/>
            <a:ext cx="10910455" cy="4982330"/>
          </a:xfrm>
        </p:spPr>
        <p:txBody>
          <a:bodyPr>
            <a:normAutofit/>
          </a:bodyPr>
          <a:lstStyle/>
          <a:p>
            <a:r>
              <a:rPr lang="en-HK" b="1" dirty="0"/>
              <a:t>Concepts: </a:t>
            </a:r>
            <a:r>
              <a:rPr lang="en-HK" dirty="0"/>
              <a:t>“ the elements of theory that are common to all research methods”                                                                         (</a:t>
            </a:r>
            <a:r>
              <a:rPr lang="en-HK" dirty="0" err="1"/>
              <a:t>Torraco</a:t>
            </a:r>
            <a:r>
              <a:rPr lang="en-HK" dirty="0"/>
              <a:t>, 2005a: 352)</a:t>
            </a:r>
          </a:p>
          <a:p>
            <a:r>
              <a:rPr lang="en-HK" dirty="0"/>
              <a:t>Generally, a concept is more focused than a theory, as it is often a component of a theory.</a:t>
            </a:r>
          </a:p>
          <a:p>
            <a:r>
              <a:rPr lang="en-HK" b="1" dirty="0"/>
              <a:t>Conceptualisation: </a:t>
            </a:r>
            <a:r>
              <a:rPr lang="en-HK" dirty="0"/>
              <a:t>the ﬁrst step in developing a theory </a:t>
            </a:r>
          </a:p>
          <a:p>
            <a:pPr marL="0" indent="0" algn="r">
              <a:buNone/>
            </a:pPr>
            <a:r>
              <a:rPr lang="en-HK" dirty="0"/>
              <a:t>(</a:t>
            </a:r>
            <a:r>
              <a:rPr lang="en-HK" dirty="0" err="1"/>
              <a:t>Lynham</a:t>
            </a:r>
            <a:r>
              <a:rPr lang="en-HK" dirty="0"/>
              <a:t>, 2002b)</a:t>
            </a:r>
          </a:p>
          <a:p>
            <a:r>
              <a:rPr lang="en-HK" dirty="0"/>
              <a:t>Conceptual articles also bridge to opinion articles, because such articles may also include well-informed opinions.</a:t>
            </a:r>
            <a:endParaRPr lang="en-GB" dirty="0"/>
          </a:p>
        </p:txBody>
      </p:sp>
      <p:sp>
        <p:nvSpPr>
          <p:cNvPr id="4" name="Slide Number Placeholder 3"/>
          <p:cNvSpPr>
            <a:spLocks noGrp="1"/>
          </p:cNvSpPr>
          <p:nvPr>
            <p:ph type="sldNum" sz="quarter" idx="12"/>
          </p:nvPr>
        </p:nvSpPr>
        <p:spPr/>
        <p:txBody>
          <a:bodyPr/>
          <a:lstStyle/>
          <a:p>
            <a:fld id="{61498E3A-99BC-45FF-B0E7-72DEF86357C7}" type="slidenum">
              <a:rPr lang="en-US" smtClean="0"/>
              <a:t>11</a:t>
            </a:fld>
            <a:endParaRPr lang="en-US"/>
          </a:p>
        </p:txBody>
      </p:sp>
    </p:spTree>
    <p:extLst>
      <p:ext uri="{BB962C8B-B14F-4D97-AF65-F5344CB8AC3E}">
        <p14:creationId xmlns:p14="http://schemas.microsoft.com/office/powerpoint/2010/main" val="30316365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Differences between theory and conceptual papers:</a:t>
            </a:r>
            <a:endParaRPr lang="en-GB" dirty="0"/>
          </a:p>
        </p:txBody>
      </p:sp>
      <p:sp>
        <p:nvSpPr>
          <p:cNvPr id="3" name="Content Placeholder 2"/>
          <p:cNvSpPr>
            <a:spLocks noGrp="1"/>
          </p:cNvSpPr>
          <p:nvPr>
            <p:ph idx="1"/>
          </p:nvPr>
        </p:nvSpPr>
        <p:spPr/>
        <p:txBody>
          <a:bodyPr>
            <a:normAutofit/>
          </a:bodyPr>
          <a:lstStyle/>
          <a:p>
            <a:r>
              <a:rPr lang="en-HK" b="1" dirty="0"/>
              <a:t>Theory papers: </a:t>
            </a:r>
            <a:r>
              <a:rPr lang="en-HK" dirty="0"/>
              <a:t>after a theory is proposed, it should be </a:t>
            </a:r>
            <a:r>
              <a:rPr lang="en-HK" dirty="0">
                <a:solidFill>
                  <a:srgbClr val="8A0000"/>
                </a:solidFill>
              </a:rPr>
              <a:t>put to the test</a:t>
            </a:r>
            <a:r>
              <a:rPr lang="en-HK" dirty="0"/>
              <a:t>.</a:t>
            </a:r>
          </a:p>
          <a:p>
            <a:pPr lvl="1"/>
            <a:r>
              <a:rPr lang="en-HK" dirty="0">
                <a:solidFill>
                  <a:srgbClr val="002060"/>
                </a:solidFill>
              </a:rPr>
              <a:t>Is it consistent with what we know from earlier research? </a:t>
            </a:r>
          </a:p>
          <a:p>
            <a:pPr lvl="1"/>
            <a:r>
              <a:rPr lang="en-HK" dirty="0">
                <a:solidFill>
                  <a:srgbClr val="002060"/>
                </a:solidFill>
              </a:rPr>
              <a:t>Can the theory be supported empirically (quantitatively or qualitatively) by observation or measurement? </a:t>
            </a:r>
          </a:p>
          <a:p>
            <a:pPr lvl="1"/>
            <a:r>
              <a:rPr lang="en-HK" dirty="0">
                <a:solidFill>
                  <a:srgbClr val="002060"/>
                </a:solidFill>
              </a:rPr>
              <a:t>What more do we need to know in order to move the theory forward? </a:t>
            </a:r>
            <a:endParaRPr lang="en-GB" dirty="0">
              <a:solidFill>
                <a:srgbClr val="002060"/>
              </a:solidFill>
            </a:endParaRPr>
          </a:p>
          <a:p>
            <a:pPr>
              <a:spcBef>
                <a:spcPts val="1800"/>
              </a:spcBef>
            </a:pPr>
            <a:r>
              <a:rPr lang="en-HK" b="1" dirty="0"/>
              <a:t>Conceptual articles: </a:t>
            </a:r>
            <a:r>
              <a:rPr lang="en-HK" dirty="0"/>
              <a:t>no need to test the concept. </a:t>
            </a:r>
          </a:p>
        </p:txBody>
      </p:sp>
      <p:sp>
        <p:nvSpPr>
          <p:cNvPr id="4" name="Slide Number Placeholder 3"/>
          <p:cNvSpPr>
            <a:spLocks noGrp="1"/>
          </p:cNvSpPr>
          <p:nvPr>
            <p:ph type="sldNum" sz="quarter" idx="12"/>
          </p:nvPr>
        </p:nvSpPr>
        <p:spPr/>
        <p:txBody>
          <a:bodyPr/>
          <a:lstStyle/>
          <a:p>
            <a:fld id="{61498E3A-99BC-45FF-B0E7-72DEF86357C7}" type="slidenum">
              <a:rPr lang="en-US" smtClean="0"/>
              <a:t>12</a:t>
            </a:fld>
            <a:endParaRPr lang="en-US"/>
          </a:p>
        </p:txBody>
      </p:sp>
    </p:spTree>
    <p:extLst>
      <p:ext uri="{BB962C8B-B14F-4D97-AF65-F5344CB8AC3E}">
        <p14:creationId xmlns:p14="http://schemas.microsoft.com/office/powerpoint/2010/main" val="267521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Tips for writing conceptual papers:</a:t>
            </a:r>
            <a:endParaRPr lang="en-GB" dirty="0"/>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HK" b="1" dirty="0"/>
              <a:t>Keeping in mind the narrow focus of a concept</a:t>
            </a:r>
            <a:r>
              <a:rPr lang="en-HK" dirty="0"/>
              <a:t>, write solely on that concept. Do not pull in extraneous ideas. </a:t>
            </a:r>
          </a:p>
          <a:p>
            <a:pPr marL="514350" indent="-514350">
              <a:buFont typeface="+mj-lt"/>
              <a:buAutoNum type="arabicPeriod"/>
            </a:pPr>
            <a:r>
              <a:rPr lang="en-HK" b="1" dirty="0"/>
              <a:t>Take advantage of the foundations that others have established</a:t>
            </a:r>
            <a:r>
              <a:rPr lang="en-HK" dirty="0"/>
              <a:t>, </a:t>
            </a:r>
            <a:r>
              <a:rPr lang="en-HK" b="1" dirty="0"/>
              <a:t>and build on them</a:t>
            </a:r>
            <a:r>
              <a:rPr lang="en-HK" dirty="0"/>
              <a:t>. Use your own observations and experiences as you seek to extend a concept that others have established.  </a:t>
            </a:r>
          </a:p>
          <a:p>
            <a:pPr marL="514350" indent="-514350">
              <a:buFont typeface="+mj-lt"/>
              <a:buAutoNum type="arabicPeriod"/>
            </a:pPr>
            <a:r>
              <a:rPr lang="en-HK" dirty="0"/>
              <a:t>As you present your concept, </a:t>
            </a:r>
            <a:r>
              <a:rPr lang="en-HK" b="1" dirty="0"/>
              <a:t>be clear and concrete in indicating how the concept can be applied </a:t>
            </a:r>
            <a:r>
              <a:rPr lang="en-HK" dirty="0"/>
              <a:t>in a practice setting</a:t>
            </a:r>
            <a:endParaRPr lang="en-GB" dirty="0"/>
          </a:p>
        </p:txBody>
      </p:sp>
      <p:sp>
        <p:nvSpPr>
          <p:cNvPr id="4" name="Slide Number Placeholder 3"/>
          <p:cNvSpPr>
            <a:spLocks noGrp="1"/>
          </p:cNvSpPr>
          <p:nvPr>
            <p:ph type="sldNum" sz="quarter" idx="12"/>
          </p:nvPr>
        </p:nvSpPr>
        <p:spPr/>
        <p:txBody>
          <a:bodyPr/>
          <a:lstStyle/>
          <a:p>
            <a:fld id="{61498E3A-99BC-45FF-B0E7-72DEF86357C7}" type="slidenum">
              <a:rPr lang="en-US" smtClean="0"/>
              <a:t>13</a:t>
            </a:fld>
            <a:endParaRPr lang="en-US"/>
          </a:p>
        </p:txBody>
      </p:sp>
    </p:spTree>
    <p:extLst>
      <p:ext uri="{BB962C8B-B14F-4D97-AF65-F5344CB8AC3E}">
        <p14:creationId xmlns:p14="http://schemas.microsoft.com/office/powerpoint/2010/main" val="3006557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Examples of conceptual papers:</a:t>
            </a:r>
            <a:endParaRPr lang="en-GB" dirty="0"/>
          </a:p>
        </p:txBody>
      </p:sp>
      <p:sp>
        <p:nvSpPr>
          <p:cNvPr id="3" name="Content Placeholder 2"/>
          <p:cNvSpPr>
            <a:spLocks noGrp="1"/>
          </p:cNvSpPr>
          <p:nvPr>
            <p:ph idx="1"/>
          </p:nvPr>
        </p:nvSpPr>
        <p:spPr>
          <a:xfrm>
            <a:off x="838200" y="1548245"/>
            <a:ext cx="10515600" cy="4930376"/>
          </a:xfrm>
        </p:spPr>
        <p:txBody>
          <a:bodyPr>
            <a:normAutofit/>
          </a:bodyPr>
          <a:lstStyle/>
          <a:p>
            <a:pPr marL="0" indent="0">
              <a:buNone/>
            </a:pPr>
            <a:r>
              <a:rPr lang="en-HK" dirty="0"/>
              <a:t>Building on the work of Watkins and </a:t>
            </a:r>
            <a:r>
              <a:rPr lang="en-HK" dirty="0" err="1"/>
              <a:t>Marsick</a:t>
            </a:r>
            <a:r>
              <a:rPr lang="en-HK" dirty="0"/>
              <a:t> (1996), who built on the work of others on the concept of the learning organization, Tolbert, McLean, and Myers (2002) developed </a:t>
            </a:r>
            <a:r>
              <a:rPr lang="en-HK" dirty="0">
                <a:solidFill>
                  <a:srgbClr val="8A0000"/>
                </a:solidFill>
              </a:rPr>
              <a:t>the concept of a global learning organization</a:t>
            </a:r>
            <a:r>
              <a:rPr lang="en-HK" dirty="0"/>
              <a:t>. </a:t>
            </a:r>
          </a:p>
          <a:p>
            <a:pPr marL="0" indent="0">
              <a:buNone/>
            </a:pPr>
            <a:r>
              <a:rPr lang="en-HK" dirty="0"/>
              <a:t>The paper </a:t>
            </a:r>
            <a:r>
              <a:rPr lang="en-HK" dirty="0">
                <a:solidFill>
                  <a:srgbClr val="0070C0"/>
                </a:solidFill>
              </a:rPr>
              <a:t>integrated</a:t>
            </a:r>
            <a:r>
              <a:rPr lang="en-HK" dirty="0"/>
              <a:t> concepts from </a:t>
            </a:r>
            <a:r>
              <a:rPr lang="en-HK" u="sng" dirty="0"/>
              <a:t>the learning organization literature</a:t>
            </a:r>
            <a:r>
              <a:rPr lang="en-HK" dirty="0"/>
              <a:t> and </a:t>
            </a:r>
            <a:r>
              <a:rPr lang="en-HK" u="sng" dirty="0"/>
              <a:t>literature on globalization</a:t>
            </a:r>
            <a:r>
              <a:rPr lang="en-HK" dirty="0"/>
              <a:t>, </a:t>
            </a:r>
            <a:r>
              <a:rPr lang="en-HK" dirty="0">
                <a:solidFill>
                  <a:srgbClr val="0070C0"/>
                </a:solidFill>
              </a:rPr>
              <a:t>added</a:t>
            </a:r>
            <a:r>
              <a:rPr lang="en-HK" dirty="0"/>
              <a:t> </a:t>
            </a:r>
            <a:r>
              <a:rPr lang="en-HK" u="sng" dirty="0"/>
              <a:t>the authors’ own experiences</a:t>
            </a:r>
            <a:r>
              <a:rPr lang="en-HK" dirty="0"/>
              <a:t>, and </a:t>
            </a:r>
            <a:r>
              <a:rPr lang="en-HK" dirty="0">
                <a:solidFill>
                  <a:srgbClr val="0070C0"/>
                </a:solidFill>
              </a:rPr>
              <a:t>developed</a:t>
            </a:r>
            <a:r>
              <a:rPr lang="en-HK" dirty="0"/>
              <a:t> their concept of the </a:t>
            </a:r>
            <a:r>
              <a:rPr lang="en-HK" u="sng" dirty="0"/>
              <a:t>global learning organization</a:t>
            </a:r>
            <a:r>
              <a:rPr lang="en-HK" dirty="0"/>
              <a:t>. </a:t>
            </a:r>
          </a:p>
          <a:p>
            <a:pPr marL="0" indent="0">
              <a:buNone/>
            </a:pPr>
            <a:r>
              <a:rPr lang="en-HK" dirty="0"/>
              <a:t>The concept is not comprehensive enough to be considered a theory; they </a:t>
            </a:r>
            <a:r>
              <a:rPr lang="en-HK" dirty="0">
                <a:solidFill>
                  <a:srgbClr val="0070C0"/>
                </a:solidFill>
              </a:rPr>
              <a:t>did not propose </a:t>
            </a:r>
            <a:r>
              <a:rPr lang="en-HK" dirty="0"/>
              <a:t>interactions or variables </a:t>
            </a:r>
            <a:r>
              <a:rPr lang="en-HK" dirty="0">
                <a:solidFill>
                  <a:srgbClr val="0070C0"/>
                </a:solidFill>
              </a:rPr>
              <a:t>or test </a:t>
            </a:r>
            <a:r>
              <a:rPr lang="en-HK" dirty="0"/>
              <a:t>them at the time the article was published.</a:t>
            </a:r>
            <a:endParaRPr lang="en-GB" dirty="0"/>
          </a:p>
        </p:txBody>
      </p:sp>
      <p:sp>
        <p:nvSpPr>
          <p:cNvPr id="4" name="Slide Number Placeholder 3"/>
          <p:cNvSpPr>
            <a:spLocks noGrp="1"/>
          </p:cNvSpPr>
          <p:nvPr>
            <p:ph type="sldNum" sz="quarter" idx="12"/>
          </p:nvPr>
        </p:nvSpPr>
        <p:spPr/>
        <p:txBody>
          <a:bodyPr/>
          <a:lstStyle/>
          <a:p>
            <a:fld id="{61498E3A-99BC-45FF-B0E7-72DEF86357C7}" type="slidenum">
              <a:rPr lang="en-US" smtClean="0"/>
              <a:t>14</a:t>
            </a:fld>
            <a:endParaRPr lang="en-US"/>
          </a:p>
        </p:txBody>
      </p:sp>
    </p:spTree>
    <p:extLst>
      <p:ext uri="{BB962C8B-B14F-4D97-AF65-F5344CB8AC3E}">
        <p14:creationId xmlns:p14="http://schemas.microsoft.com/office/powerpoint/2010/main" val="24064511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Writing </a:t>
            </a:r>
            <a:r>
              <a:rPr lang="en-US" dirty="0">
                <a:solidFill>
                  <a:srgbClr val="8A0000"/>
                </a:solidFill>
              </a:rPr>
              <a:t>Opinion Articles</a:t>
            </a:r>
            <a:endParaRPr lang="en-GB" dirty="0">
              <a:solidFill>
                <a:srgbClr val="8A0000"/>
              </a:solidFill>
            </a:endParaRPr>
          </a:p>
        </p:txBody>
      </p:sp>
      <p:sp>
        <p:nvSpPr>
          <p:cNvPr id="6" name="Text Placeholder 5"/>
          <p:cNvSpPr>
            <a:spLocks noGrp="1"/>
          </p:cNvSpPr>
          <p:nvPr>
            <p:ph type="body" idx="1"/>
          </p:nvPr>
        </p:nvSpPr>
        <p:spPr/>
        <p:txBody>
          <a:bodyPr/>
          <a:lstStyle/>
          <a:p>
            <a:endParaRPr lang="en-GB"/>
          </a:p>
        </p:txBody>
      </p:sp>
      <p:sp>
        <p:nvSpPr>
          <p:cNvPr id="4" name="Slide Number Placeholder 3"/>
          <p:cNvSpPr>
            <a:spLocks noGrp="1"/>
          </p:cNvSpPr>
          <p:nvPr>
            <p:ph type="sldNum" sz="quarter" idx="12"/>
          </p:nvPr>
        </p:nvSpPr>
        <p:spPr/>
        <p:txBody>
          <a:bodyPr/>
          <a:lstStyle/>
          <a:p>
            <a:fld id="{61498E3A-99BC-45FF-B0E7-72DEF86357C7}" type="slidenum">
              <a:rPr lang="en-US" smtClean="0"/>
              <a:t>15</a:t>
            </a:fld>
            <a:endParaRPr lang="en-US"/>
          </a:p>
        </p:txBody>
      </p:sp>
    </p:spTree>
    <p:extLst>
      <p:ext uri="{BB962C8B-B14F-4D97-AF65-F5344CB8AC3E}">
        <p14:creationId xmlns:p14="http://schemas.microsoft.com/office/powerpoint/2010/main" val="8369032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Opinion articles:</a:t>
            </a:r>
            <a:endParaRPr lang="en-GB" dirty="0"/>
          </a:p>
        </p:txBody>
      </p:sp>
      <p:sp>
        <p:nvSpPr>
          <p:cNvPr id="3" name="Content Placeholder 2"/>
          <p:cNvSpPr>
            <a:spLocks noGrp="1"/>
          </p:cNvSpPr>
          <p:nvPr>
            <p:ph idx="1"/>
          </p:nvPr>
        </p:nvSpPr>
        <p:spPr/>
        <p:txBody>
          <a:bodyPr/>
          <a:lstStyle/>
          <a:p>
            <a:r>
              <a:rPr lang="en-HK" dirty="0"/>
              <a:t>Opinion articles </a:t>
            </a:r>
            <a:r>
              <a:rPr lang="en-HK" u="sng" dirty="0"/>
              <a:t>are seldom referred</a:t>
            </a:r>
            <a:r>
              <a:rPr lang="en-HK" dirty="0"/>
              <a:t>, though they are usually reviewed by an editor who may require revisions.</a:t>
            </a:r>
          </a:p>
          <a:p>
            <a:r>
              <a:rPr lang="en-HK" dirty="0"/>
              <a:t>Such articles may be published as </a:t>
            </a:r>
            <a:r>
              <a:rPr lang="en-HK" dirty="0">
                <a:solidFill>
                  <a:srgbClr val="0070C0"/>
                </a:solidFill>
              </a:rPr>
              <a:t>editorials</a:t>
            </a:r>
            <a:r>
              <a:rPr lang="en-HK" dirty="0"/>
              <a:t>, as articles in non-referred sections of a journal (which may be labelled “</a:t>
            </a:r>
            <a:r>
              <a:rPr lang="en-HK" b="1" dirty="0"/>
              <a:t>Forum</a:t>
            </a:r>
            <a:r>
              <a:rPr lang="en-HK" dirty="0"/>
              <a:t>”), as </a:t>
            </a:r>
            <a:r>
              <a:rPr lang="en-HK" dirty="0">
                <a:solidFill>
                  <a:srgbClr val="0070C0"/>
                </a:solidFill>
              </a:rPr>
              <a:t>letters to the editor</a:t>
            </a:r>
            <a:r>
              <a:rPr lang="en-HK" dirty="0"/>
              <a:t>, and even as </a:t>
            </a:r>
            <a:r>
              <a:rPr lang="en-HK" dirty="0">
                <a:solidFill>
                  <a:srgbClr val="0070C0"/>
                </a:solidFill>
              </a:rPr>
              <a:t>book reviews</a:t>
            </a:r>
            <a:r>
              <a:rPr lang="en-HK" dirty="0"/>
              <a:t>. </a:t>
            </a:r>
            <a:endParaRPr lang="en-GB" dirty="0"/>
          </a:p>
        </p:txBody>
      </p:sp>
      <p:sp>
        <p:nvSpPr>
          <p:cNvPr id="4" name="Slide Number Placeholder 3"/>
          <p:cNvSpPr>
            <a:spLocks noGrp="1"/>
          </p:cNvSpPr>
          <p:nvPr>
            <p:ph type="sldNum" sz="quarter" idx="12"/>
          </p:nvPr>
        </p:nvSpPr>
        <p:spPr/>
        <p:txBody>
          <a:bodyPr/>
          <a:lstStyle/>
          <a:p>
            <a:fld id="{61498E3A-99BC-45FF-B0E7-72DEF86357C7}" type="slidenum">
              <a:rPr lang="en-US" smtClean="0"/>
              <a:t>16</a:t>
            </a:fld>
            <a:endParaRPr lang="en-US"/>
          </a:p>
        </p:txBody>
      </p:sp>
    </p:spTree>
    <p:extLst>
      <p:ext uri="{BB962C8B-B14F-4D97-AF65-F5344CB8AC3E}">
        <p14:creationId xmlns:p14="http://schemas.microsoft.com/office/powerpoint/2010/main" val="4934028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2336" y="0"/>
            <a:ext cx="10515600" cy="1325563"/>
          </a:xfrm>
        </p:spPr>
        <p:txBody>
          <a:bodyPr/>
          <a:lstStyle/>
          <a:p>
            <a:r>
              <a:rPr lang="en-US" dirty="0"/>
              <a:t>Tips for writing opinion articles:</a:t>
            </a:r>
            <a:endParaRPr lang="en-GB" dirty="0"/>
          </a:p>
        </p:txBody>
      </p:sp>
      <p:sp>
        <p:nvSpPr>
          <p:cNvPr id="3" name="Content Placeholder 2"/>
          <p:cNvSpPr>
            <a:spLocks noGrp="1"/>
          </p:cNvSpPr>
          <p:nvPr>
            <p:ph idx="1"/>
          </p:nvPr>
        </p:nvSpPr>
        <p:spPr>
          <a:xfrm>
            <a:off x="682335" y="1537854"/>
            <a:ext cx="11381509" cy="5185063"/>
          </a:xfrm>
        </p:spPr>
        <p:txBody>
          <a:bodyPr>
            <a:normAutofit fontScale="85000" lnSpcReduction="10000"/>
          </a:bodyPr>
          <a:lstStyle/>
          <a:p>
            <a:r>
              <a:rPr lang="en-HK" b="1" dirty="0"/>
              <a:t>Avoid personal attacks</a:t>
            </a:r>
            <a:r>
              <a:rPr lang="en-HK" dirty="0"/>
              <a:t>. </a:t>
            </a:r>
            <a:br>
              <a:rPr lang="en-HK" dirty="0"/>
            </a:br>
            <a:r>
              <a:rPr lang="en-HK" dirty="0"/>
              <a:t>Keep the focus of the article on </a:t>
            </a:r>
            <a:r>
              <a:rPr lang="en-HK" dirty="0">
                <a:solidFill>
                  <a:srgbClr val="0070C0"/>
                </a:solidFill>
              </a:rPr>
              <a:t>the ideas</a:t>
            </a:r>
            <a:r>
              <a:rPr lang="en-HK" dirty="0"/>
              <a:t> that are important to you. If you are critiquing others’ ideas, be sure you </a:t>
            </a:r>
            <a:r>
              <a:rPr lang="en-HK" dirty="0">
                <a:solidFill>
                  <a:srgbClr val="0070C0"/>
                </a:solidFill>
              </a:rPr>
              <a:t>focus your criticisms on their ideas and not on them</a:t>
            </a:r>
            <a:r>
              <a:rPr lang="en-HK" dirty="0"/>
              <a:t>. </a:t>
            </a:r>
          </a:p>
          <a:p>
            <a:r>
              <a:rPr lang="en-HK" b="1" dirty="0"/>
              <a:t>Avoid making over-generalizations</a:t>
            </a:r>
            <a:r>
              <a:rPr lang="en-HK" dirty="0"/>
              <a:t>. </a:t>
            </a:r>
            <a:br>
              <a:rPr lang="en-HK" dirty="0"/>
            </a:br>
            <a:r>
              <a:rPr lang="en-HK" dirty="0"/>
              <a:t>Because these may be easily refuted, they weaken an argument or position. Keep your argument focused, and stick as close to facts as you can.  </a:t>
            </a:r>
          </a:p>
          <a:p>
            <a:r>
              <a:rPr lang="en-HK" b="1" dirty="0"/>
              <a:t>Avoid being too vague</a:t>
            </a:r>
            <a:r>
              <a:rPr lang="en-HK" dirty="0"/>
              <a:t>, which can lead to misinterpretation of your position. </a:t>
            </a:r>
          </a:p>
          <a:p>
            <a:r>
              <a:rPr lang="en-HK" b="1" dirty="0"/>
              <a:t>Keep the article relatively short</a:t>
            </a:r>
            <a:r>
              <a:rPr lang="en-HK" dirty="0"/>
              <a:t>, </a:t>
            </a:r>
            <a:br>
              <a:rPr lang="en-HK" dirty="0"/>
            </a:br>
            <a:r>
              <a:rPr lang="en-HK" dirty="0"/>
              <a:t>perhaps only two or three pages when published. You increase the possibility of your article being read when readers can get your point fairly quickly. </a:t>
            </a:r>
          </a:p>
          <a:p>
            <a:r>
              <a:rPr lang="en-HK" b="1" dirty="0" err="1"/>
              <a:t>Humor</a:t>
            </a:r>
            <a:r>
              <a:rPr lang="en-HK" b="1" dirty="0"/>
              <a:t>, or at least a light touch, will also keep the readers interested. </a:t>
            </a:r>
            <a:br>
              <a:rPr lang="en-HK" b="1" dirty="0"/>
            </a:br>
            <a:r>
              <a:rPr lang="en-HK" dirty="0"/>
              <a:t>It also helps to make something that is deep and serious more likely to be read and may also inﬂuence others’ thinking. Some topics, of course, may require a serious approach. </a:t>
            </a:r>
            <a:endParaRPr lang="en-GB" dirty="0"/>
          </a:p>
        </p:txBody>
      </p:sp>
      <p:sp>
        <p:nvSpPr>
          <p:cNvPr id="4" name="Slide Number Placeholder 3"/>
          <p:cNvSpPr>
            <a:spLocks noGrp="1"/>
          </p:cNvSpPr>
          <p:nvPr>
            <p:ph type="sldNum" sz="quarter" idx="12"/>
          </p:nvPr>
        </p:nvSpPr>
        <p:spPr/>
        <p:txBody>
          <a:bodyPr/>
          <a:lstStyle/>
          <a:p>
            <a:fld id="{61498E3A-99BC-45FF-B0E7-72DEF86357C7}" type="slidenum">
              <a:rPr lang="en-US" smtClean="0"/>
              <a:t>17</a:t>
            </a:fld>
            <a:endParaRPr lang="en-US"/>
          </a:p>
        </p:txBody>
      </p:sp>
    </p:spTree>
    <p:extLst>
      <p:ext uri="{BB962C8B-B14F-4D97-AF65-F5344CB8AC3E}">
        <p14:creationId xmlns:p14="http://schemas.microsoft.com/office/powerpoint/2010/main" val="2220400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B4D16-6AE7-804C-B65B-07D46EFA3673}"/>
              </a:ext>
            </a:extLst>
          </p:cNvPr>
          <p:cNvSpPr>
            <a:spLocks noGrp="1"/>
          </p:cNvSpPr>
          <p:nvPr>
            <p:ph type="title"/>
          </p:nvPr>
        </p:nvSpPr>
        <p:spPr>
          <a:xfrm>
            <a:off x="838200" y="18886"/>
            <a:ext cx="10515600" cy="1325563"/>
          </a:xfrm>
        </p:spPr>
        <p:txBody>
          <a:bodyPr/>
          <a:lstStyle/>
          <a:p>
            <a:r>
              <a:rPr lang="en-GB" dirty="0"/>
              <a:t>What you need to do</a:t>
            </a:r>
          </a:p>
        </p:txBody>
      </p:sp>
      <p:sp>
        <p:nvSpPr>
          <p:cNvPr id="3" name="Content Placeholder 2">
            <a:extLst>
              <a:ext uri="{FF2B5EF4-FFF2-40B4-BE49-F238E27FC236}">
                <a16:creationId xmlns:a16="http://schemas.microsoft.com/office/drawing/2014/main" id="{B827CE28-B7BA-5642-A2E9-A1550FB2C6A5}"/>
              </a:ext>
            </a:extLst>
          </p:cNvPr>
          <p:cNvSpPr>
            <a:spLocks noGrp="1"/>
          </p:cNvSpPr>
          <p:nvPr>
            <p:ph idx="1"/>
          </p:nvPr>
        </p:nvSpPr>
        <p:spPr>
          <a:xfrm>
            <a:off x="838200" y="1480457"/>
            <a:ext cx="10820400" cy="5173600"/>
          </a:xfrm>
        </p:spPr>
        <p:txBody>
          <a:bodyPr>
            <a:normAutofit/>
          </a:bodyPr>
          <a:lstStyle/>
          <a:p>
            <a:pPr marL="514350" indent="-514350">
              <a:buFont typeface="+mj-lt"/>
              <a:buAutoNum type="arabicPeriod"/>
            </a:pPr>
            <a:r>
              <a:rPr lang="en-GB" b="1" dirty="0">
                <a:solidFill>
                  <a:srgbClr val="0070C0"/>
                </a:solidFill>
              </a:rPr>
              <a:t>Find one RA in your field and go through the paper carefully.</a:t>
            </a:r>
          </a:p>
          <a:p>
            <a:pPr marL="514350" indent="-514350">
              <a:buFont typeface="+mj-lt"/>
              <a:buAutoNum type="arabicPeriod"/>
            </a:pPr>
            <a:r>
              <a:rPr lang="en-GB" b="1" dirty="0">
                <a:solidFill>
                  <a:srgbClr val="0070C0"/>
                </a:solidFill>
              </a:rPr>
              <a:t>Compare the three types of paper introduced in the PowerPoint (Theory, Conceptual, Opinion) and the RA in your field. Which type resembles the RA in your field most? Or is the RA in your field a combination of these papers?</a:t>
            </a:r>
          </a:p>
          <a:p>
            <a:pPr marL="514350" indent="-514350">
              <a:buFont typeface="+mj-lt"/>
              <a:buAutoNum type="arabicPeriod"/>
            </a:pPr>
            <a:r>
              <a:rPr lang="en-GB" b="1" dirty="0">
                <a:solidFill>
                  <a:srgbClr val="0070C0"/>
                </a:solidFill>
              </a:rPr>
              <a:t>Do you have a clear idea of the macrostructure of the RA in your field now?</a:t>
            </a:r>
          </a:p>
          <a:p>
            <a:pPr marL="514350" indent="-514350">
              <a:buFont typeface="+mj-lt"/>
              <a:buAutoNum type="arabicPeriod"/>
            </a:pPr>
            <a:r>
              <a:rPr lang="en-GB" b="1" dirty="0">
                <a:solidFill>
                  <a:srgbClr val="0070C0"/>
                </a:solidFill>
              </a:rPr>
              <a:t>Use the weblink in the email, go to No. 19, 20, 21 respectively and write down your analysis of the macrostructure of the RA you have chosen.</a:t>
            </a:r>
          </a:p>
        </p:txBody>
      </p:sp>
      <p:sp>
        <p:nvSpPr>
          <p:cNvPr id="4" name="Slide Number Placeholder 3">
            <a:extLst>
              <a:ext uri="{FF2B5EF4-FFF2-40B4-BE49-F238E27FC236}">
                <a16:creationId xmlns:a16="http://schemas.microsoft.com/office/drawing/2014/main" id="{7FC89897-A86F-4F48-A112-EE92F8496E7A}"/>
              </a:ext>
            </a:extLst>
          </p:cNvPr>
          <p:cNvSpPr>
            <a:spLocks noGrp="1"/>
          </p:cNvSpPr>
          <p:nvPr>
            <p:ph type="sldNum" sz="quarter" idx="12"/>
          </p:nvPr>
        </p:nvSpPr>
        <p:spPr/>
        <p:txBody>
          <a:bodyPr/>
          <a:lstStyle/>
          <a:p>
            <a:fld id="{61498E3A-99BC-45FF-B0E7-72DEF86357C7}" type="slidenum">
              <a:rPr lang="en-US" smtClean="0"/>
              <a:t>18</a:t>
            </a:fld>
            <a:endParaRPr lang="en-US"/>
          </a:p>
        </p:txBody>
      </p:sp>
    </p:spTree>
    <p:extLst>
      <p:ext uri="{BB962C8B-B14F-4D97-AF65-F5344CB8AC3E}">
        <p14:creationId xmlns:p14="http://schemas.microsoft.com/office/powerpoint/2010/main" val="3919497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endParaRPr lang="en-GB" dirty="0"/>
          </a:p>
        </p:txBody>
      </p:sp>
      <p:sp>
        <p:nvSpPr>
          <p:cNvPr id="3" name="Content Placeholder 2"/>
          <p:cNvSpPr>
            <a:spLocks noGrp="1"/>
          </p:cNvSpPr>
          <p:nvPr>
            <p:ph idx="1"/>
          </p:nvPr>
        </p:nvSpPr>
        <p:spPr>
          <a:xfrm>
            <a:off x="675409" y="1529506"/>
            <a:ext cx="10868891" cy="4949115"/>
          </a:xfrm>
        </p:spPr>
        <p:txBody>
          <a:bodyPr>
            <a:normAutofit fontScale="85000" lnSpcReduction="20000"/>
          </a:bodyPr>
          <a:lstStyle/>
          <a:p>
            <a:pPr marL="685800" indent="-685800">
              <a:buNone/>
            </a:pPr>
            <a:r>
              <a:rPr lang="en-HK" dirty="0" err="1"/>
              <a:t>Lynham</a:t>
            </a:r>
            <a:r>
              <a:rPr lang="en-HK" dirty="0"/>
              <a:t>, S. A. (2000). Theory building in the human resource development profession. </a:t>
            </a:r>
            <a:r>
              <a:rPr lang="en-HK" i="1" dirty="0"/>
              <a:t>Human Resource Development Quarterly</a:t>
            </a:r>
            <a:r>
              <a:rPr lang="en-HK" dirty="0"/>
              <a:t>, 11, 159–178. </a:t>
            </a:r>
          </a:p>
          <a:p>
            <a:pPr marL="685800" indent="-685800">
              <a:buNone/>
            </a:pPr>
            <a:r>
              <a:rPr lang="en-HK" dirty="0" err="1"/>
              <a:t>Lynham</a:t>
            </a:r>
            <a:r>
              <a:rPr lang="en-HK" dirty="0"/>
              <a:t>, S. A. (2002a). Quantitative research and theory building: </a:t>
            </a:r>
            <a:r>
              <a:rPr lang="en-HK" dirty="0" err="1"/>
              <a:t>Dubin’s</a:t>
            </a:r>
            <a:r>
              <a:rPr lang="en-HK" dirty="0"/>
              <a:t> method. </a:t>
            </a:r>
            <a:r>
              <a:rPr lang="en-HK" i="1" dirty="0"/>
              <a:t>Advances in Developing Human Resources</a:t>
            </a:r>
            <a:r>
              <a:rPr lang="en-HK" dirty="0"/>
              <a:t>, </a:t>
            </a:r>
            <a:r>
              <a:rPr lang="en-HK" i="1" dirty="0"/>
              <a:t>4</a:t>
            </a:r>
            <a:r>
              <a:rPr lang="en-HK" dirty="0"/>
              <a:t>, 242–276. </a:t>
            </a:r>
          </a:p>
          <a:p>
            <a:pPr marL="685800" indent="-685800">
              <a:buNone/>
            </a:pPr>
            <a:r>
              <a:rPr lang="en-HK" dirty="0" err="1"/>
              <a:t>Lynham</a:t>
            </a:r>
            <a:r>
              <a:rPr lang="en-HK" dirty="0"/>
              <a:t>, S. A. (Ed.). (2002b). Theory building in applied disciplines. </a:t>
            </a:r>
            <a:r>
              <a:rPr lang="en-HK" i="1" dirty="0"/>
              <a:t>Advances in Developing Human Resources</a:t>
            </a:r>
            <a:r>
              <a:rPr lang="en-HK" dirty="0"/>
              <a:t>, </a:t>
            </a:r>
            <a:r>
              <a:rPr lang="en-HK" i="1" dirty="0"/>
              <a:t>4</a:t>
            </a:r>
            <a:r>
              <a:rPr lang="en-HK" dirty="0"/>
              <a:t>.</a:t>
            </a:r>
          </a:p>
          <a:p>
            <a:pPr marL="685800" indent="-685800">
              <a:buNone/>
            </a:pPr>
            <a:r>
              <a:rPr lang="en-HK" dirty="0"/>
              <a:t>McLean, G. N. (2011). Writing theory, conceptual, and position articles for publication. In Rocco, T. S., &amp; Hatcher, T. G. (Eds.), </a:t>
            </a:r>
            <a:r>
              <a:rPr lang="en-HK" i="1" dirty="0"/>
              <a:t>The handbook of scholarly writing and publishing </a:t>
            </a:r>
            <a:r>
              <a:rPr lang="en-HK" dirty="0"/>
              <a:t>(pp. 209-221). John Wiley &amp; Sons.</a:t>
            </a:r>
          </a:p>
          <a:p>
            <a:pPr marL="685800" indent="-685800">
              <a:buNone/>
            </a:pPr>
            <a:r>
              <a:rPr lang="en-HK" dirty="0" err="1"/>
              <a:t>Torraco</a:t>
            </a:r>
            <a:r>
              <a:rPr lang="en-HK" dirty="0"/>
              <a:t>, R. J. (2005a). Theory development research methods. In R. A. Swanson &amp; E. F. Holton III (Eds.),  </a:t>
            </a:r>
            <a:r>
              <a:rPr lang="en-HK" i="1" dirty="0"/>
              <a:t>Research in organizations </a:t>
            </a:r>
            <a:r>
              <a:rPr lang="en-HK" dirty="0"/>
              <a:t> ( pp. 351 – 374). San Francisco: </a:t>
            </a:r>
            <a:r>
              <a:rPr lang="en-HK" dirty="0" err="1"/>
              <a:t>Berrett</a:t>
            </a:r>
            <a:r>
              <a:rPr lang="en-HK" dirty="0"/>
              <a:t>-Koehler.  </a:t>
            </a:r>
          </a:p>
          <a:p>
            <a:pPr marL="685800" indent="-685800">
              <a:buNone/>
            </a:pPr>
            <a:r>
              <a:rPr lang="en-HK" dirty="0" err="1"/>
              <a:t>Torraco</a:t>
            </a:r>
            <a:r>
              <a:rPr lang="en-HK" dirty="0"/>
              <a:t>, R. J. (2005b). Writing integrative literature reviews: Guidelines and examples. </a:t>
            </a:r>
            <a:r>
              <a:rPr lang="en-HK" i="1" dirty="0"/>
              <a:t>Human Resource Development Review</a:t>
            </a:r>
            <a:r>
              <a:rPr lang="en-HK" dirty="0"/>
              <a:t>, 4, 356–367.  </a:t>
            </a:r>
            <a:endParaRPr lang="en-GB" dirty="0"/>
          </a:p>
        </p:txBody>
      </p:sp>
      <p:sp>
        <p:nvSpPr>
          <p:cNvPr id="4" name="Slide Number Placeholder 3"/>
          <p:cNvSpPr>
            <a:spLocks noGrp="1"/>
          </p:cNvSpPr>
          <p:nvPr>
            <p:ph type="sldNum" sz="quarter" idx="12"/>
          </p:nvPr>
        </p:nvSpPr>
        <p:spPr/>
        <p:txBody>
          <a:bodyPr/>
          <a:lstStyle/>
          <a:p>
            <a:fld id="{61498E3A-99BC-45FF-B0E7-72DEF86357C7}" type="slidenum">
              <a:rPr lang="en-US" smtClean="0"/>
              <a:t>19</a:t>
            </a:fld>
            <a:endParaRPr lang="en-US"/>
          </a:p>
        </p:txBody>
      </p:sp>
    </p:spTree>
    <p:extLst>
      <p:ext uri="{BB962C8B-B14F-4D97-AF65-F5344CB8AC3E}">
        <p14:creationId xmlns:p14="http://schemas.microsoft.com/office/powerpoint/2010/main" val="40422301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2600</TotalTime>
  <Words>1366</Words>
  <Application>Microsoft Office PowerPoint</Application>
  <PresentationFormat>Widescreen</PresentationFormat>
  <Paragraphs>109</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Session 4 Writing non-empirical Papers: Three Types</vt:lpstr>
      <vt:lpstr>In this Session,</vt:lpstr>
      <vt:lpstr>Before start writing a nonempirical paper:</vt:lpstr>
      <vt:lpstr>Writing Theory Papers</vt:lpstr>
      <vt:lpstr>Theory building:</vt:lpstr>
      <vt:lpstr>Theory papers in HRD:</vt:lpstr>
      <vt:lpstr>Structure of a theory paper:</vt:lpstr>
      <vt:lpstr>Guidelines for developing good theory:</vt:lpstr>
      <vt:lpstr>Examples of theory papers:</vt:lpstr>
      <vt:lpstr>Writing Conceptual Articles</vt:lpstr>
      <vt:lpstr>Conceptualisation:</vt:lpstr>
      <vt:lpstr>Differences between theory and conceptual papers:</vt:lpstr>
      <vt:lpstr>Tips for writing conceptual papers:</vt:lpstr>
      <vt:lpstr>Examples of conceptual papers:</vt:lpstr>
      <vt:lpstr>Writing Opinion Articles</vt:lpstr>
      <vt:lpstr>Opinion articles:</vt:lpstr>
      <vt:lpstr>Tips for writing opinion articles:</vt:lpstr>
      <vt:lpstr>What you need to do</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Structural and Linguistic Features of Research Articles</dc:title>
  <dc:creator>Chen Meilin</dc:creator>
  <cp:lastModifiedBy>Windows User</cp:lastModifiedBy>
  <cp:revision>469</cp:revision>
  <dcterms:created xsi:type="dcterms:W3CDTF">2018-09-13T08:53:38Z</dcterms:created>
  <dcterms:modified xsi:type="dcterms:W3CDTF">2020-08-25T05:59:09Z</dcterms:modified>
</cp:coreProperties>
</file>