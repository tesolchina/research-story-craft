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Lst>
  <p:sldIdLst>
    <p:sldId id="256" r:id="rId5"/>
    <p:sldId id="257" r:id="rId6"/>
    <p:sldId id="258" r:id="rId7"/>
    <p:sldId id="279" r:id="rId8"/>
    <p:sldId id="259" r:id="rId9"/>
    <p:sldId id="280" r:id="rId10"/>
    <p:sldId id="326" r:id="rId11"/>
    <p:sldId id="281" r:id="rId12"/>
    <p:sldId id="261" r:id="rId13"/>
    <p:sldId id="262" r:id="rId14"/>
    <p:sldId id="285" r:id="rId15"/>
    <p:sldId id="327" r:id="rId16"/>
    <p:sldId id="293" r:id="rId17"/>
    <p:sldId id="328" r:id="rId18"/>
    <p:sldId id="318" r:id="rId19"/>
    <p:sldId id="329" r:id="rId20"/>
    <p:sldId id="330" r:id="rId21"/>
    <p:sldId id="331" r:id="rId22"/>
    <p:sldId id="286" r:id="rId23"/>
    <p:sldId id="287" r:id="rId24"/>
    <p:sldId id="289" r:id="rId25"/>
    <p:sldId id="316" r:id="rId26"/>
    <p:sldId id="317" r:id="rId27"/>
    <p:sldId id="290" r:id="rId28"/>
    <p:sldId id="319" r:id="rId29"/>
    <p:sldId id="332" r:id="rId30"/>
    <p:sldId id="294" r:id="rId31"/>
    <p:sldId id="295" r:id="rId32"/>
    <p:sldId id="296" r:id="rId33"/>
    <p:sldId id="299" r:id="rId34"/>
    <p:sldId id="302" r:id="rId35"/>
    <p:sldId id="303" r:id="rId36"/>
    <p:sldId id="304" r:id="rId37"/>
    <p:sldId id="305" r:id="rId38"/>
    <p:sldId id="306" r:id="rId39"/>
    <p:sldId id="307" r:id="rId40"/>
    <p:sldId id="308" r:id="rId41"/>
    <p:sldId id="309" r:id="rId42"/>
    <p:sldId id="310" r:id="rId43"/>
    <p:sldId id="311" r:id="rId44"/>
    <p:sldId id="320" r:id="rId45"/>
    <p:sldId id="323" r:id="rId4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GAN Ling" initials="GL" lastIdx="1" clrIdx="0">
    <p:extLst>
      <p:ext uri="{19B8F6BF-5375-455C-9EA6-DF929625EA0E}">
        <p15:presenceInfo xmlns:p15="http://schemas.microsoft.com/office/powerpoint/2012/main" userId="S::19481578@link.hkbu.edu.hk::e3d205b2-356f-4b65-ab9f-7c14072c95a3" providerId="AD"/>
      </p:ext>
    </p:extLst>
  </p:cmAuthor>
  <p:cmAuthor id="2" name="GAN Ling" initials="GL [2]" lastIdx="5" clrIdx="1">
    <p:extLst>
      <p:ext uri="{19B8F6BF-5375-455C-9EA6-DF929625EA0E}">
        <p15:presenceInfo xmlns:p15="http://schemas.microsoft.com/office/powerpoint/2012/main" userId="GAN Ling"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58" autoAdjust="0"/>
    <p:restoredTop sz="94249" autoAdjust="0"/>
  </p:normalViewPr>
  <p:slideViewPr>
    <p:cSldViewPr snapToGrid="0">
      <p:cViewPr varScale="1">
        <p:scale>
          <a:sx n="58" d="100"/>
          <a:sy n="58" d="100"/>
        </p:scale>
        <p:origin x="102" y="10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commentAuthors" Target="commentAuthors.xml"/><Relationship Id="rId50"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uen Yi LAW" userId="7022f2d7-95f0-4fb1-89f4-e72d0af4d2c8" providerId="ADAL" clId="{DA8CBE18-D373-4A31-A76F-F2827472F4AE}"/>
    <pc:docChg chg="delSld modSld">
      <pc:chgData name="Yuen Yi LAW" userId="7022f2d7-95f0-4fb1-89f4-e72d0af4d2c8" providerId="ADAL" clId="{DA8CBE18-D373-4A31-A76F-F2827472F4AE}" dt="2025-08-26T10:58:42.313" v="6" actId="2696"/>
      <pc:docMkLst>
        <pc:docMk/>
      </pc:docMkLst>
      <pc:sldChg chg="modSp mod">
        <pc:chgData name="Yuen Yi LAW" userId="7022f2d7-95f0-4fb1-89f4-e72d0af4d2c8" providerId="ADAL" clId="{DA8CBE18-D373-4A31-A76F-F2827472F4AE}" dt="2025-08-22T04:54:36.056" v="3" actId="20577"/>
        <pc:sldMkLst>
          <pc:docMk/>
          <pc:sldMk cId="1287603649" sldId="261"/>
        </pc:sldMkLst>
        <pc:spChg chg="mod">
          <ac:chgData name="Yuen Yi LAW" userId="7022f2d7-95f0-4fb1-89f4-e72d0af4d2c8" providerId="ADAL" clId="{DA8CBE18-D373-4A31-A76F-F2827472F4AE}" dt="2025-08-22T04:54:36.056" v="3" actId="20577"/>
          <ac:spMkLst>
            <pc:docMk/>
            <pc:sldMk cId="1287603649" sldId="261"/>
            <ac:spMk id="3" creationId="{00000000-0000-0000-0000-000000000000}"/>
          </ac:spMkLst>
        </pc:spChg>
      </pc:sldChg>
      <pc:sldChg chg="del">
        <pc:chgData name="Yuen Yi LAW" userId="7022f2d7-95f0-4fb1-89f4-e72d0af4d2c8" providerId="ADAL" clId="{DA8CBE18-D373-4A31-A76F-F2827472F4AE}" dt="2025-08-26T10:58:37.594" v="5" actId="2696"/>
        <pc:sldMkLst>
          <pc:docMk/>
          <pc:sldMk cId="421484559" sldId="312"/>
        </pc:sldMkLst>
      </pc:sldChg>
      <pc:sldChg chg="modSp mod">
        <pc:chgData name="Yuen Yi LAW" userId="7022f2d7-95f0-4fb1-89f4-e72d0af4d2c8" providerId="ADAL" clId="{DA8CBE18-D373-4A31-A76F-F2827472F4AE}" dt="2025-08-26T10:53:49.341" v="4" actId="403"/>
        <pc:sldMkLst>
          <pc:docMk/>
          <pc:sldMk cId="1035763751" sldId="318"/>
        </pc:sldMkLst>
        <pc:spChg chg="mod">
          <ac:chgData name="Yuen Yi LAW" userId="7022f2d7-95f0-4fb1-89f4-e72d0af4d2c8" providerId="ADAL" clId="{DA8CBE18-D373-4A31-A76F-F2827472F4AE}" dt="2025-08-26T10:53:49.341" v="4" actId="403"/>
          <ac:spMkLst>
            <pc:docMk/>
            <pc:sldMk cId="1035763751" sldId="318"/>
            <ac:spMk id="3" creationId="{00000000-0000-0000-0000-000000000000}"/>
          </ac:spMkLst>
        </pc:spChg>
      </pc:sldChg>
      <pc:sldChg chg="del">
        <pc:chgData name="Yuen Yi LAW" userId="7022f2d7-95f0-4fb1-89f4-e72d0af4d2c8" providerId="ADAL" clId="{DA8CBE18-D373-4A31-A76F-F2827472F4AE}" dt="2025-08-26T10:58:42.313" v="6" actId="2696"/>
        <pc:sldMkLst>
          <pc:docMk/>
          <pc:sldMk cId="172967872" sldId="321"/>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50CF941-01CF-4702-91CD-123234E6EFB9}" type="doc">
      <dgm:prSet loTypeId="urn:microsoft.com/office/officeart/2009/3/layout/IncreasingArrowsProcess" loCatId="process" qsTypeId="urn:microsoft.com/office/officeart/2005/8/quickstyle/simple1" qsCatId="simple" csTypeId="urn:microsoft.com/office/officeart/2005/8/colors/accent1_2" csCatId="accent1" phldr="1"/>
      <dgm:spPr/>
      <dgm:t>
        <a:bodyPr/>
        <a:lstStyle/>
        <a:p>
          <a:endParaRPr lang="en-US"/>
        </a:p>
      </dgm:t>
    </dgm:pt>
    <dgm:pt modelId="{8A6FD35B-1524-4ED8-AEC4-C0A11393D0AB}">
      <dgm:prSet phldrT="[Text]"/>
      <dgm:spPr/>
      <dgm:t>
        <a:bodyPr/>
        <a:lstStyle/>
        <a:p>
          <a:r>
            <a:rPr lang="en-US" b="1" dirty="0"/>
            <a:t>1. Identify relevant literature</a:t>
          </a:r>
        </a:p>
      </dgm:t>
    </dgm:pt>
    <dgm:pt modelId="{FFC3023B-1A63-4D8B-AB8C-94BC95D3D44B}" type="parTrans" cxnId="{9C7788E8-7856-4CDD-8282-AA8448972E11}">
      <dgm:prSet/>
      <dgm:spPr/>
      <dgm:t>
        <a:bodyPr/>
        <a:lstStyle/>
        <a:p>
          <a:endParaRPr lang="en-US"/>
        </a:p>
      </dgm:t>
    </dgm:pt>
    <dgm:pt modelId="{F1B36749-A74B-41AB-9536-71D007E213AD}" type="sibTrans" cxnId="{9C7788E8-7856-4CDD-8282-AA8448972E11}">
      <dgm:prSet/>
      <dgm:spPr/>
      <dgm:t>
        <a:bodyPr/>
        <a:lstStyle/>
        <a:p>
          <a:endParaRPr lang="en-US"/>
        </a:p>
      </dgm:t>
    </dgm:pt>
    <dgm:pt modelId="{20E0611E-CB00-422F-AEBD-A9C1363A5BF4}">
      <dgm:prSet phldrT="[Text]" custT="1"/>
      <dgm:spPr/>
      <dgm:t>
        <a:bodyPr/>
        <a:lstStyle/>
        <a:p>
          <a:pPr marL="0" lvl="0" algn="l" defTabSz="666750">
            <a:lnSpc>
              <a:spcPct val="110000"/>
            </a:lnSpc>
            <a:spcBef>
              <a:spcPct val="0"/>
            </a:spcBef>
            <a:spcAft>
              <a:spcPct val="35000"/>
            </a:spcAft>
            <a:buNone/>
          </a:pPr>
          <a:r>
            <a:rPr lang="en-US" sz="1500" kern="1200" dirty="0">
              <a:solidFill>
                <a:prstClr val="black">
                  <a:hueOff val="0"/>
                  <a:satOff val="0"/>
                  <a:lumOff val="0"/>
                  <a:alphaOff val="0"/>
                </a:prstClr>
              </a:solidFill>
              <a:latin typeface="Century Gothic" panose="020B0502020202020204"/>
              <a:ea typeface="+mn-ea"/>
              <a:cs typeface="+mn-cs"/>
            </a:rPr>
            <a:t>Identify key authors and renowned journals in your field using online search engines and the University Library website.</a:t>
          </a:r>
        </a:p>
        <a:p>
          <a:pPr marL="0" lvl="0" algn="l" defTabSz="666750">
            <a:lnSpc>
              <a:spcPct val="110000"/>
            </a:lnSpc>
            <a:spcBef>
              <a:spcPct val="0"/>
            </a:spcBef>
            <a:spcAft>
              <a:spcPct val="35000"/>
            </a:spcAft>
            <a:buNone/>
          </a:pPr>
          <a:r>
            <a:rPr lang="en-US" sz="1500" kern="1200" dirty="0">
              <a:solidFill>
                <a:prstClr val="black">
                  <a:hueOff val="0"/>
                  <a:satOff val="0"/>
                  <a:lumOff val="0"/>
                  <a:alphaOff val="0"/>
                </a:prstClr>
              </a:solidFill>
              <a:latin typeface="Century Gothic" panose="020B0502020202020204"/>
              <a:ea typeface="+mn-ea"/>
              <a:cs typeface="+mn-cs"/>
            </a:rPr>
            <a:t>Check reference lists from articles, books and theses.</a:t>
          </a:r>
        </a:p>
        <a:p>
          <a:pPr marL="0" lvl="0" algn="l" defTabSz="488950">
            <a:lnSpc>
              <a:spcPct val="90000"/>
            </a:lnSpc>
            <a:spcBef>
              <a:spcPct val="0"/>
            </a:spcBef>
            <a:spcAft>
              <a:spcPct val="35000"/>
            </a:spcAft>
            <a:buNone/>
          </a:pPr>
          <a:endParaRPr lang="en-US" sz="1100" kern="1200" dirty="0"/>
        </a:p>
        <a:p>
          <a:pPr marL="0" lvl="0" algn="l" defTabSz="488950">
            <a:lnSpc>
              <a:spcPct val="90000"/>
            </a:lnSpc>
            <a:spcBef>
              <a:spcPct val="0"/>
            </a:spcBef>
            <a:spcAft>
              <a:spcPct val="35000"/>
            </a:spcAft>
            <a:buNone/>
          </a:pPr>
          <a:endParaRPr lang="en-US" sz="1100" kern="1200" dirty="0"/>
        </a:p>
        <a:p>
          <a:pPr marL="0" lvl="0" algn="l" defTabSz="488950">
            <a:lnSpc>
              <a:spcPct val="90000"/>
            </a:lnSpc>
            <a:spcBef>
              <a:spcPct val="0"/>
            </a:spcBef>
            <a:spcAft>
              <a:spcPct val="35000"/>
            </a:spcAft>
            <a:buNone/>
          </a:pPr>
          <a:endParaRPr lang="en-US" sz="1100" kern="1200" dirty="0"/>
        </a:p>
        <a:p>
          <a:pPr marL="0" lvl="0" algn="l" defTabSz="488950">
            <a:lnSpc>
              <a:spcPct val="90000"/>
            </a:lnSpc>
            <a:spcBef>
              <a:spcPct val="0"/>
            </a:spcBef>
            <a:spcAft>
              <a:spcPct val="35000"/>
            </a:spcAft>
            <a:buNone/>
          </a:pPr>
          <a:endParaRPr lang="en-US" sz="1500" kern="1200" dirty="0"/>
        </a:p>
      </dgm:t>
    </dgm:pt>
    <dgm:pt modelId="{C3D66794-4391-484F-A4EB-973426362049}" type="parTrans" cxnId="{884585E7-C5ED-42D9-A90A-3E7ED1EF1C10}">
      <dgm:prSet/>
      <dgm:spPr/>
      <dgm:t>
        <a:bodyPr/>
        <a:lstStyle/>
        <a:p>
          <a:endParaRPr lang="en-US"/>
        </a:p>
      </dgm:t>
    </dgm:pt>
    <dgm:pt modelId="{E3DF4222-311A-447A-8D97-D96E478E868D}" type="sibTrans" cxnId="{884585E7-C5ED-42D9-A90A-3E7ED1EF1C10}">
      <dgm:prSet/>
      <dgm:spPr/>
      <dgm:t>
        <a:bodyPr/>
        <a:lstStyle/>
        <a:p>
          <a:endParaRPr lang="en-US"/>
        </a:p>
      </dgm:t>
    </dgm:pt>
    <dgm:pt modelId="{132ED5E6-032B-4E11-B240-021681F3303F}">
      <dgm:prSet phldrT="[Text]"/>
      <dgm:spPr/>
      <dgm:t>
        <a:bodyPr/>
        <a:lstStyle/>
        <a:p>
          <a:r>
            <a:rPr lang="en-US" b="1" dirty="0"/>
            <a:t>2. Read critically and make notes</a:t>
          </a:r>
        </a:p>
      </dgm:t>
    </dgm:pt>
    <dgm:pt modelId="{14D0C2D5-4C90-4492-B9EA-BBE111DB263C}" type="parTrans" cxnId="{C74E8282-C63F-4A44-B97A-4F265A2176BB}">
      <dgm:prSet/>
      <dgm:spPr/>
      <dgm:t>
        <a:bodyPr/>
        <a:lstStyle/>
        <a:p>
          <a:endParaRPr lang="en-US"/>
        </a:p>
      </dgm:t>
    </dgm:pt>
    <dgm:pt modelId="{2A7ABD2F-52AD-48BC-8FD8-FC4290288C24}" type="sibTrans" cxnId="{C74E8282-C63F-4A44-B97A-4F265A2176BB}">
      <dgm:prSet/>
      <dgm:spPr/>
      <dgm:t>
        <a:bodyPr/>
        <a:lstStyle/>
        <a:p>
          <a:endParaRPr lang="en-US"/>
        </a:p>
      </dgm:t>
    </dgm:pt>
    <dgm:pt modelId="{3EE0FE97-49A4-4FDC-9246-F3EE2B923DC3}">
      <dgm:prSet phldrT="[Text]" custT="1"/>
      <dgm:spPr/>
      <dgm:t>
        <a:bodyPr/>
        <a:lstStyle/>
        <a:p>
          <a:pPr marL="0" lvl="0" algn="l" defTabSz="666750">
            <a:lnSpc>
              <a:spcPct val="110000"/>
            </a:lnSpc>
            <a:spcBef>
              <a:spcPct val="0"/>
            </a:spcBef>
            <a:spcAft>
              <a:spcPct val="35000"/>
            </a:spcAft>
            <a:buNone/>
          </a:pPr>
          <a:r>
            <a:rPr lang="en-US" sz="1300" kern="1200" dirty="0">
              <a:solidFill>
                <a:prstClr val="black">
                  <a:hueOff val="0"/>
                  <a:satOff val="0"/>
                  <a:lumOff val="0"/>
                  <a:alphaOff val="0"/>
                </a:prstClr>
              </a:solidFill>
              <a:latin typeface="Century Gothic" panose="020B0502020202020204"/>
              <a:ea typeface="+mn-ea"/>
              <a:cs typeface="+mn-cs"/>
            </a:rPr>
            <a:t>Identify key themes in the literature.</a:t>
          </a:r>
        </a:p>
        <a:p>
          <a:pPr marL="0" lvl="0" algn="l" defTabSz="666750">
            <a:lnSpc>
              <a:spcPct val="110000"/>
            </a:lnSpc>
            <a:spcBef>
              <a:spcPct val="0"/>
            </a:spcBef>
            <a:spcAft>
              <a:spcPct val="35000"/>
            </a:spcAft>
            <a:buNone/>
          </a:pPr>
          <a:r>
            <a:rPr lang="en-US" sz="1300" kern="1200" dirty="0">
              <a:solidFill>
                <a:prstClr val="black">
                  <a:hueOff val="0"/>
                  <a:satOff val="0"/>
                  <a:lumOff val="0"/>
                  <a:alphaOff val="0"/>
                </a:prstClr>
              </a:solidFill>
              <a:latin typeface="Century Gothic" panose="020B0502020202020204"/>
              <a:ea typeface="+mn-ea"/>
              <a:cs typeface="+mn-cs"/>
            </a:rPr>
            <a:t>Identify the recent developments in the field and note the limitations of the previous research studies.</a:t>
          </a:r>
        </a:p>
        <a:p>
          <a:pPr marL="0" lvl="0" algn="l" defTabSz="666750">
            <a:lnSpc>
              <a:spcPct val="110000"/>
            </a:lnSpc>
            <a:spcBef>
              <a:spcPct val="0"/>
            </a:spcBef>
            <a:spcAft>
              <a:spcPct val="35000"/>
            </a:spcAft>
            <a:buNone/>
          </a:pPr>
          <a:r>
            <a:rPr lang="en-US" sz="1300" kern="1200" dirty="0">
              <a:solidFill>
                <a:prstClr val="black">
                  <a:hueOff val="0"/>
                  <a:satOff val="0"/>
                  <a:lumOff val="0"/>
                  <a:alphaOff val="0"/>
                </a:prstClr>
              </a:solidFill>
              <a:latin typeface="Century Gothic" panose="020B0502020202020204"/>
              <a:ea typeface="+mn-ea"/>
              <a:cs typeface="+mn-cs"/>
            </a:rPr>
            <a:t>Highlight, annotate the research papers and make notes. </a:t>
          </a:r>
        </a:p>
        <a:p>
          <a:pPr marL="0" lvl="0" algn="l" defTabSz="666750">
            <a:lnSpc>
              <a:spcPct val="110000"/>
            </a:lnSpc>
            <a:spcBef>
              <a:spcPct val="0"/>
            </a:spcBef>
            <a:spcAft>
              <a:spcPct val="35000"/>
            </a:spcAft>
            <a:buNone/>
          </a:pPr>
          <a:r>
            <a:rPr lang="en-US" sz="1300" kern="1200" dirty="0">
              <a:solidFill>
                <a:prstClr val="black">
                  <a:hueOff val="0"/>
                  <a:satOff val="0"/>
                  <a:lumOff val="0"/>
                  <a:alphaOff val="0"/>
                </a:prstClr>
              </a:solidFill>
              <a:latin typeface="Century Gothic" panose="020B0502020202020204"/>
              <a:ea typeface="+mn-ea"/>
              <a:cs typeface="+mn-cs"/>
            </a:rPr>
            <a:t>Evaluate and </a:t>
          </a:r>
          <a:r>
            <a:rPr lang="en-US" sz="1300" kern="1200" dirty="0" err="1">
              <a:solidFill>
                <a:prstClr val="black">
                  <a:hueOff val="0"/>
                  <a:satOff val="0"/>
                  <a:lumOff val="0"/>
                  <a:alphaOff val="0"/>
                </a:prstClr>
              </a:solidFill>
              <a:latin typeface="Century Gothic" panose="020B0502020202020204"/>
              <a:ea typeface="+mn-ea"/>
              <a:cs typeface="+mn-cs"/>
            </a:rPr>
            <a:t>analyse</a:t>
          </a:r>
          <a:r>
            <a:rPr lang="en-US" sz="1300" kern="1200" dirty="0">
              <a:solidFill>
                <a:prstClr val="black">
                  <a:hueOff val="0"/>
                  <a:satOff val="0"/>
                  <a:lumOff val="0"/>
                  <a:alphaOff val="0"/>
                </a:prstClr>
              </a:solidFill>
              <a:latin typeface="Century Gothic" panose="020B0502020202020204"/>
              <a:ea typeface="+mn-ea"/>
              <a:cs typeface="+mn-cs"/>
            </a:rPr>
            <a:t> the literature and make comments.</a:t>
          </a:r>
        </a:p>
        <a:p>
          <a:pPr marL="0" lvl="0" algn="l" defTabSz="666750">
            <a:lnSpc>
              <a:spcPct val="110000"/>
            </a:lnSpc>
            <a:spcBef>
              <a:spcPct val="0"/>
            </a:spcBef>
            <a:spcAft>
              <a:spcPct val="35000"/>
            </a:spcAft>
            <a:buNone/>
          </a:pPr>
          <a:r>
            <a:rPr lang="en-US" sz="1300" kern="1200" dirty="0">
              <a:solidFill>
                <a:prstClr val="black">
                  <a:hueOff val="0"/>
                  <a:satOff val="0"/>
                  <a:lumOff val="0"/>
                  <a:alphaOff val="0"/>
                </a:prstClr>
              </a:solidFill>
              <a:latin typeface="Century Gothic" panose="020B0502020202020204"/>
              <a:ea typeface="+mn-ea"/>
              <a:cs typeface="+mn-cs"/>
            </a:rPr>
            <a:t>Check out Endnote or other programs to see if it would be useful for you. </a:t>
          </a:r>
        </a:p>
      </dgm:t>
    </dgm:pt>
    <dgm:pt modelId="{050282CB-AB31-478E-9998-4EE6A92150D4}" type="parTrans" cxnId="{AA261B7F-ED68-49F5-AA97-ED9D78279EFB}">
      <dgm:prSet/>
      <dgm:spPr/>
      <dgm:t>
        <a:bodyPr/>
        <a:lstStyle/>
        <a:p>
          <a:endParaRPr lang="en-US"/>
        </a:p>
      </dgm:t>
    </dgm:pt>
    <dgm:pt modelId="{4D0B71B8-0722-40F0-8FC3-D5E75AD797D3}" type="sibTrans" cxnId="{AA261B7F-ED68-49F5-AA97-ED9D78279EFB}">
      <dgm:prSet/>
      <dgm:spPr/>
      <dgm:t>
        <a:bodyPr/>
        <a:lstStyle/>
        <a:p>
          <a:endParaRPr lang="en-US"/>
        </a:p>
      </dgm:t>
    </dgm:pt>
    <dgm:pt modelId="{A6F33FF2-1CB9-4DBF-9D06-FC02734D57B6}">
      <dgm:prSet phldrT="[Text]"/>
      <dgm:spPr/>
      <dgm:t>
        <a:bodyPr/>
        <a:lstStyle/>
        <a:p>
          <a:r>
            <a:rPr lang="en-US" b="1" dirty="0"/>
            <a:t>3. Prepare to write</a:t>
          </a:r>
        </a:p>
      </dgm:t>
    </dgm:pt>
    <dgm:pt modelId="{5A908E47-0A00-4250-A587-4DD8B263FD2B}" type="parTrans" cxnId="{86D21123-57F4-41C1-8DE1-38DF6E57A421}">
      <dgm:prSet/>
      <dgm:spPr/>
      <dgm:t>
        <a:bodyPr/>
        <a:lstStyle/>
        <a:p>
          <a:endParaRPr lang="en-US"/>
        </a:p>
      </dgm:t>
    </dgm:pt>
    <dgm:pt modelId="{3305CF92-3840-4317-9637-B1C4F53CCC22}" type="sibTrans" cxnId="{86D21123-57F4-41C1-8DE1-38DF6E57A421}">
      <dgm:prSet/>
      <dgm:spPr/>
      <dgm:t>
        <a:bodyPr/>
        <a:lstStyle/>
        <a:p>
          <a:endParaRPr lang="en-US"/>
        </a:p>
      </dgm:t>
    </dgm:pt>
    <dgm:pt modelId="{607D1EB6-9FE0-4206-BCD7-C6C900638C3F}">
      <dgm:prSet phldrT="[Text]"/>
      <dgm:spPr/>
      <dgm:t>
        <a:bodyPr/>
        <a:lstStyle/>
        <a:p>
          <a:pPr>
            <a:lnSpc>
              <a:spcPct val="110000"/>
            </a:lnSpc>
          </a:pPr>
          <a:r>
            <a:rPr lang="en-US" dirty="0"/>
            <a:t>Check the expected length and format of the literature review.</a:t>
          </a:r>
        </a:p>
        <a:p>
          <a:pPr>
            <a:lnSpc>
              <a:spcPct val="110000"/>
            </a:lnSpc>
          </a:pPr>
          <a:r>
            <a:rPr lang="en-US" dirty="0" err="1"/>
            <a:t>Categorise</a:t>
          </a:r>
          <a:r>
            <a:rPr lang="en-US" dirty="0"/>
            <a:t> the literature using a systematic approach. Outline your literature review structure.</a:t>
          </a:r>
        </a:p>
        <a:p>
          <a:pPr>
            <a:lnSpc>
              <a:spcPct val="110000"/>
            </a:lnSpc>
          </a:pPr>
          <a:r>
            <a:rPr lang="en-US" dirty="0"/>
            <a:t>Delineate the scope of your literature review.</a:t>
          </a:r>
        </a:p>
      </dgm:t>
    </dgm:pt>
    <dgm:pt modelId="{9206E0E1-BA15-4E1F-B2A4-CFF5E972C898}" type="parTrans" cxnId="{26734150-1BDF-4063-A6CF-21F33DC373C4}">
      <dgm:prSet/>
      <dgm:spPr/>
      <dgm:t>
        <a:bodyPr/>
        <a:lstStyle/>
        <a:p>
          <a:endParaRPr lang="en-US"/>
        </a:p>
      </dgm:t>
    </dgm:pt>
    <dgm:pt modelId="{5F1D77A9-B097-4DC8-BA89-D93B23BA4D75}" type="sibTrans" cxnId="{26734150-1BDF-4063-A6CF-21F33DC373C4}">
      <dgm:prSet/>
      <dgm:spPr/>
      <dgm:t>
        <a:bodyPr/>
        <a:lstStyle/>
        <a:p>
          <a:endParaRPr lang="en-US"/>
        </a:p>
      </dgm:t>
    </dgm:pt>
    <dgm:pt modelId="{BEC78A60-9760-42F2-90D8-73B28450862F}" type="pres">
      <dgm:prSet presAssocID="{250CF941-01CF-4702-91CD-123234E6EFB9}" presName="Name0" presStyleCnt="0">
        <dgm:presLayoutVars>
          <dgm:chMax val="5"/>
          <dgm:chPref val="5"/>
          <dgm:dir/>
          <dgm:animLvl val="lvl"/>
        </dgm:presLayoutVars>
      </dgm:prSet>
      <dgm:spPr/>
    </dgm:pt>
    <dgm:pt modelId="{A84402C4-68C4-40EC-B4B2-1376F240B560}" type="pres">
      <dgm:prSet presAssocID="{8A6FD35B-1524-4ED8-AEC4-C0A11393D0AB}" presName="parentText1" presStyleLbl="node1" presStyleIdx="0" presStyleCnt="3">
        <dgm:presLayoutVars>
          <dgm:chMax/>
          <dgm:chPref val="3"/>
          <dgm:bulletEnabled val="1"/>
        </dgm:presLayoutVars>
      </dgm:prSet>
      <dgm:spPr/>
    </dgm:pt>
    <dgm:pt modelId="{C11CEFB3-3EC2-4390-9C15-52C5BEA713DD}" type="pres">
      <dgm:prSet presAssocID="{8A6FD35B-1524-4ED8-AEC4-C0A11393D0AB}" presName="childText1" presStyleLbl="solidAlignAcc1" presStyleIdx="0" presStyleCnt="3" custLinFactNeighborX="332" custLinFactNeighborY="-1095">
        <dgm:presLayoutVars>
          <dgm:chMax val="0"/>
          <dgm:chPref val="0"/>
          <dgm:bulletEnabled val="1"/>
        </dgm:presLayoutVars>
      </dgm:prSet>
      <dgm:spPr/>
    </dgm:pt>
    <dgm:pt modelId="{64341E3C-6A68-4CCF-A0D1-2861758E8679}" type="pres">
      <dgm:prSet presAssocID="{132ED5E6-032B-4E11-B240-021681F3303F}" presName="parentText2" presStyleLbl="node1" presStyleIdx="1" presStyleCnt="3" custLinFactNeighborX="0" custLinFactNeighborY="-1406">
        <dgm:presLayoutVars>
          <dgm:chMax/>
          <dgm:chPref val="3"/>
          <dgm:bulletEnabled val="1"/>
        </dgm:presLayoutVars>
      </dgm:prSet>
      <dgm:spPr/>
    </dgm:pt>
    <dgm:pt modelId="{4CF13FE8-E0FE-4551-A8A8-6F539184FC6E}" type="pres">
      <dgm:prSet presAssocID="{132ED5E6-032B-4E11-B240-021681F3303F}" presName="childText2" presStyleLbl="solidAlignAcc1" presStyleIdx="1" presStyleCnt="3" custScaleX="101635" custScaleY="168829" custLinFactNeighborX="853" custLinFactNeighborY="35012">
        <dgm:presLayoutVars>
          <dgm:chMax val="0"/>
          <dgm:chPref val="0"/>
          <dgm:bulletEnabled val="1"/>
        </dgm:presLayoutVars>
      </dgm:prSet>
      <dgm:spPr/>
    </dgm:pt>
    <dgm:pt modelId="{22191864-301E-4B45-BD94-FD2E6DB42E59}" type="pres">
      <dgm:prSet presAssocID="{A6F33FF2-1CB9-4DBF-9D06-FC02734D57B6}" presName="parentText3" presStyleLbl="node1" presStyleIdx="2" presStyleCnt="3" custScaleY="80512" custLinFactNeighborX="1022" custLinFactNeighborY="3515">
        <dgm:presLayoutVars>
          <dgm:chMax/>
          <dgm:chPref val="3"/>
          <dgm:bulletEnabled val="1"/>
        </dgm:presLayoutVars>
      </dgm:prSet>
      <dgm:spPr/>
    </dgm:pt>
    <dgm:pt modelId="{B741B62B-AF3D-4BF8-AEE3-8F16811C1680}" type="pres">
      <dgm:prSet presAssocID="{A6F33FF2-1CB9-4DBF-9D06-FC02734D57B6}" presName="childText3" presStyleLbl="solidAlignAcc1" presStyleIdx="2" presStyleCnt="3" custScaleX="104459" custLinFactNeighborX="4556" custLinFactNeighborY="-1481">
        <dgm:presLayoutVars>
          <dgm:chMax val="0"/>
          <dgm:chPref val="0"/>
          <dgm:bulletEnabled val="1"/>
        </dgm:presLayoutVars>
      </dgm:prSet>
      <dgm:spPr/>
    </dgm:pt>
  </dgm:ptLst>
  <dgm:cxnLst>
    <dgm:cxn modelId="{86D21123-57F4-41C1-8DE1-38DF6E57A421}" srcId="{250CF941-01CF-4702-91CD-123234E6EFB9}" destId="{A6F33FF2-1CB9-4DBF-9D06-FC02734D57B6}" srcOrd="2" destOrd="0" parTransId="{5A908E47-0A00-4250-A587-4DD8B263FD2B}" sibTransId="{3305CF92-3840-4317-9637-B1C4F53CCC22}"/>
    <dgm:cxn modelId="{57212236-14AE-4D3B-858D-7C0471B33BEB}" type="presOf" srcId="{607D1EB6-9FE0-4206-BCD7-C6C900638C3F}" destId="{B741B62B-AF3D-4BF8-AEE3-8F16811C1680}" srcOrd="0" destOrd="0" presId="urn:microsoft.com/office/officeart/2009/3/layout/IncreasingArrowsProcess"/>
    <dgm:cxn modelId="{F937E139-3755-42F4-B839-CA9B763A603F}" type="presOf" srcId="{3EE0FE97-49A4-4FDC-9246-F3EE2B923DC3}" destId="{4CF13FE8-E0FE-4551-A8A8-6F539184FC6E}" srcOrd="0" destOrd="0" presId="urn:microsoft.com/office/officeart/2009/3/layout/IncreasingArrowsProcess"/>
    <dgm:cxn modelId="{AF7F305D-A151-43A2-87E8-C87AC21BC8EC}" type="presOf" srcId="{20E0611E-CB00-422F-AEBD-A9C1363A5BF4}" destId="{C11CEFB3-3EC2-4390-9C15-52C5BEA713DD}" srcOrd="0" destOrd="0" presId="urn:microsoft.com/office/officeart/2009/3/layout/IncreasingArrowsProcess"/>
    <dgm:cxn modelId="{26734150-1BDF-4063-A6CF-21F33DC373C4}" srcId="{A6F33FF2-1CB9-4DBF-9D06-FC02734D57B6}" destId="{607D1EB6-9FE0-4206-BCD7-C6C900638C3F}" srcOrd="0" destOrd="0" parTransId="{9206E0E1-BA15-4E1F-B2A4-CFF5E972C898}" sibTransId="{5F1D77A9-B097-4DC8-BA89-D93B23BA4D75}"/>
    <dgm:cxn modelId="{E13BD654-C000-44B3-BDC4-36BF64646AEB}" type="presOf" srcId="{250CF941-01CF-4702-91CD-123234E6EFB9}" destId="{BEC78A60-9760-42F2-90D8-73B28450862F}" srcOrd="0" destOrd="0" presId="urn:microsoft.com/office/officeart/2009/3/layout/IncreasingArrowsProcess"/>
    <dgm:cxn modelId="{AA261B7F-ED68-49F5-AA97-ED9D78279EFB}" srcId="{132ED5E6-032B-4E11-B240-021681F3303F}" destId="{3EE0FE97-49A4-4FDC-9246-F3EE2B923DC3}" srcOrd="0" destOrd="0" parTransId="{050282CB-AB31-478E-9998-4EE6A92150D4}" sibTransId="{4D0B71B8-0722-40F0-8FC3-D5E75AD797D3}"/>
    <dgm:cxn modelId="{C74E8282-C63F-4A44-B97A-4F265A2176BB}" srcId="{250CF941-01CF-4702-91CD-123234E6EFB9}" destId="{132ED5E6-032B-4E11-B240-021681F3303F}" srcOrd="1" destOrd="0" parTransId="{14D0C2D5-4C90-4492-B9EA-BBE111DB263C}" sibTransId="{2A7ABD2F-52AD-48BC-8FD8-FC4290288C24}"/>
    <dgm:cxn modelId="{49FB0387-8CC3-4F4E-9145-B701F1655639}" type="presOf" srcId="{8A6FD35B-1524-4ED8-AEC4-C0A11393D0AB}" destId="{A84402C4-68C4-40EC-B4B2-1376F240B560}" srcOrd="0" destOrd="0" presId="urn:microsoft.com/office/officeart/2009/3/layout/IncreasingArrowsProcess"/>
    <dgm:cxn modelId="{A81BC988-23B3-4081-8C54-23379375B661}" type="presOf" srcId="{132ED5E6-032B-4E11-B240-021681F3303F}" destId="{64341E3C-6A68-4CCF-A0D1-2861758E8679}" srcOrd="0" destOrd="0" presId="urn:microsoft.com/office/officeart/2009/3/layout/IncreasingArrowsProcess"/>
    <dgm:cxn modelId="{884585E7-C5ED-42D9-A90A-3E7ED1EF1C10}" srcId="{8A6FD35B-1524-4ED8-AEC4-C0A11393D0AB}" destId="{20E0611E-CB00-422F-AEBD-A9C1363A5BF4}" srcOrd="0" destOrd="0" parTransId="{C3D66794-4391-484F-A4EB-973426362049}" sibTransId="{E3DF4222-311A-447A-8D97-D96E478E868D}"/>
    <dgm:cxn modelId="{9C7788E8-7856-4CDD-8282-AA8448972E11}" srcId="{250CF941-01CF-4702-91CD-123234E6EFB9}" destId="{8A6FD35B-1524-4ED8-AEC4-C0A11393D0AB}" srcOrd="0" destOrd="0" parTransId="{FFC3023B-1A63-4D8B-AB8C-94BC95D3D44B}" sibTransId="{F1B36749-A74B-41AB-9536-71D007E213AD}"/>
    <dgm:cxn modelId="{557CA9FC-F277-487D-84DB-2D986B2D765C}" type="presOf" srcId="{A6F33FF2-1CB9-4DBF-9D06-FC02734D57B6}" destId="{22191864-301E-4B45-BD94-FD2E6DB42E59}" srcOrd="0" destOrd="0" presId="urn:microsoft.com/office/officeart/2009/3/layout/IncreasingArrowsProcess"/>
    <dgm:cxn modelId="{D7D98A44-4EF6-4C26-8D06-DB55F5360E18}" type="presParOf" srcId="{BEC78A60-9760-42F2-90D8-73B28450862F}" destId="{A84402C4-68C4-40EC-B4B2-1376F240B560}" srcOrd="0" destOrd="0" presId="urn:microsoft.com/office/officeart/2009/3/layout/IncreasingArrowsProcess"/>
    <dgm:cxn modelId="{52ED5042-F176-445E-A852-7A91E34D407F}" type="presParOf" srcId="{BEC78A60-9760-42F2-90D8-73B28450862F}" destId="{C11CEFB3-3EC2-4390-9C15-52C5BEA713DD}" srcOrd="1" destOrd="0" presId="urn:microsoft.com/office/officeart/2009/3/layout/IncreasingArrowsProcess"/>
    <dgm:cxn modelId="{FFEF2806-BBFD-483C-98F3-19EBA9EC8C22}" type="presParOf" srcId="{BEC78A60-9760-42F2-90D8-73B28450862F}" destId="{64341E3C-6A68-4CCF-A0D1-2861758E8679}" srcOrd="2" destOrd="0" presId="urn:microsoft.com/office/officeart/2009/3/layout/IncreasingArrowsProcess"/>
    <dgm:cxn modelId="{3C7B3FC9-39E2-4CDE-BB2E-0D39FE4D1ADD}" type="presParOf" srcId="{BEC78A60-9760-42F2-90D8-73B28450862F}" destId="{4CF13FE8-E0FE-4551-A8A8-6F539184FC6E}" srcOrd="3" destOrd="0" presId="urn:microsoft.com/office/officeart/2009/3/layout/IncreasingArrowsProcess"/>
    <dgm:cxn modelId="{8A127497-B1DE-4AF0-B947-E097CFC3FE95}" type="presParOf" srcId="{BEC78A60-9760-42F2-90D8-73B28450862F}" destId="{22191864-301E-4B45-BD94-FD2E6DB42E59}" srcOrd="4" destOrd="0" presId="urn:microsoft.com/office/officeart/2009/3/layout/IncreasingArrowsProcess"/>
    <dgm:cxn modelId="{2C113FAE-26CA-4184-956E-13592BF0961D}" type="presParOf" srcId="{BEC78A60-9760-42F2-90D8-73B28450862F}" destId="{B741B62B-AF3D-4BF8-AEE3-8F16811C1680}" srcOrd="5" destOrd="0" presId="urn:microsoft.com/office/officeart/2009/3/layout/IncreasingArrows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84402C4-68C4-40EC-B4B2-1376F240B560}">
      <dsp:nvSpPr>
        <dsp:cNvPr id="0" name=""/>
        <dsp:cNvSpPr/>
      </dsp:nvSpPr>
      <dsp:spPr>
        <a:xfrm>
          <a:off x="23547" y="711704"/>
          <a:ext cx="8119684" cy="1182535"/>
        </a:xfrm>
        <a:prstGeom prst="rightArrow">
          <a:avLst>
            <a:gd name="adj1" fmla="val 50000"/>
            <a:gd name="adj2" fmla="val 5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254000" bIns="187728" numCol="1" spcCol="1270" anchor="ctr" anchorCtr="0">
          <a:noAutofit/>
        </a:bodyPr>
        <a:lstStyle/>
        <a:p>
          <a:pPr marL="0" lvl="0" indent="0" algn="l" defTabSz="711200">
            <a:lnSpc>
              <a:spcPct val="90000"/>
            </a:lnSpc>
            <a:spcBef>
              <a:spcPct val="0"/>
            </a:spcBef>
            <a:spcAft>
              <a:spcPct val="35000"/>
            </a:spcAft>
            <a:buNone/>
          </a:pPr>
          <a:r>
            <a:rPr lang="en-US" sz="1600" b="1" kern="1200" dirty="0"/>
            <a:t>1. Identify relevant literature</a:t>
          </a:r>
        </a:p>
      </dsp:txBody>
      <dsp:txXfrm>
        <a:off x="23547" y="1007338"/>
        <a:ext cx="7824050" cy="591267"/>
      </dsp:txXfrm>
    </dsp:sp>
    <dsp:sp modelId="{C11CEFB3-3EC2-4390-9C15-52C5BEA713DD}">
      <dsp:nvSpPr>
        <dsp:cNvPr id="0" name=""/>
        <dsp:cNvSpPr/>
      </dsp:nvSpPr>
      <dsp:spPr>
        <a:xfrm>
          <a:off x="31849" y="1598665"/>
          <a:ext cx="2500862" cy="2277998"/>
        </a:xfrm>
        <a:prstGeom prst="rect">
          <a:avLst/>
        </a:prstGeom>
        <a:solidFill>
          <a:schemeClr val="l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110000"/>
            </a:lnSpc>
            <a:spcBef>
              <a:spcPct val="0"/>
            </a:spcBef>
            <a:spcAft>
              <a:spcPct val="35000"/>
            </a:spcAft>
            <a:buNone/>
          </a:pPr>
          <a:r>
            <a:rPr lang="en-US" sz="1500" kern="1200" dirty="0">
              <a:solidFill>
                <a:prstClr val="black">
                  <a:hueOff val="0"/>
                  <a:satOff val="0"/>
                  <a:lumOff val="0"/>
                  <a:alphaOff val="0"/>
                </a:prstClr>
              </a:solidFill>
              <a:latin typeface="Century Gothic" panose="020B0502020202020204"/>
              <a:ea typeface="+mn-ea"/>
              <a:cs typeface="+mn-cs"/>
            </a:rPr>
            <a:t>Identify key authors and renowned journals in your field using online search engines and the University Library website.</a:t>
          </a:r>
        </a:p>
        <a:p>
          <a:pPr marL="0" lvl="0" indent="0" algn="l" defTabSz="666750">
            <a:lnSpc>
              <a:spcPct val="110000"/>
            </a:lnSpc>
            <a:spcBef>
              <a:spcPct val="0"/>
            </a:spcBef>
            <a:spcAft>
              <a:spcPct val="35000"/>
            </a:spcAft>
            <a:buNone/>
          </a:pPr>
          <a:r>
            <a:rPr lang="en-US" sz="1500" kern="1200" dirty="0">
              <a:solidFill>
                <a:prstClr val="black">
                  <a:hueOff val="0"/>
                  <a:satOff val="0"/>
                  <a:lumOff val="0"/>
                  <a:alphaOff val="0"/>
                </a:prstClr>
              </a:solidFill>
              <a:latin typeface="Century Gothic" panose="020B0502020202020204"/>
              <a:ea typeface="+mn-ea"/>
              <a:cs typeface="+mn-cs"/>
            </a:rPr>
            <a:t>Check reference lists from articles, books and theses.</a:t>
          </a:r>
        </a:p>
        <a:p>
          <a:pPr marL="0" lvl="0" indent="0" algn="l" defTabSz="488950">
            <a:lnSpc>
              <a:spcPct val="90000"/>
            </a:lnSpc>
            <a:spcBef>
              <a:spcPct val="0"/>
            </a:spcBef>
            <a:spcAft>
              <a:spcPct val="35000"/>
            </a:spcAft>
            <a:buNone/>
          </a:pPr>
          <a:endParaRPr lang="en-US" sz="1100" kern="1200" dirty="0"/>
        </a:p>
        <a:p>
          <a:pPr marL="0" lvl="0" indent="0" algn="l" defTabSz="488950">
            <a:lnSpc>
              <a:spcPct val="90000"/>
            </a:lnSpc>
            <a:spcBef>
              <a:spcPct val="0"/>
            </a:spcBef>
            <a:spcAft>
              <a:spcPct val="35000"/>
            </a:spcAft>
            <a:buNone/>
          </a:pPr>
          <a:endParaRPr lang="en-US" sz="1100" kern="1200" dirty="0"/>
        </a:p>
        <a:p>
          <a:pPr marL="0" lvl="0" indent="0" algn="l" defTabSz="488950">
            <a:lnSpc>
              <a:spcPct val="90000"/>
            </a:lnSpc>
            <a:spcBef>
              <a:spcPct val="0"/>
            </a:spcBef>
            <a:spcAft>
              <a:spcPct val="35000"/>
            </a:spcAft>
            <a:buNone/>
          </a:pPr>
          <a:endParaRPr lang="en-US" sz="1100" kern="1200" dirty="0"/>
        </a:p>
        <a:p>
          <a:pPr marL="0" lvl="0" indent="0" algn="l" defTabSz="488950">
            <a:lnSpc>
              <a:spcPct val="90000"/>
            </a:lnSpc>
            <a:spcBef>
              <a:spcPct val="0"/>
            </a:spcBef>
            <a:spcAft>
              <a:spcPct val="35000"/>
            </a:spcAft>
            <a:buNone/>
          </a:pPr>
          <a:endParaRPr lang="en-US" sz="1500" kern="1200" dirty="0"/>
        </a:p>
      </dsp:txBody>
      <dsp:txXfrm>
        <a:off x="31849" y="1598665"/>
        <a:ext cx="2500862" cy="2277998"/>
      </dsp:txXfrm>
    </dsp:sp>
    <dsp:sp modelId="{64341E3C-6A68-4CCF-A0D1-2861758E8679}">
      <dsp:nvSpPr>
        <dsp:cNvPr id="0" name=""/>
        <dsp:cNvSpPr/>
      </dsp:nvSpPr>
      <dsp:spPr>
        <a:xfrm>
          <a:off x="2524410" y="1089256"/>
          <a:ext cx="5618821" cy="1182535"/>
        </a:xfrm>
        <a:prstGeom prst="rightArrow">
          <a:avLst>
            <a:gd name="adj1" fmla="val 50000"/>
            <a:gd name="adj2" fmla="val 5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254000" bIns="187728" numCol="1" spcCol="1270" anchor="ctr" anchorCtr="0">
          <a:noAutofit/>
        </a:bodyPr>
        <a:lstStyle/>
        <a:p>
          <a:pPr marL="0" lvl="0" indent="0" algn="l" defTabSz="711200">
            <a:lnSpc>
              <a:spcPct val="90000"/>
            </a:lnSpc>
            <a:spcBef>
              <a:spcPct val="0"/>
            </a:spcBef>
            <a:spcAft>
              <a:spcPct val="35000"/>
            </a:spcAft>
            <a:buNone/>
          </a:pPr>
          <a:r>
            <a:rPr lang="en-US" sz="1600" b="1" kern="1200" dirty="0"/>
            <a:t>2. Read critically and make notes</a:t>
          </a:r>
        </a:p>
      </dsp:txBody>
      <dsp:txXfrm>
        <a:off x="2524410" y="1384890"/>
        <a:ext cx="5323187" cy="591267"/>
      </dsp:txXfrm>
    </dsp:sp>
    <dsp:sp modelId="{4CF13FE8-E0FE-4551-A8A8-6F539184FC6E}">
      <dsp:nvSpPr>
        <dsp:cNvPr id="0" name=""/>
        <dsp:cNvSpPr/>
      </dsp:nvSpPr>
      <dsp:spPr>
        <a:xfrm>
          <a:off x="2525297" y="1945530"/>
          <a:ext cx="2541752" cy="3845922"/>
        </a:xfrm>
        <a:prstGeom prst="rect">
          <a:avLst/>
        </a:prstGeom>
        <a:solidFill>
          <a:schemeClr val="l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666750">
            <a:lnSpc>
              <a:spcPct val="110000"/>
            </a:lnSpc>
            <a:spcBef>
              <a:spcPct val="0"/>
            </a:spcBef>
            <a:spcAft>
              <a:spcPct val="35000"/>
            </a:spcAft>
            <a:buNone/>
          </a:pPr>
          <a:r>
            <a:rPr lang="en-US" sz="1300" kern="1200" dirty="0">
              <a:solidFill>
                <a:prstClr val="black">
                  <a:hueOff val="0"/>
                  <a:satOff val="0"/>
                  <a:lumOff val="0"/>
                  <a:alphaOff val="0"/>
                </a:prstClr>
              </a:solidFill>
              <a:latin typeface="Century Gothic" panose="020B0502020202020204"/>
              <a:ea typeface="+mn-ea"/>
              <a:cs typeface="+mn-cs"/>
            </a:rPr>
            <a:t>Identify key themes in the literature.</a:t>
          </a:r>
        </a:p>
        <a:p>
          <a:pPr marL="0" lvl="0" indent="0" algn="l" defTabSz="666750">
            <a:lnSpc>
              <a:spcPct val="110000"/>
            </a:lnSpc>
            <a:spcBef>
              <a:spcPct val="0"/>
            </a:spcBef>
            <a:spcAft>
              <a:spcPct val="35000"/>
            </a:spcAft>
            <a:buNone/>
          </a:pPr>
          <a:r>
            <a:rPr lang="en-US" sz="1300" kern="1200" dirty="0">
              <a:solidFill>
                <a:prstClr val="black">
                  <a:hueOff val="0"/>
                  <a:satOff val="0"/>
                  <a:lumOff val="0"/>
                  <a:alphaOff val="0"/>
                </a:prstClr>
              </a:solidFill>
              <a:latin typeface="Century Gothic" panose="020B0502020202020204"/>
              <a:ea typeface="+mn-ea"/>
              <a:cs typeface="+mn-cs"/>
            </a:rPr>
            <a:t>Identify the recent developments in the field and note the limitations of the previous research studies.</a:t>
          </a:r>
        </a:p>
        <a:p>
          <a:pPr marL="0" lvl="0" indent="0" algn="l" defTabSz="666750">
            <a:lnSpc>
              <a:spcPct val="110000"/>
            </a:lnSpc>
            <a:spcBef>
              <a:spcPct val="0"/>
            </a:spcBef>
            <a:spcAft>
              <a:spcPct val="35000"/>
            </a:spcAft>
            <a:buNone/>
          </a:pPr>
          <a:r>
            <a:rPr lang="en-US" sz="1300" kern="1200" dirty="0">
              <a:solidFill>
                <a:prstClr val="black">
                  <a:hueOff val="0"/>
                  <a:satOff val="0"/>
                  <a:lumOff val="0"/>
                  <a:alphaOff val="0"/>
                </a:prstClr>
              </a:solidFill>
              <a:latin typeface="Century Gothic" panose="020B0502020202020204"/>
              <a:ea typeface="+mn-ea"/>
              <a:cs typeface="+mn-cs"/>
            </a:rPr>
            <a:t>Highlight, annotate the research papers and make notes. </a:t>
          </a:r>
        </a:p>
        <a:p>
          <a:pPr marL="0" lvl="0" indent="0" algn="l" defTabSz="666750">
            <a:lnSpc>
              <a:spcPct val="110000"/>
            </a:lnSpc>
            <a:spcBef>
              <a:spcPct val="0"/>
            </a:spcBef>
            <a:spcAft>
              <a:spcPct val="35000"/>
            </a:spcAft>
            <a:buNone/>
          </a:pPr>
          <a:r>
            <a:rPr lang="en-US" sz="1300" kern="1200" dirty="0">
              <a:solidFill>
                <a:prstClr val="black">
                  <a:hueOff val="0"/>
                  <a:satOff val="0"/>
                  <a:lumOff val="0"/>
                  <a:alphaOff val="0"/>
                </a:prstClr>
              </a:solidFill>
              <a:latin typeface="Century Gothic" panose="020B0502020202020204"/>
              <a:ea typeface="+mn-ea"/>
              <a:cs typeface="+mn-cs"/>
            </a:rPr>
            <a:t>Evaluate and </a:t>
          </a:r>
          <a:r>
            <a:rPr lang="en-US" sz="1300" kern="1200" dirty="0" err="1">
              <a:solidFill>
                <a:prstClr val="black">
                  <a:hueOff val="0"/>
                  <a:satOff val="0"/>
                  <a:lumOff val="0"/>
                  <a:alphaOff val="0"/>
                </a:prstClr>
              </a:solidFill>
              <a:latin typeface="Century Gothic" panose="020B0502020202020204"/>
              <a:ea typeface="+mn-ea"/>
              <a:cs typeface="+mn-cs"/>
            </a:rPr>
            <a:t>analyse</a:t>
          </a:r>
          <a:r>
            <a:rPr lang="en-US" sz="1300" kern="1200" dirty="0">
              <a:solidFill>
                <a:prstClr val="black">
                  <a:hueOff val="0"/>
                  <a:satOff val="0"/>
                  <a:lumOff val="0"/>
                  <a:alphaOff val="0"/>
                </a:prstClr>
              </a:solidFill>
              <a:latin typeface="Century Gothic" panose="020B0502020202020204"/>
              <a:ea typeface="+mn-ea"/>
              <a:cs typeface="+mn-cs"/>
            </a:rPr>
            <a:t> the literature and make comments.</a:t>
          </a:r>
        </a:p>
        <a:p>
          <a:pPr marL="0" lvl="0" indent="0" algn="l" defTabSz="666750">
            <a:lnSpc>
              <a:spcPct val="110000"/>
            </a:lnSpc>
            <a:spcBef>
              <a:spcPct val="0"/>
            </a:spcBef>
            <a:spcAft>
              <a:spcPct val="35000"/>
            </a:spcAft>
            <a:buNone/>
          </a:pPr>
          <a:r>
            <a:rPr lang="en-US" sz="1300" kern="1200" dirty="0">
              <a:solidFill>
                <a:prstClr val="black">
                  <a:hueOff val="0"/>
                  <a:satOff val="0"/>
                  <a:lumOff val="0"/>
                  <a:alphaOff val="0"/>
                </a:prstClr>
              </a:solidFill>
              <a:latin typeface="Century Gothic" panose="020B0502020202020204"/>
              <a:ea typeface="+mn-ea"/>
              <a:cs typeface="+mn-cs"/>
            </a:rPr>
            <a:t>Check out Endnote or other programs to see if it would be useful for you. </a:t>
          </a:r>
        </a:p>
      </dsp:txBody>
      <dsp:txXfrm>
        <a:off x="2525297" y="1945530"/>
        <a:ext cx="2541752" cy="3845922"/>
      </dsp:txXfrm>
    </dsp:sp>
    <dsp:sp modelId="{22191864-301E-4B45-BD94-FD2E6DB42E59}">
      <dsp:nvSpPr>
        <dsp:cNvPr id="0" name=""/>
        <dsp:cNvSpPr/>
      </dsp:nvSpPr>
      <dsp:spPr>
        <a:xfrm>
          <a:off x="5048820" y="1656853"/>
          <a:ext cx="3117958" cy="952082"/>
        </a:xfrm>
        <a:prstGeom prst="rightArrow">
          <a:avLst>
            <a:gd name="adj1" fmla="val 50000"/>
            <a:gd name="adj2" fmla="val 5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254000" bIns="187728" numCol="1" spcCol="1270" anchor="ctr" anchorCtr="0">
          <a:noAutofit/>
        </a:bodyPr>
        <a:lstStyle/>
        <a:p>
          <a:pPr marL="0" lvl="0" indent="0" algn="l" defTabSz="711200">
            <a:lnSpc>
              <a:spcPct val="90000"/>
            </a:lnSpc>
            <a:spcBef>
              <a:spcPct val="0"/>
            </a:spcBef>
            <a:spcAft>
              <a:spcPct val="35000"/>
            </a:spcAft>
            <a:buNone/>
          </a:pPr>
          <a:r>
            <a:rPr lang="en-US" sz="1600" b="1" kern="1200" dirty="0"/>
            <a:t>3. Prepare to write</a:t>
          </a:r>
        </a:p>
      </dsp:txBody>
      <dsp:txXfrm>
        <a:off x="5048820" y="1894874"/>
        <a:ext cx="2879938" cy="476041"/>
      </dsp:txXfrm>
    </dsp:sp>
    <dsp:sp modelId="{B741B62B-AF3D-4BF8-AEE3-8F16811C1680}">
      <dsp:nvSpPr>
        <dsp:cNvPr id="0" name=""/>
        <dsp:cNvSpPr/>
      </dsp:nvSpPr>
      <dsp:spPr>
        <a:xfrm>
          <a:off x="5083455" y="2378723"/>
          <a:ext cx="2612376" cy="2244660"/>
        </a:xfrm>
        <a:prstGeom prst="rect">
          <a:avLst/>
        </a:prstGeom>
        <a:solidFill>
          <a:schemeClr val="lt1">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110000"/>
            </a:lnSpc>
            <a:spcBef>
              <a:spcPct val="0"/>
            </a:spcBef>
            <a:spcAft>
              <a:spcPct val="35000"/>
            </a:spcAft>
            <a:buNone/>
          </a:pPr>
          <a:r>
            <a:rPr lang="en-US" sz="1300" kern="1200" dirty="0"/>
            <a:t>Check the expected length and format of the literature review.</a:t>
          </a:r>
        </a:p>
        <a:p>
          <a:pPr marL="0" lvl="0" indent="0" algn="l" defTabSz="577850">
            <a:lnSpc>
              <a:spcPct val="110000"/>
            </a:lnSpc>
            <a:spcBef>
              <a:spcPct val="0"/>
            </a:spcBef>
            <a:spcAft>
              <a:spcPct val="35000"/>
            </a:spcAft>
            <a:buNone/>
          </a:pPr>
          <a:r>
            <a:rPr lang="en-US" sz="1300" kern="1200" dirty="0" err="1"/>
            <a:t>Categorise</a:t>
          </a:r>
          <a:r>
            <a:rPr lang="en-US" sz="1300" kern="1200" dirty="0"/>
            <a:t> the literature using a systematic approach. Outline your literature review structure.</a:t>
          </a:r>
        </a:p>
        <a:p>
          <a:pPr marL="0" lvl="0" indent="0" algn="l" defTabSz="577850">
            <a:lnSpc>
              <a:spcPct val="110000"/>
            </a:lnSpc>
            <a:spcBef>
              <a:spcPct val="0"/>
            </a:spcBef>
            <a:spcAft>
              <a:spcPct val="35000"/>
            </a:spcAft>
            <a:buNone/>
          </a:pPr>
          <a:r>
            <a:rPr lang="en-US" sz="1300" kern="1200" dirty="0"/>
            <a:t>Delineate the scope of your literature review.</a:t>
          </a:r>
        </a:p>
      </dsp:txBody>
      <dsp:txXfrm>
        <a:off x="5083455" y="2378723"/>
        <a:ext cx="2612376" cy="2244660"/>
      </dsp:txXfrm>
    </dsp:sp>
  </dsp:spTree>
</dsp:drawing>
</file>

<file path=ppt/diagrams/layout1.xml><?xml version="1.0" encoding="utf-8"?>
<dgm:layoutDef xmlns:dgm="http://schemas.openxmlformats.org/drawingml/2006/diagram" xmlns:a="http://schemas.openxmlformats.org/drawingml/2006/main" uniqueId="urn:microsoft.com/office/officeart/2009/3/layout/IncreasingArrowsProcess">
  <dgm:title val=""/>
  <dgm:desc val=""/>
  <dgm:catLst>
    <dgm:cat type="process" pri="5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40" srcId="0" destId="10" srcOrd="0" destOrd="0"/>
        <dgm:cxn modelId="12" srcId="10" destId="11" srcOrd="0" destOrd="0"/>
        <dgm:cxn modelId="5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clrData>
  <dgm:layoutNode name="Name0">
    <dgm:varLst>
      <dgm:chMax val="5"/>
      <dgm:chPref val="5"/>
      <dgm:dir/>
      <dgm:animLvl val="lvl"/>
    </dgm:varLst>
    <dgm:shape xmlns:r="http://schemas.openxmlformats.org/officeDocument/2006/relationships" r:blip="">
      <dgm:adjLst/>
    </dgm:shape>
    <dgm:choose name="Name1">
      <dgm:if name="Name2" axis="ch" ptType="node" func="cnt" op="equ" val="1">
        <dgm:choose name="Name3">
          <dgm:if name="Name4" axis="ch ch" ptType="node node" func="cnt" op="equ" val="0">
            <dgm:alg type="composite">
              <dgm:param type="ar" val="6.8662"/>
            </dgm:alg>
            <dgm:choose name="Name5">
              <dgm:if name="Name6" func="var" arg="dir" op="equ" val="norm">
                <dgm:constrLst>
                  <dgm:constr type="primFontSz" for="des" forName="parentText1" val="65"/>
                  <dgm:constr type="l" for="ch" forName="parentText1" refType="w" fact="0"/>
                  <dgm:constr type="t" for="ch" forName="parentText1" refType="h" fact="0"/>
                  <dgm:constr type="w" for="ch" forName="parentText1" refType="w"/>
                  <dgm:constr type="h" for="ch" forName="parentText1" refType="h"/>
                </dgm:constrLst>
              </dgm:if>
              <dgm:else name="Name7">
                <dgm:constrLst>
                  <dgm:constr type="primFontSz" for="des" forName="parentText1" val="65"/>
                  <dgm:constr type="l" for="ch" forName="parentText1" refType="w" fact="0"/>
                  <dgm:constr type="t" for="ch" forName="parentText1" refType="h" fact="0"/>
                  <dgm:constr type="w" for="ch" forName="parentText1" refType="w"/>
                  <dgm:constr type="h" for="ch" forName="parentText1" refType="h"/>
                </dgm:constrLst>
              </dgm:else>
            </dgm:choose>
          </dgm:if>
          <dgm:else name="Name8">
            <dgm:alg type="composite">
              <dgm:param type="ar" val="1.9864"/>
            </dgm:alg>
            <dgm:choose name="Name9">
              <dgm:if name="Name10" func="var" arg="dir" op="equ" val="norm">
                <dgm:constrLst>
                  <dgm:constr type="primFontSz" for="des" forName="childText1" val="65"/>
                  <dgm:constr type="primFontSz" for="des" forName="parentText1" val="65"/>
                  <dgm:constr type="primFontSz" for="des" forName="childText1" refType="primFontSz" refFor="des" refForName="parentText1" op="lte"/>
                  <dgm:constr type="l" for="ch" forName="parentText1" refType="w" fact="0"/>
                  <dgm:constr type="t" for="ch" forName="parentText1" refType="h" fact="0"/>
                  <dgm:constr type="w" for="ch" forName="parentText1" refType="w"/>
                  <dgm:constr type="h" for="ch" forName="parentText1" refType="h" fact="0.2893"/>
                  <dgm:constr type="l" for="ch" forName="childText1" refType="w" fact="0"/>
                  <dgm:constr type="t" for="ch" forName="childText1" refType="h" fact="0.224"/>
                  <dgm:constr type="w" for="ch" forName="childText1" refType="w" fact="0.9241"/>
                  <dgm:constr type="h" for="ch" forName="childText1" refType="h" fact="0.776"/>
                </dgm:constrLst>
              </dgm:if>
              <dgm:else name="Name11">
                <dgm:constrLst>
                  <dgm:constr type="primFontSz" for="des" forName="childText1" val="65"/>
                  <dgm:constr type="primFontSz" for="des" forName="parentText1" val="65"/>
                  <dgm:constr type="primFontSz" for="des" forName="childText1" refType="primFontSz" refFor="des" refForName="parentText1" op="lte"/>
                  <dgm:constr type="l" for="ch" forName="parentText1" refType="w" fact="0"/>
                  <dgm:constr type="t" for="ch" forName="parentText1" refType="h" fact="0"/>
                  <dgm:constr type="w" for="ch" forName="parentText1" refType="w"/>
                  <dgm:constr type="h" for="ch" forName="parentText1" refType="h" fact="0.2893"/>
                  <dgm:constr type="l" for="ch" forName="childText1" refType="w" fact="0.076"/>
                  <dgm:constr type="t" for="ch" forName="childText1" refType="h" fact="0.224"/>
                  <dgm:constr type="w" for="ch" forName="childText1" refType="w" fact="0.9241"/>
                  <dgm:constr type="h" for="ch" forName="childText1" refType="h" fact="0.776"/>
                </dgm:constrLst>
              </dgm:else>
            </dgm:choose>
          </dgm:else>
        </dgm:choose>
      </dgm:if>
      <dgm:if name="Name12" axis="ch" ptType="node" func="cnt" op="equ" val="2">
        <dgm:choose name="Name13">
          <dgm:if name="Name14" axis="ch ch" ptType="node node" func="cnt" op="equ" val="0">
            <dgm:alg type="composite">
              <dgm:param type="ar" val="5.1498"/>
            </dgm:alg>
            <dgm:choose name="Name15">
              <dgm:if name="Name16" func="var" arg="dir" op="equ" val="norm">
                <dgm:constrLst>
                  <dgm:constr type="primFontSz" for="des" forName="parentText1" val="65"/>
                  <dgm:constr type="primFontSz" for="des" forName="parentText2" refType="primFontSz" refFor="des" refForName="parentText1" op="equ"/>
                  <dgm:constr type="l" for="ch" forName="parentText1" refType="w" fact="0"/>
                  <dgm:constr type="t" for="ch" forName="parentText1" refType="h" fact="0"/>
                  <dgm:constr type="w" for="ch" forName="parentText1" refType="w"/>
                  <dgm:constr type="h" for="ch" forName="parentText1" refType="h" fact="0.7501"/>
                  <dgm:constr type="l" for="ch" forName="parentText2" refType="w" fact="0.462"/>
                  <dgm:constr type="t" for="ch" forName="parentText2" refType="h" fact="0.2499"/>
                  <dgm:constr type="w" for="ch" forName="parentText2" refType="w" fact="0.538"/>
                  <dgm:constr type="h" for="ch" forName="parentText2" refType="h" fact="0.7501"/>
                </dgm:constrLst>
              </dgm:if>
              <dgm:else name="Name17">
                <dgm:constrLst>
                  <dgm:constr type="primFontSz" for="des" forName="parentText1" val="65"/>
                  <dgm:constr type="primFontSz" for="des" forName="parentText2" refType="primFontSz" refFor="des" refForName="parentText1" op="equ"/>
                  <dgm:constr type="l" for="ch" forName="parentText1" refType="w" fact="0"/>
                  <dgm:constr type="t" for="ch" forName="parentText1" refType="h" fact="0"/>
                  <dgm:constr type="w" for="ch" forName="parentText1" refType="w"/>
                  <dgm:constr type="h" for="ch" forName="parentText1" refType="h" fact="0.7501"/>
                  <dgm:constr type="l" for="ch" forName="parentText2" refType="w" fact="0"/>
                  <dgm:constr type="t" for="ch" forName="parentText2" refType="h" fact="0.2499"/>
                  <dgm:constr type="w" for="ch" forName="parentText2" refType="w" fact="0.538"/>
                  <dgm:constr type="h" for="ch" forName="parentText2" refType="h" fact="0.7501"/>
                </dgm:constrLst>
              </dgm:else>
            </dgm:choose>
          </dgm:if>
          <dgm:else name="Name18">
            <dgm:alg type="composite">
              <dgm:param type="ar" val="2.0563"/>
            </dgm:alg>
            <dgm:choose name="Name19">
              <dgm:if name="Name2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parentText2" refType="primFontSz" refFor="des" refForName="parentText1" op="equ"/>
                  <dgm:constr type="primFontSz" for="des" forName="childText2" refType="primFontSz" refFor="des" refForName="childText1" op="equ"/>
                  <dgm:constr type="l" for="ch" forName="parentText1" refType="w" fact="0"/>
                  <dgm:constr type="t" for="ch" forName="parentText1" refType="h" fact="0"/>
                  <dgm:constr type="w" for="ch" forName="parentText1" refType="w"/>
                  <dgm:constr type="h" for="ch" forName="parentText1" refType="h" fact="0.2995"/>
                  <dgm:constr type="l" for="ch" forName="parentText2" refType="w" fact="0.462"/>
                  <dgm:constr type="t" for="ch" forName="parentText2" refType="h" fact="0.0998"/>
                  <dgm:constr type="w" for="ch" forName="parentText2" refType="w" fact="0.538"/>
                  <dgm:constr type="h" for="ch" forName="parentText2" refType="h" fact="0.2995"/>
                  <dgm:constr type="l" for="ch" forName="childText1" refType="w" fact="0"/>
                  <dgm:constr type="t" for="ch" forName="childText1" refType="h" fact="0.2317"/>
                  <dgm:constr type="w" for="ch" forName="childText1" refType="w" fact="0.462"/>
                  <dgm:constr type="h" for="ch" forName="childText1" refType="h" fact="0.6685"/>
                  <dgm:constr type="l" for="ch" forName="childText2" refType="w" fact="0.462"/>
                  <dgm:constr type="t" for="ch" forName="childText2" refType="h" fact="0.3315"/>
                  <dgm:constr type="w" for="ch" forName="childText2" refType="w" fact="0.462"/>
                  <dgm:constr type="h" for="ch" forName="childText2" refType="h" fact="0.6685"/>
                </dgm:constrLst>
              </dgm:if>
              <dgm:else name="Name2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parentText2" refType="primFontSz" refFor="des" refForName="parentText1" op="equ"/>
                  <dgm:constr type="primFontSz" for="des" forName="childText2" refType="primFontSz" refFor="des" refForName="childText1" op="equ"/>
                  <dgm:constr type="l" for="ch" forName="parentText1" refType="w" fact="0"/>
                  <dgm:constr type="t" for="ch" forName="parentText1" refType="h" fact="0"/>
                  <dgm:constr type="w" for="ch" forName="parentText1" refType="w"/>
                  <dgm:constr type="h" for="ch" forName="parentText1" refType="h" fact="0.2995"/>
                  <dgm:constr type="l" for="ch" forName="parentText2" refType="w" fact="0"/>
                  <dgm:constr type="t" for="ch" forName="parentText2" refType="h" fact="0.0998"/>
                  <dgm:constr type="w" for="ch" forName="parentText2" refType="w" fact="0.538"/>
                  <dgm:constr type="h" for="ch" forName="parentText2" refType="h" fact="0.2995"/>
                  <dgm:constr type="l" for="ch" forName="childText1" refType="w" fact="0.538"/>
                  <dgm:constr type="t" for="ch" forName="childText1" refType="h" fact="0.2317"/>
                  <dgm:constr type="w" for="ch" forName="childText1" refType="w" fact="0.462"/>
                  <dgm:constr type="h" for="ch" forName="childText1" refType="h" fact="0.6685"/>
                  <dgm:constr type="l" for="ch" forName="childText2" refType="w" fact="0.076"/>
                  <dgm:constr type="t" for="ch" forName="childText2" refType="h" fact="0.3315"/>
                  <dgm:constr type="w" for="ch" forName="childText2" refType="w" fact="0.462"/>
                  <dgm:constr type="h" for="ch" forName="childText2" refType="h" fact="0.6685"/>
                </dgm:constrLst>
              </dgm:else>
            </dgm:choose>
          </dgm:else>
        </dgm:choose>
      </dgm:if>
      <dgm:if name="Name22" axis="ch" ptType="node" func="cnt" op="equ" val="3">
        <dgm:choose name="Name23">
          <dgm:if name="Name24" axis="ch ch" ptType="node node" func="cnt" op="equ" val="0">
            <dgm:alg type="composite">
              <dgm:param type="ar" val="4.1198"/>
            </dgm:alg>
            <dgm:choose name="Name25">
              <dgm:if name="Name26" func="var" arg="dir" op="equ" val="norm">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l" for="ch" forName="parentText1" refType="w" fact="0"/>
                  <dgm:constr type="t" for="ch" forName="parentText1" refType="h" fact="0"/>
                  <dgm:constr type="w" for="ch" forName="parentText1" refType="w"/>
                  <dgm:constr type="h" for="ch" forName="parentText1" refType="h" fact="0.6"/>
                  <dgm:constr type="l" for="ch" forName="parentText2" refType="w" fact="0.308"/>
                  <dgm:constr type="t" for="ch" forName="parentText2" refType="h" fact="0.2"/>
                  <dgm:constr type="w" for="ch" forName="parentText2" refType="w" fact="0.692"/>
                  <dgm:constr type="h" for="ch" forName="parentText2" refType="h" fact="0.6"/>
                  <dgm:constr type="l" for="ch" forName="parentText3" refType="w" fact="0.616"/>
                  <dgm:constr type="t" for="ch" forName="parentText3" refType="h" fact="0.4"/>
                  <dgm:constr type="w" for="ch" forName="parentText3" refType="w" fact="0.384"/>
                  <dgm:constr type="h" for="ch" forName="parentText3" refType="h" fact="0.6"/>
                </dgm:constrLst>
              </dgm:if>
              <dgm:else name="Name27">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l" for="ch" forName="parentText1" refType="w" fact="0"/>
                  <dgm:constr type="t" for="ch" forName="parentText1" refType="h" fact="0"/>
                  <dgm:constr type="w" for="ch" forName="parentText1" refType="w"/>
                  <dgm:constr type="h" for="ch" forName="parentText1" refType="h" fact="0.6"/>
                  <dgm:constr type="l" for="ch" forName="parentText2" refType="w" fact="0"/>
                  <dgm:constr type="t" for="ch" forName="parentText2" refType="h" fact="0.2"/>
                  <dgm:constr type="w" for="ch" forName="parentText2" refType="w" fact="0.692"/>
                  <dgm:constr type="h" for="ch" forName="parentText2" refType="h" fact="0.6"/>
                  <dgm:constr type="l" for="ch" forName="parentText3" refType="w" fact="0"/>
                  <dgm:constr type="t" for="ch" forName="parentText3" refType="h" fact="0.4"/>
                  <dgm:constr type="w" for="ch" forName="parentText3" refType="w" fact="0.384"/>
                  <dgm:constr type="h" for="ch" forName="parentText3" refType="h" fact="0.6"/>
                </dgm:constrLst>
              </dgm:else>
            </dgm:choose>
          </dgm:if>
          <dgm:else name="Name28">
            <dgm:alg type="composite">
              <dgm:param type="ar" val="2.0702"/>
            </dgm:alg>
            <dgm:choose name="Name29">
              <dgm:if name="Name3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parentText2" refType="primFontSz" refFor="des" refForName="parentText1" op="equ"/>
                  <dgm:constr type="primFontSz" for="des" forName="parentText3"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l" for="ch" forName="childText1" refType="w" fact="0"/>
                  <dgm:constr type="t" for="ch" forName="childText1" refType="h" fact="0.2325"/>
                  <dgm:constr type="w" for="ch" forName="childText1" refType="w" fact="0.308"/>
                  <dgm:constr type="h" for="ch" forName="childText1" refType="h" fact="0.5808"/>
                  <dgm:constr type="l" for="ch" forName="childText2" refType="w" fact="0.308"/>
                  <dgm:constr type="t" for="ch" forName="childText2" refType="h" fact="0.333"/>
                  <dgm:constr type="w" for="ch" forName="childText2" refType="w" fact="0.308"/>
                  <dgm:constr type="h" for="ch" forName="childText2" refType="h" fact="0.5808"/>
                  <dgm:constr type="l" for="ch" forName="childText3" refType="w" fact="0.616"/>
                  <dgm:constr type="t" for="ch" forName="childText3" refType="h" fact="0.4335"/>
                  <dgm:constr type="w" for="ch" forName="childText3" refType="w" fact="0.308"/>
                  <dgm:constr type="h" for="ch" forName="childText3" refType="h" fact="0.5723"/>
                  <dgm:constr type="l" for="ch" forName="parentText1" refType="w" fact="0"/>
                  <dgm:constr type="t" for="ch" forName="parentText1" refType="h" fact="0"/>
                  <dgm:constr type="w" for="ch" forName="parentText1" refType="w"/>
                  <dgm:constr type="h" for="ch" forName="parentText1" refType="h" fact="0.3015"/>
                  <dgm:constr type="l" for="ch" forName="parentText2" refType="w" fact="0.308"/>
                  <dgm:constr type="t" for="ch" forName="parentText2" refType="h" fact="0.1005"/>
                  <dgm:constr type="w" for="ch" forName="parentText2" refType="w" fact="0.692"/>
                  <dgm:constr type="h" for="ch" forName="parentText2" refType="h" fact="0.3015"/>
                  <dgm:constr type="l" for="ch" forName="parentText3" refType="w" fact="0.616"/>
                  <dgm:constr type="t" for="ch" forName="parentText3" refType="h" fact="0.201"/>
                  <dgm:constr type="w" for="ch" forName="parentText3" refType="w" fact="0.384"/>
                  <dgm:constr type="h" for="ch" forName="parentText3" refType="h" fact="0.3015"/>
                </dgm:constrLst>
              </dgm:if>
              <dgm:else name="Name3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parentText2" refType="primFontSz" refFor="des" refForName="parentText1" op="equ"/>
                  <dgm:constr type="primFontSz" for="des" forName="parentText3"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l" for="ch" forName="childText1" refType="w" fact="0.692"/>
                  <dgm:constr type="t" for="ch" forName="childText1" refType="h" fact="0.2325"/>
                  <dgm:constr type="w" for="ch" forName="childText1" refType="w" fact="0.308"/>
                  <dgm:constr type="h" for="ch" forName="childText1" refType="h" fact="0.5808"/>
                  <dgm:constr type="l" for="ch" forName="childText2" refType="w" fact="0.384"/>
                  <dgm:constr type="t" for="ch" forName="childText2" refType="h" fact="0.333"/>
                  <dgm:constr type="w" for="ch" forName="childText2" refType="w" fact="0.308"/>
                  <dgm:constr type="h" for="ch" forName="childText2" refType="h" fact="0.5808"/>
                  <dgm:constr type="l" for="ch" forName="childText3" refType="w" fact="0.076"/>
                  <dgm:constr type="t" for="ch" forName="childText3" refType="h" fact="0.4335"/>
                  <dgm:constr type="w" for="ch" forName="childText3" refType="w" fact="0.308"/>
                  <dgm:constr type="h" for="ch" forName="childText3" refType="h" fact="0.5723"/>
                  <dgm:constr type="l" for="ch" forName="parentText1" refType="w" fact="0"/>
                  <dgm:constr type="t" for="ch" forName="parentText1" refType="h" fact="0"/>
                  <dgm:constr type="w" for="ch" forName="parentText1" refType="w"/>
                  <dgm:constr type="h" for="ch" forName="parentText1" refType="h" fact="0.3015"/>
                  <dgm:constr type="l" for="ch" forName="parentText2" refType="w" fact="0"/>
                  <dgm:constr type="t" for="ch" forName="parentText2" refType="h" fact="0.1005"/>
                  <dgm:constr type="w" for="ch" forName="parentText2" refType="w" fact="0.692"/>
                  <dgm:constr type="h" for="ch" forName="parentText2" refType="h" fact="0.3015"/>
                  <dgm:constr type="l" for="ch" forName="parentText3" refType="w" fact="0"/>
                  <dgm:constr type="t" for="ch" forName="parentText3" refType="h" fact="0.201"/>
                  <dgm:constr type="w" for="ch" forName="parentText3" refType="w" fact="0.384"/>
                  <dgm:constr type="h" for="ch" forName="parentText3" refType="h" fact="0.3015"/>
                </dgm:constrLst>
              </dgm:else>
            </dgm:choose>
          </dgm:else>
        </dgm:choose>
      </dgm:if>
      <dgm:if name="Name32" axis="ch" ptType="node" func="cnt" op="equ" val="4">
        <dgm:choose name="Name33">
          <dgm:if name="Name34" axis="ch ch" ptType="node node" func="cnt" op="equ" val="0">
            <dgm:alg type="composite">
              <dgm:param type="ar" val="3.435"/>
            </dgm:alg>
            <dgm:choose name="Name35">
              <dgm:if name="Name36" func="var" arg="dir" op="equ" val="norm">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l" for="ch" forName="parentText1" refType="w" fact="0"/>
                  <dgm:constr type="t" for="ch" forName="parentText1" refType="h" fact="0"/>
                  <dgm:constr type="w" for="ch" forName="parentText1" refType="w"/>
                  <dgm:constr type="h" for="ch" forName="parentText1" refType="h" fact="0.5001"/>
                  <dgm:constr type="l" for="ch" forName="parentText2" refType="w" fact="0.2305"/>
                  <dgm:constr type="t" for="ch" forName="parentText2" refType="h" fact="0.1666"/>
                  <dgm:constr type="w" for="ch" forName="parentText2" refType="w" fact="0.7695"/>
                  <dgm:constr type="h" for="ch" forName="parentText2" refType="h" fact="0.5001"/>
                  <dgm:constr type="l" for="ch" forName="parentText3" refType="w" fact="0.461"/>
                  <dgm:constr type="t" for="ch" forName="parentText3" refType="h" fact="0.3333"/>
                  <dgm:constr type="w" for="ch" forName="parentText3" refType="w" fact="0.539"/>
                  <dgm:constr type="h" for="ch" forName="parentText3" refType="h" fact="0.5001"/>
                  <dgm:constr type="l" for="ch" forName="parentText4" refType="w" fact="0.6915"/>
                  <dgm:constr type="t" for="ch" forName="parentText4" refType="h" fact="0.4999"/>
                  <dgm:constr type="w" for="ch" forName="parentText4" refType="w" fact="0.3085"/>
                  <dgm:constr type="h" for="ch" forName="parentText4" refType="h" fact="0.5001"/>
                </dgm:constrLst>
              </dgm:if>
              <dgm:else name="Name37">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l" for="ch" forName="parentText1" refType="w" fact="0"/>
                  <dgm:constr type="t" for="ch" forName="parentText1" refType="h" fact="0"/>
                  <dgm:constr type="w" for="ch" forName="parentText1" refType="w"/>
                  <dgm:constr type="h" for="ch" forName="parentText1" refType="h" fact="0.5001"/>
                  <dgm:constr type="l" for="ch" forName="parentText2" refType="w" fact="0"/>
                  <dgm:constr type="t" for="ch" forName="parentText2" refType="h" fact="0.1666"/>
                  <dgm:constr type="w" for="ch" forName="parentText2" refType="w" fact="0.7695"/>
                  <dgm:constr type="h" for="ch" forName="parentText2" refType="h" fact="0.5001"/>
                  <dgm:constr type="l" for="ch" forName="parentText3" refType="w" fact="0"/>
                  <dgm:constr type="t" for="ch" forName="parentText3" refType="h" fact="0.3333"/>
                  <dgm:constr type="w" for="ch" forName="parentText3" refType="w" fact="0.539"/>
                  <dgm:constr type="h" for="ch" forName="parentText3" refType="h" fact="0.5001"/>
                  <dgm:constr type="l" for="ch" forName="parentText4" refType="w" fact="0"/>
                  <dgm:constr type="t" for="ch" forName="parentText4" refType="h" fact="0.4999"/>
                  <dgm:constr type="w" for="ch" forName="parentText4" refType="w" fact="0.3085"/>
                  <dgm:constr type="h" for="ch" forName="parentText4" refType="h" fact="0.5001"/>
                </dgm:constrLst>
              </dgm:else>
            </dgm:choose>
          </dgm:if>
          <dgm:else name="Name38">
            <dgm:alg type="composite">
              <dgm:param type="ar" val="1.9377"/>
            </dgm:alg>
            <dgm:choose name="Name39">
              <dgm:if name="Name4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l" for="ch" forName="childText1" refType="w" fact="0"/>
                  <dgm:constr type="t" for="ch" forName="childText1" refType="h" fact="0.218"/>
                  <dgm:constr type="w" for="ch" forName="childText1" refType="w" fact="0.2305"/>
                  <dgm:constr type="h" for="ch" forName="childText1" refType="h" fact="0.5218"/>
                  <dgm:constr type="l" for="ch" forName="childText2" refType="w" fact="0.2305"/>
                  <dgm:constr type="t" for="ch" forName="childText2" refType="h" fact="0.312"/>
                  <dgm:constr type="w" for="ch" forName="childText2" refType="w" fact="0.2305"/>
                  <dgm:constr type="h" for="ch" forName="childText2" refType="h" fact="0.5085"/>
                  <dgm:constr type="l" for="ch" forName="childText3" refType="w" fact="0.461"/>
                  <dgm:constr type="t" for="ch" forName="childText3" refType="h" fact="0.406"/>
                  <dgm:constr type="w" for="ch" forName="childText3" refType="w" fact="0.2305"/>
                  <dgm:constr type="h" for="ch" forName="childText3" refType="h" fact="0.5119"/>
                  <dgm:constr type="l" for="ch" forName="childText4" refType="w" fact="0.6915"/>
                  <dgm:constr type="t" for="ch" forName="childText4" refType="h" fact="0.5"/>
                  <dgm:constr type="w" for="ch" forName="childText4" refType="w" fact="0.2326"/>
                  <dgm:constr type="h" for="ch" forName="childText4" refType="h" fact="0.5179"/>
                  <dgm:constr type="l" for="ch" forName="parentText1" refType="w" fact="0"/>
                  <dgm:constr type="t" for="ch" forName="parentText1" refType="h" fact="0"/>
                  <dgm:constr type="w" for="ch" forName="parentText1" refType="w"/>
                  <dgm:constr type="h" for="ch" forName="parentText1" refType="h" fact="0.2821"/>
                  <dgm:constr type="l" for="ch" forName="parentText2" refType="w" fact="0.2305"/>
                  <dgm:constr type="t" for="ch" forName="parentText2" refType="h" fact="0.094"/>
                  <dgm:constr type="w" for="ch" forName="parentText2" refType="w" fact="0.7695"/>
                  <dgm:constr type="h" for="ch" forName="parentText2" refType="h" fact="0.2821"/>
                  <dgm:constr type="l" for="ch" forName="parentText3" refType="w" fact="0.461"/>
                  <dgm:constr type="t" for="ch" forName="parentText3" refType="h" fact="0.188"/>
                  <dgm:constr type="w" for="ch" forName="parentText3" refType="w" fact="0.539"/>
                  <dgm:constr type="h" for="ch" forName="parentText3" refType="h" fact="0.2821"/>
                  <dgm:constr type="l" for="ch" forName="parentText4" refType="w" fact="0.6915"/>
                  <dgm:constr type="t" for="ch" forName="parentText4" refType="h" fact="0.282"/>
                  <dgm:constr type="w" for="ch" forName="parentText4" refType="w" fact="0.3085"/>
                  <dgm:constr type="h" for="ch" forName="parentText4" refType="h" fact="0.2821"/>
                </dgm:constrLst>
              </dgm:if>
              <dgm:else name="Name4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l" for="ch" forName="childText1" refType="w" fact="0.7695"/>
                  <dgm:constr type="t" for="ch" forName="childText1" refType="h" fact="0.218"/>
                  <dgm:constr type="w" for="ch" forName="childText1" refType="w" fact="0.2305"/>
                  <dgm:constr type="h" for="ch" forName="childText1" refType="h" fact="0.5218"/>
                  <dgm:constr type="l" for="ch" forName="childText2" refType="w" fact="0.539"/>
                  <dgm:constr type="t" for="ch" forName="childText2" refType="h" fact="0.312"/>
                  <dgm:constr type="w" for="ch" forName="childText2" refType="w" fact="0.2305"/>
                  <dgm:constr type="h" for="ch" forName="childText2" refType="h" fact="0.5085"/>
                  <dgm:constr type="l" for="ch" forName="childText3" refType="w" fact="0.3085"/>
                  <dgm:constr type="t" for="ch" forName="childText3" refType="h" fact="0.406"/>
                  <dgm:constr type="w" for="ch" forName="childText3" refType="w" fact="0.2305"/>
                  <dgm:constr type="h" for="ch" forName="childText3" refType="h" fact="0.5119"/>
                  <dgm:constr type="l" for="ch" forName="childText4" refType="w" fact="0.076"/>
                  <dgm:constr type="t" for="ch" forName="childText4" refType="h" fact="0.5"/>
                  <dgm:constr type="w" for="ch" forName="childText4" refType="w" fact="0.2346"/>
                  <dgm:constr type="h" for="ch" forName="childText4" refType="h" fact="0.5179"/>
                  <dgm:constr type="l" for="ch" forName="parentText1" refType="w" fact="0"/>
                  <dgm:constr type="t" for="ch" forName="parentText1" refType="h" fact="0"/>
                  <dgm:constr type="w" for="ch" forName="parentText1" refType="w"/>
                  <dgm:constr type="h" for="ch" forName="parentText1" refType="h" fact="0.2821"/>
                  <dgm:constr type="l" for="ch" forName="parentText2" refType="w" fact="0"/>
                  <dgm:constr type="t" for="ch" forName="parentText2" refType="h" fact="0.094"/>
                  <dgm:constr type="w" for="ch" forName="parentText2" refType="w" fact="0.7695"/>
                  <dgm:constr type="h" for="ch" forName="parentText2" refType="h" fact="0.2821"/>
                  <dgm:constr type="l" for="ch" forName="parentText3" refType="w" fact="0"/>
                  <dgm:constr type="t" for="ch" forName="parentText3" refType="h" fact="0.188"/>
                  <dgm:constr type="w" for="ch" forName="parentText3" refType="w" fact="0.539"/>
                  <dgm:constr type="h" for="ch" forName="parentText3" refType="h" fact="0.2821"/>
                  <dgm:constr type="l" for="ch" forName="parentText4" refType="w" fact="0"/>
                  <dgm:constr type="t" for="ch" forName="parentText4" refType="h" fact="0.282"/>
                  <dgm:constr type="w" for="ch" forName="parentText4" refType="w" fact="0.3085"/>
                  <dgm:constr type="h" for="ch" forName="parentText4" refType="h" fact="0.2821"/>
                </dgm:constrLst>
              </dgm:else>
            </dgm:choose>
          </dgm:else>
        </dgm:choose>
      </dgm:if>
      <dgm:else name="Name42">
        <dgm:choose name="Name43">
          <dgm:if name="Name44" axis="ch ch" ptType="node node" func="cnt" op="equ" val="0">
            <dgm:alg type="composite">
              <dgm:param type="ar" val="2.9463"/>
            </dgm:alg>
            <dgm:choose name="Name45">
              <dgm:if name="Name46" func="var" arg="dir" op="equ" val="norm">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l" for="ch" forName="parentText1" refType="w" fact="0"/>
                  <dgm:constr type="t" for="ch" forName="parentText1" refType="h" fact="0"/>
                  <dgm:constr type="w" for="ch" forName="parentText1" refType="w"/>
                  <dgm:constr type="h" for="ch" forName="parentText1" refType="h" fact="0.4285"/>
                  <dgm:constr type="l" for="ch" forName="parentText2" refType="w" fact="0.1848"/>
                  <dgm:constr type="t" for="ch" forName="parentText2" refType="h" fact="0.1429"/>
                  <dgm:constr type="w" for="ch" forName="parentText2" refType="w" fact="0.8152"/>
                  <dgm:constr type="h" for="ch" forName="parentText2" refType="h" fact="0.4285"/>
                  <dgm:constr type="l" for="ch" forName="parentText3" refType="w" fact="0.3696"/>
                  <dgm:constr type="t" for="ch" forName="parentText3" refType="h" fact="0.2858"/>
                  <dgm:constr type="w" for="ch" forName="parentText3" refType="w" fact="0.6304"/>
                  <dgm:constr type="h" for="ch" forName="parentText3" refType="h" fact="0.4285"/>
                  <dgm:constr type="l" for="ch" forName="parentText4" refType="w" fact="0.5545"/>
                  <dgm:constr type="t" for="ch" forName="parentText4" refType="h" fact="0.4286"/>
                  <dgm:constr type="w" for="ch" forName="parentText4" refType="w" fact="0.4455"/>
                  <dgm:constr type="h" for="ch" forName="parentText4" refType="h" fact="0.4285"/>
                  <dgm:constr type="l" for="ch" forName="parentText5" refType="w" fact="0.7393"/>
                  <dgm:constr type="t" for="ch" forName="parentText5" refType="h" fact="0.5715"/>
                  <dgm:constr type="w" for="ch" forName="parentText5" refType="w" fact="0.2607"/>
                  <dgm:constr type="h" for="ch" forName="parentText5" refType="h" fact="0.4285"/>
                </dgm:constrLst>
              </dgm:if>
              <dgm:else name="Name47">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l" for="ch" forName="parentText1" refType="w" fact="0"/>
                  <dgm:constr type="t" for="ch" forName="parentText1" refType="h" fact="0"/>
                  <dgm:constr type="w" for="ch" forName="parentText1" refType="w"/>
                  <dgm:constr type="h" for="ch" forName="parentText1" refType="h" fact="0.4285"/>
                  <dgm:constr type="l" for="ch" forName="parentText2" refType="w" fact="0"/>
                  <dgm:constr type="t" for="ch" forName="parentText2" refType="h" fact="0.1429"/>
                  <dgm:constr type="w" for="ch" forName="parentText2" refType="w" fact="0.8152"/>
                  <dgm:constr type="h" for="ch" forName="parentText2" refType="h" fact="0.4285"/>
                  <dgm:constr type="l" for="ch" forName="parentText3" refType="w" fact="0"/>
                  <dgm:constr type="t" for="ch" forName="parentText3" refType="h" fact="0.2858"/>
                  <dgm:constr type="w" for="ch" forName="parentText3" refType="w" fact="0.6304"/>
                  <dgm:constr type="h" for="ch" forName="parentText3" refType="h" fact="0.4285"/>
                  <dgm:constr type="l" for="ch" forName="parentText4" refType="w" fact="0"/>
                  <dgm:constr type="t" for="ch" forName="parentText4" refType="h" fact="0.4286"/>
                  <dgm:constr type="w" for="ch" forName="parentText4" refType="w" fact="0.4455"/>
                  <dgm:constr type="h" for="ch" forName="parentText4" refType="h" fact="0.4285"/>
                  <dgm:constr type="l" for="ch" forName="parentText5" refType="w" fact="0"/>
                  <dgm:constr type="t" for="ch" forName="parentText5" refType="h" fact="0.5715"/>
                  <dgm:constr type="w" for="ch" forName="parentText5" refType="w" fact="0.2607"/>
                  <dgm:constr type="h" for="ch" forName="parentText5" refType="h" fact="0.4285"/>
                </dgm:constrLst>
              </dgm:else>
            </dgm:choose>
          </dgm:if>
          <dgm:else name="Name48">
            <dgm:alg type="composite">
              <dgm:param type="ar" val="1.7837"/>
            </dgm:alg>
            <dgm:choose name="Name49">
              <dgm:if name="Name5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5"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5"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5"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childText5" refType="primFontSz" refFor="des" refForName="parentText4" op="lte"/>
                  <dgm:constr type="primFontSz" for="des" forName="childText1" refType="primFontSz" refFor="des" refForName="parentText5" op="lte"/>
                  <dgm:constr type="primFontSz" for="des" forName="childText2" refType="primFontSz" refFor="des" refForName="parentText5" op="lte"/>
                  <dgm:constr type="primFontSz" for="des" forName="childText3" refType="primFontSz" refFor="des" refForName="parentText5" op="lte"/>
                  <dgm:constr type="primFontSz" for="des" forName="childText4" refType="primFontSz" refFor="des" refForName="parentText5" op="lte"/>
                  <dgm:constr type="primFontSz" for="des" forName="childText5" refType="primFontSz" refFor="des" refForName="parentText5"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primFontSz" for="des" forName="childText5" refType="primFontSz" refFor="des" refForName="childText1" op="equ"/>
                  <dgm:constr type="l" for="ch" forName="childText1" refType="w" fact="0"/>
                  <dgm:constr type="t" for="ch" forName="childText1" refType="h" fact="0.1997"/>
                  <dgm:constr type="w" for="ch" forName="childText1" refType="w" fact="0.18482"/>
                  <dgm:constr type="h" for="ch" forName="childText1" refType="h" fact="0.4763"/>
                  <dgm:constr type="l" for="ch" forName="childText2" refType="w" fact="0.1848"/>
                  <dgm:constr type="t" for="ch" forName="childText2" refType="h" fact="0.2862"/>
                  <dgm:constr type="w" for="ch" forName="childText2" refType="w" fact="0.18482"/>
                  <dgm:constr type="h" for="ch" forName="childText2" refType="h" fact="0.4763"/>
                  <dgm:constr type="l" for="ch" forName="childText3" refType="w" fact="0.3696"/>
                  <dgm:constr type="t" for="ch" forName="childText3" refType="h" fact="0.3727"/>
                  <dgm:constr type="w" for="ch" forName="childText3" refType="w" fact="0.18482"/>
                  <dgm:constr type="h" for="ch" forName="childText3" refType="h" fact="0.4763"/>
                  <dgm:constr type="l" for="ch" forName="childText4" refType="w" fact="0.5545"/>
                  <dgm:constr type="t" for="ch" forName="childText4" refType="h" fact="0.4592"/>
                  <dgm:constr type="w" for="ch" forName="childText4" refType="w" fact="0.18482"/>
                  <dgm:constr type="h" for="ch" forName="childText4" refType="h" fact="0.4763"/>
                  <dgm:constr type="l" for="ch" forName="childText5" refType="w" fact="0.7393"/>
                  <dgm:constr type="t" for="ch" forName="childText5" refType="h" fact="0.5457"/>
                  <dgm:constr type="w" for="ch" forName="childText5" refType="w" fact="0.18482"/>
                  <dgm:constr type="h" for="ch" forName="childText5" refType="h" fact="0.4763"/>
                  <dgm:constr type="l" for="ch" forName="parentText1" refType="w" fact="0"/>
                  <dgm:constr type="t" for="ch" forName="parentText1" refType="h" fact="0"/>
                  <dgm:constr type="w" for="ch" forName="parentText1" refType="w"/>
                  <dgm:constr type="h" for="ch" forName="parentText1" refType="h" fact="0.2594"/>
                  <dgm:constr type="l" for="ch" forName="parentText2" refType="w" fact="0.1848"/>
                  <dgm:constr type="t" for="ch" forName="parentText2" refType="h" fact="0.0865"/>
                  <dgm:constr type="w" for="ch" forName="parentText2" refType="w" fact="0.8152"/>
                  <dgm:constr type="h" for="ch" forName="parentText2" refType="h" fact="0.2594"/>
                  <dgm:constr type="l" for="ch" forName="parentText3" refType="w" fact="0.3696"/>
                  <dgm:constr type="t" for="ch" forName="parentText3" refType="h" fact="0.173"/>
                  <dgm:constr type="w" for="ch" forName="parentText3" refType="w" fact="0.6304"/>
                  <dgm:constr type="h" for="ch" forName="parentText3" refType="h" fact="0.2594"/>
                  <dgm:constr type="l" for="ch" forName="parentText4" refType="w" fact="0.5545"/>
                  <dgm:constr type="t" for="ch" forName="parentText4" refType="h" fact="0.2595"/>
                  <dgm:constr type="w" for="ch" forName="parentText4" refType="w" fact="0.4455"/>
                  <dgm:constr type="h" for="ch" forName="parentText4" refType="h" fact="0.2594"/>
                  <dgm:constr type="l" for="ch" forName="parentText5" refType="w" fact="0.7393"/>
                  <dgm:constr type="t" for="ch" forName="parentText5" refType="h" fact="0.346"/>
                  <dgm:constr type="w" for="ch" forName="parentText5" refType="w" fact="0.2607"/>
                  <dgm:constr type="h" for="ch" forName="parentText5" refType="h" fact="0.2594"/>
                </dgm:constrLst>
              </dgm:if>
              <dgm:else name="Name5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5"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5"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5"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childText5" refType="primFontSz" refFor="des" refForName="parentText4" op="lte"/>
                  <dgm:constr type="primFontSz" for="des" forName="childText1" refType="primFontSz" refFor="des" refForName="parentText5" op="lte"/>
                  <dgm:constr type="primFontSz" for="des" forName="childText2" refType="primFontSz" refFor="des" refForName="parentText5" op="lte"/>
                  <dgm:constr type="primFontSz" for="des" forName="childText3" refType="primFontSz" refFor="des" refForName="parentText5" op="lte"/>
                  <dgm:constr type="primFontSz" for="des" forName="childText4" refType="primFontSz" refFor="des" refForName="parentText5" op="lte"/>
                  <dgm:constr type="primFontSz" for="des" forName="childText5" refType="primFontSz" refFor="des" refForName="parentText5"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primFontSz" for="des" forName="childText5" refType="primFontSz" refFor="des" refForName="childText1" op="equ"/>
                  <dgm:constr type="l" for="ch" forName="childText1" refType="w" fact="0.81518"/>
                  <dgm:constr type="t" for="ch" forName="childText1" refType="h" fact="0.1997"/>
                  <dgm:constr type="w" for="ch" forName="childText1" refType="w" fact="0.18482"/>
                  <dgm:constr type="h" for="ch" forName="childText1" refType="h" fact="0.4763"/>
                  <dgm:constr type="l" for="ch" forName="childText2" refType="w" fact="0.63036"/>
                  <dgm:constr type="t" for="ch" forName="childText2" refType="h" fact="0.2862"/>
                  <dgm:constr type="w" for="ch" forName="childText2" refType="w" fact="0.18482"/>
                  <dgm:constr type="h" for="ch" forName="childText2" refType="h" fact="0.4763"/>
                  <dgm:constr type="l" for="ch" forName="childText3" refType="w" fact="0.44554"/>
                  <dgm:constr type="t" for="ch" forName="childText3" refType="h" fact="0.3727"/>
                  <dgm:constr type="w" for="ch" forName="childText3" refType="w" fact="0.18482"/>
                  <dgm:constr type="h" for="ch" forName="childText3" refType="h" fact="0.4763"/>
                  <dgm:constr type="l" for="ch" forName="childText4" refType="w" fact="0.26072"/>
                  <dgm:constr type="t" for="ch" forName="childText4" refType="h" fact="0.4592"/>
                  <dgm:constr type="w" for="ch" forName="childText4" refType="w" fact="0.18482"/>
                  <dgm:constr type="h" for="ch" forName="childText4" refType="h" fact="0.4763"/>
                  <dgm:constr type="l" for="ch" forName="childText5" refType="w" fact="0.0759"/>
                  <dgm:constr type="t" for="ch" forName="childText5" refType="h" fact="0.5457"/>
                  <dgm:constr type="w" for="ch" forName="childText5" refType="w" fact="0.18482"/>
                  <dgm:constr type="h" for="ch" forName="childText5" refType="h" fact="0.4763"/>
                  <dgm:constr type="l" for="ch" forName="parentText1" refType="w" fact="0"/>
                  <dgm:constr type="t" for="ch" forName="parentText1" refType="h" fact="0"/>
                  <dgm:constr type="w" for="ch" forName="parentText1" refType="w"/>
                  <dgm:constr type="h" for="ch" forName="parentText1" refType="h" fact="0.2594"/>
                  <dgm:constr type="l" for="ch" forName="parentText2" refType="w" fact="0"/>
                  <dgm:constr type="t" for="ch" forName="parentText2" refType="h" fact="0.0865"/>
                  <dgm:constr type="w" for="ch" forName="parentText2" refType="w" fact="0.8152"/>
                  <dgm:constr type="h" for="ch" forName="parentText2" refType="h" fact="0.2594"/>
                  <dgm:constr type="l" for="ch" forName="parentText3" refType="w" fact="0"/>
                  <dgm:constr type="t" for="ch" forName="parentText3" refType="h" fact="0.173"/>
                  <dgm:constr type="w" for="ch" forName="parentText3" refType="w" fact="0.6304"/>
                  <dgm:constr type="h" for="ch" forName="parentText3" refType="h" fact="0.2594"/>
                  <dgm:constr type="l" for="ch" forName="parentText4" refType="w" fact="0"/>
                  <dgm:constr type="t" for="ch" forName="parentText4" refType="h" fact="0.2595"/>
                  <dgm:constr type="w" for="ch" forName="parentText4" refType="w" fact="0.4455"/>
                  <dgm:constr type="h" for="ch" forName="parentText4" refType="h" fact="0.2594"/>
                  <dgm:constr type="l" for="ch" forName="parentText5" refType="w" fact="0"/>
                  <dgm:constr type="t" for="ch" forName="parentText5" refType="h" fact="0.346"/>
                  <dgm:constr type="w" for="ch" forName="parentText5" refType="w" fact="0.2607"/>
                  <dgm:constr type="h" for="ch" forName="parentText5" refType="h" fact="0.2594"/>
                </dgm:constrLst>
              </dgm:else>
            </dgm:choose>
          </dgm:else>
        </dgm:choose>
      </dgm:else>
    </dgm:choose>
    <dgm:forEach name="Name52" axis="ch" ptType="node" cnt="1">
      <dgm:layoutNode name="parentText1" styleLbl="node1">
        <dgm:varLst>
          <dgm:chMax/>
          <dgm:chPref val="3"/>
          <dgm:bulletEnabled val="1"/>
        </dgm:varLst>
        <dgm:choose name="Name53">
          <dgm:if name="Name54"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55">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56">
        <dgm:if name="Name57" axis="ch" ptType="node" func="cnt" op="gte" val="1">
          <dgm:layoutNode name="childText1"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8"/>
      </dgm:choose>
    </dgm:forEach>
    <dgm:forEach name="Name59" axis="ch" ptType="node" st="2" cnt="1">
      <dgm:layoutNode name="parentText2" styleLbl="node1">
        <dgm:varLst>
          <dgm:chMax/>
          <dgm:chPref val="3"/>
          <dgm:bulletEnabled val="1"/>
        </dgm:varLst>
        <dgm:choose name="Name60">
          <dgm:if name="Name61"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62">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63">
        <dgm:if name="Name64" axis="ch" ptType="node" func="cnt" op="gte" val="1">
          <dgm:layoutNode name="childText2"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5"/>
      </dgm:choose>
    </dgm:forEach>
    <dgm:forEach name="Name66" axis="ch" ptType="node" st="3" cnt="1">
      <dgm:layoutNode name="parentText3" styleLbl="node1">
        <dgm:varLst>
          <dgm:chMax/>
          <dgm:chPref val="3"/>
          <dgm:bulletEnabled val="1"/>
        </dgm:varLst>
        <dgm:choose name="Name67">
          <dgm:if name="Name68"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69">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70">
        <dgm:if name="Name71" axis="ch" ptType="node" func="cnt" op="gte" val="1">
          <dgm:layoutNode name="childText3"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2"/>
      </dgm:choose>
    </dgm:forEach>
    <dgm:forEach name="Name73" axis="ch" ptType="node" st="4" cnt="1">
      <dgm:layoutNode name="parentText4" styleLbl="node1">
        <dgm:varLst>
          <dgm:chMax/>
          <dgm:chPref val="3"/>
          <dgm:bulletEnabled val="1"/>
        </dgm:varLst>
        <dgm:choose name="Name74">
          <dgm:if name="Name75"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76">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77">
        <dgm:if name="Name78" axis="ch" ptType="node" func="cnt" op="gte" val="1">
          <dgm:layoutNode name="childText4"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9"/>
      </dgm:choose>
    </dgm:forEach>
    <dgm:forEach name="Name80" axis="ch" ptType="node" st="5" cnt="1">
      <dgm:layoutNode name="parentText5" styleLbl="node1">
        <dgm:varLst>
          <dgm:chMax/>
          <dgm:chPref val="3"/>
          <dgm:bulletEnabled val="1"/>
        </dgm:varLst>
        <dgm:choose name="Name81">
          <dgm:if name="Name82"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83">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84">
        <dgm:if name="Name85" axis="ch" ptType="node" func="cnt" op="gte" val="1">
          <dgm:layoutNode name="childText5"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6"/>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8/26/2025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8/26/2025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8/26/2025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13"/>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8/26/2025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8/26/2025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8/26/2025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8/26/2025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8/26/2025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8/26/2025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8/26/2025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8/26/2025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8/26/2025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8/26/2025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32"/>
            <a:ext cx="2356674" cy="6853285"/>
            <a:chOff x="6627813" y="195454"/>
            <a:chExt cx="1952625" cy="5678297"/>
          </a:xfrm>
        </p:grpSpPr>
        <p:sp>
          <p:nvSpPr>
            <p:cNvPr id="11" name="Freeform 27"/>
            <p:cNvSpPr/>
            <p:nvPr/>
          </p:nvSpPr>
          <p:spPr bwMode="auto">
            <a:xfrm>
              <a:off x="6627813" y="195454"/>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8/26/2025</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journals-sagepub-com.lib-ezproxy.hkbu.edu.hk/doi/full/10.1177/0022242920914861" TargetMode="External"/><Relationship Id="rId2" Type="http://schemas.openxmlformats.org/officeDocument/2006/relationships/hyperlink" Target="https://www.sciencedirect.com/topics/medicine-and-dentistry/acupuncture-point"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svg"/><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s://www.adelaide.edu.au/writingcentre/sites/default/files/docs/learningguide-verbsforreporting.pdf"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hyperlink" Target="https://youtu.be/YeLGzHmJ7N0" TargetMode="External"/><Relationship Id="rId2" Type="http://schemas.openxmlformats.org/officeDocument/2006/relationships/hyperlink" Target="https://youtu.be/esL5EVjkHVw" TargetMode="External"/><Relationship Id="rId1" Type="http://schemas.openxmlformats.org/officeDocument/2006/relationships/slideLayout" Target="../slideLayouts/slideLayout2.xml"/><Relationship Id="rId4" Type="http://schemas.openxmlformats.org/officeDocument/2006/relationships/hyperlink" Target="https://youtu.be/rNdmJOF25_k"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589212" y="1803400"/>
            <a:ext cx="8915399" cy="2262781"/>
          </a:xfrm>
        </p:spPr>
        <p:txBody>
          <a:bodyPr>
            <a:normAutofit fontScale="90000"/>
          </a:bodyPr>
          <a:lstStyle/>
          <a:p>
            <a:r>
              <a:rPr lang="en-US" dirty="0"/>
              <a:t>MCCP6020 </a:t>
            </a:r>
            <a:br>
              <a:rPr lang="en-US" dirty="0"/>
            </a:br>
            <a:r>
              <a:rPr lang="en-US" dirty="0"/>
              <a:t>Advanced English for Academic Purposes</a:t>
            </a:r>
          </a:p>
        </p:txBody>
      </p:sp>
      <p:sp>
        <p:nvSpPr>
          <p:cNvPr id="3" name="Subtitle 2"/>
          <p:cNvSpPr>
            <a:spLocks noGrp="1"/>
          </p:cNvSpPr>
          <p:nvPr>
            <p:ph type="subTitle" idx="1"/>
          </p:nvPr>
        </p:nvSpPr>
        <p:spPr/>
        <p:txBody>
          <a:bodyPr>
            <a:normAutofit/>
          </a:bodyPr>
          <a:lstStyle/>
          <a:p>
            <a:r>
              <a:rPr lang="en-US" dirty="0"/>
              <a:t>Session 2</a:t>
            </a:r>
          </a:p>
          <a:p>
            <a:r>
              <a:rPr lang="en-US" altLang="zh-CN" dirty="0"/>
              <a:t>Reviewing and Critically Evaluating the Literature</a:t>
            </a:r>
            <a:endParaRPr lang="en-US" dirty="0"/>
          </a:p>
        </p:txBody>
      </p:sp>
      <p:sp>
        <p:nvSpPr>
          <p:cNvPr id="4" name="Slide Number Placeholder 3">
            <a:extLst>
              <a:ext uri="{FF2B5EF4-FFF2-40B4-BE49-F238E27FC236}">
                <a16:creationId xmlns:a16="http://schemas.microsoft.com/office/drawing/2014/main" id="{23259539-2E11-4FE4-922C-B054C2A7D46F}"/>
              </a:ext>
            </a:extLst>
          </p:cNvPr>
          <p:cNvSpPr>
            <a:spLocks noGrp="1"/>
          </p:cNvSpPr>
          <p:nvPr>
            <p:ph type="sldNum" sz="quarter" idx="12"/>
          </p:nvPr>
        </p:nvSpPr>
        <p:spPr>
          <a:xfrm>
            <a:off x="489931" y="4594816"/>
            <a:ext cx="779767" cy="365125"/>
          </a:xfrm>
        </p:spPr>
        <p:txBody>
          <a:bodyPr/>
          <a:lstStyle/>
          <a:p>
            <a:fld id="{D57F1E4F-1CFF-5643-939E-217C01CDF565}" type="slidenum">
              <a:rPr lang="en-US" smtClean="0"/>
              <a:pPr/>
              <a:t>1</a:t>
            </a:fld>
            <a:endParaRPr lang="en-US" dirty="0"/>
          </a:p>
        </p:txBody>
      </p:sp>
    </p:spTree>
    <p:extLst>
      <p:ext uri="{BB962C8B-B14F-4D97-AF65-F5344CB8AC3E}">
        <p14:creationId xmlns:p14="http://schemas.microsoft.com/office/powerpoint/2010/main" val="35721398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87600" y="787782"/>
            <a:ext cx="8911687" cy="1280890"/>
          </a:xfrm>
        </p:spPr>
        <p:txBody>
          <a:bodyPr/>
          <a:lstStyle/>
          <a:p>
            <a:r>
              <a:rPr lang="en-US" dirty="0"/>
              <a:t>Learning Outcomes:</a:t>
            </a:r>
          </a:p>
        </p:txBody>
      </p:sp>
      <p:sp>
        <p:nvSpPr>
          <p:cNvPr id="3" name="Content Placeholder 2"/>
          <p:cNvSpPr>
            <a:spLocks noGrp="1"/>
          </p:cNvSpPr>
          <p:nvPr>
            <p:ph idx="1"/>
          </p:nvPr>
        </p:nvSpPr>
        <p:spPr>
          <a:xfrm>
            <a:off x="2387600" y="1744133"/>
            <a:ext cx="9117012" cy="4167089"/>
          </a:xfrm>
        </p:spPr>
        <p:txBody>
          <a:bodyPr>
            <a:normAutofit/>
          </a:bodyPr>
          <a:lstStyle/>
          <a:p>
            <a:pPr marL="0" indent="0">
              <a:buNone/>
            </a:pPr>
            <a:r>
              <a:rPr lang="en-US" sz="2400" dirty="0"/>
              <a:t>By the end of this session, students should be able to:</a:t>
            </a:r>
          </a:p>
          <a:p>
            <a:pPr lvl="0"/>
            <a:r>
              <a:rPr lang="en-US" sz="2400" dirty="0"/>
              <a:t>organize, summarize and critique the literature</a:t>
            </a:r>
            <a:endParaRPr lang="en-GB" sz="2400" dirty="0"/>
          </a:p>
          <a:p>
            <a:pPr lvl="0"/>
            <a:r>
              <a:rPr lang="en-US" sz="2400" dirty="0"/>
              <a:t>cite, reference, synthesize and paraphrase ideas from the literature; and</a:t>
            </a:r>
            <a:endParaRPr lang="en-GB" sz="2400" dirty="0"/>
          </a:p>
          <a:p>
            <a:pPr lvl="0"/>
            <a:r>
              <a:rPr lang="en-US" sz="2400" dirty="0"/>
              <a:t>use appropriate rhetorical devices and linguistic features to express their stance in the literature review</a:t>
            </a:r>
          </a:p>
          <a:p>
            <a:r>
              <a:rPr lang="en-US" sz="2400" dirty="0"/>
              <a:t>explain key concepts and research findings in the literature</a:t>
            </a:r>
            <a:endParaRPr lang="en-HK" sz="2400" dirty="0"/>
          </a:p>
          <a:p>
            <a:pPr lvl="0"/>
            <a:endParaRPr lang="en-US" sz="2400" dirty="0"/>
          </a:p>
        </p:txBody>
      </p:sp>
      <p:sp>
        <p:nvSpPr>
          <p:cNvPr id="4" name="Slide Number Placeholder 3">
            <a:extLst>
              <a:ext uri="{FF2B5EF4-FFF2-40B4-BE49-F238E27FC236}">
                <a16:creationId xmlns:a16="http://schemas.microsoft.com/office/drawing/2014/main" id="{D22FE458-9DDD-4C18-AC08-77DF5ECB9178}"/>
              </a:ext>
            </a:extLst>
          </p:cNvPr>
          <p:cNvSpPr>
            <a:spLocks noGrp="1"/>
          </p:cNvSpPr>
          <p:nvPr>
            <p:ph type="sldNum" sz="quarter" idx="12"/>
          </p:nvPr>
        </p:nvSpPr>
        <p:spPr>
          <a:xfrm>
            <a:off x="531812" y="787782"/>
            <a:ext cx="779767" cy="365125"/>
          </a:xfrm>
        </p:spPr>
        <p:txBody>
          <a:bodyPr/>
          <a:lstStyle/>
          <a:p>
            <a:fld id="{D57F1E4F-1CFF-5643-939E-217C01CDF565}" type="slidenum">
              <a:rPr lang="en-US" smtClean="0"/>
              <a:pPr/>
              <a:t>2</a:t>
            </a:fld>
            <a:endParaRPr lang="en-US" dirty="0"/>
          </a:p>
        </p:txBody>
      </p:sp>
    </p:spTree>
    <p:extLst>
      <p:ext uri="{BB962C8B-B14F-4D97-AF65-F5344CB8AC3E}">
        <p14:creationId xmlns:p14="http://schemas.microsoft.com/office/powerpoint/2010/main" val="27881022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Warm-up Task</a:t>
            </a:r>
          </a:p>
        </p:txBody>
      </p:sp>
      <p:sp>
        <p:nvSpPr>
          <p:cNvPr id="3" name="Content Placeholder 2"/>
          <p:cNvSpPr>
            <a:spLocks noGrp="1"/>
          </p:cNvSpPr>
          <p:nvPr>
            <p:ph idx="1"/>
          </p:nvPr>
        </p:nvSpPr>
        <p:spPr>
          <a:xfrm>
            <a:off x="2226244" y="1400685"/>
            <a:ext cx="8915400" cy="5404964"/>
          </a:xfrm>
        </p:spPr>
        <p:txBody>
          <a:bodyPr>
            <a:normAutofit/>
          </a:bodyPr>
          <a:lstStyle/>
          <a:p>
            <a:pPr marL="0" indent="0">
              <a:buNone/>
            </a:pPr>
            <a:r>
              <a:rPr lang="en-US" sz="2300" dirty="0"/>
              <a:t>Find a partner. Share your experience about identifying relevant literature and reading academic research papers:</a:t>
            </a:r>
            <a:endParaRPr lang="en-GB" sz="2300" dirty="0"/>
          </a:p>
          <a:p>
            <a:endParaRPr lang="en-US" sz="2300" dirty="0"/>
          </a:p>
          <a:p>
            <a:pPr lvl="0"/>
            <a:r>
              <a:rPr lang="en-US" sz="2300" dirty="0"/>
              <a:t>1. How do you usually find suitable and relevant research articles? Online search? Recommended by your supervisor? </a:t>
            </a:r>
            <a:endParaRPr lang="en-GB" sz="2300" dirty="0"/>
          </a:p>
          <a:p>
            <a:pPr marL="0" lvl="0" indent="0">
              <a:buNone/>
            </a:pPr>
            <a:endParaRPr lang="en-US" sz="2300" dirty="0"/>
          </a:p>
          <a:p>
            <a:pPr lvl="0"/>
            <a:r>
              <a:rPr lang="en-US" sz="2300" dirty="0"/>
              <a:t>2. </a:t>
            </a:r>
            <a:r>
              <a:rPr lang="en-GB" sz="2300" dirty="0"/>
              <a:t>In your research field, when do you need to review previous research? In which types of writing do you need to have a literature review?</a:t>
            </a:r>
            <a:r>
              <a:rPr lang="en-US" sz="2300" dirty="0"/>
              <a:t> </a:t>
            </a:r>
          </a:p>
          <a:p>
            <a:pPr marL="0" lvl="0" indent="0">
              <a:buNone/>
            </a:pPr>
            <a:endParaRPr lang="en-US" sz="2300" dirty="0"/>
          </a:p>
          <a:p>
            <a:pPr lvl="0"/>
            <a:r>
              <a:rPr lang="en-US" sz="2300" dirty="0"/>
              <a:t>3. Why do researchers need to review previous research?</a:t>
            </a:r>
            <a:endParaRPr lang="en-HK" sz="2300" dirty="0"/>
          </a:p>
          <a:p>
            <a:pPr lvl="0"/>
            <a:endParaRPr lang="en-GB" sz="2300" dirty="0"/>
          </a:p>
          <a:p>
            <a:endParaRPr lang="en-US" dirty="0"/>
          </a:p>
        </p:txBody>
      </p:sp>
      <p:sp>
        <p:nvSpPr>
          <p:cNvPr id="4" name="Slide Number Placeholder 3">
            <a:extLst>
              <a:ext uri="{FF2B5EF4-FFF2-40B4-BE49-F238E27FC236}">
                <a16:creationId xmlns:a16="http://schemas.microsoft.com/office/drawing/2014/main" id="{A4591C41-656D-450D-9763-C060B8BD090F}"/>
              </a:ext>
            </a:extLst>
          </p:cNvPr>
          <p:cNvSpPr>
            <a:spLocks noGrp="1"/>
          </p:cNvSpPr>
          <p:nvPr>
            <p:ph type="sldNum" sz="quarter" idx="12"/>
          </p:nvPr>
        </p:nvSpPr>
        <p:spPr>
          <a:xfrm>
            <a:off x="531812" y="787782"/>
            <a:ext cx="779767" cy="365125"/>
          </a:xfrm>
        </p:spPr>
        <p:txBody>
          <a:bodyPr/>
          <a:lstStyle/>
          <a:p>
            <a:fld id="{D57F1E4F-1CFF-5643-939E-217C01CDF565}" type="slidenum">
              <a:rPr lang="en-US" smtClean="0"/>
              <a:pPr/>
              <a:t>3</a:t>
            </a:fld>
            <a:endParaRPr lang="en-US" dirty="0"/>
          </a:p>
        </p:txBody>
      </p:sp>
    </p:spTree>
    <p:extLst>
      <p:ext uri="{BB962C8B-B14F-4D97-AF65-F5344CB8AC3E}">
        <p14:creationId xmlns:p14="http://schemas.microsoft.com/office/powerpoint/2010/main" val="37181108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E4DB38-8A9C-47B7-BBA2-91546671D16C}"/>
              </a:ext>
            </a:extLst>
          </p:cNvPr>
          <p:cNvSpPr>
            <a:spLocks noGrp="1"/>
          </p:cNvSpPr>
          <p:nvPr>
            <p:ph type="title"/>
          </p:nvPr>
        </p:nvSpPr>
        <p:spPr>
          <a:xfrm>
            <a:off x="1583517" y="512462"/>
            <a:ext cx="10334318" cy="1280890"/>
          </a:xfrm>
        </p:spPr>
        <p:txBody>
          <a:bodyPr/>
          <a:lstStyle/>
          <a:p>
            <a:r>
              <a:rPr lang="en-US" dirty="0"/>
              <a:t>Steps in Preparing to Write a Literature Review</a:t>
            </a:r>
            <a:endParaRPr lang="en-GB" dirty="0"/>
          </a:p>
        </p:txBody>
      </p:sp>
      <p:graphicFrame>
        <p:nvGraphicFramePr>
          <p:cNvPr id="7" name="Diagram 6">
            <a:extLst>
              <a:ext uri="{FF2B5EF4-FFF2-40B4-BE49-F238E27FC236}">
                <a16:creationId xmlns:a16="http://schemas.microsoft.com/office/drawing/2014/main" id="{DE971CE8-8E3F-4BFC-94C2-F48829194DE7}"/>
              </a:ext>
            </a:extLst>
          </p:cNvPr>
          <p:cNvGraphicFramePr/>
          <p:nvPr>
            <p:extLst>
              <p:ext uri="{D42A27DB-BD31-4B8C-83A1-F6EECF244321}">
                <p14:modId xmlns:p14="http://schemas.microsoft.com/office/powerpoint/2010/main" val="2968917721"/>
              </p:ext>
            </p:extLst>
          </p:nvPr>
        </p:nvGraphicFramePr>
        <p:xfrm>
          <a:off x="2362580" y="601034"/>
          <a:ext cx="8166779" cy="579145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Slide Number Placeholder 3">
            <a:extLst>
              <a:ext uri="{FF2B5EF4-FFF2-40B4-BE49-F238E27FC236}">
                <a16:creationId xmlns:a16="http://schemas.microsoft.com/office/drawing/2014/main" id="{68B47F92-6F31-43F6-BB23-EE0F00AEA2E1}"/>
              </a:ext>
            </a:extLst>
          </p:cNvPr>
          <p:cNvSpPr>
            <a:spLocks noGrp="1"/>
          </p:cNvSpPr>
          <p:nvPr>
            <p:ph type="sldNum" sz="quarter" idx="12"/>
          </p:nvPr>
        </p:nvSpPr>
        <p:spPr>
          <a:xfrm>
            <a:off x="531812" y="787782"/>
            <a:ext cx="779767" cy="365125"/>
          </a:xfrm>
        </p:spPr>
        <p:txBody>
          <a:bodyPr/>
          <a:lstStyle/>
          <a:p>
            <a:fld id="{D57F1E4F-1CFF-5643-939E-217C01CDF565}" type="slidenum">
              <a:rPr lang="en-US" smtClean="0"/>
              <a:pPr/>
              <a:t>4</a:t>
            </a:fld>
            <a:endParaRPr lang="en-US" dirty="0"/>
          </a:p>
        </p:txBody>
      </p:sp>
    </p:spTree>
    <p:extLst>
      <p:ext uri="{BB962C8B-B14F-4D97-AF65-F5344CB8AC3E}">
        <p14:creationId xmlns:p14="http://schemas.microsoft.com/office/powerpoint/2010/main" val="29546494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00195" y="964276"/>
            <a:ext cx="9113921" cy="5710844"/>
          </a:xfrm>
        </p:spPr>
        <p:txBody>
          <a:bodyPr>
            <a:normAutofit fontScale="92500" lnSpcReduction="20000"/>
          </a:bodyPr>
          <a:lstStyle/>
          <a:p>
            <a:pPr marL="0" indent="0">
              <a:lnSpc>
                <a:spcPct val="160000"/>
              </a:lnSpc>
              <a:buNone/>
            </a:pPr>
            <a:r>
              <a:rPr lang="en-GB" b="1" dirty="0"/>
              <a:t>General Purposes of Reviewing the Literature</a:t>
            </a:r>
            <a:endParaRPr lang="en-US" b="1" dirty="0"/>
          </a:p>
          <a:p>
            <a:pPr marL="0" indent="0">
              <a:lnSpc>
                <a:spcPct val="160000"/>
              </a:lnSpc>
              <a:buNone/>
            </a:pPr>
            <a:r>
              <a:rPr lang="en-US" dirty="0"/>
              <a:t>Postgraduate researchers often have to demonstrate that their research is </a:t>
            </a:r>
            <a:r>
              <a:rPr lang="en-US" b="1" dirty="0"/>
              <a:t>original</a:t>
            </a:r>
            <a:r>
              <a:rPr lang="en-US" dirty="0"/>
              <a:t> and </a:t>
            </a:r>
            <a:r>
              <a:rPr lang="en-US" b="1" dirty="0"/>
              <a:t>worthwhile</a:t>
            </a:r>
            <a:r>
              <a:rPr lang="en-US" dirty="0"/>
              <a:t>. They should also prove that they are </a:t>
            </a:r>
            <a:r>
              <a:rPr lang="en-US" b="1" dirty="0"/>
              <a:t>knowledgeable about the theories and the recent developments</a:t>
            </a:r>
            <a:r>
              <a:rPr lang="en-US" dirty="0"/>
              <a:t> </a:t>
            </a:r>
            <a:r>
              <a:rPr lang="en-US" b="1" dirty="0"/>
              <a:t>in their field</a:t>
            </a:r>
            <a:r>
              <a:rPr lang="en-US" dirty="0"/>
              <a:t>. It is through your review of the literature that you can achieve the above.</a:t>
            </a:r>
            <a:endParaRPr lang="en-GB" dirty="0"/>
          </a:p>
          <a:p>
            <a:r>
              <a:rPr lang="en-US" dirty="0"/>
              <a:t>Discuss the following questions in small groups:</a:t>
            </a:r>
            <a:endParaRPr lang="en-GB" dirty="0"/>
          </a:p>
          <a:p>
            <a:pPr marL="0" indent="0">
              <a:buNone/>
            </a:pPr>
            <a:endParaRPr lang="en-US" dirty="0"/>
          </a:p>
          <a:p>
            <a:pPr lvl="0">
              <a:buClrTx/>
              <a:buAutoNum type="arabicPeriod"/>
            </a:pPr>
            <a:r>
              <a:rPr lang="en-US" dirty="0"/>
              <a:t>What is the meaning of “originality” of research?</a:t>
            </a:r>
            <a:endParaRPr lang="en-GB" dirty="0"/>
          </a:p>
          <a:p>
            <a:pPr marL="0" indent="0">
              <a:buNone/>
            </a:pPr>
            <a:r>
              <a:rPr lang="en-US" i="1" dirty="0">
                <a:solidFill>
                  <a:srgbClr val="0070C0"/>
                </a:solidFill>
              </a:rPr>
              <a:t>     Originality of research means:</a:t>
            </a:r>
            <a:endParaRPr lang="en-GB" dirty="0">
              <a:solidFill>
                <a:srgbClr val="0070C0"/>
              </a:solidFill>
            </a:endParaRPr>
          </a:p>
          <a:p>
            <a:pPr lvl="0">
              <a:buFont typeface="Arial" panose="020B0604020202020204" pitchFamily="34" charset="0"/>
              <a:buChar char="•"/>
            </a:pPr>
            <a:r>
              <a:rPr lang="en-US" i="1" dirty="0">
                <a:solidFill>
                  <a:srgbClr val="0070C0"/>
                </a:solidFill>
              </a:rPr>
              <a:t>It addresses questions that have not been asked before in the literature.</a:t>
            </a:r>
            <a:endParaRPr lang="en-GB" dirty="0">
              <a:solidFill>
                <a:srgbClr val="0070C0"/>
              </a:solidFill>
            </a:endParaRPr>
          </a:p>
          <a:p>
            <a:pPr lvl="0">
              <a:buFont typeface="Arial" panose="020B0604020202020204" pitchFamily="34" charset="0"/>
              <a:buChar char="•"/>
            </a:pPr>
            <a:r>
              <a:rPr lang="en-US" i="1" dirty="0">
                <a:solidFill>
                  <a:srgbClr val="0070C0"/>
                </a:solidFill>
              </a:rPr>
              <a:t>It addresses questions that have been asked before, but have not been adequately answered in the literature.</a:t>
            </a:r>
            <a:endParaRPr lang="en-GB" dirty="0">
              <a:solidFill>
                <a:srgbClr val="0070C0"/>
              </a:solidFill>
            </a:endParaRPr>
          </a:p>
          <a:p>
            <a:pPr lvl="0">
              <a:buFont typeface="Arial" panose="020B0604020202020204" pitchFamily="34" charset="0"/>
              <a:buChar char="•"/>
            </a:pPr>
            <a:r>
              <a:rPr lang="en-US" i="1" dirty="0">
                <a:solidFill>
                  <a:srgbClr val="0070C0"/>
                </a:solidFill>
              </a:rPr>
              <a:t>It addresses old questions from a new theoretical perspective, method, or in the light of new information.</a:t>
            </a:r>
            <a:endParaRPr lang="en-GB" dirty="0">
              <a:solidFill>
                <a:srgbClr val="0070C0"/>
              </a:solidFill>
            </a:endParaRPr>
          </a:p>
          <a:p>
            <a:pPr lvl="0">
              <a:buFont typeface="Arial" panose="020B0604020202020204" pitchFamily="34" charset="0"/>
              <a:buChar char="•"/>
            </a:pPr>
            <a:r>
              <a:rPr lang="en-US" i="1" dirty="0">
                <a:solidFill>
                  <a:srgbClr val="0070C0"/>
                </a:solidFill>
              </a:rPr>
              <a:t>It addresses old questions in a new context.</a:t>
            </a:r>
            <a:endParaRPr lang="en-GB" dirty="0">
              <a:solidFill>
                <a:srgbClr val="0070C0"/>
              </a:solidFill>
            </a:endParaRPr>
          </a:p>
          <a:p>
            <a:pPr lvl="0">
              <a:buFont typeface="Arial" panose="020B0604020202020204" pitchFamily="34" charset="0"/>
              <a:buChar char="•"/>
            </a:pPr>
            <a:r>
              <a:rPr lang="en-US" i="1" dirty="0">
                <a:solidFill>
                  <a:srgbClr val="0070C0"/>
                </a:solidFill>
              </a:rPr>
              <a:t>It applies earlier research findings in a new way.</a:t>
            </a:r>
            <a:endParaRPr lang="en-GB" dirty="0">
              <a:solidFill>
                <a:srgbClr val="0070C0"/>
              </a:solidFill>
            </a:endParaRPr>
          </a:p>
          <a:p>
            <a:pPr marL="0" indent="0">
              <a:buNone/>
            </a:pPr>
            <a:endParaRPr lang="en-US" dirty="0"/>
          </a:p>
          <a:p>
            <a:pPr marL="0" indent="0">
              <a:buNone/>
            </a:pPr>
            <a:endParaRPr lang="en-US" dirty="0"/>
          </a:p>
          <a:p>
            <a:endParaRPr lang="en-US" dirty="0"/>
          </a:p>
        </p:txBody>
      </p:sp>
      <p:sp>
        <p:nvSpPr>
          <p:cNvPr id="5" name="Title 4">
            <a:extLst>
              <a:ext uri="{FF2B5EF4-FFF2-40B4-BE49-F238E27FC236}">
                <a16:creationId xmlns:a16="http://schemas.microsoft.com/office/drawing/2014/main" id="{745B309D-4525-43E6-BB5D-B4A5D0207F3D}"/>
              </a:ext>
            </a:extLst>
          </p:cNvPr>
          <p:cNvSpPr>
            <a:spLocks noGrp="1"/>
          </p:cNvSpPr>
          <p:nvPr>
            <p:ph type="title"/>
          </p:nvPr>
        </p:nvSpPr>
        <p:spPr>
          <a:xfrm>
            <a:off x="1571497" y="265246"/>
            <a:ext cx="10487881" cy="1280890"/>
          </a:xfrm>
        </p:spPr>
        <p:txBody>
          <a:bodyPr>
            <a:normAutofit/>
          </a:bodyPr>
          <a:lstStyle/>
          <a:p>
            <a:r>
              <a:rPr lang="en-US" dirty="0"/>
              <a:t>Task 1</a:t>
            </a:r>
            <a:br>
              <a:rPr lang="en-US" b="1" dirty="0"/>
            </a:br>
            <a:endParaRPr lang="en-GB" dirty="0"/>
          </a:p>
        </p:txBody>
      </p:sp>
      <p:sp>
        <p:nvSpPr>
          <p:cNvPr id="4" name="Slide Number Placeholder 3">
            <a:extLst>
              <a:ext uri="{FF2B5EF4-FFF2-40B4-BE49-F238E27FC236}">
                <a16:creationId xmlns:a16="http://schemas.microsoft.com/office/drawing/2014/main" id="{9698F745-E9A0-4D11-BC5B-A57F6872B397}"/>
              </a:ext>
            </a:extLst>
          </p:cNvPr>
          <p:cNvSpPr>
            <a:spLocks noGrp="1"/>
          </p:cNvSpPr>
          <p:nvPr>
            <p:ph type="sldNum" sz="quarter" idx="12"/>
          </p:nvPr>
        </p:nvSpPr>
        <p:spPr>
          <a:xfrm>
            <a:off x="531812" y="787782"/>
            <a:ext cx="779767" cy="365125"/>
          </a:xfrm>
        </p:spPr>
        <p:txBody>
          <a:bodyPr/>
          <a:lstStyle/>
          <a:p>
            <a:fld id="{D57F1E4F-1CFF-5643-939E-217C01CDF565}" type="slidenum">
              <a:rPr lang="en-US" smtClean="0"/>
              <a:pPr/>
              <a:t>5</a:t>
            </a:fld>
            <a:endParaRPr lang="en-US" dirty="0"/>
          </a:p>
        </p:txBody>
      </p:sp>
    </p:spTree>
    <p:extLst>
      <p:ext uri="{BB962C8B-B14F-4D97-AF65-F5344CB8AC3E}">
        <p14:creationId xmlns:p14="http://schemas.microsoft.com/office/powerpoint/2010/main" val="66542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40735" y="872520"/>
            <a:ext cx="9234489" cy="5985480"/>
          </a:xfrm>
        </p:spPr>
        <p:txBody>
          <a:bodyPr>
            <a:normAutofit lnSpcReduction="10000"/>
          </a:bodyPr>
          <a:lstStyle/>
          <a:p>
            <a:pPr marL="0" indent="0">
              <a:buNone/>
            </a:pPr>
            <a:r>
              <a:rPr lang="en-US" dirty="0">
                <a:solidFill>
                  <a:schemeClr val="tx1"/>
                </a:solidFill>
              </a:rPr>
              <a:t>2. </a:t>
            </a:r>
            <a:r>
              <a:rPr lang="en-US" dirty="0"/>
              <a:t>How can you show that your research is worthwhile in your thesis/journal article?</a:t>
            </a:r>
          </a:p>
          <a:p>
            <a:pPr marL="0" indent="0">
              <a:buNone/>
            </a:pPr>
            <a:endParaRPr lang="en-US" dirty="0"/>
          </a:p>
          <a:p>
            <a:pPr marL="0" indent="0">
              <a:buNone/>
            </a:pPr>
            <a:endParaRPr lang="en-US" dirty="0"/>
          </a:p>
          <a:p>
            <a:pPr marL="0" indent="0">
              <a:buNone/>
            </a:pPr>
            <a:endParaRPr lang="en-US" dirty="0"/>
          </a:p>
          <a:p>
            <a:pPr marL="0" indent="0">
              <a:buNone/>
            </a:pPr>
            <a:endParaRPr lang="en-GB" i="1" dirty="0">
              <a:solidFill>
                <a:srgbClr val="0070C0"/>
              </a:solidFill>
            </a:endParaRPr>
          </a:p>
          <a:p>
            <a:pPr marL="0" indent="0">
              <a:buNone/>
            </a:pPr>
            <a:endParaRPr lang="en-US" dirty="0"/>
          </a:p>
          <a:p>
            <a:pPr marL="0" indent="0">
              <a:buNone/>
            </a:pPr>
            <a:r>
              <a:rPr lang="en-US" dirty="0">
                <a:solidFill>
                  <a:schemeClr val="tx1"/>
                </a:solidFill>
              </a:rPr>
              <a:t>3. </a:t>
            </a:r>
            <a:r>
              <a:rPr lang="en-US" dirty="0"/>
              <a:t>How can you demonstrate that you are knowledgeable about the theories and the recent developments in the field?</a:t>
            </a:r>
          </a:p>
          <a:p>
            <a:pPr marL="0" indent="0">
              <a:buNone/>
            </a:pPr>
            <a:endParaRPr lang="en-GB" dirty="0"/>
          </a:p>
          <a:p>
            <a:pPr algn="just">
              <a:lnSpc>
                <a:spcPct val="115000"/>
              </a:lnSpc>
              <a:spcAft>
                <a:spcPts val="1000"/>
              </a:spcAft>
              <a:buFont typeface="Wingdings 3" panose="05040102010807070707" pitchFamily="18" charset="2"/>
              <a:buChar char="´"/>
            </a:pPr>
            <a:r>
              <a:rPr lang="en-US" i="1" dirty="0">
                <a:solidFill>
                  <a:srgbClr val="0070C0"/>
                </a:solidFill>
              </a:rPr>
              <a:t>In most cases, there is a theoretical basis for the study. In the literature review section/chapter, you need to summarize ideas from the key specific studies to date and enlist the support from the research in your field by citing the work of other researchers in different sections of your thesis/journal article. For example, when discussing the findings of your study, you may need to make reference to the previous studies and see whether your research results confirm or contradict the findings of the previous studies.</a:t>
            </a:r>
            <a:endParaRPr lang="en-GB" i="1" dirty="0">
              <a:solidFill>
                <a:srgbClr val="0070C0"/>
              </a:solidFill>
            </a:endParaRPr>
          </a:p>
          <a:p>
            <a:pPr marL="0" indent="0">
              <a:buNone/>
            </a:pPr>
            <a:endParaRPr lang="en-US" dirty="0"/>
          </a:p>
          <a:p>
            <a:endParaRPr lang="en-US" dirty="0"/>
          </a:p>
        </p:txBody>
      </p:sp>
      <p:sp>
        <p:nvSpPr>
          <p:cNvPr id="4" name="Slide Number Placeholder 3">
            <a:extLst>
              <a:ext uri="{FF2B5EF4-FFF2-40B4-BE49-F238E27FC236}">
                <a16:creationId xmlns:a16="http://schemas.microsoft.com/office/drawing/2014/main" id="{FCC5A901-F7BE-41EA-A8F0-E9E8143DEA8F}"/>
              </a:ext>
            </a:extLst>
          </p:cNvPr>
          <p:cNvSpPr>
            <a:spLocks noGrp="1"/>
          </p:cNvSpPr>
          <p:nvPr>
            <p:ph type="sldNum" sz="quarter" idx="12"/>
          </p:nvPr>
        </p:nvSpPr>
        <p:spPr>
          <a:xfrm>
            <a:off x="531812" y="787782"/>
            <a:ext cx="779767" cy="365125"/>
          </a:xfrm>
        </p:spPr>
        <p:txBody>
          <a:bodyPr/>
          <a:lstStyle/>
          <a:p>
            <a:fld id="{D57F1E4F-1CFF-5643-939E-217C01CDF565}" type="slidenum">
              <a:rPr lang="en-US" smtClean="0"/>
              <a:pPr/>
              <a:t>6</a:t>
            </a:fld>
            <a:endParaRPr lang="en-US" dirty="0"/>
          </a:p>
        </p:txBody>
      </p:sp>
      <p:sp>
        <p:nvSpPr>
          <p:cNvPr id="2" name="TextBox 1"/>
          <p:cNvSpPr txBox="1"/>
          <p:nvPr/>
        </p:nvSpPr>
        <p:spPr>
          <a:xfrm>
            <a:off x="1940734" y="1571106"/>
            <a:ext cx="9234489" cy="1528624"/>
          </a:xfrm>
          <a:prstGeom prst="rect">
            <a:avLst/>
          </a:prstGeom>
          <a:noFill/>
        </p:spPr>
        <p:txBody>
          <a:bodyPr wrap="square" rtlCol="0">
            <a:spAutoFit/>
          </a:bodyPr>
          <a:lstStyle/>
          <a:p>
            <a:pPr marL="342900" lvl="0" indent="-342900">
              <a:spcBef>
                <a:spcPts val="1000"/>
              </a:spcBef>
              <a:buClr>
                <a:srgbClr val="E78712"/>
              </a:buClr>
              <a:buFont typeface="Wingdings 3" panose="05040102010807070707" pitchFamily="18" charset="2"/>
              <a:buChar char=""/>
            </a:pPr>
            <a:r>
              <a:rPr lang="en-GB" sz="1700" i="1" dirty="0">
                <a:solidFill>
                  <a:srgbClr val="0070C0"/>
                </a:solidFill>
              </a:rPr>
              <a:t>You need to show that your research can make a significant or valuable contribution to knowledge. There should be NEW knowledge contributed by your research.</a:t>
            </a:r>
          </a:p>
          <a:p>
            <a:pPr marL="342900" lvl="0" indent="-342900">
              <a:spcBef>
                <a:spcPts val="1000"/>
              </a:spcBef>
              <a:buClr>
                <a:srgbClr val="E78712"/>
              </a:buClr>
              <a:buFont typeface="Wingdings 3" panose="05040102010807070707" pitchFamily="18" charset="2"/>
              <a:buChar char=""/>
            </a:pPr>
            <a:r>
              <a:rPr lang="en-GB" sz="1700" i="1" dirty="0">
                <a:solidFill>
                  <a:srgbClr val="0070C0"/>
                </a:solidFill>
              </a:rPr>
              <a:t>Examples of types of research contributions include theoretical/conceptual, empirical, methodological, pedagogical contributions. </a:t>
            </a:r>
            <a:endParaRPr lang="en-US" sz="1700" dirty="0">
              <a:solidFill>
                <a:prstClr val="black">
                  <a:lumMod val="75000"/>
                  <a:lumOff val="25000"/>
                </a:prstClr>
              </a:solidFill>
            </a:endParaRPr>
          </a:p>
        </p:txBody>
      </p:sp>
    </p:spTree>
    <p:extLst>
      <p:ext uri="{BB962C8B-B14F-4D97-AF65-F5344CB8AC3E}">
        <p14:creationId xmlns:p14="http://schemas.microsoft.com/office/powerpoint/2010/main" val="8197109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B8FFED-B088-8199-BF29-EE22AA46606D}"/>
              </a:ext>
            </a:extLst>
          </p:cNvPr>
          <p:cNvSpPr>
            <a:spLocks noGrp="1"/>
          </p:cNvSpPr>
          <p:nvPr>
            <p:ph type="title"/>
          </p:nvPr>
        </p:nvSpPr>
        <p:spPr>
          <a:xfrm>
            <a:off x="1642200" y="602846"/>
            <a:ext cx="9613251" cy="1280890"/>
          </a:xfrm>
        </p:spPr>
        <p:txBody>
          <a:bodyPr/>
          <a:lstStyle/>
          <a:p>
            <a:r>
              <a:rPr lang="en-GB" dirty="0"/>
              <a:t>What is a Good Review of the Literature?</a:t>
            </a:r>
            <a:endParaRPr lang="en-HK" dirty="0"/>
          </a:p>
        </p:txBody>
      </p:sp>
      <p:pic>
        <p:nvPicPr>
          <p:cNvPr id="4" name="Picture 3">
            <a:extLst>
              <a:ext uri="{FF2B5EF4-FFF2-40B4-BE49-F238E27FC236}">
                <a16:creationId xmlns:a16="http://schemas.microsoft.com/office/drawing/2014/main" id="{B4A6C7F9-C371-770A-9D0F-77BBFCEE2EDF}"/>
              </a:ext>
            </a:extLst>
          </p:cNvPr>
          <p:cNvPicPr>
            <a:picLocks noChangeAspect="1"/>
          </p:cNvPicPr>
          <p:nvPr/>
        </p:nvPicPr>
        <p:blipFill>
          <a:blip r:embed="rId2"/>
          <a:stretch>
            <a:fillRect/>
          </a:stretch>
        </p:blipFill>
        <p:spPr>
          <a:xfrm>
            <a:off x="1201479" y="1858371"/>
            <a:ext cx="10780155" cy="4159656"/>
          </a:xfrm>
          <a:prstGeom prst="rect">
            <a:avLst/>
          </a:prstGeom>
        </p:spPr>
      </p:pic>
    </p:spTree>
    <p:extLst>
      <p:ext uri="{BB962C8B-B14F-4D97-AF65-F5344CB8AC3E}">
        <p14:creationId xmlns:p14="http://schemas.microsoft.com/office/powerpoint/2010/main" val="13715298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BD30EA2-8070-48EC-BC41-2869CA1A91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30602" y="323401"/>
            <a:ext cx="3650279" cy="1259894"/>
          </a:xfrm>
        </p:spPr>
        <p:txBody>
          <a:bodyPr>
            <a:normAutofit/>
          </a:bodyPr>
          <a:lstStyle/>
          <a:p>
            <a:pPr>
              <a:lnSpc>
                <a:spcPct val="90000"/>
              </a:lnSpc>
            </a:pPr>
            <a:r>
              <a:rPr lang="en-US" sz="2500" dirty="0"/>
              <a:t>Functions and Moves of a Literature Review</a:t>
            </a:r>
            <a:br>
              <a:rPr lang="en-US" sz="2500" b="1" dirty="0"/>
            </a:br>
            <a:endParaRPr lang="en-US" sz="2500" dirty="0"/>
          </a:p>
        </p:txBody>
      </p:sp>
      <p:sp>
        <p:nvSpPr>
          <p:cNvPr id="11" name="Rectangle 10">
            <a:extLst>
              <a:ext uri="{FF2B5EF4-FFF2-40B4-BE49-F238E27FC236}">
                <a16:creationId xmlns:a16="http://schemas.microsoft.com/office/drawing/2014/main" id="{BF40D12C-3EB2-43EA-A6B2-81D1325190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HK"/>
          </a:p>
        </p:txBody>
      </p:sp>
      <p:sp>
        <p:nvSpPr>
          <p:cNvPr id="3" name="Content Placeholder 2"/>
          <p:cNvSpPr>
            <a:spLocks noGrp="1"/>
          </p:cNvSpPr>
          <p:nvPr>
            <p:ph idx="1"/>
          </p:nvPr>
        </p:nvSpPr>
        <p:spPr>
          <a:xfrm>
            <a:off x="245155" y="1708700"/>
            <a:ext cx="3821175" cy="3759253"/>
          </a:xfrm>
        </p:spPr>
        <p:txBody>
          <a:bodyPr>
            <a:normAutofit/>
          </a:bodyPr>
          <a:lstStyle/>
          <a:p>
            <a:pPr marL="0" indent="0">
              <a:buNone/>
            </a:pPr>
            <a:r>
              <a:rPr lang="en-US" dirty="0"/>
              <a:t>Literature reviews can differ in structure, length, breadth and depth of content included. They can range from the selective (a narrow area of research) to the comprehensive (a larger amount or range of works). They can also exist as part of a larger work (i.e. in a journal article or thesis) or stand on their own.</a:t>
            </a:r>
          </a:p>
          <a:p>
            <a:pPr marL="0" indent="0">
              <a:buNone/>
            </a:pPr>
            <a:endParaRPr lang="en-US" dirty="0"/>
          </a:p>
          <a:p>
            <a:endParaRPr lang="en-US" dirty="0"/>
          </a:p>
        </p:txBody>
      </p:sp>
      <p:sp>
        <p:nvSpPr>
          <p:cNvPr id="13" name="Freeform 11">
            <a:extLst>
              <a:ext uri="{FF2B5EF4-FFF2-40B4-BE49-F238E27FC236}">
                <a16:creationId xmlns:a16="http://schemas.microsoft.com/office/drawing/2014/main" id="{A796071E-2EB3-4DB7-AC56-CCD9693498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061223"/>
            <a:ext cx="1038036"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66E2CAB0-6FF2-426A-9736-E4E013371092}"/>
              </a:ext>
            </a:extLst>
          </p:cNvPr>
          <p:cNvPicPr>
            <a:picLocks noChangeAspect="1"/>
          </p:cNvPicPr>
          <p:nvPr/>
        </p:nvPicPr>
        <p:blipFill>
          <a:blip r:embed="rId2"/>
          <a:stretch>
            <a:fillRect/>
          </a:stretch>
        </p:blipFill>
        <p:spPr>
          <a:xfrm>
            <a:off x="4299502" y="738909"/>
            <a:ext cx="7647343" cy="5588000"/>
          </a:xfrm>
          <a:prstGeom prst="rect">
            <a:avLst/>
          </a:prstGeom>
        </p:spPr>
      </p:pic>
      <p:sp>
        <p:nvSpPr>
          <p:cNvPr id="10" name="Slide Number Placeholder 3">
            <a:extLst>
              <a:ext uri="{FF2B5EF4-FFF2-40B4-BE49-F238E27FC236}">
                <a16:creationId xmlns:a16="http://schemas.microsoft.com/office/drawing/2014/main" id="{7C12D254-C166-4558-9455-5CD5E50DA894}"/>
              </a:ext>
            </a:extLst>
          </p:cNvPr>
          <p:cNvSpPr>
            <a:spLocks noGrp="1"/>
          </p:cNvSpPr>
          <p:nvPr>
            <p:ph type="sldNum" sz="quarter" idx="12"/>
          </p:nvPr>
        </p:nvSpPr>
        <p:spPr>
          <a:xfrm>
            <a:off x="26168" y="6131798"/>
            <a:ext cx="779767" cy="365125"/>
          </a:xfrm>
        </p:spPr>
        <p:txBody>
          <a:bodyPr/>
          <a:lstStyle/>
          <a:p>
            <a:fld id="{D57F1E4F-1CFF-5643-939E-217C01CDF565}" type="slidenum">
              <a:rPr lang="en-US" smtClean="0"/>
              <a:pPr/>
              <a:t>8</a:t>
            </a:fld>
            <a:endParaRPr lang="en-US" dirty="0"/>
          </a:p>
        </p:txBody>
      </p:sp>
    </p:spTree>
    <p:extLst>
      <p:ext uri="{BB962C8B-B14F-4D97-AF65-F5344CB8AC3E}">
        <p14:creationId xmlns:p14="http://schemas.microsoft.com/office/powerpoint/2010/main" val="24379371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97326" y="445979"/>
            <a:ext cx="8911687" cy="813992"/>
          </a:xfrm>
        </p:spPr>
        <p:txBody>
          <a:bodyPr/>
          <a:lstStyle/>
          <a:p>
            <a:r>
              <a:rPr lang="en-US" dirty="0"/>
              <a:t>Task 2</a:t>
            </a:r>
          </a:p>
        </p:txBody>
      </p:sp>
      <p:sp>
        <p:nvSpPr>
          <p:cNvPr id="3" name="Content Placeholder 2"/>
          <p:cNvSpPr>
            <a:spLocks noGrp="1"/>
          </p:cNvSpPr>
          <p:nvPr>
            <p:ph idx="1"/>
          </p:nvPr>
        </p:nvSpPr>
        <p:spPr>
          <a:xfrm>
            <a:off x="2382383" y="1539890"/>
            <a:ext cx="8915400" cy="4872131"/>
          </a:xfrm>
        </p:spPr>
        <p:txBody>
          <a:bodyPr/>
          <a:lstStyle/>
          <a:p>
            <a:pPr marL="0" indent="0">
              <a:buNone/>
            </a:pPr>
            <a:r>
              <a:rPr lang="en-US" sz="2000" dirty="0"/>
              <a:t>Read the </a:t>
            </a:r>
            <a:r>
              <a:rPr lang="en-US" sz="2000"/>
              <a:t>following examples </a:t>
            </a:r>
            <a:r>
              <a:rPr lang="en-US" sz="2000" dirty="0"/>
              <a:t>of literature reviews taken from two journal articles in </a:t>
            </a:r>
            <a:r>
              <a:rPr lang="en-US" sz="2000" b="1" i="1" dirty="0"/>
              <a:t>Journal of Traditional Chinese Medicine </a:t>
            </a:r>
            <a:r>
              <a:rPr lang="en-US" sz="2000" b="1" dirty="0"/>
              <a:t>and </a:t>
            </a:r>
            <a:r>
              <a:rPr lang="en-US" sz="2000" b="1" i="1" dirty="0"/>
              <a:t>Journal of Marketing </a:t>
            </a:r>
            <a:r>
              <a:rPr lang="en-US" sz="2000" i="1" dirty="0"/>
              <a:t>respectively</a:t>
            </a:r>
            <a:r>
              <a:rPr lang="en-US" sz="2000" dirty="0"/>
              <a:t>. Discuss the questions below in small groups.</a:t>
            </a:r>
            <a:endParaRPr lang="en-GB" sz="2000" dirty="0"/>
          </a:p>
          <a:p>
            <a:pPr marL="0" indent="0">
              <a:buNone/>
            </a:pPr>
            <a:endParaRPr lang="en-US" sz="2000" dirty="0">
              <a:solidFill>
                <a:srgbClr val="0070C0"/>
              </a:solidFill>
            </a:endParaRPr>
          </a:p>
          <a:p>
            <a:pPr marL="0" lvl="0" indent="0">
              <a:buNone/>
            </a:pPr>
            <a:r>
              <a:rPr lang="en-US" sz="2000" dirty="0">
                <a:solidFill>
                  <a:schemeClr val="tx1"/>
                </a:solidFill>
              </a:rPr>
              <a:t>1. </a:t>
            </a:r>
            <a:r>
              <a:rPr lang="en-US" sz="2000" dirty="0"/>
              <a:t>Can you identify the moves in the two literature reviews? Are the moves similar or different in the two literature reviews?</a:t>
            </a:r>
            <a:endParaRPr lang="en-GB" sz="2000" dirty="0"/>
          </a:p>
          <a:p>
            <a:endParaRPr lang="en-US" dirty="0"/>
          </a:p>
        </p:txBody>
      </p:sp>
      <p:sp>
        <p:nvSpPr>
          <p:cNvPr id="4" name="Slide Number Placeholder 3">
            <a:extLst>
              <a:ext uri="{FF2B5EF4-FFF2-40B4-BE49-F238E27FC236}">
                <a16:creationId xmlns:a16="http://schemas.microsoft.com/office/drawing/2014/main" id="{27679D1F-369B-4B62-8E76-5CEAF41B444D}"/>
              </a:ext>
            </a:extLst>
          </p:cNvPr>
          <p:cNvSpPr>
            <a:spLocks noGrp="1"/>
          </p:cNvSpPr>
          <p:nvPr>
            <p:ph type="sldNum" sz="quarter" idx="12"/>
          </p:nvPr>
        </p:nvSpPr>
        <p:spPr>
          <a:xfrm>
            <a:off x="531812" y="787782"/>
            <a:ext cx="779767" cy="365125"/>
          </a:xfrm>
        </p:spPr>
        <p:txBody>
          <a:bodyPr/>
          <a:lstStyle/>
          <a:p>
            <a:fld id="{D57F1E4F-1CFF-5643-939E-217C01CDF565}" type="slidenum">
              <a:rPr lang="en-US" smtClean="0"/>
              <a:pPr/>
              <a:t>9</a:t>
            </a:fld>
            <a:endParaRPr lang="en-US" dirty="0"/>
          </a:p>
        </p:txBody>
      </p:sp>
    </p:spTree>
    <p:extLst>
      <p:ext uri="{BB962C8B-B14F-4D97-AF65-F5344CB8AC3E}">
        <p14:creationId xmlns:p14="http://schemas.microsoft.com/office/powerpoint/2010/main" val="12876036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able 7">
            <a:extLst>
              <a:ext uri="{FF2B5EF4-FFF2-40B4-BE49-F238E27FC236}">
                <a16:creationId xmlns:a16="http://schemas.microsoft.com/office/drawing/2014/main" id="{13C2CCBB-2343-4792-A8B1-D3F8CC76B5D4}"/>
              </a:ext>
            </a:extLst>
          </p:cNvPr>
          <p:cNvGraphicFramePr>
            <a:graphicFrameLocks noGrp="1"/>
          </p:cNvGraphicFramePr>
          <p:nvPr>
            <p:extLst>
              <p:ext uri="{D42A27DB-BD31-4B8C-83A1-F6EECF244321}">
                <p14:modId xmlns:p14="http://schemas.microsoft.com/office/powerpoint/2010/main" val="3233167194"/>
              </p:ext>
            </p:extLst>
          </p:nvPr>
        </p:nvGraphicFramePr>
        <p:xfrm>
          <a:off x="2413309" y="0"/>
          <a:ext cx="8613919" cy="6858000"/>
        </p:xfrm>
        <a:graphic>
          <a:graphicData uri="http://schemas.openxmlformats.org/drawingml/2006/table">
            <a:tbl>
              <a:tblPr firstRow="1" firstCol="1" bandRow="1"/>
              <a:tblGrid>
                <a:gridCol w="1749362">
                  <a:extLst>
                    <a:ext uri="{9D8B030D-6E8A-4147-A177-3AD203B41FA5}">
                      <a16:colId xmlns:a16="http://schemas.microsoft.com/office/drawing/2014/main" val="3436936447"/>
                    </a:ext>
                  </a:extLst>
                </a:gridCol>
                <a:gridCol w="6864557">
                  <a:extLst>
                    <a:ext uri="{9D8B030D-6E8A-4147-A177-3AD203B41FA5}">
                      <a16:colId xmlns:a16="http://schemas.microsoft.com/office/drawing/2014/main" val="2716811428"/>
                    </a:ext>
                  </a:extLst>
                </a:gridCol>
              </a:tblGrid>
              <a:tr h="3151731">
                <a:tc>
                  <a:txBody>
                    <a:bodyPr/>
                    <a:lstStyle/>
                    <a:p>
                      <a:pPr marL="457200">
                        <a:lnSpc>
                          <a:spcPct val="115000"/>
                        </a:lnSpc>
                        <a:spcAft>
                          <a:spcPts val="0"/>
                        </a:spcAft>
                      </a:pPr>
                      <a:endParaRPr lang="en-US" sz="1400" i="1" dirty="0">
                        <a:solidFill>
                          <a:srgbClr val="0070C0"/>
                        </a:solidFill>
                        <a:effectLst/>
                        <a:latin typeface="Calibri" panose="020F0502020204030204" pitchFamily="34" charset="0"/>
                        <a:ea typeface="DengXian" panose="02010600030101010101" pitchFamily="2" charset="-122"/>
                        <a:cs typeface="Times New Roman" panose="02020603050405020304" pitchFamily="18" charset="0"/>
                      </a:endParaRPr>
                    </a:p>
                    <a:p>
                      <a:pPr marL="457200">
                        <a:lnSpc>
                          <a:spcPct val="115000"/>
                        </a:lnSpc>
                        <a:spcAft>
                          <a:spcPts val="0"/>
                        </a:spcAft>
                      </a:pPr>
                      <a:r>
                        <a:rPr lang="en-US" sz="1400" i="1" dirty="0">
                          <a:solidFill>
                            <a:srgbClr val="0070C0"/>
                          </a:solidFill>
                          <a:effectLst/>
                          <a:latin typeface="Calibri" panose="020F0502020204030204" pitchFamily="34" charset="0"/>
                          <a:ea typeface="DengXian" panose="02010600030101010101" pitchFamily="2" charset="-122"/>
                          <a:cs typeface="Times New Roman" panose="02020603050405020304" pitchFamily="18" charset="0"/>
                        </a:rPr>
                        <a:t>Example 1 (Journal of Traditional Chinese Medicine)</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txBody>
                  <a:tcPr marL="43829" marR="438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a:lnSpc>
                          <a:spcPct val="115000"/>
                        </a:lnSpc>
                        <a:spcAft>
                          <a:spcPts val="0"/>
                        </a:spcAft>
                      </a:pPr>
                      <a:endParaRPr lang="en-US" sz="1400" i="1" dirty="0">
                        <a:solidFill>
                          <a:srgbClr val="0070C0"/>
                        </a:solidFill>
                        <a:effectLst/>
                        <a:latin typeface="Calibri" panose="020F0502020204030204" pitchFamily="34" charset="0"/>
                        <a:ea typeface="DengXian" panose="02010600030101010101" pitchFamily="2" charset="-122"/>
                        <a:cs typeface="Times New Roman" panose="02020603050405020304" pitchFamily="18" charset="0"/>
                      </a:endParaRPr>
                    </a:p>
                    <a:p>
                      <a:pPr marL="457200">
                        <a:lnSpc>
                          <a:spcPct val="115000"/>
                        </a:lnSpc>
                        <a:spcAft>
                          <a:spcPts val="0"/>
                        </a:spcAft>
                      </a:pPr>
                      <a:r>
                        <a:rPr lang="en-US" sz="1400" i="1" dirty="0">
                          <a:solidFill>
                            <a:srgbClr val="0070C0"/>
                          </a:solidFill>
                          <a:effectLst/>
                          <a:latin typeface="Calibri" panose="020F0502020204030204" pitchFamily="34" charset="0"/>
                          <a:ea typeface="DengXian" panose="02010600030101010101" pitchFamily="2" charset="-122"/>
                          <a:cs typeface="Times New Roman" panose="02020603050405020304" pitchFamily="18" charset="0"/>
                        </a:rPr>
                        <a:t>Move 1 – Background information about the topic (Alzheimer’s disease)</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marL="457200">
                        <a:lnSpc>
                          <a:spcPct val="115000"/>
                        </a:lnSpc>
                        <a:spcAft>
                          <a:spcPts val="0"/>
                        </a:spcAft>
                      </a:pPr>
                      <a:r>
                        <a:rPr lang="en-US" sz="1400" i="1" dirty="0">
                          <a:solidFill>
                            <a:srgbClr val="0070C0"/>
                          </a:solidFill>
                          <a:effectLst/>
                          <a:latin typeface="Calibri" panose="020F0502020204030204" pitchFamily="34" charset="0"/>
                          <a:ea typeface="DengXian" panose="02010600030101010101" pitchFamily="2" charset="-122"/>
                          <a:cs typeface="Times New Roman" panose="02020603050405020304" pitchFamily="18" charset="0"/>
                        </a:rPr>
                        <a:t>Move 2 – Research focus (acupuncture) and summaries/syntheses of relevant previous studies</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marL="457200">
                        <a:lnSpc>
                          <a:spcPct val="115000"/>
                        </a:lnSpc>
                        <a:spcAft>
                          <a:spcPts val="0"/>
                        </a:spcAft>
                      </a:pPr>
                      <a:r>
                        <a:rPr lang="en-US" sz="1400" i="1" dirty="0">
                          <a:solidFill>
                            <a:srgbClr val="0070C0"/>
                          </a:solidFill>
                          <a:effectLst/>
                          <a:latin typeface="Calibri" panose="020F0502020204030204" pitchFamily="34" charset="0"/>
                          <a:ea typeface="DengXian" panose="02010600030101010101" pitchFamily="2" charset="-122"/>
                          <a:cs typeface="Times New Roman" panose="02020603050405020304" pitchFamily="18" charset="0"/>
                        </a:rPr>
                        <a:t>Move 3 – Research gap (“The </a:t>
                      </a:r>
                      <a:r>
                        <a:rPr lang="en-US" sz="1400" i="1" kern="1200" dirty="0">
                          <a:solidFill>
                            <a:srgbClr val="0070C0"/>
                          </a:solidFill>
                          <a:effectLst/>
                          <a:latin typeface="Calibri" panose="020F0502020204030204" pitchFamily="34" charset="0"/>
                          <a:ea typeface="DengXian" panose="02010600030101010101" pitchFamily="2" charset="-122"/>
                          <a:cs typeface="Times New Roman" panose="02020603050405020304" pitchFamily="18" charset="0"/>
                          <a:hlinkClick r:id="rId2" tooltip="Learn more about Acupuncture Point from ScienceDirect's AI-generated Topic Pages">
                            <a:extLst>
                              <a:ext uri="{A12FA001-AC4F-418D-AE19-62706E023703}">
                                <ahyp:hlinkClr xmlns:ahyp="http://schemas.microsoft.com/office/drawing/2018/hyperlinkcolor" val="tx"/>
                              </a:ext>
                            </a:extLst>
                          </a:hlinkClick>
                        </a:rPr>
                        <a:t>acupoints</a:t>
                      </a:r>
                      <a:r>
                        <a:rPr lang="en-US" sz="1400" i="1" dirty="0">
                          <a:solidFill>
                            <a:srgbClr val="0070C0"/>
                          </a:solidFill>
                          <a:effectLst/>
                          <a:latin typeface="Calibri" panose="020F0502020204030204" pitchFamily="34" charset="0"/>
                          <a:ea typeface="DengXian" panose="02010600030101010101" pitchFamily="2" charset="-122"/>
                          <a:cs typeface="Times New Roman" panose="02020603050405020304" pitchFamily="18" charset="0"/>
                        </a:rPr>
                        <a:t> selection and combination play a critical role in impacting the therapeutic effects of acupuncture. However, determining the most effective acupoints selection and combination for AD still remains to be elucidated. Insufficient or improper acupoints selection and combination may contribute to a limited clinical therapeutic effects and the application of acupuncture for AD.”)</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marL="457200">
                        <a:lnSpc>
                          <a:spcPct val="115000"/>
                        </a:lnSpc>
                        <a:spcAft>
                          <a:spcPts val="0"/>
                        </a:spcAft>
                      </a:pPr>
                      <a:r>
                        <a:rPr lang="en-US" sz="1400" i="1" dirty="0">
                          <a:solidFill>
                            <a:srgbClr val="0070C0"/>
                          </a:solidFill>
                          <a:effectLst/>
                          <a:latin typeface="Calibri" panose="020F0502020204030204" pitchFamily="34" charset="0"/>
                          <a:ea typeface="DengXian" panose="02010600030101010101" pitchFamily="2" charset="-122"/>
                          <a:cs typeface="Times New Roman" panose="02020603050405020304" pitchFamily="18" charset="0"/>
                        </a:rPr>
                        <a:t>Move 4 – Justification of the research methodology (data-mining) with reference to the previous studies</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marL="457200">
                        <a:lnSpc>
                          <a:spcPct val="115000"/>
                        </a:lnSpc>
                        <a:spcAft>
                          <a:spcPts val="1000"/>
                        </a:spcAft>
                      </a:pPr>
                      <a:r>
                        <a:rPr lang="en-US" sz="1400" i="1" dirty="0">
                          <a:solidFill>
                            <a:srgbClr val="0070C0"/>
                          </a:solidFill>
                          <a:effectLst/>
                          <a:latin typeface="Calibri" panose="020F0502020204030204" pitchFamily="34" charset="0"/>
                          <a:ea typeface="DengXian" panose="02010600030101010101" pitchFamily="2" charset="-122"/>
                          <a:cs typeface="Times New Roman" panose="02020603050405020304" pitchFamily="18" charset="0"/>
                        </a:rPr>
                        <a:t>Move 5 – Objectives of the current study</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txBody>
                  <a:tcPr marL="43829" marR="438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47533764"/>
                  </a:ext>
                </a:extLst>
              </a:tr>
              <a:tr h="3706269">
                <a:tc>
                  <a:txBody>
                    <a:bodyPr/>
                    <a:lstStyle/>
                    <a:p>
                      <a:pPr marL="457200">
                        <a:lnSpc>
                          <a:spcPct val="115000"/>
                        </a:lnSpc>
                        <a:spcAft>
                          <a:spcPts val="1000"/>
                        </a:spcAft>
                      </a:pPr>
                      <a:endParaRPr lang="en-US" sz="1400" i="1" dirty="0">
                        <a:solidFill>
                          <a:srgbClr val="0070C0"/>
                        </a:solidFill>
                        <a:effectLst/>
                        <a:latin typeface="Calibri" panose="020F0502020204030204" pitchFamily="34" charset="0"/>
                        <a:ea typeface="DengXian" panose="02010600030101010101" pitchFamily="2" charset="-122"/>
                        <a:cs typeface="Times New Roman" panose="02020603050405020304" pitchFamily="18" charset="0"/>
                      </a:endParaRPr>
                    </a:p>
                    <a:p>
                      <a:pPr marL="457200">
                        <a:lnSpc>
                          <a:spcPct val="115000"/>
                        </a:lnSpc>
                        <a:spcAft>
                          <a:spcPts val="1000"/>
                        </a:spcAft>
                      </a:pPr>
                      <a:r>
                        <a:rPr lang="en-US" sz="1400" i="1" dirty="0">
                          <a:solidFill>
                            <a:srgbClr val="0070C0"/>
                          </a:solidFill>
                          <a:effectLst/>
                          <a:latin typeface="Calibri" panose="020F0502020204030204" pitchFamily="34" charset="0"/>
                          <a:ea typeface="DengXian" panose="02010600030101010101" pitchFamily="2" charset="-122"/>
                          <a:cs typeface="Times New Roman" panose="02020603050405020304" pitchFamily="18" charset="0"/>
                        </a:rPr>
                        <a:t>Example 2 (Journal of Marketing)</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txBody>
                  <a:tcPr marL="43829" marR="438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lvl="1" algn="just">
                        <a:lnSpc>
                          <a:spcPct val="115000"/>
                        </a:lnSpc>
                        <a:spcBef>
                          <a:spcPts val="200"/>
                        </a:spcBef>
                        <a:spcAft>
                          <a:spcPts val="0"/>
                        </a:spcAft>
                      </a:pPr>
                      <a:r>
                        <a:rPr lang="en-US" sz="1400" b="0" i="1" dirty="0">
                          <a:solidFill>
                            <a:srgbClr val="0070C0"/>
                          </a:solidFill>
                          <a:effectLst/>
                          <a:latin typeface="Calibri" panose="020F0502020204030204" pitchFamily="34" charset="0"/>
                          <a:ea typeface="DengXian Light" panose="02010600030101010101" pitchFamily="2" charset="-122"/>
                          <a:cs typeface="Times New Roman" panose="02020603050405020304" pitchFamily="18" charset="0"/>
                        </a:rPr>
                        <a:t>Move 1 – Main theme 1 (</a:t>
                      </a:r>
                      <a:r>
                        <a:rPr lang="en-US" sz="1400" b="0" i="1" dirty="0">
                          <a:solidFill>
                            <a:srgbClr val="0070C0"/>
                          </a:solidFill>
                          <a:effectLst/>
                          <a:latin typeface="Calibri" panose="020F0502020204030204" pitchFamily="34" charset="0"/>
                          <a:ea typeface="DengXian Light" panose="02010600030101010101" pitchFamily="2" charset="-122"/>
                          <a:cs typeface="Arial" panose="020B0604020202020204" pitchFamily="34" charset="0"/>
                        </a:rPr>
                        <a:t>Impression Formation and Face Perception</a:t>
                      </a:r>
                      <a:r>
                        <a:rPr lang="en-US" sz="1400" b="0" i="1" dirty="0">
                          <a:solidFill>
                            <a:srgbClr val="0070C0"/>
                          </a:solidFill>
                          <a:effectLst/>
                          <a:latin typeface="Calibri" panose="020F0502020204030204" pitchFamily="34" charset="0"/>
                          <a:ea typeface="DengXian Light" panose="02010600030101010101" pitchFamily="2" charset="-122"/>
                          <a:cs typeface="Times New Roman" panose="02020603050405020304" pitchFamily="18" charset="0"/>
                        </a:rPr>
                        <a:t>) and summaries/syntheses of relevant previous studies</a:t>
                      </a:r>
                      <a:endParaRPr lang="en-GB" sz="1400" b="0" dirty="0">
                        <a:solidFill>
                          <a:srgbClr val="1F4D78"/>
                        </a:solidFill>
                        <a:effectLst/>
                        <a:latin typeface="Calibri" panose="020F0502020204030204" pitchFamily="34" charset="0"/>
                        <a:ea typeface="DengXian Light" panose="02010600030101010101" pitchFamily="2" charset="-122"/>
                        <a:cs typeface="Times New Roman" panose="02020603050405020304" pitchFamily="18" charset="0"/>
                      </a:endParaRPr>
                    </a:p>
                    <a:p>
                      <a:pPr marL="457200">
                        <a:lnSpc>
                          <a:spcPct val="115000"/>
                        </a:lnSpc>
                        <a:spcAft>
                          <a:spcPts val="0"/>
                        </a:spcAft>
                      </a:pPr>
                      <a:r>
                        <a:rPr lang="en-US" sz="1400" i="1" dirty="0">
                          <a:solidFill>
                            <a:srgbClr val="0070C0"/>
                          </a:solidFill>
                          <a:effectLst/>
                          <a:latin typeface="Calibri" panose="020F0502020204030204" pitchFamily="34" charset="0"/>
                          <a:ea typeface="DengXian" panose="02010600030101010101" pitchFamily="2" charset="-122"/>
                          <a:cs typeface="Times New Roman" panose="02020603050405020304" pitchFamily="18" charset="0"/>
                        </a:rPr>
                        <a:t>Move 2 – Main theme 2 (Beauty and Ugliness Premiums) and summaries/syntheses of relevant previous studies </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marL="457200">
                        <a:lnSpc>
                          <a:spcPct val="115000"/>
                        </a:lnSpc>
                        <a:spcAft>
                          <a:spcPts val="0"/>
                        </a:spcAft>
                      </a:pPr>
                      <a:r>
                        <a:rPr lang="en-US" sz="1400" i="1" dirty="0">
                          <a:solidFill>
                            <a:srgbClr val="0070C0"/>
                          </a:solidFill>
                          <a:effectLst/>
                          <a:latin typeface="Calibri" panose="020F0502020204030204" pitchFamily="34" charset="0"/>
                          <a:ea typeface="DengXian" panose="02010600030101010101" pitchFamily="2" charset="-122"/>
                          <a:cs typeface="Times New Roman" panose="02020603050405020304" pitchFamily="18" charset="0"/>
                        </a:rPr>
                        <a:t>Move 3 –  Main theme 3 (Online Profile Pictures) and summaries/syntheses of relevant previous studies</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marL="457200">
                        <a:lnSpc>
                          <a:spcPct val="115000"/>
                        </a:lnSpc>
                        <a:spcAft>
                          <a:spcPts val="0"/>
                        </a:spcAft>
                      </a:pPr>
                      <a:r>
                        <a:rPr lang="en-US" sz="1400" i="1" dirty="0">
                          <a:solidFill>
                            <a:srgbClr val="0070C0"/>
                          </a:solidFill>
                          <a:effectLst/>
                          <a:latin typeface="Calibri" panose="020F0502020204030204" pitchFamily="34" charset="0"/>
                          <a:ea typeface="DengXian" panose="02010600030101010101" pitchFamily="2" charset="-122"/>
                          <a:cs typeface="Times New Roman" panose="02020603050405020304" pitchFamily="18" charset="0"/>
                        </a:rPr>
                        <a:t>Move 4 – Research gap (“</a:t>
                      </a:r>
                      <a:r>
                        <a:rPr lang="en-US" sz="1400" i="1" dirty="0">
                          <a:solidFill>
                            <a:srgbClr val="0070C0"/>
                          </a:solidFill>
                          <a:effectLst/>
                          <a:latin typeface="Calibri" panose="020F0502020204030204" pitchFamily="34" charset="0"/>
                          <a:ea typeface="DengXian" panose="02010600030101010101" pitchFamily="2" charset="-122"/>
                          <a:cs typeface="Arial" panose="020B0604020202020204" pitchFamily="34" charset="0"/>
                        </a:rPr>
                        <a:t>Studies of the attractiveness effect have mostly used a small number of pictures in experimental settings rather than assessing real-world situations, leaving the robustness and generalizability of their findings open to question (</a:t>
                      </a:r>
                      <a:r>
                        <a:rPr lang="en-US" sz="1400" i="1" kern="1200" dirty="0">
                          <a:solidFill>
                            <a:srgbClr val="0070C0"/>
                          </a:solidFill>
                          <a:effectLst/>
                          <a:latin typeface="Calibri" panose="020F0502020204030204" pitchFamily="34" charset="0"/>
                          <a:ea typeface="DengXian" panose="02010600030101010101" pitchFamily="2" charset="-122"/>
                          <a:cs typeface="Arial" panose="020B0604020202020204" pitchFamily="34" charset="0"/>
                          <a:hlinkClick r:id="rId3">
                            <a:extLst>
                              <a:ext uri="{A12FA001-AC4F-418D-AE19-62706E023703}">
                                <ahyp:hlinkClr xmlns:ahyp="http://schemas.microsoft.com/office/drawing/2018/hyperlinkcolor" val="tx"/>
                              </a:ext>
                            </a:extLst>
                          </a:hlinkClick>
                        </a:rPr>
                        <a:t>Langlois et al. 2000</a:t>
                      </a:r>
                      <a:r>
                        <a:rPr lang="en-US" sz="1400" i="1" dirty="0">
                          <a:solidFill>
                            <a:srgbClr val="0070C0"/>
                          </a:solidFill>
                          <a:effectLst/>
                          <a:latin typeface="Calibri" panose="020F0502020204030204" pitchFamily="34" charset="0"/>
                          <a:ea typeface="DengXian" panose="02010600030101010101" pitchFamily="2" charset="-122"/>
                          <a:cs typeface="Arial" panose="020B0604020202020204" pitchFamily="34" charset="0"/>
                        </a:rPr>
                        <a:t>). It is not clear from the literature whether social stereotypes based on attractiveness extend to the C2C e-commerce context. Researchers usually adopt a linear model or compare only two levels of attractiveness (i.e., attractive vs. less attractive), neglecting any potential nonlinear effect.”)</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marL="457200">
                        <a:lnSpc>
                          <a:spcPct val="115000"/>
                        </a:lnSpc>
                        <a:spcAft>
                          <a:spcPts val="1000"/>
                        </a:spcAft>
                      </a:pPr>
                      <a:r>
                        <a:rPr lang="en-US" sz="1400" i="1" dirty="0">
                          <a:solidFill>
                            <a:srgbClr val="0070C0"/>
                          </a:solidFill>
                          <a:effectLst/>
                          <a:latin typeface="Calibri" panose="020F0502020204030204" pitchFamily="34" charset="0"/>
                          <a:ea typeface="DengXian" panose="02010600030101010101" pitchFamily="2" charset="-122"/>
                          <a:cs typeface="Arial" panose="020B0604020202020204" pitchFamily="34" charset="0"/>
                        </a:rPr>
                        <a:t>Move 5 – State the importance of the current study</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txBody>
                  <a:tcPr marL="43829" marR="4382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53012911"/>
                  </a:ext>
                </a:extLst>
              </a:tr>
            </a:tbl>
          </a:graphicData>
        </a:graphic>
      </p:graphicFrame>
      <p:sp>
        <p:nvSpPr>
          <p:cNvPr id="3" name="Slide Number Placeholder 3">
            <a:extLst>
              <a:ext uri="{FF2B5EF4-FFF2-40B4-BE49-F238E27FC236}">
                <a16:creationId xmlns:a16="http://schemas.microsoft.com/office/drawing/2014/main" id="{28959520-D2C1-4DD8-9CF7-A8FC31AE4F5E}"/>
              </a:ext>
            </a:extLst>
          </p:cNvPr>
          <p:cNvSpPr>
            <a:spLocks noGrp="1"/>
          </p:cNvSpPr>
          <p:nvPr>
            <p:ph type="sldNum" sz="quarter" idx="12"/>
          </p:nvPr>
        </p:nvSpPr>
        <p:spPr>
          <a:xfrm>
            <a:off x="531812" y="787782"/>
            <a:ext cx="779767" cy="365125"/>
          </a:xfrm>
        </p:spPr>
        <p:txBody>
          <a:bodyPr/>
          <a:lstStyle/>
          <a:p>
            <a:fld id="{D57F1E4F-1CFF-5643-939E-217C01CDF565}" type="slidenum">
              <a:rPr lang="en-US" smtClean="0"/>
              <a:pPr/>
              <a:t>10</a:t>
            </a:fld>
            <a:endParaRPr lang="en-US" dirty="0"/>
          </a:p>
        </p:txBody>
      </p:sp>
    </p:spTree>
    <p:extLst>
      <p:ext uri="{BB962C8B-B14F-4D97-AF65-F5344CB8AC3E}">
        <p14:creationId xmlns:p14="http://schemas.microsoft.com/office/powerpoint/2010/main" val="6843916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46955" y="10886"/>
            <a:ext cx="8915400" cy="920281"/>
          </a:xfrm>
        </p:spPr>
        <p:txBody>
          <a:bodyPr/>
          <a:lstStyle/>
          <a:p>
            <a:pPr marL="0" lvl="0" indent="0">
              <a:buNone/>
            </a:pPr>
            <a:r>
              <a:rPr lang="en-US" sz="2000" dirty="0">
                <a:solidFill>
                  <a:schemeClr val="tx1"/>
                </a:solidFill>
              </a:rPr>
              <a:t>2. </a:t>
            </a:r>
            <a:r>
              <a:rPr lang="en-US" dirty="0"/>
              <a:t>Compare the language use and citation style in the two literature reviews. Do you think they are similar or different? </a:t>
            </a:r>
            <a:endParaRPr lang="en-GB" dirty="0"/>
          </a:p>
          <a:p>
            <a:pPr marL="0" indent="0">
              <a:buNone/>
            </a:pPr>
            <a:endParaRPr lang="en-US" dirty="0"/>
          </a:p>
        </p:txBody>
      </p:sp>
      <p:graphicFrame>
        <p:nvGraphicFramePr>
          <p:cNvPr id="6" name="Table 5">
            <a:extLst>
              <a:ext uri="{FF2B5EF4-FFF2-40B4-BE49-F238E27FC236}">
                <a16:creationId xmlns:a16="http://schemas.microsoft.com/office/drawing/2014/main" id="{A8814FE1-827B-4E6A-891E-1B181A1811D7}"/>
              </a:ext>
            </a:extLst>
          </p:cNvPr>
          <p:cNvGraphicFramePr>
            <a:graphicFrameLocks noGrp="1"/>
          </p:cNvGraphicFramePr>
          <p:nvPr>
            <p:extLst>
              <p:ext uri="{D42A27DB-BD31-4B8C-83A1-F6EECF244321}">
                <p14:modId xmlns:p14="http://schemas.microsoft.com/office/powerpoint/2010/main" val="2238676977"/>
              </p:ext>
            </p:extLst>
          </p:nvPr>
        </p:nvGraphicFramePr>
        <p:xfrm>
          <a:off x="2126744" y="815579"/>
          <a:ext cx="7826828" cy="5855716"/>
        </p:xfrm>
        <a:graphic>
          <a:graphicData uri="http://schemas.openxmlformats.org/drawingml/2006/table">
            <a:tbl>
              <a:tblPr firstRow="1" firstCol="1" bandRow="1"/>
              <a:tblGrid>
                <a:gridCol w="1723467">
                  <a:extLst>
                    <a:ext uri="{9D8B030D-6E8A-4147-A177-3AD203B41FA5}">
                      <a16:colId xmlns:a16="http://schemas.microsoft.com/office/drawing/2014/main" val="2460840167"/>
                    </a:ext>
                  </a:extLst>
                </a:gridCol>
                <a:gridCol w="6103361">
                  <a:extLst>
                    <a:ext uri="{9D8B030D-6E8A-4147-A177-3AD203B41FA5}">
                      <a16:colId xmlns:a16="http://schemas.microsoft.com/office/drawing/2014/main" val="2807159569"/>
                    </a:ext>
                  </a:extLst>
                </a:gridCol>
              </a:tblGrid>
              <a:tr h="1943100">
                <a:tc>
                  <a:txBody>
                    <a:bodyPr/>
                    <a:lstStyle/>
                    <a:p>
                      <a:pPr marL="457200">
                        <a:lnSpc>
                          <a:spcPct val="115000"/>
                        </a:lnSpc>
                        <a:spcAft>
                          <a:spcPts val="0"/>
                        </a:spcAft>
                      </a:pPr>
                      <a:r>
                        <a:rPr lang="en-US" sz="1600" i="1" dirty="0">
                          <a:solidFill>
                            <a:srgbClr val="0070C0"/>
                          </a:solidFill>
                          <a:effectLst/>
                          <a:latin typeface="Calibri" panose="020F0502020204030204" pitchFamily="34" charset="0"/>
                          <a:ea typeface="DengXian" panose="02010600030101010101" pitchFamily="2" charset="-122"/>
                          <a:cs typeface="Times New Roman" panose="02020603050405020304" pitchFamily="18" charset="0"/>
                        </a:rPr>
                        <a:t>Example 1 (Journal of Traditional Chinese Medicine)</a:t>
                      </a:r>
                      <a:endParaRPr lang="en-GB" sz="1600" dirty="0">
                        <a:effectLst/>
                        <a:latin typeface="Calibri" panose="020F0502020204030204" pitchFamily="34" charset="0"/>
                        <a:ea typeface="DengXian" panose="02010600030101010101" pitchFamily="2" charset="-122"/>
                        <a:cs typeface="Times New Roman" panose="02020603050405020304" pitchFamily="18" charset="0"/>
                      </a:endParaRPr>
                    </a:p>
                  </a:txBody>
                  <a:tcPr marL="63175" marR="631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a:lnSpc>
                          <a:spcPct val="115000"/>
                        </a:lnSpc>
                        <a:spcAft>
                          <a:spcPts val="0"/>
                        </a:spcAft>
                      </a:pPr>
                      <a:r>
                        <a:rPr lang="en-US" sz="1600" i="1" dirty="0">
                          <a:solidFill>
                            <a:srgbClr val="0070C0"/>
                          </a:solidFill>
                          <a:effectLst/>
                          <a:latin typeface="Calibri" panose="020F0502020204030204" pitchFamily="34" charset="0"/>
                          <a:ea typeface="DengXian" panose="02010600030101010101" pitchFamily="2" charset="-122"/>
                          <a:cs typeface="Times New Roman" panose="02020603050405020304" pitchFamily="18" charset="0"/>
                        </a:rPr>
                        <a:t>Language use: </a:t>
                      </a:r>
                      <a:endParaRPr lang="en-GB" sz="1600" dirty="0">
                        <a:effectLst/>
                        <a:latin typeface="Calibri" panose="020F0502020204030204" pitchFamily="34" charset="0"/>
                        <a:ea typeface="DengXian" panose="02010600030101010101" pitchFamily="2" charset="-122"/>
                        <a:cs typeface="Times New Roman" panose="02020603050405020304" pitchFamily="18" charset="0"/>
                      </a:endParaRPr>
                    </a:p>
                    <a:p>
                      <a:pPr marL="342900" lvl="0" indent="-342900">
                        <a:lnSpc>
                          <a:spcPct val="115000"/>
                        </a:lnSpc>
                        <a:spcAft>
                          <a:spcPts val="0"/>
                        </a:spcAft>
                        <a:buFont typeface="Symbol" panose="05050102010706020507" pitchFamily="18" charset="2"/>
                        <a:buChar char=""/>
                      </a:pPr>
                      <a:r>
                        <a:rPr lang="en-US" sz="1600" i="1" dirty="0">
                          <a:solidFill>
                            <a:srgbClr val="0070C0"/>
                          </a:solidFill>
                          <a:effectLst/>
                          <a:latin typeface="Calibri" panose="020F0502020204030204" pitchFamily="34" charset="0"/>
                          <a:ea typeface="DengXian" panose="02010600030101010101" pitchFamily="2" charset="-122"/>
                          <a:cs typeface="Times New Roman" panose="02020603050405020304" pitchFamily="18" charset="0"/>
                        </a:rPr>
                        <a:t>No use of reporting verbs in the in-text citations.</a:t>
                      </a:r>
                      <a:endParaRPr lang="en-GB" sz="1600" dirty="0">
                        <a:effectLst/>
                        <a:latin typeface="Calibri" panose="020F0502020204030204" pitchFamily="34" charset="0"/>
                        <a:ea typeface="DengXian" panose="02010600030101010101" pitchFamily="2" charset="-122"/>
                        <a:cs typeface="Times New Roman" panose="02020603050405020304" pitchFamily="18" charset="0"/>
                      </a:endParaRPr>
                    </a:p>
                    <a:p>
                      <a:pPr marL="342900" lvl="0" indent="-342900">
                        <a:lnSpc>
                          <a:spcPct val="115000"/>
                        </a:lnSpc>
                        <a:spcAft>
                          <a:spcPts val="0"/>
                        </a:spcAft>
                        <a:buFont typeface="Symbol" panose="05050102010706020507" pitchFamily="18" charset="2"/>
                        <a:buChar char=""/>
                      </a:pPr>
                      <a:r>
                        <a:rPr lang="en-US" sz="1600" i="1" dirty="0">
                          <a:solidFill>
                            <a:srgbClr val="0070C0"/>
                          </a:solidFill>
                          <a:effectLst/>
                          <a:latin typeface="Calibri" panose="020F0502020204030204" pitchFamily="34" charset="0"/>
                          <a:ea typeface="DengXian" panose="02010600030101010101" pitchFamily="2" charset="-122"/>
                          <a:cs typeface="Times New Roman" panose="02020603050405020304" pitchFamily="18" charset="0"/>
                        </a:rPr>
                        <a:t>More technical terms are found (e.g. neurofibrillary tangles, senile plague, inhibiting tau protein hyperphosphorylation) </a:t>
                      </a:r>
                      <a:endParaRPr lang="en-GB" sz="1600" dirty="0">
                        <a:effectLst/>
                        <a:latin typeface="Calibri" panose="020F0502020204030204" pitchFamily="34" charset="0"/>
                        <a:ea typeface="DengXian" panose="02010600030101010101" pitchFamily="2" charset="-122"/>
                        <a:cs typeface="Times New Roman" panose="02020603050405020304" pitchFamily="18" charset="0"/>
                      </a:endParaRPr>
                    </a:p>
                    <a:p>
                      <a:pPr marL="342900" lvl="0" indent="-342900">
                        <a:lnSpc>
                          <a:spcPct val="115000"/>
                        </a:lnSpc>
                        <a:spcAft>
                          <a:spcPts val="0"/>
                        </a:spcAft>
                        <a:buFont typeface="Symbol" panose="05050102010706020507" pitchFamily="18" charset="2"/>
                        <a:buChar char=""/>
                      </a:pPr>
                      <a:r>
                        <a:rPr lang="en-US" sz="1600" i="1" dirty="0">
                          <a:solidFill>
                            <a:srgbClr val="0070C0"/>
                          </a:solidFill>
                          <a:effectLst/>
                          <a:latin typeface="Calibri" panose="020F0502020204030204" pitchFamily="34" charset="0"/>
                          <a:ea typeface="DengXian" panose="02010600030101010101" pitchFamily="2" charset="-122"/>
                          <a:cs typeface="Times New Roman" panose="02020603050405020304" pitchFamily="18" charset="0"/>
                        </a:rPr>
                        <a:t>The present tense and the present perfect tense are mainly used. The past tense is used to refer to the findings of previous studies.</a:t>
                      </a:r>
                      <a:endParaRPr lang="en-GB" sz="1600" dirty="0">
                        <a:effectLst/>
                        <a:latin typeface="Calibri" panose="020F0502020204030204" pitchFamily="34" charset="0"/>
                        <a:ea typeface="DengXian" panose="02010600030101010101" pitchFamily="2" charset="-122"/>
                        <a:cs typeface="Times New Roman" panose="02020603050405020304" pitchFamily="18" charset="0"/>
                      </a:endParaRPr>
                    </a:p>
                    <a:p>
                      <a:pPr marL="342900" lvl="0" indent="-342900">
                        <a:lnSpc>
                          <a:spcPct val="115000"/>
                        </a:lnSpc>
                        <a:spcAft>
                          <a:spcPts val="0"/>
                        </a:spcAft>
                        <a:buFont typeface="Symbol" panose="05050102010706020507" pitchFamily="18" charset="2"/>
                        <a:buChar char=""/>
                      </a:pPr>
                      <a:r>
                        <a:rPr lang="en-US" sz="1600" i="1" dirty="0">
                          <a:solidFill>
                            <a:srgbClr val="0070C0"/>
                          </a:solidFill>
                          <a:effectLst/>
                          <a:latin typeface="Calibri" panose="020F0502020204030204" pitchFamily="34" charset="0"/>
                          <a:ea typeface="DengXian" panose="02010600030101010101" pitchFamily="2" charset="-122"/>
                          <a:cs typeface="Times New Roman" panose="02020603050405020304" pitchFamily="18" charset="0"/>
                        </a:rPr>
                        <a:t>The active voice is predominantly used.</a:t>
                      </a:r>
                      <a:endParaRPr lang="en-GB" sz="1600" dirty="0">
                        <a:effectLst/>
                        <a:latin typeface="Calibri" panose="020F0502020204030204" pitchFamily="34" charset="0"/>
                        <a:ea typeface="DengXian" panose="02010600030101010101" pitchFamily="2" charset="-122"/>
                        <a:cs typeface="Times New Roman" panose="02020603050405020304" pitchFamily="18" charset="0"/>
                      </a:endParaRPr>
                    </a:p>
                    <a:p>
                      <a:pPr marL="457200">
                        <a:lnSpc>
                          <a:spcPct val="115000"/>
                        </a:lnSpc>
                        <a:spcAft>
                          <a:spcPts val="0"/>
                        </a:spcAft>
                      </a:pPr>
                      <a:r>
                        <a:rPr lang="en-US" sz="1600" i="1" dirty="0">
                          <a:solidFill>
                            <a:srgbClr val="0070C0"/>
                          </a:solidFill>
                          <a:effectLst/>
                          <a:latin typeface="Calibri" panose="020F0502020204030204" pitchFamily="34" charset="0"/>
                          <a:ea typeface="DengXian" panose="02010600030101010101" pitchFamily="2" charset="-122"/>
                          <a:cs typeface="Times New Roman" panose="02020603050405020304" pitchFamily="18" charset="0"/>
                        </a:rPr>
                        <a:t> </a:t>
                      </a:r>
                      <a:endParaRPr lang="en-GB" sz="1600" dirty="0">
                        <a:effectLst/>
                        <a:latin typeface="Calibri" panose="020F0502020204030204" pitchFamily="34" charset="0"/>
                        <a:ea typeface="DengXian" panose="02010600030101010101" pitchFamily="2" charset="-122"/>
                        <a:cs typeface="Times New Roman" panose="02020603050405020304" pitchFamily="18" charset="0"/>
                      </a:endParaRPr>
                    </a:p>
                    <a:p>
                      <a:pPr marL="457200">
                        <a:lnSpc>
                          <a:spcPct val="115000"/>
                        </a:lnSpc>
                        <a:spcAft>
                          <a:spcPts val="0"/>
                        </a:spcAft>
                      </a:pPr>
                      <a:r>
                        <a:rPr lang="en-US" sz="1600" i="1" dirty="0">
                          <a:solidFill>
                            <a:srgbClr val="0070C0"/>
                          </a:solidFill>
                          <a:effectLst/>
                          <a:latin typeface="Calibri" panose="020F0502020204030204" pitchFamily="34" charset="0"/>
                          <a:ea typeface="DengXian" panose="02010600030101010101" pitchFamily="2" charset="-122"/>
                          <a:cs typeface="Times New Roman" panose="02020603050405020304" pitchFamily="18" charset="0"/>
                        </a:rPr>
                        <a:t>Citation style:</a:t>
                      </a:r>
                      <a:endParaRPr lang="en-GB" sz="1600" dirty="0">
                        <a:effectLst/>
                        <a:latin typeface="Calibri" panose="020F0502020204030204" pitchFamily="34" charset="0"/>
                        <a:ea typeface="DengXian" panose="02010600030101010101" pitchFamily="2" charset="-122"/>
                        <a:cs typeface="Times New Roman" panose="02020603050405020304" pitchFamily="18" charset="0"/>
                      </a:endParaRPr>
                    </a:p>
                    <a:p>
                      <a:pPr marL="342900" lvl="0" indent="-342900">
                        <a:lnSpc>
                          <a:spcPct val="115000"/>
                        </a:lnSpc>
                        <a:spcAft>
                          <a:spcPts val="1000"/>
                        </a:spcAft>
                        <a:buFont typeface="Symbol" panose="05050102010706020507" pitchFamily="18" charset="2"/>
                        <a:buChar char=""/>
                      </a:pPr>
                      <a:r>
                        <a:rPr lang="en-US" sz="1600" i="1" dirty="0">
                          <a:solidFill>
                            <a:srgbClr val="0070C0"/>
                          </a:solidFill>
                          <a:effectLst/>
                          <a:latin typeface="Calibri" panose="020F0502020204030204" pitchFamily="34" charset="0"/>
                          <a:ea typeface="DengXian" panose="02010600030101010101" pitchFamily="2" charset="-122"/>
                          <a:cs typeface="Times New Roman" panose="02020603050405020304" pitchFamily="18" charset="0"/>
                        </a:rPr>
                        <a:t>The numbered system is used.</a:t>
                      </a:r>
                      <a:endParaRPr lang="en-GB" sz="1600" dirty="0">
                        <a:effectLst/>
                        <a:latin typeface="Calibri" panose="020F0502020204030204" pitchFamily="34" charset="0"/>
                        <a:ea typeface="DengXian" panose="02010600030101010101" pitchFamily="2" charset="-122"/>
                        <a:cs typeface="Times New Roman" panose="02020603050405020304" pitchFamily="18" charset="0"/>
                      </a:endParaRPr>
                    </a:p>
                  </a:txBody>
                  <a:tcPr marL="63175" marR="631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08725176"/>
                  </a:ext>
                </a:extLst>
              </a:tr>
              <a:tr h="1943100">
                <a:tc>
                  <a:txBody>
                    <a:bodyPr/>
                    <a:lstStyle/>
                    <a:p>
                      <a:pPr marL="457200">
                        <a:lnSpc>
                          <a:spcPct val="115000"/>
                        </a:lnSpc>
                        <a:spcAft>
                          <a:spcPts val="0"/>
                        </a:spcAft>
                      </a:pPr>
                      <a:r>
                        <a:rPr lang="en-US" sz="1600" i="1" dirty="0">
                          <a:solidFill>
                            <a:srgbClr val="0070C0"/>
                          </a:solidFill>
                          <a:effectLst/>
                          <a:latin typeface="Calibri" panose="020F0502020204030204" pitchFamily="34" charset="0"/>
                          <a:ea typeface="DengXian" panose="02010600030101010101" pitchFamily="2" charset="-122"/>
                          <a:cs typeface="Times New Roman" panose="02020603050405020304" pitchFamily="18" charset="0"/>
                        </a:rPr>
                        <a:t>Example 2 (Journal of Marketing)</a:t>
                      </a:r>
                      <a:endParaRPr lang="en-GB" sz="1600" dirty="0">
                        <a:effectLst/>
                        <a:latin typeface="Calibri" panose="020F0502020204030204" pitchFamily="34" charset="0"/>
                        <a:ea typeface="DengXian" panose="02010600030101010101" pitchFamily="2" charset="-122"/>
                        <a:cs typeface="Times New Roman" panose="02020603050405020304" pitchFamily="18" charset="0"/>
                      </a:endParaRPr>
                    </a:p>
                  </a:txBody>
                  <a:tcPr marL="63175" marR="631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57200">
                        <a:lnSpc>
                          <a:spcPct val="115000"/>
                        </a:lnSpc>
                        <a:spcAft>
                          <a:spcPts val="0"/>
                        </a:spcAft>
                      </a:pPr>
                      <a:r>
                        <a:rPr lang="en-US" sz="1600" i="1" dirty="0">
                          <a:solidFill>
                            <a:srgbClr val="0070C0"/>
                          </a:solidFill>
                          <a:effectLst/>
                          <a:latin typeface="Calibri" panose="020F0502020204030204" pitchFamily="34" charset="0"/>
                          <a:ea typeface="DengXian" panose="02010600030101010101" pitchFamily="2" charset="-122"/>
                          <a:cs typeface="Times New Roman" panose="02020603050405020304" pitchFamily="18" charset="0"/>
                        </a:rPr>
                        <a:t>Language use:</a:t>
                      </a:r>
                      <a:endParaRPr lang="en-GB" sz="1600" dirty="0">
                        <a:effectLst/>
                        <a:latin typeface="Calibri" panose="020F0502020204030204" pitchFamily="34" charset="0"/>
                        <a:ea typeface="DengXian" panose="02010600030101010101" pitchFamily="2" charset="-122"/>
                        <a:cs typeface="Times New Roman" panose="02020603050405020304" pitchFamily="18" charset="0"/>
                      </a:endParaRPr>
                    </a:p>
                    <a:p>
                      <a:pPr marL="342900" lvl="0" indent="-342900">
                        <a:lnSpc>
                          <a:spcPct val="115000"/>
                        </a:lnSpc>
                        <a:spcAft>
                          <a:spcPts val="0"/>
                        </a:spcAft>
                        <a:buFont typeface="Symbol" panose="05050102010706020507" pitchFamily="18" charset="2"/>
                        <a:buChar char=""/>
                      </a:pPr>
                      <a:r>
                        <a:rPr lang="en-US" sz="1600" i="1" dirty="0">
                          <a:solidFill>
                            <a:srgbClr val="0070C0"/>
                          </a:solidFill>
                          <a:effectLst/>
                          <a:latin typeface="Calibri" panose="020F0502020204030204" pitchFamily="34" charset="0"/>
                          <a:ea typeface="DengXian" panose="02010600030101010101" pitchFamily="2" charset="-122"/>
                          <a:cs typeface="Times New Roman" panose="02020603050405020304" pitchFamily="18" charset="0"/>
                        </a:rPr>
                        <a:t>Some use of reporting verbs in the in-text citations.</a:t>
                      </a:r>
                      <a:endParaRPr lang="en-GB" sz="1600" dirty="0">
                        <a:effectLst/>
                        <a:latin typeface="Calibri" panose="020F0502020204030204" pitchFamily="34" charset="0"/>
                        <a:ea typeface="DengXian" panose="02010600030101010101" pitchFamily="2" charset="-122"/>
                        <a:cs typeface="Times New Roman" panose="02020603050405020304" pitchFamily="18" charset="0"/>
                      </a:endParaRPr>
                    </a:p>
                    <a:p>
                      <a:pPr marL="342900" lvl="0" indent="-342900">
                        <a:lnSpc>
                          <a:spcPct val="115000"/>
                        </a:lnSpc>
                        <a:spcAft>
                          <a:spcPts val="0"/>
                        </a:spcAft>
                        <a:buFont typeface="Symbol" panose="05050102010706020507" pitchFamily="18" charset="2"/>
                        <a:buChar char=""/>
                      </a:pPr>
                      <a:r>
                        <a:rPr lang="en-US" sz="1600" i="1" dirty="0">
                          <a:solidFill>
                            <a:srgbClr val="0070C0"/>
                          </a:solidFill>
                          <a:effectLst/>
                          <a:latin typeface="Calibri" panose="020F0502020204030204" pitchFamily="34" charset="0"/>
                          <a:ea typeface="DengXian" panose="02010600030101010101" pitchFamily="2" charset="-122"/>
                          <a:cs typeface="Times New Roman" panose="02020603050405020304" pitchFamily="18" charset="0"/>
                        </a:rPr>
                        <a:t>Limited technical terms are used.</a:t>
                      </a:r>
                      <a:endParaRPr lang="en-GB" sz="1600" dirty="0">
                        <a:effectLst/>
                        <a:latin typeface="Calibri" panose="020F0502020204030204" pitchFamily="34" charset="0"/>
                        <a:ea typeface="DengXian" panose="02010600030101010101" pitchFamily="2" charset="-122"/>
                        <a:cs typeface="Times New Roman" panose="02020603050405020304" pitchFamily="18" charset="0"/>
                      </a:endParaRPr>
                    </a:p>
                    <a:p>
                      <a:pPr marL="342900" lvl="0" indent="-342900">
                        <a:lnSpc>
                          <a:spcPct val="115000"/>
                        </a:lnSpc>
                        <a:spcAft>
                          <a:spcPts val="0"/>
                        </a:spcAft>
                        <a:buFont typeface="Symbol" panose="05050102010706020507" pitchFamily="18" charset="2"/>
                        <a:buChar char=""/>
                      </a:pPr>
                      <a:r>
                        <a:rPr lang="en-US" sz="1600" i="1" dirty="0">
                          <a:solidFill>
                            <a:srgbClr val="0070C0"/>
                          </a:solidFill>
                          <a:effectLst/>
                          <a:latin typeface="Calibri" panose="020F0502020204030204" pitchFamily="34" charset="0"/>
                          <a:ea typeface="DengXian" panose="02010600030101010101" pitchFamily="2" charset="-122"/>
                          <a:cs typeface="Times New Roman" panose="02020603050405020304" pitchFamily="18" charset="0"/>
                        </a:rPr>
                        <a:t>The present tense and the present perfect tense are predominantly used.</a:t>
                      </a:r>
                      <a:endParaRPr lang="en-GB" sz="1600" dirty="0">
                        <a:effectLst/>
                        <a:latin typeface="Calibri" panose="020F0502020204030204" pitchFamily="34" charset="0"/>
                        <a:ea typeface="DengXian" panose="02010600030101010101" pitchFamily="2" charset="-122"/>
                        <a:cs typeface="Times New Roman" panose="02020603050405020304" pitchFamily="18" charset="0"/>
                      </a:endParaRPr>
                    </a:p>
                    <a:p>
                      <a:pPr marL="342900" lvl="0" indent="-342900">
                        <a:lnSpc>
                          <a:spcPct val="115000"/>
                        </a:lnSpc>
                        <a:spcAft>
                          <a:spcPts val="0"/>
                        </a:spcAft>
                        <a:buFont typeface="Symbol" panose="05050102010706020507" pitchFamily="18" charset="2"/>
                        <a:buChar char=""/>
                      </a:pPr>
                      <a:r>
                        <a:rPr lang="en-US" sz="1600" i="1" dirty="0">
                          <a:solidFill>
                            <a:srgbClr val="0070C0"/>
                          </a:solidFill>
                          <a:effectLst/>
                          <a:latin typeface="Calibri" panose="020F0502020204030204" pitchFamily="34" charset="0"/>
                          <a:ea typeface="DengXian" panose="02010600030101010101" pitchFamily="2" charset="-122"/>
                          <a:cs typeface="Times New Roman" panose="02020603050405020304" pitchFamily="18" charset="0"/>
                        </a:rPr>
                        <a:t>Some use of the passive voice when the focus is on actions, but the active voice is predominantly used.</a:t>
                      </a:r>
                      <a:endParaRPr lang="en-GB" sz="1600" dirty="0">
                        <a:effectLst/>
                        <a:latin typeface="Calibri" panose="020F0502020204030204" pitchFamily="34" charset="0"/>
                        <a:ea typeface="DengXian" panose="02010600030101010101" pitchFamily="2" charset="-122"/>
                        <a:cs typeface="Times New Roman" panose="02020603050405020304" pitchFamily="18" charset="0"/>
                      </a:endParaRPr>
                    </a:p>
                    <a:p>
                      <a:pPr marL="457200">
                        <a:lnSpc>
                          <a:spcPct val="115000"/>
                        </a:lnSpc>
                        <a:spcAft>
                          <a:spcPts val="0"/>
                        </a:spcAft>
                      </a:pPr>
                      <a:r>
                        <a:rPr lang="en-US" sz="1600" i="1" dirty="0">
                          <a:solidFill>
                            <a:srgbClr val="0070C0"/>
                          </a:solidFill>
                          <a:effectLst/>
                          <a:latin typeface="Calibri" panose="020F0502020204030204" pitchFamily="34" charset="0"/>
                          <a:ea typeface="DengXian" panose="02010600030101010101" pitchFamily="2" charset="-122"/>
                          <a:cs typeface="Times New Roman" panose="02020603050405020304" pitchFamily="18" charset="0"/>
                        </a:rPr>
                        <a:t> </a:t>
                      </a:r>
                      <a:endParaRPr lang="en-GB" sz="1600" dirty="0">
                        <a:effectLst/>
                        <a:latin typeface="Calibri" panose="020F0502020204030204" pitchFamily="34" charset="0"/>
                        <a:ea typeface="DengXian" panose="02010600030101010101" pitchFamily="2" charset="-122"/>
                        <a:cs typeface="Times New Roman" panose="02020603050405020304" pitchFamily="18" charset="0"/>
                      </a:endParaRPr>
                    </a:p>
                    <a:p>
                      <a:pPr marL="457200">
                        <a:lnSpc>
                          <a:spcPct val="115000"/>
                        </a:lnSpc>
                        <a:spcAft>
                          <a:spcPts val="0"/>
                        </a:spcAft>
                      </a:pPr>
                      <a:r>
                        <a:rPr lang="en-US" sz="1600" i="1" dirty="0">
                          <a:solidFill>
                            <a:srgbClr val="0070C0"/>
                          </a:solidFill>
                          <a:effectLst/>
                          <a:latin typeface="Calibri" panose="020F0502020204030204" pitchFamily="34" charset="0"/>
                          <a:ea typeface="DengXian" panose="02010600030101010101" pitchFamily="2" charset="-122"/>
                          <a:cs typeface="Times New Roman" panose="02020603050405020304" pitchFamily="18" charset="0"/>
                        </a:rPr>
                        <a:t>Citation style:</a:t>
                      </a:r>
                      <a:endParaRPr lang="en-GB" sz="1600" dirty="0">
                        <a:effectLst/>
                        <a:latin typeface="Calibri" panose="020F0502020204030204" pitchFamily="34" charset="0"/>
                        <a:ea typeface="DengXian" panose="02010600030101010101" pitchFamily="2" charset="-122"/>
                        <a:cs typeface="Times New Roman" panose="02020603050405020304" pitchFamily="18" charset="0"/>
                      </a:endParaRPr>
                    </a:p>
                    <a:p>
                      <a:pPr marL="342900" lvl="0" indent="-342900">
                        <a:lnSpc>
                          <a:spcPct val="115000"/>
                        </a:lnSpc>
                        <a:spcAft>
                          <a:spcPts val="0"/>
                        </a:spcAft>
                        <a:buFont typeface="Symbol" panose="05050102010706020507" pitchFamily="18" charset="2"/>
                        <a:buChar char=""/>
                      </a:pPr>
                      <a:r>
                        <a:rPr lang="en-US" sz="1600" i="1" dirty="0">
                          <a:solidFill>
                            <a:srgbClr val="0070C0"/>
                          </a:solidFill>
                          <a:effectLst/>
                          <a:latin typeface="Calibri" panose="020F0502020204030204" pitchFamily="34" charset="0"/>
                          <a:ea typeface="DengXian" panose="02010600030101010101" pitchFamily="2" charset="-122"/>
                          <a:cs typeface="Times New Roman" panose="02020603050405020304" pitchFamily="18" charset="0"/>
                        </a:rPr>
                        <a:t>The name-year system is used. </a:t>
                      </a:r>
                      <a:endParaRPr lang="en-GB" sz="1600" dirty="0">
                        <a:effectLst/>
                        <a:latin typeface="Calibri" panose="020F0502020204030204" pitchFamily="34" charset="0"/>
                        <a:ea typeface="DengXian" panose="02010600030101010101" pitchFamily="2" charset="-122"/>
                        <a:cs typeface="Times New Roman" panose="02020603050405020304" pitchFamily="18" charset="0"/>
                      </a:endParaRPr>
                    </a:p>
                    <a:p>
                      <a:pPr marL="342900" lvl="0" indent="-342900">
                        <a:lnSpc>
                          <a:spcPct val="115000"/>
                        </a:lnSpc>
                        <a:spcAft>
                          <a:spcPts val="1000"/>
                        </a:spcAft>
                        <a:buFont typeface="Symbol" panose="05050102010706020507" pitchFamily="18" charset="2"/>
                        <a:buChar char=""/>
                      </a:pPr>
                      <a:r>
                        <a:rPr lang="en-US" sz="1600" i="1" dirty="0">
                          <a:solidFill>
                            <a:srgbClr val="0070C0"/>
                          </a:solidFill>
                          <a:effectLst/>
                          <a:latin typeface="Calibri" panose="020F0502020204030204" pitchFamily="34" charset="0"/>
                          <a:ea typeface="DengXian" panose="02010600030101010101" pitchFamily="2" charset="-122"/>
                          <a:cs typeface="Times New Roman" panose="02020603050405020304" pitchFamily="18" charset="0"/>
                        </a:rPr>
                        <a:t>The information-prominent approach is used more frequently.</a:t>
                      </a:r>
                      <a:endParaRPr lang="en-GB" sz="1600" dirty="0">
                        <a:effectLst/>
                        <a:latin typeface="Calibri" panose="020F0502020204030204" pitchFamily="34" charset="0"/>
                        <a:ea typeface="DengXian" panose="02010600030101010101" pitchFamily="2" charset="-122"/>
                        <a:cs typeface="Times New Roman" panose="02020603050405020304" pitchFamily="18" charset="0"/>
                      </a:endParaRPr>
                    </a:p>
                  </a:txBody>
                  <a:tcPr marL="63175" marR="631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19860712"/>
                  </a:ext>
                </a:extLst>
              </a:tr>
            </a:tbl>
          </a:graphicData>
        </a:graphic>
      </p:graphicFrame>
      <p:sp>
        <p:nvSpPr>
          <p:cNvPr id="4" name="Slide Number Placeholder 3">
            <a:extLst>
              <a:ext uri="{FF2B5EF4-FFF2-40B4-BE49-F238E27FC236}">
                <a16:creationId xmlns:a16="http://schemas.microsoft.com/office/drawing/2014/main" id="{E8CF6B83-841B-482D-83A9-C78C4F86FB38}"/>
              </a:ext>
            </a:extLst>
          </p:cNvPr>
          <p:cNvSpPr>
            <a:spLocks noGrp="1"/>
          </p:cNvSpPr>
          <p:nvPr>
            <p:ph type="sldNum" sz="quarter" idx="12"/>
          </p:nvPr>
        </p:nvSpPr>
        <p:spPr>
          <a:xfrm>
            <a:off x="531812" y="787782"/>
            <a:ext cx="779767" cy="365125"/>
          </a:xfrm>
        </p:spPr>
        <p:txBody>
          <a:bodyPr/>
          <a:lstStyle/>
          <a:p>
            <a:fld id="{D57F1E4F-1CFF-5643-939E-217C01CDF565}" type="slidenum">
              <a:rPr lang="en-US" smtClean="0"/>
              <a:pPr/>
              <a:t>11</a:t>
            </a:fld>
            <a:endParaRPr lang="en-US" dirty="0"/>
          </a:p>
        </p:txBody>
      </p:sp>
    </p:spTree>
    <p:extLst>
      <p:ext uri="{BB962C8B-B14F-4D97-AF65-F5344CB8AC3E}">
        <p14:creationId xmlns:p14="http://schemas.microsoft.com/office/powerpoint/2010/main" val="2986605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561CF8-920F-F3AD-D160-1E9F1F37B672}"/>
              </a:ext>
            </a:extLst>
          </p:cNvPr>
          <p:cNvSpPr>
            <a:spLocks noGrp="1"/>
          </p:cNvSpPr>
          <p:nvPr>
            <p:ph type="title"/>
          </p:nvPr>
        </p:nvSpPr>
        <p:spPr>
          <a:xfrm>
            <a:off x="1640156" y="295700"/>
            <a:ext cx="8911687" cy="640445"/>
          </a:xfrm>
        </p:spPr>
        <p:txBody>
          <a:bodyPr/>
          <a:lstStyle/>
          <a:p>
            <a:r>
              <a:rPr lang="en-GB" dirty="0"/>
              <a:t>Task 3</a:t>
            </a:r>
            <a:endParaRPr lang="en-HK" dirty="0"/>
          </a:p>
        </p:txBody>
      </p:sp>
      <p:sp>
        <p:nvSpPr>
          <p:cNvPr id="3" name="Content Placeholder 2">
            <a:extLst>
              <a:ext uri="{FF2B5EF4-FFF2-40B4-BE49-F238E27FC236}">
                <a16:creationId xmlns:a16="http://schemas.microsoft.com/office/drawing/2014/main" id="{7A8D385C-5400-E9D9-5EB0-55B307BDF59F}"/>
              </a:ext>
            </a:extLst>
          </p:cNvPr>
          <p:cNvSpPr>
            <a:spLocks noGrp="1"/>
          </p:cNvSpPr>
          <p:nvPr>
            <p:ph idx="1"/>
          </p:nvPr>
        </p:nvSpPr>
        <p:spPr>
          <a:xfrm>
            <a:off x="1640155" y="1208566"/>
            <a:ext cx="10045025" cy="5266661"/>
          </a:xfrm>
        </p:spPr>
        <p:txBody>
          <a:bodyPr>
            <a:normAutofit fontScale="47500" lnSpcReduction="20000"/>
          </a:bodyPr>
          <a:lstStyle/>
          <a:p>
            <a:pPr marL="0" indent="0">
              <a:lnSpc>
                <a:spcPct val="120000"/>
              </a:lnSpc>
              <a:buNone/>
            </a:pPr>
            <a:r>
              <a:rPr lang="en-HK" sz="4500" dirty="0"/>
              <a:t>The </a:t>
            </a:r>
            <a:r>
              <a:rPr lang="en-HK" sz="4500" b="1" dirty="0"/>
              <a:t>structure of a literature review (LR) varies across disciplines</a:t>
            </a:r>
            <a:r>
              <a:rPr lang="en-HK" sz="4500" dirty="0"/>
              <a:t>, reflecting the conventions of each field. Some focus on chronological developments, while others emphasize themes or methods. Understanding these differences is key to writing an effective LR.</a:t>
            </a:r>
          </a:p>
          <a:p>
            <a:pPr marL="0" indent="0">
              <a:lnSpc>
                <a:spcPct val="120000"/>
              </a:lnSpc>
              <a:buNone/>
            </a:pPr>
            <a:endParaRPr lang="en-HK" sz="4500" dirty="0"/>
          </a:p>
          <a:p>
            <a:pPr marL="0" indent="0">
              <a:lnSpc>
                <a:spcPct val="120000"/>
              </a:lnSpc>
              <a:buNone/>
            </a:pPr>
            <a:r>
              <a:rPr lang="en-HK" sz="4500" dirty="0"/>
              <a:t>Now, </a:t>
            </a:r>
            <a:r>
              <a:rPr lang="en-HK" sz="4500" dirty="0" err="1"/>
              <a:t>analyze</a:t>
            </a:r>
            <a:r>
              <a:rPr lang="en-HK" sz="4500" dirty="0"/>
              <a:t> a literature review from your discipline. </a:t>
            </a:r>
            <a:r>
              <a:rPr lang="en-HK" sz="4500" b="1" dirty="0"/>
              <a:t>Examine its structure and how it organizes and transitions between ideas</a:t>
            </a:r>
            <a:r>
              <a:rPr lang="en-HK" sz="4500" dirty="0"/>
              <a:t>.</a:t>
            </a:r>
          </a:p>
          <a:p>
            <a:pPr lvl="0">
              <a:lnSpc>
                <a:spcPct val="120000"/>
              </a:lnSpc>
            </a:pPr>
            <a:r>
              <a:rPr lang="en-HK" sz="4500" dirty="0"/>
              <a:t>Work in a group of 2-3. Choose an example LR or Introduction with LR and read it. Discuss how the review of previous research is organized in paragraphs. </a:t>
            </a:r>
          </a:p>
          <a:p>
            <a:pPr lvl="0">
              <a:lnSpc>
                <a:spcPct val="120000"/>
              </a:lnSpc>
            </a:pPr>
            <a:r>
              <a:rPr lang="en-HK" sz="4500" dirty="0"/>
              <a:t>Highlight the topic of the paragraph or sentence(s) as well as words/phrases that show the logical development. </a:t>
            </a:r>
          </a:p>
          <a:p>
            <a:pPr lvl="0">
              <a:lnSpc>
                <a:spcPct val="120000"/>
              </a:lnSpc>
            </a:pPr>
            <a:r>
              <a:rPr lang="en-HK" sz="4500" dirty="0"/>
              <a:t>Discuss whether you notice any logical development problems? Can you give any suggestions for improvement?</a:t>
            </a:r>
          </a:p>
          <a:p>
            <a:pPr marL="0" indent="0">
              <a:buNone/>
            </a:pPr>
            <a:endParaRPr lang="en-HK" dirty="0"/>
          </a:p>
        </p:txBody>
      </p:sp>
    </p:spTree>
    <p:extLst>
      <p:ext uri="{BB962C8B-B14F-4D97-AF65-F5344CB8AC3E}">
        <p14:creationId xmlns:p14="http://schemas.microsoft.com/office/powerpoint/2010/main" val="5549929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15" name="Rectangle 8">
            <a:extLst>
              <a:ext uri="{FF2B5EF4-FFF2-40B4-BE49-F238E27FC236}">
                <a16:creationId xmlns:a16="http://schemas.microsoft.com/office/drawing/2014/main" id="{3419E28B-721B-4D0D-A1D3-78EAC57253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02920" y="109229"/>
            <a:ext cx="5122652" cy="1259894"/>
          </a:xfrm>
        </p:spPr>
        <p:txBody>
          <a:bodyPr>
            <a:normAutofit/>
          </a:bodyPr>
          <a:lstStyle/>
          <a:p>
            <a:endParaRPr lang="en-US" dirty="0"/>
          </a:p>
        </p:txBody>
      </p:sp>
      <p:sp>
        <p:nvSpPr>
          <p:cNvPr id="16" name="Rectangle 10">
            <a:extLst>
              <a:ext uri="{FF2B5EF4-FFF2-40B4-BE49-F238E27FC236}">
                <a16:creationId xmlns:a16="http://schemas.microsoft.com/office/drawing/2014/main" id="{359E45B9-0D24-465E-84AD-FEDBA836B5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HK"/>
          </a:p>
        </p:txBody>
      </p:sp>
      <p:sp>
        <p:nvSpPr>
          <p:cNvPr id="3" name="Content Placeholder 2"/>
          <p:cNvSpPr>
            <a:spLocks noGrp="1"/>
          </p:cNvSpPr>
          <p:nvPr>
            <p:ph idx="1"/>
          </p:nvPr>
        </p:nvSpPr>
        <p:spPr>
          <a:xfrm>
            <a:off x="278676" y="1071497"/>
            <a:ext cx="2841452" cy="3759253"/>
          </a:xfrm>
        </p:spPr>
        <p:txBody>
          <a:bodyPr>
            <a:normAutofit/>
          </a:bodyPr>
          <a:lstStyle/>
          <a:p>
            <a:pPr marL="0" indent="0">
              <a:buNone/>
            </a:pPr>
            <a:r>
              <a:rPr lang="en-US" b="1" dirty="0"/>
              <a:t>Critically Evaluating the Literature</a:t>
            </a:r>
          </a:p>
          <a:p>
            <a:pPr marL="0" indent="0">
              <a:buNone/>
            </a:pPr>
            <a:r>
              <a:rPr lang="en-GB" dirty="0"/>
              <a:t>When writing the literature review, you are expected to critically evaluate the sources. The criteria and the questions below help you form the foundation for critical inquiry as you read the sources:</a:t>
            </a:r>
          </a:p>
          <a:p>
            <a:pPr marL="0" indent="0">
              <a:buNone/>
            </a:pPr>
            <a:endParaRPr lang="en-US" dirty="0"/>
          </a:p>
          <a:p>
            <a:endParaRPr lang="en-US" dirty="0"/>
          </a:p>
        </p:txBody>
      </p:sp>
      <p:sp>
        <p:nvSpPr>
          <p:cNvPr id="17" name="Freeform 12">
            <a:extLst>
              <a:ext uri="{FF2B5EF4-FFF2-40B4-BE49-F238E27FC236}">
                <a16:creationId xmlns:a16="http://schemas.microsoft.com/office/drawing/2014/main" id="{1F36A2FB-17CD-4DA6-9D8A-BFD6ADF6A3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061223"/>
            <a:ext cx="1038036"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Table 3">
            <a:extLst>
              <a:ext uri="{FF2B5EF4-FFF2-40B4-BE49-F238E27FC236}">
                <a16:creationId xmlns:a16="http://schemas.microsoft.com/office/drawing/2014/main" id="{4B90895A-3871-420A-98A7-04BEE6508DD7}"/>
              </a:ext>
            </a:extLst>
          </p:cNvPr>
          <p:cNvGraphicFramePr>
            <a:graphicFrameLocks noGrp="1"/>
          </p:cNvGraphicFramePr>
          <p:nvPr>
            <p:extLst>
              <p:ext uri="{D42A27DB-BD31-4B8C-83A1-F6EECF244321}">
                <p14:modId xmlns:p14="http://schemas.microsoft.com/office/powerpoint/2010/main" val="4111412870"/>
              </p:ext>
            </p:extLst>
          </p:nvPr>
        </p:nvGraphicFramePr>
        <p:xfrm>
          <a:off x="3120128" y="66518"/>
          <a:ext cx="8922627" cy="6747148"/>
        </p:xfrm>
        <a:graphic>
          <a:graphicData uri="http://schemas.openxmlformats.org/drawingml/2006/table">
            <a:tbl>
              <a:tblPr firstRow="1" firstCol="1" bandRow="1">
                <a:solidFill>
                  <a:schemeClr val="bg1">
                    <a:lumMod val="95000"/>
                  </a:schemeClr>
                </a:solidFill>
                <a:tableStyleId>{5C22544A-7EE6-4342-B048-85BDC9FD1C3A}</a:tableStyleId>
              </a:tblPr>
              <a:tblGrid>
                <a:gridCol w="1670249">
                  <a:extLst>
                    <a:ext uri="{9D8B030D-6E8A-4147-A177-3AD203B41FA5}">
                      <a16:colId xmlns:a16="http://schemas.microsoft.com/office/drawing/2014/main" val="2883141706"/>
                    </a:ext>
                  </a:extLst>
                </a:gridCol>
                <a:gridCol w="7252378">
                  <a:extLst>
                    <a:ext uri="{9D8B030D-6E8A-4147-A177-3AD203B41FA5}">
                      <a16:colId xmlns:a16="http://schemas.microsoft.com/office/drawing/2014/main" val="3969345838"/>
                    </a:ext>
                  </a:extLst>
                </a:gridCol>
              </a:tblGrid>
              <a:tr h="336686">
                <a:tc>
                  <a:txBody>
                    <a:bodyPr/>
                    <a:lstStyle/>
                    <a:p>
                      <a:pPr algn="just">
                        <a:lnSpc>
                          <a:spcPct val="115000"/>
                        </a:lnSpc>
                        <a:spcAft>
                          <a:spcPts val="1000"/>
                        </a:spcAft>
                      </a:pPr>
                      <a:r>
                        <a:rPr lang="en-US" sz="1400" b="1" cap="none" spc="0" dirty="0">
                          <a:solidFill>
                            <a:schemeClr val="tx1"/>
                          </a:solidFill>
                          <a:effectLst/>
                        </a:rPr>
                        <a:t>Criteria</a:t>
                      </a:r>
                      <a:endParaRPr lang="en-GB" sz="1400" b="1" cap="none" spc="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a:txBody>
                  <a:tcPr marL="46520" marR="42699" marT="13291" marB="99686" anchor="b">
                    <a:lnL w="12700" cmpd="sng">
                      <a:noFill/>
                    </a:lnL>
                    <a:lnR w="12700" cmpd="sng">
                      <a:noFill/>
                    </a:lnR>
                    <a:lnT w="9525" cap="flat" cmpd="sng" algn="ctr">
                      <a:noFill/>
                      <a:prstDash val="solid"/>
                    </a:lnT>
                    <a:lnB w="38100" cmpd="sng">
                      <a:noFill/>
                    </a:lnB>
                    <a:solidFill>
                      <a:schemeClr val="bg1">
                        <a:lumMod val="95000"/>
                      </a:schemeClr>
                    </a:solidFill>
                  </a:tcPr>
                </a:tc>
                <a:tc>
                  <a:txBody>
                    <a:bodyPr/>
                    <a:lstStyle/>
                    <a:p>
                      <a:pPr algn="just">
                        <a:lnSpc>
                          <a:spcPct val="115000"/>
                        </a:lnSpc>
                        <a:spcAft>
                          <a:spcPts val="1000"/>
                        </a:spcAft>
                      </a:pPr>
                      <a:r>
                        <a:rPr lang="en-US" sz="1400" b="1" cap="none" spc="0">
                          <a:solidFill>
                            <a:schemeClr val="tx1"/>
                          </a:solidFill>
                          <a:effectLst/>
                        </a:rPr>
                        <a:t>Possible Questions to Ask</a:t>
                      </a:r>
                      <a:endParaRPr lang="en-GB" sz="1400" b="1" cap="none" spc="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a:txBody>
                  <a:tcPr marL="46520" marR="42699" marT="13291" marB="99686" anchor="b">
                    <a:lnL w="12700" cmpd="sng">
                      <a:noFill/>
                    </a:lnL>
                    <a:lnR w="12700" cmpd="sng">
                      <a:noFill/>
                    </a:lnR>
                    <a:lnT w="9525" cap="flat" cmpd="sng" algn="ctr">
                      <a:noFill/>
                      <a:prstDash val="solid"/>
                    </a:lnT>
                    <a:lnB w="38100" cmpd="sng">
                      <a:noFill/>
                    </a:lnB>
                    <a:solidFill>
                      <a:schemeClr val="bg1">
                        <a:lumMod val="95000"/>
                      </a:schemeClr>
                    </a:solidFill>
                  </a:tcPr>
                </a:tc>
                <a:extLst>
                  <a:ext uri="{0D108BD9-81ED-4DB2-BD59-A6C34878D82A}">
                    <a16:rowId xmlns:a16="http://schemas.microsoft.com/office/drawing/2014/main" val="968019101"/>
                  </a:ext>
                </a:extLst>
              </a:tr>
              <a:tr h="578088">
                <a:tc>
                  <a:txBody>
                    <a:bodyPr/>
                    <a:lstStyle/>
                    <a:p>
                      <a:pPr>
                        <a:lnSpc>
                          <a:spcPct val="115000"/>
                        </a:lnSpc>
                        <a:spcAft>
                          <a:spcPts val="1000"/>
                        </a:spcAft>
                      </a:pPr>
                      <a:r>
                        <a:rPr lang="en-US" sz="1400" b="1" cap="none" spc="0">
                          <a:solidFill>
                            <a:schemeClr val="tx1"/>
                          </a:solidFill>
                          <a:effectLst/>
                        </a:rPr>
                        <a:t>Purpose of the article</a:t>
                      </a:r>
                      <a:endParaRPr lang="en-GB" sz="1400" b="1" cap="none" spc="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a:txBody>
                  <a:tcPr marL="46520" marR="42699" marT="13291" marB="99686">
                    <a:lnL w="12700" cap="flat" cmpd="sng" algn="ctr">
                      <a:solidFill>
                        <a:schemeClr val="tx1"/>
                      </a:solidFill>
                      <a:prstDash val="solid"/>
                    </a:lnL>
                    <a:lnR w="12700" cmpd="sng">
                      <a:noFill/>
                      <a:prstDash val="solid"/>
                    </a:lnR>
                    <a:lnT w="38100" cmpd="sng">
                      <a:noFill/>
                    </a:lnT>
                    <a:lnB w="9525" cap="flat" cmpd="sng" algn="ctr">
                      <a:noFill/>
                      <a:prstDash val="solid"/>
                    </a:lnB>
                    <a:solidFill>
                      <a:schemeClr val="bg1">
                        <a:lumMod val="95000"/>
                      </a:schemeClr>
                    </a:solidFill>
                  </a:tcPr>
                </a:tc>
                <a:tc>
                  <a:txBody>
                    <a:bodyPr/>
                    <a:lstStyle/>
                    <a:p>
                      <a:pPr marL="342900" lvl="0" indent="-342900" algn="just">
                        <a:lnSpc>
                          <a:spcPct val="115000"/>
                        </a:lnSpc>
                        <a:spcAft>
                          <a:spcPts val="1000"/>
                        </a:spcAft>
                        <a:buFont typeface="Wingdings" panose="05000000000000000000" pitchFamily="2" charset="2"/>
                        <a:buChar char=""/>
                      </a:pPr>
                      <a:r>
                        <a:rPr lang="en-US" sz="1400" cap="none" spc="0">
                          <a:solidFill>
                            <a:schemeClr val="tx1"/>
                          </a:solidFill>
                          <a:effectLst/>
                        </a:rPr>
                        <a:t>What is the purpose of the article? </a:t>
                      </a:r>
                      <a:endParaRPr lang="en-GB" sz="1400" cap="none" spc="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a:txBody>
                  <a:tcPr marL="46520" marR="42699" marT="13291" marB="99686">
                    <a:lnL w="12700" cmpd="sng">
                      <a:noFill/>
                      <a:prstDash val="solid"/>
                    </a:lnL>
                    <a:lnR w="12700" cmpd="sng">
                      <a:noFill/>
                      <a:prstDash val="solid"/>
                    </a:lnR>
                    <a:lnT w="38100" cmpd="sng">
                      <a:noFill/>
                    </a:lnT>
                    <a:lnB w="9525" cap="flat" cmpd="sng" algn="ctr">
                      <a:noFill/>
                      <a:prstDash val="solid"/>
                    </a:lnB>
                    <a:solidFill>
                      <a:schemeClr val="bg1">
                        <a:lumMod val="95000"/>
                      </a:schemeClr>
                    </a:solidFill>
                  </a:tcPr>
                </a:tc>
                <a:extLst>
                  <a:ext uri="{0D108BD9-81ED-4DB2-BD59-A6C34878D82A}">
                    <a16:rowId xmlns:a16="http://schemas.microsoft.com/office/drawing/2014/main" val="2219101847"/>
                  </a:ext>
                </a:extLst>
              </a:tr>
              <a:tr h="926415">
                <a:tc>
                  <a:txBody>
                    <a:bodyPr/>
                    <a:lstStyle/>
                    <a:p>
                      <a:pPr>
                        <a:lnSpc>
                          <a:spcPct val="115000"/>
                        </a:lnSpc>
                        <a:spcAft>
                          <a:spcPts val="1000"/>
                        </a:spcAft>
                      </a:pPr>
                      <a:r>
                        <a:rPr lang="en-US" sz="1400" b="1" cap="none" spc="0" dirty="0">
                          <a:solidFill>
                            <a:schemeClr val="tx1"/>
                          </a:solidFill>
                          <a:effectLst/>
                        </a:rPr>
                        <a:t>Arguments</a:t>
                      </a:r>
                      <a:endParaRPr lang="en-GB" sz="1400" b="1" cap="none" spc="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a:txBody>
                  <a:tcPr marL="46520" marR="42699" marT="13291" marB="99686">
                    <a:lnL w="12700" cap="flat" cmpd="sng" algn="ctr">
                      <a:solidFill>
                        <a:schemeClr val="tx1"/>
                      </a:solidFill>
                      <a:prstDash val="solid"/>
                    </a:lnL>
                    <a:lnR w="12700" cmpd="sng">
                      <a:noFill/>
                      <a:prstDash val="solid"/>
                    </a:lnR>
                    <a:lnT w="9525" cap="flat" cmpd="sng" algn="ctr">
                      <a:noFill/>
                      <a:prstDash val="solid"/>
                    </a:lnT>
                    <a:lnB w="12700" cmpd="sng">
                      <a:noFill/>
                      <a:prstDash val="solid"/>
                    </a:lnB>
                    <a:solidFill>
                      <a:schemeClr val="bg1">
                        <a:lumMod val="85000"/>
                      </a:schemeClr>
                    </a:solidFill>
                  </a:tcPr>
                </a:tc>
                <a:tc>
                  <a:txBody>
                    <a:bodyPr/>
                    <a:lstStyle/>
                    <a:p>
                      <a:pPr marL="342900" lvl="0" indent="-342900" algn="just">
                        <a:lnSpc>
                          <a:spcPct val="115000"/>
                        </a:lnSpc>
                        <a:buFont typeface="Wingdings" panose="05000000000000000000" pitchFamily="2" charset="2"/>
                        <a:buChar char=""/>
                      </a:pPr>
                      <a:r>
                        <a:rPr lang="en-US" sz="1400" cap="none" spc="0">
                          <a:solidFill>
                            <a:schemeClr val="tx1"/>
                          </a:solidFill>
                          <a:effectLst/>
                        </a:rPr>
                        <a:t>Are the arguments clear?</a:t>
                      </a:r>
                      <a:endParaRPr lang="en-GB" sz="1400" cap="none" spc="0">
                        <a:solidFill>
                          <a:schemeClr val="tx1"/>
                        </a:solidFill>
                        <a:effectLst/>
                      </a:endParaRPr>
                    </a:p>
                    <a:p>
                      <a:pPr marL="342900" lvl="0" indent="-342900" algn="just">
                        <a:lnSpc>
                          <a:spcPct val="115000"/>
                        </a:lnSpc>
                        <a:buFont typeface="Wingdings" panose="05000000000000000000" pitchFamily="2" charset="2"/>
                        <a:buChar char=""/>
                      </a:pPr>
                      <a:r>
                        <a:rPr lang="en-US" sz="1400" cap="none" spc="0">
                          <a:solidFill>
                            <a:schemeClr val="tx1"/>
                          </a:solidFill>
                          <a:effectLst/>
                        </a:rPr>
                        <a:t>Are different viewpoints/perspectives on the issue given?</a:t>
                      </a:r>
                      <a:endParaRPr lang="en-GB" sz="1400" cap="none" spc="0">
                        <a:solidFill>
                          <a:schemeClr val="tx1"/>
                        </a:solidFill>
                        <a:effectLst/>
                      </a:endParaRPr>
                    </a:p>
                    <a:p>
                      <a:pPr marL="342900" lvl="0" indent="-342900" algn="just">
                        <a:lnSpc>
                          <a:spcPct val="115000"/>
                        </a:lnSpc>
                        <a:spcAft>
                          <a:spcPts val="1000"/>
                        </a:spcAft>
                        <a:buFont typeface="Wingdings" panose="05000000000000000000" pitchFamily="2" charset="2"/>
                        <a:buChar char=""/>
                      </a:pPr>
                      <a:r>
                        <a:rPr lang="en-US" sz="1400" cap="none" spc="0">
                          <a:solidFill>
                            <a:schemeClr val="tx1"/>
                          </a:solidFill>
                          <a:effectLst/>
                        </a:rPr>
                        <a:t>Is there any bias (e.g. overgeneralizations, assumptions) in the arguments?</a:t>
                      </a:r>
                      <a:endParaRPr lang="en-GB" sz="1400" cap="none" spc="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a:txBody>
                  <a:tcPr marL="46520" marR="42699" marT="13291" marB="99686">
                    <a:lnL w="12700" cmpd="sng">
                      <a:noFill/>
                      <a:prstDash val="solid"/>
                    </a:lnL>
                    <a:lnR w="12700" cmpd="sng">
                      <a:noFill/>
                      <a:prstDash val="solid"/>
                    </a:lnR>
                    <a:lnT w="9525" cap="flat" cmpd="sng" algn="ctr">
                      <a:noFill/>
                      <a:prstDash val="solid"/>
                    </a:lnT>
                    <a:lnB w="12700" cmpd="sng">
                      <a:noFill/>
                      <a:prstDash val="solid"/>
                    </a:lnB>
                    <a:solidFill>
                      <a:schemeClr val="bg1">
                        <a:lumMod val="85000"/>
                      </a:schemeClr>
                    </a:solidFill>
                  </a:tcPr>
                </a:tc>
                <a:extLst>
                  <a:ext uri="{0D108BD9-81ED-4DB2-BD59-A6C34878D82A}">
                    <a16:rowId xmlns:a16="http://schemas.microsoft.com/office/drawing/2014/main" val="1296412437"/>
                  </a:ext>
                </a:extLst>
              </a:tr>
              <a:tr h="1137193">
                <a:tc>
                  <a:txBody>
                    <a:bodyPr/>
                    <a:lstStyle/>
                    <a:p>
                      <a:pPr>
                        <a:lnSpc>
                          <a:spcPct val="115000"/>
                        </a:lnSpc>
                        <a:spcAft>
                          <a:spcPts val="1000"/>
                        </a:spcAft>
                      </a:pPr>
                      <a:r>
                        <a:rPr lang="en-US" sz="1400" b="1" cap="none" spc="0" dirty="0">
                          <a:solidFill>
                            <a:schemeClr val="tx1"/>
                          </a:solidFill>
                          <a:effectLst/>
                        </a:rPr>
                        <a:t>Use of evidence</a:t>
                      </a:r>
                      <a:endParaRPr lang="en-GB" sz="1400" b="1" cap="none" spc="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a:txBody>
                  <a:tcPr marL="46520" marR="42699" marT="13291" marB="99686">
                    <a:lnL w="12700" cap="flat" cmpd="sng" algn="ctr">
                      <a:solidFill>
                        <a:schemeClr val="tx1"/>
                      </a:solidFill>
                      <a:prstDash val="solid"/>
                    </a:lnL>
                    <a:lnR w="12700" cmpd="sng">
                      <a:noFill/>
                      <a:prstDash val="solid"/>
                    </a:lnR>
                    <a:lnT w="12700" cmpd="sng">
                      <a:noFill/>
                      <a:prstDash val="solid"/>
                    </a:lnT>
                    <a:lnB w="9525" cap="flat" cmpd="sng" algn="ctr">
                      <a:noFill/>
                      <a:prstDash val="solid"/>
                    </a:lnB>
                    <a:solidFill>
                      <a:schemeClr val="bg1">
                        <a:lumMod val="95000"/>
                      </a:schemeClr>
                    </a:solidFill>
                  </a:tcPr>
                </a:tc>
                <a:tc>
                  <a:txBody>
                    <a:bodyPr/>
                    <a:lstStyle/>
                    <a:p>
                      <a:pPr marL="342900" lvl="0" indent="-342900" algn="just">
                        <a:lnSpc>
                          <a:spcPct val="115000"/>
                        </a:lnSpc>
                        <a:buFont typeface="Wingdings" panose="05000000000000000000" pitchFamily="2" charset="2"/>
                        <a:buChar char=""/>
                      </a:pPr>
                      <a:r>
                        <a:rPr lang="en-US" sz="1400" cap="none" spc="0" dirty="0">
                          <a:solidFill>
                            <a:schemeClr val="tx1"/>
                          </a:solidFill>
                          <a:effectLst/>
                        </a:rPr>
                        <a:t>What kinds of evidence is provided to substantiate the argument(s) (e.g. personal examples, data, empirical evidence)?</a:t>
                      </a:r>
                      <a:endParaRPr lang="en-GB" sz="1400" cap="none" spc="0" dirty="0">
                        <a:solidFill>
                          <a:schemeClr val="tx1"/>
                        </a:solidFill>
                        <a:effectLst/>
                      </a:endParaRPr>
                    </a:p>
                    <a:p>
                      <a:pPr marL="342900" lvl="0" indent="-342900" algn="just">
                        <a:lnSpc>
                          <a:spcPct val="115000"/>
                        </a:lnSpc>
                        <a:buFont typeface="Wingdings" panose="05000000000000000000" pitchFamily="2" charset="2"/>
                        <a:buChar char=""/>
                      </a:pPr>
                      <a:r>
                        <a:rPr lang="en-US" sz="1400" cap="none" spc="0" dirty="0">
                          <a:solidFill>
                            <a:schemeClr val="tx1"/>
                          </a:solidFill>
                          <a:effectLst/>
                        </a:rPr>
                        <a:t>How well does the evidence support the argument(s)?</a:t>
                      </a:r>
                      <a:endParaRPr lang="en-GB" sz="1400" cap="none" spc="0" dirty="0">
                        <a:solidFill>
                          <a:schemeClr val="tx1"/>
                        </a:solidFill>
                        <a:effectLst/>
                      </a:endParaRPr>
                    </a:p>
                    <a:p>
                      <a:pPr marL="342900" lvl="0" indent="-342900" algn="just">
                        <a:lnSpc>
                          <a:spcPct val="115000"/>
                        </a:lnSpc>
                        <a:spcAft>
                          <a:spcPts val="1000"/>
                        </a:spcAft>
                        <a:buFont typeface="Wingdings" panose="05000000000000000000" pitchFamily="2" charset="2"/>
                        <a:buChar char=""/>
                      </a:pPr>
                      <a:r>
                        <a:rPr lang="en-US" sz="1400" cap="none" spc="0" dirty="0">
                          <a:solidFill>
                            <a:schemeClr val="tx1"/>
                          </a:solidFill>
                          <a:effectLst/>
                        </a:rPr>
                        <a:t>What is missing or omitted? </a:t>
                      </a:r>
                      <a:endParaRPr lang="en-GB" sz="1400" cap="none" spc="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a:txBody>
                  <a:tcPr marL="46520" marR="42699" marT="13291" marB="99686">
                    <a:lnL w="12700" cmpd="sng">
                      <a:noFill/>
                      <a:prstDash val="solid"/>
                    </a:lnL>
                    <a:lnR w="12700" cmpd="sng">
                      <a:noFill/>
                      <a:prstDash val="solid"/>
                    </a:lnR>
                    <a:lnT w="12700" cmpd="sng">
                      <a:noFill/>
                      <a:prstDash val="solid"/>
                    </a:lnT>
                    <a:lnB w="9525" cap="flat" cmpd="sng" algn="ctr">
                      <a:noFill/>
                      <a:prstDash val="solid"/>
                    </a:lnB>
                    <a:solidFill>
                      <a:schemeClr val="bg1">
                        <a:lumMod val="95000"/>
                      </a:schemeClr>
                    </a:solidFill>
                  </a:tcPr>
                </a:tc>
                <a:extLst>
                  <a:ext uri="{0D108BD9-81ED-4DB2-BD59-A6C34878D82A}">
                    <a16:rowId xmlns:a16="http://schemas.microsoft.com/office/drawing/2014/main" val="2828362567"/>
                  </a:ext>
                </a:extLst>
              </a:tr>
              <a:tr h="1558748">
                <a:tc>
                  <a:txBody>
                    <a:bodyPr/>
                    <a:lstStyle/>
                    <a:p>
                      <a:pPr>
                        <a:lnSpc>
                          <a:spcPct val="115000"/>
                        </a:lnSpc>
                        <a:spcAft>
                          <a:spcPts val="1000"/>
                        </a:spcAft>
                      </a:pPr>
                      <a:r>
                        <a:rPr lang="en-US" sz="1400" b="1" cap="none" spc="0">
                          <a:solidFill>
                            <a:schemeClr val="tx1"/>
                          </a:solidFill>
                          <a:effectLst/>
                        </a:rPr>
                        <a:t>Methodology or approach for empirical studies </a:t>
                      </a:r>
                      <a:endParaRPr lang="en-GB" sz="1400" b="1" cap="none" spc="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a:txBody>
                  <a:tcPr marL="46520" marR="42699" marT="13291" marB="99686">
                    <a:lnL w="12700" cap="flat" cmpd="sng" algn="ctr">
                      <a:solidFill>
                        <a:schemeClr val="tx1"/>
                      </a:solidFill>
                      <a:prstDash val="solid"/>
                    </a:lnL>
                    <a:lnR w="12700" cmpd="sng">
                      <a:noFill/>
                      <a:prstDash val="solid"/>
                    </a:lnR>
                    <a:lnT w="9525" cap="flat" cmpd="sng" algn="ctr">
                      <a:noFill/>
                      <a:prstDash val="solid"/>
                    </a:lnT>
                    <a:lnB w="12700" cmpd="sng">
                      <a:noFill/>
                      <a:prstDash val="solid"/>
                    </a:lnB>
                    <a:solidFill>
                      <a:schemeClr val="bg1">
                        <a:lumMod val="85000"/>
                      </a:schemeClr>
                    </a:solidFill>
                  </a:tcPr>
                </a:tc>
                <a:tc>
                  <a:txBody>
                    <a:bodyPr/>
                    <a:lstStyle/>
                    <a:p>
                      <a:pPr marL="342900" lvl="0" indent="-342900" algn="just">
                        <a:lnSpc>
                          <a:spcPct val="115000"/>
                        </a:lnSpc>
                        <a:buFont typeface="Wingdings" panose="05000000000000000000" pitchFamily="2" charset="2"/>
                        <a:buChar char=""/>
                      </a:pPr>
                      <a:r>
                        <a:rPr lang="en-US" sz="1400" cap="none" spc="0">
                          <a:solidFill>
                            <a:schemeClr val="tx1"/>
                          </a:solidFill>
                          <a:effectLst/>
                        </a:rPr>
                        <a:t>What approach was used for the research (e.g. quantitative or qualitative, case study?)</a:t>
                      </a:r>
                      <a:endParaRPr lang="en-GB" sz="1400" cap="none" spc="0">
                        <a:solidFill>
                          <a:schemeClr val="tx1"/>
                        </a:solidFill>
                        <a:effectLst/>
                      </a:endParaRPr>
                    </a:p>
                    <a:p>
                      <a:pPr marL="342900" lvl="0" indent="-342900" algn="just">
                        <a:lnSpc>
                          <a:spcPct val="115000"/>
                        </a:lnSpc>
                        <a:spcAft>
                          <a:spcPts val="1000"/>
                        </a:spcAft>
                        <a:buFont typeface="Wingdings" panose="05000000000000000000" pitchFamily="2" charset="2"/>
                        <a:buChar char=""/>
                      </a:pPr>
                      <a:r>
                        <a:rPr lang="en-US" sz="1400" cap="none" spc="0">
                          <a:solidFill>
                            <a:schemeClr val="tx1"/>
                          </a:solidFill>
                          <a:effectLst/>
                        </a:rPr>
                        <a:t>Is this a cross-sectional study (i.e. subjects/people who differ on one key characteristic are studied at one specific point in time) or a longitudinal study (i.e. data are gathered for the same subjects/people repeatedly over a period of time/years)?</a:t>
                      </a:r>
                      <a:endParaRPr lang="en-GB" sz="1400" cap="none" spc="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a:txBody>
                  <a:tcPr marL="46520" marR="42699" marT="13291" marB="99686">
                    <a:lnL w="12700" cmpd="sng">
                      <a:noFill/>
                      <a:prstDash val="solid"/>
                    </a:lnL>
                    <a:lnR w="12700" cmpd="sng">
                      <a:noFill/>
                      <a:prstDash val="solid"/>
                    </a:lnR>
                    <a:lnT w="9525" cap="flat" cmpd="sng" algn="ctr">
                      <a:noFill/>
                      <a:prstDash val="solid"/>
                    </a:lnT>
                    <a:lnB w="12700" cmpd="sng">
                      <a:noFill/>
                      <a:prstDash val="solid"/>
                    </a:lnB>
                    <a:solidFill>
                      <a:schemeClr val="bg1">
                        <a:lumMod val="85000"/>
                      </a:schemeClr>
                    </a:solidFill>
                  </a:tcPr>
                </a:tc>
                <a:extLst>
                  <a:ext uri="{0D108BD9-81ED-4DB2-BD59-A6C34878D82A}">
                    <a16:rowId xmlns:a16="http://schemas.microsoft.com/office/drawing/2014/main" val="1384267937"/>
                  </a:ext>
                </a:extLst>
              </a:tr>
              <a:tr h="578213">
                <a:tc>
                  <a:txBody>
                    <a:bodyPr/>
                    <a:lstStyle/>
                    <a:p>
                      <a:pPr>
                        <a:lnSpc>
                          <a:spcPct val="115000"/>
                        </a:lnSpc>
                        <a:spcAft>
                          <a:spcPts val="1000"/>
                        </a:spcAft>
                      </a:pPr>
                      <a:r>
                        <a:rPr lang="en-US" sz="1400" b="1" cap="none" spc="0">
                          <a:solidFill>
                            <a:schemeClr val="tx1"/>
                          </a:solidFill>
                          <a:effectLst/>
                        </a:rPr>
                        <a:t>Sample</a:t>
                      </a:r>
                      <a:endParaRPr lang="en-GB" sz="1400" b="1" cap="none" spc="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a:txBody>
                  <a:tcPr marL="46520" marR="42699" marT="13291" marB="99686">
                    <a:lnL w="12700" cap="flat" cmpd="sng" algn="ctr">
                      <a:solidFill>
                        <a:schemeClr val="tx1"/>
                      </a:solidFill>
                      <a:prstDash val="solid"/>
                    </a:lnL>
                    <a:lnR w="12700" cmpd="sng">
                      <a:noFill/>
                      <a:prstDash val="solid"/>
                    </a:lnR>
                    <a:lnT w="12700" cmpd="sng">
                      <a:noFill/>
                      <a:prstDash val="solid"/>
                    </a:lnT>
                    <a:lnB w="9525" cap="flat" cmpd="sng" algn="ctr">
                      <a:noFill/>
                      <a:prstDash val="solid"/>
                    </a:lnB>
                    <a:solidFill>
                      <a:schemeClr val="bg1">
                        <a:lumMod val="95000"/>
                      </a:schemeClr>
                    </a:solidFill>
                  </a:tcPr>
                </a:tc>
                <a:tc>
                  <a:txBody>
                    <a:bodyPr/>
                    <a:lstStyle/>
                    <a:p>
                      <a:pPr marL="342900" lvl="0" indent="-342900" algn="just">
                        <a:lnSpc>
                          <a:spcPct val="115000"/>
                        </a:lnSpc>
                        <a:buFont typeface="Wingdings" panose="05000000000000000000" pitchFamily="2" charset="2"/>
                        <a:buChar char=""/>
                      </a:pPr>
                      <a:r>
                        <a:rPr lang="en-US" sz="1400" cap="none" spc="0" dirty="0">
                          <a:solidFill>
                            <a:schemeClr val="tx1"/>
                          </a:solidFill>
                          <a:effectLst/>
                        </a:rPr>
                        <a:t>Is the sample size large enough?</a:t>
                      </a:r>
                      <a:endParaRPr lang="en-GB" sz="1400" cap="none" spc="0" dirty="0">
                        <a:solidFill>
                          <a:schemeClr val="tx1"/>
                        </a:solidFill>
                        <a:effectLst/>
                      </a:endParaRPr>
                    </a:p>
                    <a:p>
                      <a:pPr marL="342900" lvl="0" indent="-342900" algn="just">
                        <a:lnSpc>
                          <a:spcPct val="115000"/>
                        </a:lnSpc>
                        <a:spcAft>
                          <a:spcPts val="1000"/>
                        </a:spcAft>
                        <a:buFont typeface="Wingdings" panose="05000000000000000000" pitchFamily="2" charset="2"/>
                        <a:buChar char=""/>
                      </a:pPr>
                      <a:r>
                        <a:rPr lang="en-US" sz="1400" cap="none" spc="0" dirty="0">
                          <a:solidFill>
                            <a:schemeClr val="tx1"/>
                          </a:solidFill>
                          <a:effectLst/>
                        </a:rPr>
                        <a:t>Is the sample representative?</a:t>
                      </a:r>
                      <a:endParaRPr lang="en-GB" sz="1400" cap="none" spc="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a:txBody>
                  <a:tcPr marL="46520" marR="42699" marT="13291" marB="99686">
                    <a:lnL w="12700" cmpd="sng">
                      <a:noFill/>
                      <a:prstDash val="solid"/>
                    </a:lnL>
                    <a:lnR w="12700" cmpd="sng">
                      <a:noFill/>
                      <a:prstDash val="solid"/>
                    </a:lnR>
                    <a:lnT w="12700" cmpd="sng">
                      <a:noFill/>
                      <a:prstDash val="solid"/>
                    </a:lnT>
                    <a:lnB w="9525" cap="flat" cmpd="sng" algn="ctr">
                      <a:noFill/>
                      <a:prstDash val="solid"/>
                    </a:lnB>
                    <a:solidFill>
                      <a:schemeClr val="bg1">
                        <a:lumMod val="95000"/>
                      </a:schemeClr>
                    </a:solidFill>
                  </a:tcPr>
                </a:tc>
                <a:extLst>
                  <a:ext uri="{0D108BD9-81ED-4DB2-BD59-A6C34878D82A}">
                    <a16:rowId xmlns:a16="http://schemas.microsoft.com/office/drawing/2014/main" val="2991367228"/>
                  </a:ext>
                </a:extLst>
              </a:tr>
              <a:tr h="578213">
                <a:tc>
                  <a:txBody>
                    <a:bodyPr/>
                    <a:lstStyle/>
                    <a:p>
                      <a:pPr>
                        <a:lnSpc>
                          <a:spcPct val="115000"/>
                        </a:lnSpc>
                        <a:spcAft>
                          <a:spcPts val="1000"/>
                        </a:spcAft>
                      </a:pPr>
                      <a:r>
                        <a:rPr lang="en-US" sz="1400" b="1" cap="none" spc="0">
                          <a:solidFill>
                            <a:schemeClr val="tx1"/>
                          </a:solidFill>
                          <a:effectLst/>
                        </a:rPr>
                        <a:t>Results</a:t>
                      </a:r>
                      <a:endParaRPr lang="en-GB" sz="1400" b="1" cap="none" spc="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a:txBody>
                  <a:tcPr marL="46520" marR="42699" marT="13291" marB="99686">
                    <a:lnL w="12700" cap="flat" cmpd="sng" algn="ctr">
                      <a:solidFill>
                        <a:schemeClr val="tx1"/>
                      </a:solidFill>
                      <a:prstDash val="solid"/>
                    </a:lnL>
                    <a:lnR w="12700" cmpd="sng">
                      <a:noFill/>
                      <a:prstDash val="solid"/>
                    </a:lnR>
                    <a:lnT w="9525" cap="flat" cmpd="sng" algn="ctr">
                      <a:noFill/>
                      <a:prstDash val="solid"/>
                    </a:lnT>
                    <a:lnB w="12700" cmpd="sng">
                      <a:noFill/>
                      <a:prstDash val="solid"/>
                    </a:lnB>
                    <a:solidFill>
                      <a:schemeClr val="bg1">
                        <a:lumMod val="85000"/>
                      </a:schemeClr>
                    </a:solidFill>
                  </a:tcPr>
                </a:tc>
                <a:tc>
                  <a:txBody>
                    <a:bodyPr/>
                    <a:lstStyle/>
                    <a:p>
                      <a:pPr marL="342900" lvl="0" indent="-342900" algn="just">
                        <a:lnSpc>
                          <a:spcPct val="115000"/>
                        </a:lnSpc>
                        <a:buFont typeface="Wingdings" panose="05000000000000000000" pitchFamily="2" charset="2"/>
                        <a:buChar char=""/>
                      </a:pPr>
                      <a:r>
                        <a:rPr lang="en-US" sz="1400" cap="none" spc="0">
                          <a:solidFill>
                            <a:schemeClr val="tx1"/>
                          </a:solidFill>
                          <a:effectLst/>
                        </a:rPr>
                        <a:t>Are the results reliable?</a:t>
                      </a:r>
                      <a:endParaRPr lang="en-GB" sz="1400" cap="none" spc="0">
                        <a:solidFill>
                          <a:schemeClr val="tx1"/>
                        </a:solidFill>
                        <a:effectLst/>
                      </a:endParaRPr>
                    </a:p>
                    <a:p>
                      <a:pPr marL="342900" lvl="0" indent="-342900" algn="just">
                        <a:lnSpc>
                          <a:spcPct val="115000"/>
                        </a:lnSpc>
                        <a:spcAft>
                          <a:spcPts val="1000"/>
                        </a:spcAft>
                        <a:buFont typeface="Wingdings" panose="05000000000000000000" pitchFamily="2" charset="2"/>
                        <a:buChar char=""/>
                      </a:pPr>
                      <a:r>
                        <a:rPr lang="en-US" sz="1400" cap="none" spc="0">
                          <a:solidFill>
                            <a:schemeClr val="tx1"/>
                          </a:solidFill>
                          <a:effectLst/>
                        </a:rPr>
                        <a:t>Can the results be generalized to the population?</a:t>
                      </a:r>
                      <a:endParaRPr lang="en-GB" sz="1400" cap="none" spc="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a:txBody>
                  <a:tcPr marL="46520" marR="42699" marT="13291" marB="99686">
                    <a:lnL w="12700" cmpd="sng">
                      <a:noFill/>
                      <a:prstDash val="solid"/>
                    </a:lnL>
                    <a:lnR w="12700" cmpd="sng">
                      <a:noFill/>
                      <a:prstDash val="solid"/>
                    </a:lnR>
                    <a:lnT w="9525" cap="flat" cmpd="sng" algn="ctr">
                      <a:noFill/>
                      <a:prstDash val="solid"/>
                    </a:lnT>
                    <a:lnB w="12700" cmpd="sng">
                      <a:noFill/>
                      <a:prstDash val="solid"/>
                    </a:lnB>
                    <a:solidFill>
                      <a:schemeClr val="bg1">
                        <a:lumMod val="85000"/>
                      </a:schemeClr>
                    </a:solidFill>
                  </a:tcPr>
                </a:tc>
                <a:extLst>
                  <a:ext uri="{0D108BD9-81ED-4DB2-BD59-A6C34878D82A}">
                    <a16:rowId xmlns:a16="http://schemas.microsoft.com/office/drawing/2014/main" val="3867112484"/>
                  </a:ext>
                </a:extLst>
              </a:tr>
              <a:tr h="1009187">
                <a:tc>
                  <a:txBody>
                    <a:bodyPr/>
                    <a:lstStyle/>
                    <a:p>
                      <a:pPr>
                        <a:lnSpc>
                          <a:spcPct val="115000"/>
                        </a:lnSpc>
                        <a:spcAft>
                          <a:spcPts val="1000"/>
                        </a:spcAft>
                      </a:pPr>
                      <a:r>
                        <a:rPr lang="en-US" sz="1400" b="1" cap="none" spc="0" dirty="0">
                          <a:solidFill>
                            <a:schemeClr val="tx1"/>
                          </a:solidFill>
                          <a:effectLst/>
                        </a:rPr>
                        <a:t>Conclusion</a:t>
                      </a:r>
                      <a:endParaRPr lang="en-GB" sz="1400" b="1" cap="none" spc="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a:txBody>
                  <a:tcPr marL="46520" marR="42699" marT="13291" marB="99686">
                    <a:lnL w="12700" cap="flat" cmpd="sng" algn="ctr">
                      <a:solidFill>
                        <a:schemeClr val="tx1"/>
                      </a:solid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marL="342900" lvl="0" indent="-342900" algn="just">
                        <a:lnSpc>
                          <a:spcPct val="115000"/>
                        </a:lnSpc>
                        <a:buFont typeface="Wingdings" panose="05000000000000000000" pitchFamily="2" charset="2"/>
                        <a:buChar char=""/>
                      </a:pPr>
                      <a:r>
                        <a:rPr lang="en-US" sz="1400" cap="none" spc="0" dirty="0">
                          <a:solidFill>
                            <a:schemeClr val="tx1"/>
                          </a:solidFill>
                          <a:effectLst/>
                        </a:rPr>
                        <a:t>What conclusions are drawn?</a:t>
                      </a:r>
                      <a:endParaRPr lang="en-GB" sz="1400" cap="none" spc="0" dirty="0">
                        <a:solidFill>
                          <a:schemeClr val="tx1"/>
                        </a:solidFill>
                        <a:effectLst/>
                      </a:endParaRPr>
                    </a:p>
                    <a:p>
                      <a:pPr marL="342900" lvl="0" indent="-342900" algn="just">
                        <a:lnSpc>
                          <a:spcPct val="115000"/>
                        </a:lnSpc>
                        <a:buFont typeface="Wingdings" panose="05000000000000000000" pitchFamily="2" charset="2"/>
                        <a:buChar char=""/>
                      </a:pPr>
                      <a:r>
                        <a:rPr lang="en-US" sz="1400" cap="none" spc="0" dirty="0">
                          <a:solidFill>
                            <a:schemeClr val="tx1"/>
                          </a:solidFill>
                          <a:effectLst/>
                        </a:rPr>
                        <a:t>Are these conclusions suggestive, definitive or justified?</a:t>
                      </a:r>
                      <a:endParaRPr lang="en-GB" sz="1400" cap="none" spc="0" dirty="0">
                        <a:solidFill>
                          <a:schemeClr val="tx1"/>
                        </a:solidFill>
                        <a:effectLst/>
                      </a:endParaRPr>
                    </a:p>
                    <a:p>
                      <a:pPr marL="342900" lvl="0" indent="-342900" algn="just">
                        <a:lnSpc>
                          <a:spcPct val="115000"/>
                        </a:lnSpc>
                        <a:spcAft>
                          <a:spcPts val="1000"/>
                        </a:spcAft>
                        <a:buFont typeface="Wingdings" panose="05000000000000000000" pitchFamily="2" charset="2"/>
                        <a:buChar char=""/>
                      </a:pPr>
                      <a:r>
                        <a:rPr lang="en-US" sz="1400" cap="none" spc="0" dirty="0">
                          <a:solidFill>
                            <a:schemeClr val="tx1"/>
                          </a:solidFill>
                          <a:effectLst/>
                        </a:rPr>
                        <a:t>Does the research make an original contribution to the field? Why or why not?</a:t>
                      </a:r>
                      <a:endParaRPr lang="en-GB" sz="1400" cap="none" spc="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a:txBody>
                  <a:tcPr marL="46520" marR="42699" marT="13291" marB="99686">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72810538"/>
                  </a:ext>
                </a:extLst>
              </a:tr>
            </a:tbl>
          </a:graphicData>
        </a:graphic>
      </p:graphicFrame>
      <p:sp>
        <p:nvSpPr>
          <p:cNvPr id="12" name="Slide Number Placeholder 3">
            <a:extLst>
              <a:ext uri="{FF2B5EF4-FFF2-40B4-BE49-F238E27FC236}">
                <a16:creationId xmlns:a16="http://schemas.microsoft.com/office/drawing/2014/main" id="{20439164-5B89-4E2A-9433-6B69617FED50}"/>
              </a:ext>
            </a:extLst>
          </p:cNvPr>
          <p:cNvSpPr>
            <a:spLocks noGrp="1"/>
          </p:cNvSpPr>
          <p:nvPr>
            <p:ph type="sldNum" sz="quarter" idx="12"/>
          </p:nvPr>
        </p:nvSpPr>
        <p:spPr>
          <a:xfrm>
            <a:off x="61512" y="6162689"/>
            <a:ext cx="779767" cy="365125"/>
          </a:xfrm>
        </p:spPr>
        <p:txBody>
          <a:bodyPr/>
          <a:lstStyle/>
          <a:p>
            <a:fld id="{D57F1E4F-1CFF-5643-939E-217C01CDF565}" type="slidenum">
              <a:rPr lang="en-US" smtClean="0"/>
              <a:pPr/>
              <a:t>13</a:t>
            </a:fld>
            <a:endParaRPr lang="en-US" dirty="0"/>
          </a:p>
        </p:txBody>
      </p:sp>
    </p:spTree>
    <p:extLst>
      <p:ext uri="{BB962C8B-B14F-4D97-AF65-F5344CB8AC3E}">
        <p14:creationId xmlns:p14="http://schemas.microsoft.com/office/powerpoint/2010/main" val="11132623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64BD9-C4B0-C817-C2E0-C3C1567517DB}"/>
              </a:ext>
            </a:extLst>
          </p:cNvPr>
          <p:cNvSpPr>
            <a:spLocks noGrp="1"/>
          </p:cNvSpPr>
          <p:nvPr>
            <p:ph type="title"/>
          </p:nvPr>
        </p:nvSpPr>
        <p:spPr>
          <a:xfrm>
            <a:off x="1816748" y="432724"/>
            <a:ext cx="8911687" cy="1280890"/>
          </a:xfrm>
        </p:spPr>
        <p:txBody>
          <a:bodyPr/>
          <a:lstStyle/>
          <a:p>
            <a:r>
              <a:rPr lang="en-GB" dirty="0"/>
              <a:t>Task 4</a:t>
            </a:r>
            <a:endParaRPr lang="en-HK" dirty="0"/>
          </a:p>
        </p:txBody>
      </p:sp>
      <p:sp>
        <p:nvSpPr>
          <p:cNvPr id="3" name="Content Placeholder 2">
            <a:extLst>
              <a:ext uri="{FF2B5EF4-FFF2-40B4-BE49-F238E27FC236}">
                <a16:creationId xmlns:a16="http://schemas.microsoft.com/office/drawing/2014/main" id="{AFB6A922-CF1F-A3E0-300D-001C6999FC10}"/>
              </a:ext>
            </a:extLst>
          </p:cNvPr>
          <p:cNvSpPr>
            <a:spLocks noGrp="1"/>
          </p:cNvSpPr>
          <p:nvPr>
            <p:ph idx="1"/>
          </p:nvPr>
        </p:nvSpPr>
        <p:spPr>
          <a:xfrm>
            <a:off x="1816748" y="1431851"/>
            <a:ext cx="8915400" cy="3777622"/>
          </a:xfrm>
        </p:spPr>
        <p:txBody>
          <a:bodyPr/>
          <a:lstStyle/>
          <a:p>
            <a:pPr marL="0" indent="0">
              <a:lnSpc>
                <a:spcPct val="150000"/>
              </a:lnSpc>
              <a:buNone/>
            </a:pPr>
            <a:r>
              <a:rPr lang="en-US" sz="2400" dirty="0"/>
              <a:t>Based on the above criteria, critically analyze a journal article you have recently read. If you were to cite this journal article in the literature review section in your thesis/manuscript, what </a:t>
            </a:r>
            <a:r>
              <a:rPr lang="en-US" sz="2400" b="1" dirty="0"/>
              <a:t>critical comments about this source</a:t>
            </a:r>
            <a:r>
              <a:rPr lang="en-US" sz="2400" dirty="0"/>
              <a:t> would you make? Make some notes in the space below. Share your ideas with a partner.</a:t>
            </a:r>
            <a:endParaRPr lang="en-HK" sz="2400" dirty="0"/>
          </a:p>
          <a:p>
            <a:pPr marL="0" indent="0">
              <a:buNone/>
            </a:pPr>
            <a:endParaRPr lang="en-HK" dirty="0"/>
          </a:p>
        </p:txBody>
      </p:sp>
    </p:spTree>
    <p:extLst>
      <p:ext uri="{BB962C8B-B14F-4D97-AF65-F5344CB8AC3E}">
        <p14:creationId xmlns:p14="http://schemas.microsoft.com/office/powerpoint/2010/main" val="22164471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50532" y="1249177"/>
            <a:ext cx="9492554" cy="4636112"/>
          </a:xfrm>
        </p:spPr>
        <p:txBody>
          <a:bodyPr>
            <a:normAutofit/>
          </a:bodyPr>
          <a:lstStyle/>
          <a:p>
            <a:pPr marL="0" indent="0">
              <a:buNone/>
            </a:pPr>
            <a:r>
              <a:rPr lang="en-GB" dirty="0"/>
              <a:t>Based on the above criteria, </a:t>
            </a:r>
            <a:r>
              <a:rPr lang="en-US" sz="2000" dirty="0"/>
              <a:t>critically analyze a journal article you have recently read. If you were to cite this journal article in the literature review section in your thesis/manuscript, what critical comments about this source would you make? Make some notes in the space below. Share your ideas with a partner.</a:t>
            </a:r>
            <a:endParaRPr lang="en-HK" sz="2000" dirty="0"/>
          </a:p>
          <a:p>
            <a:pPr marL="0" indent="0">
              <a:buNone/>
            </a:pPr>
            <a:endParaRPr lang="en-US" dirty="0"/>
          </a:p>
        </p:txBody>
      </p:sp>
      <p:sp>
        <p:nvSpPr>
          <p:cNvPr id="8" name="Slide Number Placeholder 3">
            <a:extLst>
              <a:ext uri="{FF2B5EF4-FFF2-40B4-BE49-F238E27FC236}">
                <a16:creationId xmlns:a16="http://schemas.microsoft.com/office/drawing/2014/main" id="{3B9DBA76-8631-41C3-AFA8-F1E236191635}"/>
              </a:ext>
            </a:extLst>
          </p:cNvPr>
          <p:cNvSpPr>
            <a:spLocks noGrp="1"/>
          </p:cNvSpPr>
          <p:nvPr>
            <p:ph type="sldNum" sz="quarter" idx="12"/>
          </p:nvPr>
        </p:nvSpPr>
        <p:spPr>
          <a:xfrm>
            <a:off x="531812" y="787782"/>
            <a:ext cx="779767" cy="365125"/>
          </a:xfrm>
        </p:spPr>
        <p:txBody>
          <a:bodyPr/>
          <a:lstStyle/>
          <a:p>
            <a:fld id="{D57F1E4F-1CFF-5643-939E-217C01CDF565}" type="slidenum">
              <a:rPr lang="en-US" smtClean="0"/>
              <a:pPr/>
              <a:t>15</a:t>
            </a:fld>
            <a:endParaRPr lang="en-US" dirty="0"/>
          </a:p>
        </p:txBody>
      </p:sp>
      <p:sp>
        <p:nvSpPr>
          <p:cNvPr id="5" name="Freeform 4">
            <a:extLst>
              <a:ext uri="{FF2B5EF4-FFF2-40B4-BE49-F238E27FC236}">
                <a16:creationId xmlns:a16="http://schemas.microsoft.com/office/drawing/2014/main" id="{16F52AF7-53FF-43C8-A758-D860195F8A09}"/>
              </a:ext>
            </a:extLst>
          </p:cNvPr>
          <p:cNvSpPr/>
          <p:nvPr/>
        </p:nvSpPr>
        <p:spPr>
          <a:xfrm>
            <a:off x="1672523" y="2629949"/>
            <a:ext cx="4385930" cy="4114800"/>
          </a:xfrm>
          <a:custGeom>
            <a:avLst/>
            <a:gdLst/>
            <a:ahLst/>
            <a:cxnLst/>
            <a:rect l="l" t="t" r="r" b="b"/>
            <a:pathLst>
              <a:path w="4385930" h="4114800">
                <a:moveTo>
                  <a:pt x="0" y="0"/>
                </a:moveTo>
                <a:lnTo>
                  <a:pt x="4385931" y="0"/>
                </a:lnTo>
                <a:lnTo>
                  <a:pt x="4385931"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HK"/>
          </a:p>
        </p:txBody>
      </p:sp>
      <p:sp>
        <p:nvSpPr>
          <p:cNvPr id="6" name="Freeform 5">
            <a:extLst>
              <a:ext uri="{FF2B5EF4-FFF2-40B4-BE49-F238E27FC236}">
                <a16:creationId xmlns:a16="http://schemas.microsoft.com/office/drawing/2014/main" id="{FBE47015-F689-43CC-841B-6AFD03CE9AA8}"/>
              </a:ext>
            </a:extLst>
          </p:cNvPr>
          <p:cNvSpPr/>
          <p:nvPr/>
        </p:nvSpPr>
        <p:spPr>
          <a:xfrm>
            <a:off x="7057758" y="2629949"/>
            <a:ext cx="4107319" cy="4114800"/>
          </a:xfrm>
          <a:custGeom>
            <a:avLst/>
            <a:gdLst/>
            <a:ahLst/>
            <a:cxnLst/>
            <a:rect l="l" t="t" r="r" b="b"/>
            <a:pathLst>
              <a:path w="4107319" h="4114800">
                <a:moveTo>
                  <a:pt x="0" y="0"/>
                </a:moveTo>
                <a:lnTo>
                  <a:pt x="4107319" y="0"/>
                </a:lnTo>
                <a:lnTo>
                  <a:pt x="4107319"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HK"/>
          </a:p>
        </p:txBody>
      </p:sp>
    </p:spTree>
    <p:extLst>
      <p:ext uri="{BB962C8B-B14F-4D97-AF65-F5344CB8AC3E}">
        <p14:creationId xmlns:p14="http://schemas.microsoft.com/office/powerpoint/2010/main" val="10357637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C83801-DAD8-15F7-8BC6-5B4E3BEE89B1}"/>
              </a:ext>
            </a:extLst>
          </p:cNvPr>
          <p:cNvSpPr>
            <a:spLocks noGrp="1"/>
          </p:cNvSpPr>
          <p:nvPr>
            <p:ph type="title"/>
          </p:nvPr>
        </p:nvSpPr>
        <p:spPr>
          <a:xfrm>
            <a:off x="1640156" y="475254"/>
            <a:ext cx="8911687" cy="1280890"/>
          </a:xfrm>
        </p:spPr>
        <p:txBody>
          <a:bodyPr>
            <a:normAutofit/>
          </a:bodyPr>
          <a:lstStyle/>
          <a:p>
            <a:r>
              <a:rPr lang="en-GB" sz="3200" dirty="0"/>
              <a:t>Writing a Systematic Literature Review of Meta-analysis Review Paper</a:t>
            </a:r>
            <a:endParaRPr lang="en-HK" sz="3200" dirty="0"/>
          </a:p>
        </p:txBody>
      </p:sp>
      <p:sp>
        <p:nvSpPr>
          <p:cNvPr id="3" name="Content Placeholder 2">
            <a:extLst>
              <a:ext uri="{FF2B5EF4-FFF2-40B4-BE49-F238E27FC236}">
                <a16:creationId xmlns:a16="http://schemas.microsoft.com/office/drawing/2014/main" id="{0EB10EFD-6317-CC2A-831F-50633607186B}"/>
              </a:ext>
            </a:extLst>
          </p:cNvPr>
          <p:cNvSpPr>
            <a:spLocks noGrp="1"/>
          </p:cNvSpPr>
          <p:nvPr>
            <p:ph idx="1"/>
          </p:nvPr>
        </p:nvSpPr>
        <p:spPr>
          <a:xfrm>
            <a:off x="1430264" y="1859165"/>
            <a:ext cx="10042266" cy="4871243"/>
          </a:xfrm>
        </p:spPr>
        <p:txBody>
          <a:bodyPr>
            <a:normAutofit/>
          </a:bodyPr>
          <a:lstStyle/>
          <a:p>
            <a:pPr marL="0" indent="0">
              <a:buNone/>
            </a:pPr>
            <a:r>
              <a:rPr lang="en-US" dirty="0"/>
              <a:t>Writing a meta-analysis or systematic literature review (SLR) paper requires a structured approach to ensure rigor, transparency, and reproducibility. Below are detailed guidelines for preparing such a paper:</a:t>
            </a:r>
            <a:endParaRPr lang="en-HK" dirty="0"/>
          </a:p>
          <a:p>
            <a:pPr lvl="0">
              <a:buFont typeface="+mj-lt"/>
              <a:buAutoNum type="arabicPeriod"/>
            </a:pPr>
            <a:r>
              <a:rPr lang="en-US" b="1" dirty="0"/>
              <a:t>Clarity of Focus</a:t>
            </a:r>
            <a:r>
              <a:rPr lang="en-US" dirty="0"/>
              <a:t>: Start with a clear, specific, and researchable question or hypothesis for the review. </a:t>
            </a:r>
            <a:endParaRPr lang="en-HK" dirty="0"/>
          </a:p>
          <a:p>
            <a:pPr lvl="0">
              <a:buFont typeface="+mj-lt"/>
              <a:buAutoNum type="arabicPeriod"/>
            </a:pPr>
            <a:r>
              <a:rPr lang="en-US" b="1" dirty="0"/>
              <a:t>Develop a Protocol</a:t>
            </a:r>
            <a:r>
              <a:rPr lang="en-US" dirty="0"/>
              <a:t>: Set clear objectives, inclusion/exclusion criteria, identify databases (e.g. </a:t>
            </a:r>
            <a:r>
              <a:rPr lang="en-US" dirty="0" err="1"/>
              <a:t>PubMEd</a:t>
            </a:r>
            <a:r>
              <a:rPr lang="en-US" dirty="0"/>
              <a:t>, Scopus) and keywords, determine search strategy and how data will be collected.</a:t>
            </a:r>
            <a:endParaRPr lang="en-HK" dirty="0"/>
          </a:p>
          <a:p>
            <a:pPr lvl="0">
              <a:buFont typeface="+mj-lt"/>
              <a:buAutoNum type="arabicPeriod"/>
            </a:pPr>
            <a:r>
              <a:rPr lang="en-US" b="1" dirty="0"/>
              <a:t>Conduct a Comprehensive Literature Search</a:t>
            </a:r>
            <a:r>
              <a:rPr lang="en-US" dirty="0"/>
              <a:t>: Search multiple databases to ensure comprehensive coverage. Document the databases, keywords, and filters used.</a:t>
            </a:r>
            <a:endParaRPr lang="en-HK" dirty="0"/>
          </a:p>
          <a:p>
            <a:pPr lvl="0">
              <a:buFont typeface="+mj-lt"/>
              <a:buAutoNum type="arabicPeriod"/>
            </a:pPr>
            <a:r>
              <a:rPr lang="en-US" b="1" dirty="0"/>
              <a:t>Filter Studies</a:t>
            </a:r>
            <a:r>
              <a:rPr lang="en-US" dirty="0"/>
              <a:t>: Use the inclusion/exclusion criteria to filter studies. Use software for efficient screening.</a:t>
            </a:r>
          </a:p>
          <a:p>
            <a:pPr>
              <a:buFont typeface="+mj-lt"/>
              <a:buAutoNum type="arabicPeriod"/>
            </a:pPr>
            <a:r>
              <a:rPr lang="en-US" b="1" dirty="0"/>
              <a:t>Extract and Organize Data</a:t>
            </a:r>
            <a:r>
              <a:rPr lang="en-US" dirty="0"/>
              <a:t>: Develop a standardized data extraction form to collect relevant information consistently.</a:t>
            </a:r>
            <a:endParaRPr lang="en-HK" dirty="0"/>
          </a:p>
          <a:p>
            <a:pPr lvl="0">
              <a:buFont typeface="+mj-lt"/>
              <a:buAutoNum type="arabicPeriod"/>
            </a:pPr>
            <a:endParaRPr lang="en-HK" dirty="0"/>
          </a:p>
          <a:p>
            <a:endParaRPr lang="en-HK" dirty="0"/>
          </a:p>
        </p:txBody>
      </p:sp>
    </p:spTree>
    <p:extLst>
      <p:ext uri="{BB962C8B-B14F-4D97-AF65-F5344CB8AC3E}">
        <p14:creationId xmlns:p14="http://schemas.microsoft.com/office/powerpoint/2010/main" val="17192705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6A6AE2-6150-B90B-AAE4-61C7535A1B59}"/>
              </a:ext>
            </a:extLst>
          </p:cNvPr>
          <p:cNvSpPr>
            <a:spLocks noGrp="1"/>
          </p:cNvSpPr>
          <p:nvPr>
            <p:ph type="title"/>
          </p:nvPr>
        </p:nvSpPr>
        <p:spPr>
          <a:xfrm>
            <a:off x="1640156" y="306333"/>
            <a:ext cx="8911687" cy="1280890"/>
          </a:xfrm>
        </p:spPr>
        <p:txBody>
          <a:bodyPr>
            <a:normAutofit/>
          </a:bodyPr>
          <a:lstStyle/>
          <a:p>
            <a:r>
              <a:rPr lang="en-GB" sz="3200" dirty="0"/>
              <a:t>Writing a Systematic Literature Review of Meta-analysis Review Paper</a:t>
            </a:r>
            <a:endParaRPr lang="en-HK" sz="3200" dirty="0"/>
          </a:p>
        </p:txBody>
      </p:sp>
      <p:sp>
        <p:nvSpPr>
          <p:cNvPr id="3" name="Content Placeholder 2">
            <a:extLst>
              <a:ext uri="{FF2B5EF4-FFF2-40B4-BE49-F238E27FC236}">
                <a16:creationId xmlns:a16="http://schemas.microsoft.com/office/drawing/2014/main" id="{8AD57CD2-DBF5-E552-7CEA-916D9655FB45}"/>
              </a:ext>
            </a:extLst>
          </p:cNvPr>
          <p:cNvSpPr>
            <a:spLocks noGrp="1"/>
          </p:cNvSpPr>
          <p:nvPr>
            <p:ph idx="1"/>
          </p:nvPr>
        </p:nvSpPr>
        <p:spPr>
          <a:xfrm>
            <a:off x="1640156" y="1587223"/>
            <a:ext cx="9843007" cy="5032744"/>
          </a:xfrm>
        </p:spPr>
        <p:txBody>
          <a:bodyPr>
            <a:normAutofit/>
          </a:bodyPr>
          <a:lstStyle/>
          <a:p>
            <a:pPr lvl="0">
              <a:buFont typeface="+mj-lt"/>
              <a:buAutoNum type="arabicPeriod" startAt="6"/>
            </a:pPr>
            <a:r>
              <a:rPr lang="en-US" b="1" dirty="0"/>
              <a:t>Assess Study Quality</a:t>
            </a:r>
            <a:r>
              <a:rPr lang="en-US" dirty="0"/>
              <a:t>: Evaluate the quality and risk of bias in the included studies. Report the assessment explicitly and discuss its implications.</a:t>
            </a:r>
            <a:endParaRPr lang="en-HK" dirty="0"/>
          </a:p>
          <a:p>
            <a:pPr lvl="0">
              <a:buFont typeface="+mj-lt"/>
              <a:buAutoNum type="arabicPeriod" startAt="6"/>
            </a:pPr>
            <a:r>
              <a:rPr lang="en-US" b="1" dirty="0"/>
              <a:t>Conduct Data Synthesis</a:t>
            </a:r>
            <a:r>
              <a:rPr lang="en-US" dirty="0"/>
              <a:t>: </a:t>
            </a:r>
            <a:endParaRPr lang="en-HK" dirty="0"/>
          </a:p>
          <a:p>
            <a:pPr marL="400050" lvl="1" indent="0">
              <a:buNone/>
            </a:pPr>
            <a:r>
              <a:rPr lang="en-US" b="1" dirty="0"/>
              <a:t>- For Systematic Reviews</a:t>
            </a:r>
            <a:r>
              <a:rPr lang="en-US" dirty="0"/>
              <a:t>: Synthesize findings qualitatively by identifying patterns, themes, or gaps. Use thematic analysis or narrative synthesis.</a:t>
            </a:r>
            <a:endParaRPr lang="en-HK" dirty="0"/>
          </a:p>
          <a:p>
            <a:pPr marL="400050" lvl="1" indent="0">
              <a:buNone/>
            </a:pPr>
            <a:r>
              <a:rPr lang="en-US" b="1" dirty="0"/>
              <a:t>- For Meta</a:t>
            </a:r>
            <a:r>
              <a:rPr lang="en-US" dirty="0"/>
              <a:t>-</a:t>
            </a:r>
            <a:r>
              <a:rPr lang="en-US" b="1" dirty="0"/>
              <a:t>Analyses</a:t>
            </a:r>
            <a:r>
              <a:rPr lang="en-US" dirty="0"/>
              <a:t>: Combine quantitative data using statistical methods. Calculate effect sizes.</a:t>
            </a:r>
            <a:endParaRPr lang="en-HK" dirty="0"/>
          </a:p>
          <a:p>
            <a:pPr marL="400050" lvl="1" indent="0">
              <a:buNone/>
            </a:pPr>
            <a:r>
              <a:rPr lang="en-US" dirty="0"/>
              <a:t>- Address heterogeneity in studies </a:t>
            </a:r>
            <a:endParaRPr lang="en-HK" dirty="0"/>
          </a:p>
          <a:p>
            <a:pPr lvl="0">
              <a:buFont typeface="+mj-lt"/>
              <a:buAutoNum type="arabicPeriod" startAt="6"/>
            </a:pPr>
            <a:r>
              <a:rPr lang="en-US" b="1" dirty="0"/>
              <a:t>Interpret and Discuss Findings: </a:t>
            </a:r>
            <a:r>
              <a:rPr lang="en-US" dirty="0"/>
              <a:t>Highlight consistent patterns, significant results, and gaps. Discuss implications for practice, theory, and future research. Acknowledge limitations in your review process (e.g. publication bias, small sample sizes). Propose directions for future research or practical applications.</a:t>
            </a:r>
            <a:endParaRPr lang="en-HK" dirty="0"/>
          </a:p>
          <a:p>
            <a:pPr lvl="0">
              <a:buFont typeface="+mj-lt"/>
              <a:buAutoNum type="arabicPeriod" startAt="6"/>
            </a:pPr>
            <a:r>
              <a:rPr lang="en-US" b="1" dirty="0"/>
              <a:t>Include Visuals: </a:t>
            </a:r>
            <a:r>
              <a:rPr lang="en-US" dirty="0"/>
              <a:t>Use tables, charts, and diagrams to summarize findings. </a:t>
            </a:r>
            <a:endParaRPr lang="en-HK" dirty="0"/>
          </a:p>
          <a:p>
            <a:pPr lvl="0">
              <a:buFont typeface="+mj-lt"/>
              <a:buAutoNum type="arabicPeriod" startAt="6"/>
            </a:pPr>
            <a:r>
              <a:rPr lang="en-US" b="1" dirty="0"/>
              <a:t>Reference Properly: </a:t>
            </a:r>
            <a:r>
              <a:rPr lang="en-US" dirty="0"/>
              <a:t>Use reference management tools to cite sources correctly. Follow the required citation style.</a:t>
            </a:r>
            <a:endParaRPr lang="en-HK" dirty="0"/>
          </a:p>
          <a:p>
            <a:endParaRPr lang="en-HK" dirty="0"/>
          </a:p>
        </p:txBody>
      </p:sp>
    </p:spTree>
    <p:extLst>
      <p:ext uri="{BB962C8B-B14F-4D97-AF65-F5344CB8AC3E}">
        <p14:creationId xmlns:p14="http://schemas.microsoft.com/office/powerpoint/2010/main" val="2572820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88641B-D163-1F9D-CE72-123FAB172935}"/>
              </a:ext>
            </a:extLst>
          </p:cNvPr>
          <p:cNvSpPr>
            <a:spLocks noGrp="1"/>
          </p:cNvSpPr>
          <p:nvPr>
            <p:ph type="title"/>
          </p:nvPr>
        </p:nvSpPr>
        <p:spPr>
          <a:xfrm>
            <a:off x="1752953" y="453989"/>
            <a:ext cx="8911687" cy="790020"/>
          </a:xfrm>
        </p:spPr>
        <p:txBody>
          <a:bodyPr/>
          <a:lstStyle/>
          <a:p>
            <a:r>
              <a:rPr lang="en-US" dirty="0"/>
              <a:t>Language Use in a Literature Review</a:t>
            </a:r>
            <a:endParaRPr lang="en-HK" dirty="0"/>
          </a:p>
        </p:txBody>
      </p:sp>
      <p:sp>
        <p:nvSpPr>
          <p:cNvPr id="3" name="Content Placeholder 2">
            <a:extLst>
              <a:ext uri="{FF2B5EF4-FFF2-40B4-BE49-F238E27FC236}">
                <a16:creationId xmlns:a16="http://schemas.microsoft.com/office/drawing/2014/main" id="{A6CB0110-E8B1-1AD3-6819-D0961F6DEFFC}"/>
              </a:ext>
            </a:extLst>
          </p:cNvPr>
          <p:cNvSpPr>
            <a:spLocks noGrp="1"/>
          </p:cNvSpPr>
          <p:nvPr>
            <p:ph idx="1"/>
          </p:nvPr>
        </p:nvSpPr>
        <p:spPr>
          <a:xfrm>
            <a:off x="1752953" y="1431850"/>
            <a:ext cx="10070452" cy="5192233"/>
          </a:xfrm>
        </p:spPr>
        <p:txBody>
          <a:bodyPr>
            <a:normAutofit lnSpcReduction="10000"/>
          </a:bodyPr>
          <a:lstStyle/>
          <a:p>
            <a:pPr marL="0" indent="0">
              <a:buNone/>
            </a:pPr>
            <a:r>
              <a:rPr lang="en-US" sz="2000" dirty="0"/>
              <a:t>Writing a literature review involves specific language features that help convey critical analysis, summarize existing research, and highlight gaps or contributions in the field. Here are some key features:</a:t>
            </a:r>
          </a:p>
          <a:p>
            <a:pPr marL="0" indent="0">
              <a:buNone/>
            </a:pPr>
            <a:endParaRPr lang="en-HK" sz="2000" dirty="0"/>
          </a:p>
          <a:p>
            <a:pPr lvl="0">
              <a:buFont typeface="+mj-lt"/>
              <a:buAutoNum type="arabicPeriod"/>
            </a:pPr>
            <a:r>
              <a:rPr lang="en-US" sz="2000" dirty="0"/>
              <a:t>Reporting verbs (The choice of verbs reflects the writer’s stance on the source)</a:t>
            </a:r>
            <a:endParaRPr lang="en-HK" sz="2000" dirty="0"/>
          </a:p>
          <a:p>
            <a:pPr lvl="0">
              <a:buFont typeface="+mj-lt"/>
              <a:buAutoNum type="arabicPeriod"/>
            </a:pPr>
            <a:r>
              <a:rPr lang="en-US" sz="2000" dirty="0"/>
              <a:t>Evaluative language (Used to assess the quality, relevance, or impact of research)</a:t>
            </a:r>
            <a:endParaRPr lang="en-HK" sz="2000" dirty="0"/>
          </a:p>
          <a:p>
            <a:pPr lvl="0">
              <a:buFont typeface="+mj-lt"/>
              <a:buAutoNum type="arabicPeriod"/>
            </a:pPr>
            <a:r>
              <a:rPr lang="en-US" sz="2000" dirty="0"/>
              <a:t>Hedging (Used to avoid overgeneralizations and present claims cautiously)</a:t>
            </a:r>
            <a:endParaRPr lang="en-HK" sz="2000" dirty="0"/>
          </a:p>
          <a:p>
            <a:pPr lvl="0">
              <a:buFont typeface="+mj-lt"/>
              <a:buAutoNum type="arabicPeriod"/>
            </a:pPr>
            <a:r>
              <a:rPr lang="en-US" sz="2000" dirty="0"/>
              <a:t>Comparative language (Used to compare and contrast findings or perspectives)</a:t>
            </a:r>
            <a:endParaRPr lang="en-HK" sz="2000" dirty="0"/>
          </a:p>
          <a:p>
            <a:pPr lvl="0">
              <a:buFont typeface="+mj-lt"/>
              <a:buAutoNum type="arabicPeriod"/>
            </a:pPr>
            <a:r>
              <a:rPr lang="en-US" sz="2000" dirty="0"/>
              <a:t>Signposting language (Used to help the reader follow the structure and flow of the review)</a:t>
            </a:r>
            <a:endParaRPr lang="en-HK" sz="2000" dirty="0"/>
          </a:p>
          <a:p>
            <a:pPr lvl="0">
              <a:buFont typeface="+mj-lt"/>
              <a:buAutoNum type="arabicPeriod"/>
            </a:pPr>
            <a:r>
              <a:rPr lang="en-US" sz="2000" dirty="0"/>
              <a:t>Synthesis language (Used to integrate multiple sources and show relationships between them)</a:t>
            </a:r>
            <a:endParaRPr lang="en-HK" sz="2000" dirty="0"/>
          </a:p>
        </p:txBody>
      </p:sp>
    </p:spTree>
    <p:extLst>
      <p:ext uri="{BB962C8B-B14F-4D97-AF65-F5344CB8AC3E}">
        <p14:creationId xmlns:p14="http://schemas.microsoft.com/office/powerpoint/2010/main" val="11781218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15981" y="563348"/>
            <a:ext cx="8911687" cy="813992"/>
          </a:xfrm>
        </p:spPr>
        <p:txBody>
          <a:bodyPr/>
          <a:lstStyle/>
          <a:p>
            <a:r>
              <a:rPr lang="en-US" dirty="0"/>
              <a:t>Task 5</a:t>
            </a:r>
          </a:p>
        </p:txBody>
      </p:sp>
      <p:sp>
        <p:nvSpPr>
          <p:cNvPr id="3" name="Content Placeholder 2"/>
          <p:cNvSpPr>
            <a:spLocks noGrp="1"/>
          </p:cNvSpPr>
          <p:nvPr>
            <p:ph idx="1"/>
          </p:nvPr>
        </p:nvSpPr>
        <p:spPr>
          <a:xfrm>
            <a:off x="2150492" y="1621913"/>
            <a:ext cx="9130652" cy="5151027"/>
          </a:xfrm>
        </p:spPr>
        <p:txBody>
          <a:bodyPr>
            <a:normAutofit lnSpcReduction="10000"/>
          </a:bodyPr>
          <a:lstStyle/>
          <a:p>
            <a:pPr marL="0" indent="0">
              <a:lnSpc>
                <a:spcPct val="150000"/>
              </a:lnSpc>
              <a:buNone/>
            </a:pPr>
            <a:r>
              <a:rPr lang="en-US" sz="2400" b="1" dirty="0"/>
              <a:t>Use of Reporting Verbs in Research Writing</a:t>
            </a:r>
            <a:endParaRPr lang="en-GB" sz="2400" dirty="0"/>
          </a:p>
          <a:p>
            <a:pPr marL="0" indent="0">
              <a:lnSpc>
                <a:spcPct val="150000"/>
              </a:lnSpc>
              <a:buNone/>
            </a:pPr>
            <a:r>
              <a:rPr lang="en-US" sz="2000" dirty="0"/>
              <a:t>When referring to the research of others in academic writing, we need to use reporting verbs. Appropriate use of reporting verbs can help the reader understand the relevance of the sources in your writing and can help you strengthen your argument. Reporting verbs can also show your attitude/stance towards the sources. Students always repeatedly use “states”, “points out” or “reports” when referring to the sources. In fact, there are many other reporting verbs:</a:t>
            </a:r>
            <a:endParaRPr lang="en-GB" sz="2000" dirty="0"/>
          </a:p>
          <a:p>
            <a:pPr marL="0" indent="0">
              <a:buNone/>
            </a:pPr>
            <a:endParaRPr lang="en-US" dirty="0"/>
          </a:p>
          <a:p>
            <a:pPr marL="0" indent="0">
              <a:buNone/>
            </a:pPr>
            <a:r>
              <a:rPr lang="en-US" dirty="0"/>
              <a:t>Visit this website for more examples of reporting verbs: </a:t>
            </a:r>
            <a:r>
              <a:rPr lang="en-US" u="sng" dirty="0">
                <a:hlinkClick r:id="rId2"/>
              </a:rPr>
              <a:t>https://www.adelaide.edu.au/writingcentre/sites/default/files/docs/learningguide-verbsforreporting.pdf</a:t>
            </a:r>
            <a:r>
              <a:rPr lang="en-US" dirty="0"/>
              <a:t> </a:t>
            </a:r>
            <a:endParaRPr lang="en-HK" dirty="0"/>
          </a:p>
          <a:p>
            <a:pPr marL="0" indent="0">
              <a:buNone/>
            </a:pPr>
            <a:endParaRPr lang="en-US" dirty="0"/>
          </a:p>
        </p:txBody>
      </p:sp>
      <p:sp>
        <p:nvSpPr>
          <p:cNvPr id="4" name="Slide Number Placeholder 3">
            <a:extLst>
              <a:ext uri="{FF2B5EF4-FFF2-40B4-BE49-F238E27FC236}">
                <a16:creationId xmlns:a16="http://schemas.microsoft.com/office/drawing/2014/main" id="{6D2B0FB5-1CDE-4A36-B5A6-9F752FC66310}"/>
              </a:ext>
            </a:extLst>
          </p:cNvPr>
          <p:cNvSpPr>
            <a:spLocks noGrp="1"/>
          </p:cNvSpPr>
          <p:nvPr>
            <p:ph type="sldNum" sz="quarter" idx="12"/>
          </p:nvPr>
        </p:nvSpPr>
        <p:spPr>
          <a:xfrm>
            <a:off x="531812" y="787782"/>
            <a:ext cx="779767" cy="365125"/>
          </a:xfrm>
        </p:spPr>
        <p:txBody>
          <a:bodyPr/>
          <a:lstStyle/>
          <a:p>
            <a:fld id="{D57F1E4F-1CFF-5643-939E-217C01CDF565}" type="slidenum">
              <a:rPr lang="en-US" smtClean="0"/>
              <a:pPr/>
              <a:t>19</a:t>
            </a:fld>
            <a:endParaRPr lang="en-US" dirty="0"/>
          </a:p>
        </p:txBody>
      </p:sp>
    </p:spTree>
    <p:extLst>
      <p:ext uri="{BB962C8B-B14F-4D97-AF65-F5344CB8AC3E}">
        <p14:creationId xmlns:p14="http://schemas.microsoft.com/office/powerpoint/2010/main" val="23026730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C8C278DB-703D-4853-AC71-1A699BFF4DCA}"/>
              </a:ext>
            </a:extLst>
          </p:cNvPr>
          <p:cNvGraphicFramePr>
            <a:graphicFrameLocks noGrp="1"/>
          </p:cNvGraphicFramePr>
          <p:nvPr>
            <p:ph idx="1"/>
            <p:extLst>
              <p:ext uri="{D42A27DB-BD31-4B8C-83A1-F6EECF244321}">
                <p14:modId xmlns:p14="http://schemas.microsoft.com/office/powerpoint/2010/main" val="1992296652"/>
              </p:ext>
            </p:extLst>
          </p:nvPr>
        </p:nvGraphicFramePr>
        <p:xfrm>
          <a:off x="1943100" y="0"/>
          <a:ext cx="8305800" cy="6884314"/>
        </p:xfrm>
        <a:graphic>
          <a:graphicData uri="http://schemas.openxmlformats.org/drawingml/2006/table">
            <a:tbl>
              <a:tblPr firstRow="1" firstCol="1" bandRow="1"/>
              <a:tblGrid>
                <a:gridCol w="2346112">
                  <a:extLst>
                    <a:ext uri="{9D8B030D-6E8A-4147-A177-3AD203B41FA5}">
                      <a16:colId xmlns:a16="http://schemas.microsoft.com/office/drawing/2014/main" val="4085750665"/>
                    </a:ext>
                  </a:extLst>
                </a:gridCol>
                <a:gridCol w="2742194">
                  <a:extLst>
                    <a:ext uri="{9D8B030D-6E8A-4147-A177-3AD203B41FA5}">
                      <a16:colId xmlns:a16="http://schemas.microsoft.com/office/drawing/2014/main" val="858779811"/>
                    </a:ext>
                  </a:extLst>
                </a:gridCol>
                <a:gridCol w="3217494">
                  <a:extLst>
                    <a:ext uri="{9D8B030D-6E8A-4147-A177-3AD203B41FA5}">
                      <a16:colId xmlns:a16="http://schemas.microsoft.com/office/drawing/2014/main" val="912783175"/>
                    </a:ext>
                  </a:extLst>
                </a:gridCol>
              </a:tblGrid>
              <a:tr h="273900">
                <a:tc>
                  <a:txBody>
                    <a:bodyPr/>
                    <a:lstStyle/>
                    <a:p>
                      <a:pPr algn="just">
                        <a:lnSpc>
                          <a:spcPct val="115000"/>
                        </a:lnSpc>
                        <a:spcAft>
                          <a:spcPts val="0"/>
                        </a:spcAft>
                      </a:pPr>
                      <a:r>
                        <a:rPr lang="en-US" sz="1400" b="1" dirty="0">
                          <a:effectLst/>
                          <a:latin typeface="Calibri" panose="020F0502020204030204" pitchFamily="34" charset="0"/>
                          <a:ea typeface="DengXian" panose="02010600030101010101" pitchFamily="2" charset="-122"/>
                          <a:cs typeface="Times New Roman" panose="02020603050405020304" pitchFamily="18" charset="0"/>
                        </a:rPr>
                        <a:t>Tentative reporting verbs</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txBody>
                  <a:tcPr marL="48203" marR="4820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400" b="1">
                          <a:effectLst/>
                          <a:latin typeface="Calibri" panose="020F0502020204030204" pitchFamily="34" charset="0"/>
                          <a:ea typeface="DengXian" panose="02010600030101010101" pitchFamily="2" charset="-122"/>
                          <a:cs typeface="Times New Roman" panose="02020603050405020304" pitchFamily="18" charset="0"/>
                        </a:rPr>
                        <a:t>Neutral reporting verbs</a:t>
                      </a:r>
                      <a:endParaRPr lang="en-GB" sz="1400">
                        <a:effectLst/>
                        <a:latin typeface="Calibri" panose="020F0502020204030204" pitchFamily="34" charset="0"/>
                        <a:ea typeface="DengXian" panose="02010600030101010101" pitchFamily="2" charset="-122"/>
                        <a:cs typeface="Times New Roman" panose="02020603050405020304" pitchFamily="18" charset="0"/>
                      </a:endParaRPr>
                    </a:p>
                  </a:txBody>
                  <a:tcPr marL="48203" marR="4820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400" b="1">
                          <a:effectLst/>
                          <a:latin typeface="Calibri" panose="020F0502020204030204" pitchFamily="34" charset="0"/>
                          <a:ea typeface="DengXian" panose="02010600030101010101" pitchFamily="2" charset="-122"/>
                          <a:cs typeface="Times New Roman" panose="02020603050405020304" pitchFamily="18" charset="0"/>
                        </a:rPr>
                        <a:t>Strong reporting verbs</a:t>
                      </a:r>
                      <a:endParaRPr lang="en-GB" sz="1400">
                        <a:effectLst/>
                        <a:latin typeface="Calibri" panose="020F0502020204030204" pitchFamily="34" charset="0"/>
                        <a:ea typeface="DengXian" panose="02010600030101010101" pitchFamily="2" charset="-122"/>
                        <a:cs typeface="Times New Roman" panose="02020603050405020304" pitchFamily="18" charset="0"/>
                      </a:endParaRPr>
                    </a:p>
                  </a:txBody>
                  <a:tcPr marL="48203" marR="4820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89931849"/>
                  </a:ext>
                </a:extLst>
              </a:tr>
              <a:tr h="6525229">
                <a:tc>
                  <a:txBody>
                    <a:bodyPr/>
                    <a:lstStyle/>
                    <a:p>
                      <a:pPr algn="just">
                        <a:lnSpc>
                          <a:spcPct val="115000"/>
                        </a:lnSpc>
                        <a:spcAft>
                          <a:spcPts val="0"/>
                        </a:spcAft>
                      </a:pPr>
                      <a:r>
                        <a:rPr lang="en-US" sz="1400">
                          <a:effectLst/>
                          <a:latin typeface="Calibri" panose="020F0502020204030204" pitchFamily="34" charset="0"/>
                          <a:ea typeface="DengXian" panose="02010600030101010101" pitchFamily="2" charset="-122"/>
                          <a:cs typeface="Times New Roman" panose="02020603050405020304" pitchFamily="18" charset="0"/>
                        </a:rPr>
                        <a:t>Admit</a:t>
                      </a:r>
                      <a:endParaRPr lang="en-GB" sz="1400">
                        <a:effectLst/>
                        <a:latin typeface="Calibri" panose="020F0502020204030204" pitchFamily="34" charset="0"/>
                        <a:ea typeface="DengXian" panose="02010600030101010101" pitchFamily="2" charset="-122"/>
                        <a:cs typeface="Times New Roman" panose="02020603050405020304" pitchFamily="18" charset="0"/>
                      </a:endParaRPr>
                    </a:p>
                    <a:p>
                      <a:pPr algn="just">
                        <a:lnSpc>
                          <a:spcPct val="115000"/>
                        </a:lnSpc>
                        <a:spcAft>
                          <a:spcPts val="0"/>
                        </a:spcAft>
                      </a:pPr>
                      <a:r>
                        <a:rPr lang="en-US" sz="1400">
                          <a:effectLst/>
                          <a:latin typeface="Calibri" panose="020F0502020204030204" pitchFamily="34" charset="0"/>
                          <a:ea typeface="DengXian" panose="02010600030101010101" pitchFamily="2" charset="-122"/>
                          <a:cs typeface="Times New Roman" panose="02020603050405020304" pitchFamily="18" charset="0"/>
                        </a:rPr>
                        <a:t>Consider</a:t>
                      </a:r>
                      <a:endParaRPr lang="en-GB" sz="1400">
                        <a:effectLst/>
                        <a:latin typeface="Calibri" panose="020F0502020204030204" pitchFamily="34" charset="0"/>
                        <a:ea typeface="DengXian" panose="02010600030101010101" pitchFamily="2" charset="-122"/>
                        <a:cs typeface="Times New Roman" panose="02020603050405020304" pitchFamily="18" charset="0"/>
                      </a:endParaRPr>
                    </a:p>
                    <a:p>
                      <a:pPr algn="just">
                        <a:lnSpc>
                          <a:spcPct val="115000"/>
                        </a:lnSpc>
                        <a:spcAft>
                          <a:spcPts val="0"/>
                        </a:spcAft>
                      </a:pPr>
                      <a:r>
                        <a:rPr lang="en-US" sz="1400">
                          <a:effectLst/>
                          <a:latin typeface="Calibri" panose="020F0502020204030204" pitchFamily="34" charset="0"/>
                          <a:ea typeface="DengXian" panose="02010600030101010101" pitchFamily="2" charset="-122"/>
                          <a:cs typeface="Times New Roman" panose="02020603050405020304" pitchFamily="18" charset="0"/>
                        </a:rPr>
                        <a:t>Hypothesize</a:t>
                      </a:r>
                      <a:endParaRPr lang="en-GB" sz="1400">
                        <a:effectLst/>
                        <a:latin typeface="Calibri" panose="020F0502020204030204" pitchFamily="34" charset="0"/>
                        <a:ea typeface="DengXian" panose="02010600030101010101" pitchFamily="2" charset="-122"/>
                        <a:cs typeface="Times New Roman" panose="02020603050405020304" pitchFamily="18" charset="0"/>
                      </a:endParaRPr>
                    </a:p>
                    <a:p>
                      <a:pPr algn="just">
                        <a:lnSpc>
                          <a:spcPct val="115000"/>
                        </a:lnSpc>
                        <a:spcAft>
                          <a:spcPts val="0"/>
                        </a:spcAft>
                      </a:pPr>
                      <a:r>
                        <a:rPr lang="en-US" sz="1400">
                          <a:effectLst/>
                          <a:latin typeface="Calibri" panose="020F0502020204030204" pitchFamily="34" charset="0"/>
                          <a:ea typeface="DengXian" panose="02010600030101010101" pitchFamily="2" charset="-122"/>
                          <a:cs typeface="Times New Roman" panose="02020603050405020304" pitchFamily="18" charset="0"/>
                        </a:rPr>
                        <a:t>Imply</a:t>
                      </a:r>
                      <a:endParaRPr lang="en-GB" sz="1400">
                        <a:effectLst/>
                        <a:latin typeface="Calibri" panose="020F0502020204030204" pitchFamily="34" charset="0"/>
                        <a:ea typeface="DengXian" panose="02010600030101010101" pitchFamily="2" charset="-122"/>
                        <a:cs typeface="Times New Roman" panose="02020603050405020304" pitchFamily="18" charset="0"/>
                      </a:endParaRPr>
                    </a:p>
                    <a:p>
                      <a:pPr algn="just">
                        <a:lnSpc>
                          <a:spcPct val="115000"/>
                        </a:lnSpc>
                        <a:spcAft>
                          <a:spcPts val="0"/>
                        </a:spcAft>
                      </a:pPr>
                      <a:r>
                        <a:rPr lang="en-US" sz="1400">
                          <a:effectLst/>
                          <a:latin typeface="Calibri" panose="020F0502020204030204" pitchFamily="34" charset="0"/>
                          <a:ea typeface="DengXian" panose="02010600030101010101" pitchFamily="2" charset="-122"/>
                          <a:cs typeface="Times New Roman" panose="02020603050405020304" pitchFamily="18" charset="0"/>
                        </a:rPr>
                        <a:t>Postulate</a:t>
                      </a:r>
                      <a:endParaRPr lang="en-GB" sz="1400">
                        <a:effectLst/>
                        <a:latin typeface="Calibri" panose="020F0502020204030204" pitchFamily="34" charset="0"/>
                        <a:ea typeface="DengXian" panose="02010600030101010101" pitchFamily="2" charset="-122"/>
                        <a:cs typeface="Times New Roman" panose="02020603050405020304" pitchFamily="18" charset="0"/>
                      </a:endParaRPr>
                    </a:p>
                    <a:p>
                      <a:pPr algn="just">
                        <a:lnSpc>
                          <a:spcPct val="115000"/>
                        </a:lnSpc>
                        <a:spcAft>
                          <a:spcPts val="0"/>
                        </a:spcAft>
                      </a:pPr>
                      <a:r>
                        <a:rPr lang="en-US" sz="1400">
                          <a:effectLst/>
                          <a:latin typeface="Calibri" panose="020F0502020204030204" pitchFamily="34" charset="0"/>
                          <a:ea typeface="DengXian" panose="02010600030101010101" pitchFamily="2" charset="-122"/>
                          <a:cs typeface="Times New Roman" panose="02020603050405020304" pitchFamily="18" charset="0"/>
                        </a:rPr>
                        <a:t>Propose</a:t>
                      </a:r>
                      <a:endParaRPr lang="en-GB" sz="1400">
                        <a:effectLst/>
                        <a:latin typeface="Calibri" panose="020F0502020204030204" pitchFamily="34" charset="0"/>
                        <a:ea typeface="DengXian" panose="02010600030101010101" pitchFamily="2" charset="-122"/>
                        <a:cs typeface="Times New Roman" panose="02020603050405020304" pitchFamily="18" charset="0"/>
                      </a:endParaRPr>
                    </a:p>
                    <a:p>
                      <a:pPr algn="just">
                        <a:lnSpc>
                          <a:spcPct val="115000"/>
                        </a:lnSpc>
                        <a:spcAft>
                          <a:spcPts val="0"/>
                        </a:spcAft>
                      </a:pPr>
                      <a:r>
                        <a:rPr lang="en-US" sz="1400">
                          <a:effectLst/>
                          <a:latin typeface="Calibri" panose="020F0502020204030204" pitchFamily="34" charset="0"/>
                          <a:ea typeface="DengXian" panose="02010600030101010101" pitchFamily="2" charset="-122"/>
                          <a:cs typeface="Times New Roman" panose="02020603050405020304" pitchFamily="18" charset="0"/>
                        </a:rPr>
                        <a:t>Question</a:t>
                      </a:r>
                      <a:endParaRPr lang="en-GB" sz="1400">
                        <a:effectLst/>
                        <a:latin typeface="Calibri" panose="020F0502020204030204" pitchFamily="34" charset="0"/>
                        <a:ea typeface="DengXian" panose="02010600030101010101" pitchFamily="2" charset="-122"/>
                        <a:cs typeface="Times New Roman" panose="02020603050405020304" pitchFamily="18" charset="0"/>
                      </a:endParaRPr>
                    </a:p>
                    <a:p>
                      <a:pPr algn="just">
                        <a:lnSpc>
                          <a:spcPct val="115000"/>
                        </a:lnSpc>
                        <a:spcAft>
                          <a:spcPts val="0"/>
                        </a:spcAft>
                      </a:pPr>
                      <a:r>
                        <a:rPr lang="en-US" sz="1400">
                          <a:effectLst/>
                          <a:latin typeface="Calibri" panose="020F0502020204030204" pitchFamily="34" charset="0"/>
                          <a:ea typeface="DengXian" panose="02010600030101010101" pitchFamily="2" charset="-122"/>
                          <a:cs typeface="Times New Roman" panose="02020603050405020304" pitchFamily="18" charset="0"/>
                        </a:rPr>
                        <a:t>Recommend</a:t>
                      </a:r>
                      <a:endParaRPr lang="en-GB" sz="1400">
                        <a:effectLst/>
                        <a:latin typeface="Calibri" panose="020F0502020204030204" pitchFamily="34" charset="0"/>
                        <a:ea typeface="DengXian" panose="02010600030101010101" pitchFamily="2" charset="-122"/>
                        <a:cs typeface="Times New Roman" panose="02020603050405020304" pitchFamily="18" charset="0"/>
                      </a:endParaRPr>
                    </a:p>
                    <a:p>
                      <a:pPr algn="just">
                        <a:lnSpc>
                          <a:spcPct val="115000"/>
                        </a:lnSpc>
                        <a:spcAft>
                          <a:spcPts val="0"/>
                        </a:spcAft>
                      </a:pPr>
                      <a:r>
                        <a:rPr lang="en-US" sz="1400">
                          <a:effectLst/>
                          <a:latin typeface="Calibri" panose="020F0502020204030204" pitchFamily="34" charset="0"/>
                          <a:ea typeface="DengXian" panose="02010600030101010101" pitchFamily="2" charset="-122"/>
                          <a:cs typeface="Times New Roman" panose="02020603050405020304" pitchFamily="18" charset="0"/>
                        </a:rPr>
                        <a:t>Speculate</a:t>
                      </a:r>
                      <a:endParaRPr lang="en-GB" sz="1400">
                        <a:effectLst/>
                        <a:latin typeface="Calibri" panose="020F0502020204030204" pitchFamily="34" charset="0"/>
                        <a:ea typeface="DengXian" panose="02010600030101010101" pitchFamily="2" charset="-122"/>
                        <a:cs typeface="Times New Roman" panose="02020603050405020304" pitchFamily="18" charset="0"/>
                      </a:endParaRPr>
                    </a:p>
                    <a:p>
                      <a:pPr algn="just">
                        <a:lnSpc>
                          <a:spcPct val="115000"/>
                        </a:lnSpc>
                        <a:spcAft>
                          <a:spcPts val="0"/>
                        </a:spcAft>
                      </a:pPr>
                      <a:r>
                        <a:rPr lang="en-US" sz="1400">
                          <a:effectLst/>
                          <a:latin typeface="Calibri" panose="020F0502020204030204" pitchFamily="34" charset="0"/>
                          <a:ea typeface="DengXian" panose="02010600030101010101" pitchFamily="2" charset="-122"/>
                          <a:cs typeface="Times New Roman" panose="02020603050405020304" pitchFamily="18" charset="0"/>
                        </a:rPr>
                        <a:t>Suggest </a:t>
                      </a:r>
                      <a:endParaRPr lang="en-GB" sz="1400">
                        <a:effectLst/>
                        <a:latin typeface="Calibri" panose="020F0502020204030204" pitchFamily="34" charset="0"/>
                        <a:ea typeface="DengXian" panose="02010600030101010101" pitchFamily="2" charset="-122"/>
                        <a:cs typeface="Times New Roman" panose="02020603050405020304" pitchFamily="18" charset="0"/>
                      </a:endParaRPr>
                    </a:p>
                    <a:p>
                      <a:pPr algn="just">
                        <a:lnSpc>
                          <a:spcPct val="115000"/>
                        </a:lnSpc>
                        <a:spcAft>
                          <a:spcPts val="0"/>
                        </a:spcAft>
                      </a:pPr>
                      <a:r>
                        <a:rPr lang="en-US" sz="1400">
                          <a:effectLst/>
                          <a:latin typeface="Calibri" panose="020F0502020204030204" pitchFamily="34" charset="0"/>
                          <a:ea typeface="DengXian" panose="02010600030101010101" pitchFamily="2" charset="-122"/>
                          <a:cs typeface="Times New Roman" panose="02020603050405020304" pitchFamily="18" charset="0"/>
                        </a:rPr>
                        <a:t> </a:t>
                      </a:r>
                      <a:endParaRPr lang="en-GB" sz="1400">
                        <a:effectLst/>
                        <a:latin typeface="Calibri" panose="020F0502020204030204" pitchFamily="34" charset="0"/>
                        <a:ea typeface="DengXian" panose="02010600030101010101" pitchFamily="2" charset="-122"/>
                        <a:cs typeface="Times New Roman" panose="02020603050405020304" pitchFamily="18" charset="0"/>
                      </a:endParaRPr>
                    </a:p>
                    <a:p>
                      <a:pPr algn="just">
                        <a:lnSpc>
                          <a:spcPct val="115000"/>
                        </a:lnSpc>
                        <a:spcAft>
                          <a:spcPts val="1000"/>
                        </a:spcAft>
                      </a:pPr>
                      <a:r>
                        <a:rPr lang="en-US" sz="1400">
                          <a:effectLst/>
                          <a:latin typeface="Calibri" panose="020F0502020204030204" pitchFamily="34" charset="0"/>
                          <a:ea typeface="DengXian" panose="02010600030101010101" pitchFamily="2" charset="-122"/>
                          <a:cs typeface="Times New Roman" panose="02020603050405020304" pitchFamily="18" charset="0"/>
                        </a:rPr>
                        <a:t> </a:t>
                      </a:r>
                      <a:endParaRPr lang="en-GB" sz="1400">
                        <a:effectLst/>
                        <a:latin typeface="Calibri" panose="020F0502020204030204" pitchFamily="34" charset="0"/>
                        <a:ea typeface="DengXian" panose="02010600030101010101" pitchFamily="2" charset="-122"/>
                        <a:cs typeface="Times New Roman" panose="02020603050405020304" pitchFamily="18" charset="0"/>
                      </a:endParaRPr>
                    </a:p>
                  </a:txBody>
                  <a:tcPr marL="48203" marR="4820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400" dirty="0">
                          <a:effectLst/>
                          <a:latin typeface="Calibri" panose="020F0502020204030204" pitchFamily="34" charset="0"/>
                          <a:ea typeface="DengXian" panose="02010600030101010101" pitchFamily="2" charset="-122"/>
                          <a:cs typeface="Times New Roman" panose="02020603050405020304" pitchFamily="18" charset="0"/>
                        </a:rPr>
                        <a:t>Comment </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lgn="just">
                        <a:lnSpc>
                          <a:spcPct val="115000"/>
                        </a:lnSpc>
                        <a:spcAft>
                          <a:spcPts val="0"/>
                        </a:spcAft>
                      </a:pPr>
                      <a:r>
                        <a:rPr lang="en-US" sz="1400" dirty="0">
                          <a:effectLst/>
                          <a:latin typeface="Calibri" panose="020F0502020204030204" pitchFamily="34" charset="0"/>
                          <a:ea typeface="DengXian" panose="02010600030101010101" pitchFamily="2" charset="-122"/>
                          <a:cs typeface="Times New Roman" panose="02020603050405020304" pitchFamily="18" charset="0"/>
                        </a:rPr>
                        <a:t>Compare</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lgn="just">
                        <a:lnSpc>
                          <a:spcPct val="115000"/>
                        </a:lnSpc>
                        <a:spcAft>
                          <a:spcPts val="0"/>
                        </a:spcAft>
                      </a:pPr>
                      <a:r>
                        <a:rPr lang="en-US" sz="1400" dirty="0">
                          <a:effectLst/>
                          <a:latin typeface="Calibri" panose="020F0502020204030204" pitchFamily="34" charset="0"/>
                          <a:ea typeface="DengXian" panose="02010600030101010101" pitchFamily="2" charset="-122"/>
                          <a:cs typeface="Times New Roman" panose="02020603050405020304" pitchFamily="18" charset="0"/>
                        </a:rPr>
                        <a:t>Define</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lgn="just">
                        <a:lnSpc>
                          <a:spcPct val="115000"/>
                        </a:lnSpc>
                        <a:spcAft>
                          <a:spcPts val="0"/>
                        </a:spcAft>
                      </a:pPr>
                      <a:r>
                        <a:rPr lang="en-US" sz="1400" dirty="0">
                          <a:effectLst/>
                          <a:latin typeface="Calibri" panose="020F0502020204030204" pitchFamily="34" charset="0"/>
                          <a:ea typeface="DengXian" panose="02010600030101010101" pitchFamily="2" charset="-122"/>
                          <a:cs typeface="Times New Roman" panose="02020603050405020304" pitchFamily="18" charset="0"/>
                        </a:rPr>
                        <a:t>Describe</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lgn="just">
                        <a:lnSpc>
                          <a:spcPct val="115000"/>
                        </a:lnSpc>
                        <a:spcAft>
                          <a:spcPts val="0"/>
                        </a:spcAft>
                      </a:pPr>
                      <a:r>
                        <a:rPr lang="en-US" sz="1400" dirty="0">
                          <a:effectLst/>
                          <a:latin typeface="Calibri" panose="020F0502020204030204" pitchFamily="34" charset="0"/>
                          <a:ea typeface="DengXian" panose="02010600030101010101" pitchFamily="2" charset="-122"/>
                          <a:cs typeface="Times New Roman" panose="02020603050405020304" pitchFamily="18" charset="0"/>
                        </a:rPr>
                        <a:t>Discuss</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lgn="just">
                        <a:lnSpc>
                          <a:spcPct val="115000"/>
                        </a:lnSpc>
                        <a:spcAft>
                          <a:spcPts val="0"/>
                        </a:spcAft>
                      </a:pPr>
                      <a:r>
                        <a:rPr lang="en-US" sz="1400" dirty="0">
                          <a:effectLst/>
                          <a:latin typeface="Calibri" panose="020F0502020204030204" pitchFamily="34" charset="0"/>
                          <a:ea typeface="DengXian" panose="02010600030101010101" pitchFamily="2" charset="-122"/>
                          <a:cs typeface="Times New Roman" panose="02020603050405020304" pitchFamily="18" charset="0"/>
                        </a:rPr>
                        <a:t>Demonstrate</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lgn="just">
                        <a:lnSpc>
                          <a:spcPct val="115000"/>
                        </a:lnSpc>
                        <a:spcAft>
                          <a:spcPts val="0"/>
                        </a:spcAft>
                      </a:pPr>
                      <a:r>
                        <a:rPr lang="en-US" sz="1400" dirty="0">
                          <a:effectLst/>
                          <a:latin typeface="Calibri" panose="020F0502020204030204" pitchFamily="34" charset="0"/>
                          <a:ea typeface="DengXian" panose="02010600030101010101" pitchFamily="2" charset="-122"/>
                          <a:cs typeface="Times New Roman" panose="02020603050405020304" pitchFamily="18" charset="0"/>
                        </a:rPr>
                        <a:t>Document</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lgn="just">
                        <a:lnSpc>
                          <a:spcPct val="115000"/>
                        </a:lnSpc>
                        <a:spcAft>
                          <a:spcPts val="0"/>
                        </a:spcAft>
                      </a:pPr>
                      <a:r>
                        <a:rPr lang="en-US" sz="1400" dirty="0">
                          <a:effectLst/>
                          <a:latin typeface="Calibri" panose="020F0502020204030204" pitchFamily="34" charset="0"/>
                          <a:ea typeface="DengXian" panose="02010600030101010101" pitchFamily="2" charset="-122"/>
                          <a:cs typeface="Times New Roman" panose="02020603050405020304" pitchFamily="18" charset="0"/>
                        </a:rPr>
                        <a:t>Examine</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lgn="just">
                        <a:lnSpc>
                          <a:spcPct val="115000"/>
                        </a:lnSpc>
                        <a:spcAft>
                          <a:spcPts val="0"/>
                        </a:spcAft>
                      </a:pPr>
                      <a:r>
                        <a:rPr lang="en-US" sz="1400" dirty="0">
                          <a:effectLst/>
                          <a:latin typeface="Calibri" panose="020F0502020204030204" pitchFamily="34" charset="0"/>
                          <a:ea typeface="DengXian" panose="02010600030101010101" pitchFamily="2" charset="-122"/>
                          <a:cs typeface="Times New Roman" panose="02020603050405020304" pitchFamily="18" charset="0"/>
                        </a:rPr>
                        <a:t>Explain</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lgn="just">
                        <a:lnSpc>
                          <a:spcPct val="115000"/>
                        </a:lnSpc>
                        <a:spcAft>
                          <a:spcPts val="0"/>
                        </a:spcAft>
                      </a:pPr>
                      <a:r>
                        <a:rPr lang="en-US" sz="1400" dirty="0">
                          <a:effectLst/>
                          <a:latin typeface="Calibri" panose="020F0502020204030204" pitchFamily="34" charset="0"/>
                          <a:ea typeface="DengXian" panose="02010600030101010101" pitchFamily="2" charset="-122"/>
                          <a:cs typeface="Times New Roman" panose="02020603050405020304" pitchFamily="18" charset="0"/>
                        </a:rPr>
                        <a:t>Explore</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lgn="just">
                        <a:lnSpc>
                          <a:spcPct val="115000"/>
                        </a:lnSpc>
                        <a:spcAft>
                          <a:spcPts val="0"/>
                        </a:spcAft>
                      </a:pPr>
                      <a:r>
                        <a:rPr lang="en-US" sz="1400" dirty="0">
                          <a:effectLst/>
                          <a:latin typeface="Calibri" panose="020F0502020204030204" pitchFamily="34" charset="0"/>
                          <a:ea typeface="DengXian" panose="02010600030101010101" pitchFamily="2" charset="-122"/>
                          <a:cs typeface="Times New Roman" panose="02020603050405020304" pitchFamily="18" charset="0"/>
                        </a:rPr>
                        <a:t>Identify</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lgn="just">
                        <a:lnSpc>
                          <a:spcPct val="115000"/>
                        </a:lnSpc>
                        <a:spcAft>
                          <a:spcPts val="0"/>
                        </a:spcAft>
                      </a:pPr>
                      <a:r>
                        <a:rPr lang="en-US" sz="1400" dirty="0">
                          <a:effectLst/>
                          <a:latin typeface="Calibri" panose="020F0502020204030204" pitchFamily="34" charset="0"/>
                          <a:ea typeface="DengXian" panose="02010600030101010101" pitchFamily="2" charset="-122"/>
                          <a:cs typeface="Times New Roman" panose="02020603050405020304" pitchFamily="18" charset="0"/>
                        </a:rPr>
                        <a:t>Indicate</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lgn="just">
                        <a:lnSpc>
                          <a:spcPct val="115000"/>
                        </a:lnSpc>
                        <a:spcAft>
                          <a:spcPts val="0"/>
                        </a:spcAft>
                      </a:pPr>
                      <a:r>
                        <a:rPr lang="en-US" sz="1400" dirty="0">
                          <a:effectLst/>
                          <a:latin typeface="Calibri" panose="020F0502020204030204" pitchFamily="34" charset="0"/>
                          <a:ea typeface="DengXian" panose="02010600030101010101" pitchFamily="2" charset="-122"/>
                          <a:cs typeface="Times New Roman" panose="02020603050405020304" pitchFamily="18" charset="0"/>
                        </a:rPr>
                        <a:t>Interpret</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lgn="just">
                        <a:lnSpc>
                          <a:spcPct val="115000"/>
                        </a:lnSpc>
                        <a:spcAft>
                          <a:spcPts val="0"/>
                        </a:spcAft>
                      </a:pPr>
                      <a:r>
                        <a:rPr lang="en-US" sz="1400" dirty="0">
                          <a:effectLst/>
                          <a:latin typeface="Calibri" panose="020F0502020204030204" pitchFamily="34" charset="0"/>
                          <a:ea typeface="DengXian" panose="02010600030101010101" pitchFamily="2" charset="-122"/>
                          <a:cs typeface="Times New Roman" panose="02020603050405020304" pitchFamily="18" charset="0"/>
                        </a:rPr>
                        <a:t>Mention</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lgn="just">
                        <a:lnSpc>
                          <a:spcPct val="115000"/>
                        </a:lnSpc>
                        <a:spcAft>
                          <a:spcPts val="0"/>
                        </a:spcAft>
                      </a:pPr>
                      <a:r>
                        <a:rPr lang="en-US" sz="1400" dirty="0">
                          <a:effectLst/>
                          <a:latin typeface="Calibri" panose="020F0502020204030204" pitchFamily="34" charset="0"/>
                          <a:ea typeface="DengXian" panose="02010600030101010101" pitchFamily="2" charset="-122"/>
                          <a:cs typeface="Times New Roman" panose="02020603050405020304" pitchFamily="18" charset="0"/>
                        </a:rPr>
                        <a:t>Note</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lgn="just">
                        <a:lnSpc>
                          <a:spcPct val="115000"/>
                        </a:lnSpc>
                        <a:spcAft>
                          <a:spcPts val="0"/>
                        </a:spcAft>
                      </a:pPr>
                      <a:r>
                        <a:rPr lang="en-US" sz="1400" dirty="0">
                          <a:effectLst/>
                          <a:latin typeface="Calibri" panose="020F0502020204030204" pitchFamily="34" charset="0"/>
                          <a:ea typeface="DengXian" panose="02010600030101010101" pitchFamily="2" charset="-122"/>
                          <a:cs typeface="Times New Roman" panose="02020603050405020304" pitchFamily="18" charset="0"/>
                        </a:rPr>
                        <a:t>Observe</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lgn="just">
                        <a:lnSpc>
                          <a:spcPct val="115000"/>
                        </a:lnSpc>
                        <a:spcAft>
                          <a:spcPts val="0"/>
                        </a:spcAft>
                      </a:pPr>
                      <a:r>
                        <a:rPr lang="en-US" sz="1400" dirty="0">
                          <a:effectLst/>
                          <a:latin typeface="Calibri" panose="020F0502020204030204" pitchFamily="34" charset="0"/>
                          <a:ea typeface="DengXian" panose="02010600030101010101" pitchFamily="2" charset="-122"/>
                          <a:cs typeface="Times New Roman" panose="02020603050405020304" pitchFamily="18" charset="0"/>
                        </a:rPr>
                        <a:t>Point out</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lgn="just">
                        <a:lnSpc>
                          <a:spcPct val="115000"/>
                        </a:lnSpc>
                        <a:spcAft>
                          <a:spcPts val="0"/>
                        </a:spcAft>
                      </a:pPr>
                      <a:r>
                        <a:rPr lang="en-US" sz="1400" dirty="0">
                          <a:effectLst/>
                          <a:latin typeface="Calibri" panose="020F0502020204030204" pitchFamily="34" charset="0"/>
                          <a:ea typeface="DengXian" panose="02010600030101010101" pitchFamily="2" charset="-122"/>
                          <a:cs typeface="Times New Roman" panose="02020603050405020304" pitchFamily="18" charset="0"/>
                        </a:rPr>
                        <a:t>Report</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lgn="just">
                        <a:lnSpc>
                          <a:spcPct val="115000"/>
                        </a:lnSpc>
                        <a:spcAft>
                          <a:spcPts val="0"/>
                        </a:spcAft>
                      </a:pPr>
                      <a:r>
                        <a:rPr lang="en-US" sz="1400" dirty="0">
                          <a:effectLst/>
                          <a:latin typeface="Calibri" panose="020F0502020204030204" pitchFamily="34" charset="0"/>
                          <a:ea typeface="DengXian" panose="02010600030101010101" pitchFamily="2" charset="-122"/>
                          <a:cs typeface="Times New Roman" panose="02020603050405020304" pitchFamily="18" charset="0"/>
                        </a:rPr>
                        <a:t>Regard</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lgn="just">
                        <a:lnSpc>
                          <a:spcPct val="115000"/>
                        </a:lnSpc>
                        <a:spcAft>
                          <a:spcPts val="0"/>
                        </a:spcAft>
                      </a:pPr>
                      <a:r>
                        <a:rPr lang="en-US" sz="1400" dirty="0">
                          <a:effectLst/>
                          <a:latin typeface="Calibri" panose="020F0502020204030204" pitchFamily="34" charset="0"/>
                          <a:ea typeface="DengXian" panose="02010600030101010101" pitchFamily="2" charset="-122"/>
                          <a:cs typeface="Times New Roman" panose="02020603050405020304" pitchFamily="18" charset="0"/>
                        </a:rPr>
                        <a:t>Reveal</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lgn="just">
                        <a:lnSpc>
                          <a:spcPct val="115000"/>
                        </a:lnSpc>
                        <a:spcAft>
                          <a:spcPts val="0"/>
                        </a:spcAft>
                      </a:pPr>
                      <a:r>
                        <a:rPr lang="en-US" sz="1400" dirty="0">
                          <a:effectLst/>
                          <a:latin typeface="Calibri" panose="020F0502020204030204" pitchFamily="34" charset="0"/>
                          <a:ea typeface="DengXian" panose="02010600030101010101" pitchFamily="2" charset="-122"/>
                          <a:cs typeface="Times New Roman" panose="02020603050405020304" pitchFamily="18" charset="0"/>
                        </a:rPr>
                        <a:t>Show</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lgn="just">
                        <a:lnSpc>
                          <a:spcPct val="115000"/>
                        </a:lnSpc>
                        <a:spcAft>
                          <a:spcPts val="0"/>
                        </a:spcAft>
                      </a:pPr>
                      <a:r>
                        <a:rPr lang="en-US" sz="1400" dirty="0">
                          <a:effectLst/>
                          <a:latin typeface="Calibri" panose="020F0502020204030204" pitchFamily="34" charset="0"/>
                          <a:ea typeface="DengXian" panose="02010600030101010101" pitchFamily="2" charset="-122"/>
                          <a:cs typeface="Times New Roman" panose="02020603050405020304" pitchFamily="18" charset="0"/>
                        </a:rPr>
                        <a:t>Study</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lgn="just">
                        <a:lnSpc>
                          <a:spcPct val="115000"/>
                        </a:lnSpc>
                        <a:spcAft>
                          <a:spcPts val="0"/>
                        </a:spcAft>
                      </a:pPr>
                      <a:r>
                        <a:rPr lang="en-US" sz="1400" dirty="0">
                          <a:effectLst/>
                          <a:latin typeface="Calibri" panose="020F0502020204030204" pitchFamily="34" charset="0"/>
                          <a:ea typeface="DengXian" panose="02010600030101010101" pitchFamily="2" charset="-122"/>
                          <a:cs typeface="Times New Roman" panose="02020603050405020304" pitchFamily="18" charset="0"/>
                        </a:rPr>
                        <a:t>State</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lgn="just">
                        <a:lnSpc>
                          <a:spcPct val="115000"/>
                        </a:lnSpc>
                        <a:spcAft>
                          <a:spcPts val="0"/>
                        </a:spcAft>
                      </a:pPr>
                      <a:r>
                        <a:rPr lang="en-US" sz="1400" dirty="0">
                          <a:effectLst/>
                          <a:latin typeface="Calibri" panose="020F0502020204030204" pitchFamily="34" charset="0"/>
                          <a:ea typeface="DengXian" panose="02010600030101010101" pitchFamily="2" charset="-122"/>
                          <a:cs typeface="Times New Roman" panose="02020603050405020304" pitchFamily="18" charset="0"/>
                        </a:rPr>
                        <a:t>Take into consideration that</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lgn="just">
                        <a:lnSpc>
                          <a:spcPct val="115000"/>
                        </a:lnSpc>
                        <a:spcAft>
                          <a:spcPts val="0"/>
                        </a:spcAft>
                      </a:pPr>
                      <a:r>
                        <a:rPr lang="en-US" sz="1400" dirty="0">
                          <a:effectLst/>
                          <a:latin typeface="Calibri" panose="020F0502020204030204" pitchFamily="34" charset="0"/>
                          <a:ea typeface="DengXian" panose="02010600030101010101" pitchFamily="2" charset="-122"/>
                          <a:cs typeface="Times New Roman" panose="02020603050405020304" pitchFamily="18" charset="0"/>
                        </a:rPr>
                        <a:t> </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lgn="just">
                        <a:lnSpc>
                          <a:spcPct val="115000"/>
                        </a:lnSpc>
                        <a:spcAft>
                          <a:spcPts val="0"/>
                        </a:spcAft>
                      </a:pPr>
                      <a:r>
                        <a:rPr lang="en-US" sz="1400" dirty="0">
                          <a:effectLst/>
                          <a:latin typeface="Calibri" panose="020F0502020204030204" pitchFamily="34" charset="0"/>
                          <a:ea typeface="DengXian" panose="02010600030101010101" pitchFamily="2" charset="-122"/>
                          <a:cs typeface="Times New Roman" panose="02020603050405020304" pitchFamily="18" charset="0"/>
                        </a:rPr>
                        <a:t> </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txBody>
                  <a:tcPr marL="48203" marR="4820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400" dirty="0">
                          <a:effectLst/>
                          <a:latin typeface="Calibri" panose="020F0502020204030204" pitchFamily="34" charset="0"/>
                          <a:ea typeface="DengXian" panose="02010600030101010101" pitchFamily="2" charset="-122"/>
                          <a:cs typeface="Times New Roman" panose="02020603050405020304" pitchFamily="18" charset="0"/>
                        </a:rPr>
                        <a:t>Acknowledge</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lgn="just">
                        <a:lnSpc>
                          <a:spcPct val="115000"/>
                        </a:lnSpc>
                        <a:spcAft>
                          <a:spcPts val="0"/>
                        </a:spcAft>
                      </a:pPr>
                      <a:r>
                        <a:rPr lang="en-US" sz="1400" dirty="0">
                          <a:effectLst/>
                          <a:latin typeface="Calibri" panose="020F0502020204030204" pitchFamily="34" charset="0"/>
                          <a:ea typeface="DengXian" panose="02010600030101010101" pitchFamily="2" charset="-122"/>
                          <a:cs typeface="Times New Roman" panose="02020603050405020304" pitchFamily="18" charset="0"/>
                        </a:rPr>
                        <a:t>Advocate</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lgn="just">
                        <a:lnSpc>
                          <a:spcPct val="115000"/>
                        </a:lnSpc>
                        <a:spcAft>
                          <a:spcPts val="0"/>
                        </a:spcAft>
                      </a:pPr>
                      <a:r>
                        <a:rPr lang="en-US" sz="1400" dirty="0">
                          <a:effectLst/>
                          <a:latin typeface="Calibri" panose="020F0502020204030204" pitchFamily="34" charset="0"/>
                          <a:ea typeface="DengXian" panose="02010600030101010101" pitchFamily="2" charset="-122"/>
                          <a:cs typeface="Times New Roman" panose="02020603050405020304" pitchFamily="18" charset="0"/>
                        </a:rPr>
                        <a:t>Affirm</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lgn="just">
                        <a:lnSpc>
                          <a:spcPct val="115000"/>
                        </a:lnSpc>
                        <a:spcAft>
                          <a:spcPts val="0"/>
                        </a:spcAft>
                      </a:pPr>
                      <a:r>
                        <a:rPr lang="en-US" sz="1400" dirty="0">
                          <a:effectLst/>
                          <a:latin typeface="Calibri" panose="020F0502020204030204" pitchFamily="34" charset="0"/>
                          <a:ea typeface="DengXian" panose="02010600030101010101" pitchFamily="2" charset="-122"/>
                          <a:cs typeface="Times New Roman" panose="02020603050405020304" pitchFamily="18" charset="0"/>
                        </a:rPr>
                        <a:t>Argue</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lgn="just">
                        <a:lnSpc>
                          <a:spcPct val="115000"/>
                        </a:lnSpc>
                        <a:spcAft>
                          <a:spcPts val="0"/>
                        </a:spcAft>
                      </a:pPr>
                      <a:r>
                        <a:rPr lang="en-US" sz="1400" dirty="0">
                          <a:effectLst/>
                          <a:latin typeface="Calibri" panose="020F0502020204030204" pitchFamily="34" charset="0"/>
                          <a:ea typeface="DengXian" panose="02010600030101010101" pitchFamily="2" charset="-122"/>
                          <a:cs typeface="Times New Roman" panose="02020603050405020304" pitchFamily="18" charset="0"/>
                        </a:rPr>
                        <a:t>Assume</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lgn="just">
                        <a:lnSpc>
                          <a:spcPct val="115000"/>
                        </a:lnSpc>
                        <a:spcAft>
                          <a:spcPts val="0"/>
                        </a:spcAft>
                      </a:pPr>
                      <a:r>
                        <a:rPr lang="en-US" sz="1400" dirty="0">
                          <a:effectLst/>
                          <a:latin typeface="Calibri" panose="020F0502020204030204" pitchFamily="34" charset="0"/>
                          <a:ea typeface="DengXian" panose="02010600030101010101" pitchFamily="2" charset="-122"/>
                          <a:cs typeface="Times New Roman" panose="02020603050405020304" pitchFamily="18" charset="0"/>
                        </a:rPr>
                        <a:t>Challenge</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lgn="just">
                        <a:lnSpc>
                          <a:spcPct val="115000"/>
                        </a:lnSpc>
                        <a:spcAft>
                          <a:spcPts val="0"/>
                        </a:spcAft>
                      </a:pPr>
                      <a:r>
                        <a:rPr lang="en-US" sz="1400" dirty="0">
                          <a:effectLst/>
                          <a:latin typeface="Calibri" panose="020F0502020204030204" pitchFamily="34" charset="0"/>
                          <a:ea typeface="DengXian" panose="02010600030101010101" pitchFamily="2" charset="-122"/>
                          <a:cs typeface="Times New Roman" panose="02020603050405020304" pitchFamily="18" charset="0"/>
                        </a:rPr>
                        <a:t>Concede</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lgn="just">
                        <a:lnSpc>
                          <a:spcPct val="115000"/>
                        </a:lnSpc>
                        <a:spcAft>
                          <a:spcPts val="0"/>
                        </a:spcAft>
                      </a:pPr>
                      <a:r>
                        <a:rPr lang="en-US" sz="1400" dirty="0">
                          <a:effectLst/>
                          <a:latin typeface="Calibri" panose="020F0502020204030204" pitchFamily="34" charset="0"/>
                          <a:ea typeface="DengXian" panose="02010600030101010101" pitchFamily="2" charset="-122"/>
                          <a:cs typeface="Times New Roman" panose="02020603050405020304" pitchFamily="18" charset="0"/>
                        </a:rPr>
                        <a:t>Conclude</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lgn="just">
                        <a:lnSpc>
                          <a:spcPct val="115000"/>
                        </a:lnSpc>
                        <a:spcAft>
                          <a:spcPts val="0"/>
                        </a:spcAft>
                      </a:pPr>
                      <a:r>
                        <a:rPr lang="en-US" sz="1400" dirty="0">
                          <a:effectLst/>
                          <a:latin typeface="Calibri" panose="020F0502020204030204" pitchFamily="34" charset="0"/>
                          <a:ea typeface="DengXian" panose="02010600030101010101" pitchFamily="2" charset="-122"/>
                          <a:cs typeface="Times New Roman" panose="02020603050405020304" pitchFamily="18" charset="0"/>
                        </a:rPr>
                        <a:t>Confirm</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lgn="just">
                        <a:lnSpc>
                          <a:spcPct val="115000"/>
                        </a:lnSpc>
                        <a:spcAft>
                          <a:spcPts val="0"/>
                        </a:spcAft>
                      </a:pPr>
                      <a:r>
                        <a:rPr lang="en-US" sz="1400" dirty="0">
                          <a:effectLst/>
                          <a:latin typeface="Calibri" panose="020F0502020204030204" pitchFamily="34" charset="0"/>
                          <a:ea typeface="DengXian" panose="02010600030101010101" pitchFamily="2" charset="-122"/>
                          <a:cs typeface="Times New Roman" panose="02020603050405020304" pitchFamily="18" charset="0"/>
                        </a:rPr>
                        <a:t>Contend</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lgn="just">
                        <a:lnSpc>
                          <a:spcPct val="115000"/>
                        </a:lnSpc>
                        <a:spcAft>
                          <a:spcPts val="0"/>
                        </a:spcAft>
                      </a:pPr>
                      <a:r>
                        <a:rPr lang="en-US" sz="1400" dirty="0">
                          <a:effectLst/>
                          <a:latin typeface="Calibri" panose="020F0502020204030204" pitchFamily="34" charset="0"/>
                          <a:ea typeface="DengXian" panose="02010600030101010101" pitchFamily="2" charset="-122"/>
                          <a:cs typeface="Times New Roman" panose="02020603050405020304" pitchFamily="18" charset="0"/>
                        </a:rPr>
                        <a:t>Deny</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lgn="just">
                        <a:lnSpc>
                          <a:spcPct val="115000"/>
                        </a:lnSpc>
                        <a:spcAft>
                          <a:spcPts val="0"/>
                        </a:spcAft>
                      </a:pPr>
                      <a:r>
                        <a:rPr lang="en-US" sz="1400" dirty="0">
                          <a:effectLst/>
                          <a:latin typeface="Calibri" panose="020F0502020204030204" pitchFamily="34" charset="0"/>
                          <a:ea typeface="DengXian" panose="02010600030101010101" pitchFamily="2" charset="-122"/>
                          <a:cs typeface="Times New Roman" panose="02020603050405020304" pitchFamily="18" charset="0"/>
                        </a:rPr>
                        <a:t>Doubt</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lgn="just">
                        <a:lnSpc>
                          <a:spcPct val="115000"/>
                        </a:lnSpc>
                        <a:spcAft>
                          <a:spcPts val="0"/>
                        </a:spcAft>
                      </a:pPr>
                      <a:r>
                        <a:rPr lang="en-US" sz="1400" dirty="0">
                          <a:effectLst/>
                          <a:latin typeface="Calibri" panose="020F0502020204030204" pitchFamily="34" charset="0"/>
                          <a:ea typeface="DengXian" panose="02010600030101010101" pitchFamily="2" charset="-122"/>
                          <a:cs typeface="Times New Roman" panose="02020603050405020304" pitchFamily="18" charset="0"/>
                        </a:rPr>
                        <a:t>Dispute</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lgn="just">
                        <a:lnSpc>
                          <a:spcPct val="115000"/>
                        </a:lnSpc>
                        <a:spcAft>
                          <a:spcPts val="0"/>
                        </a:spcAft>
                      </a:pPr>
                      <a:r>
                        <a:rPr lang="en-US" sz="1400" dirty="0">
                          <a:effectLst/>
                          <a:latin typeface="Calibri" panose="020F0502020204030204" pitchFamily="34" charset="0"/>
                          <a:ea typeface="DengXian" panose="02010600030101010101" pitchFamily="2" charset="-122"/>
                          <a:cs typeface="Times New Roman" panose="02020603050405020304" pitchFamily="18" charset="0"/>
                        </a:rPr>
                        <a:t>Endorse</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lgn="just">
                        <a:lnSpc>
                          <a:spcPct val="115000"/>
                        </a:lnSpc>
                        <a:spcAft>
                          <a:spcPts val="0"/>
                        </a:spcAft>
                      </a:pPr>
                      <a:r>
                        <a:rPr lang="en-US" sz="1400" dirty="0">
                          <a:effectLst/>
                          <a:latin typeface="Calibri" panose="020F0502020204030204" pitchFamily="34" charset="0"/>
                          <a:ea typeface="DengXian" panose="02010600030101010101" pitchFamily="2" charset="-122"/>
                          <a:cs typeface="Times New Roman" panose="02020603050405020304" pitchFamily="18" charset="0"/>
                        </a:rPr>
                        <a:t>Emphasize</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lgn="just">
                        <a:lnSpc>
                          <a:spcPct val="115000"/>
                        </a:lnSpc>
                        <a:spcAft>
                          <a:spcPts val="0"/>
                        </a:spcAft>
                      </a:pPr>
                      <a:r>
                        <a:rPr lang="en-US" sz="1400" dirty="0">
                          <a:effectLst/>
                          <a:latin typeface="Calibri" panose="020F0502020204030204" pitchFamily="34" charset="0"/>
                          <a:ea typeface="DengXian" panose="02010600030101010101" pitchFamily="2" charset="-122"/>
                          <a:cs typeface="Times New Roman" panose="02020603050405020304" pitchFamily="18" charset="0"/>
                        </a:rPr>
                        <a:t>Establish</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lgn="just">
                        <a:lnSpc>
                          <a:spcPct val="115000"/>
                        </a:lnSpc>
                        <a:spcAft>
                          <a:spcPts val="0"/>
                        </a:spcAft>
                      </a:pPr>
                      <a:r>
                        <a:rPr lang="en-US" sz="1400" dirty="0">
                          <a:effectLst/>
                          <a:latin typeface="Calibri" panose="020F0502020204030204" pitchFamily="34" charset="0"/>
                          <a:ea typeface="DengXian" panose="02010600030101010101" pitchFamily="2" charset="-122"/>
                          <a:cs typeface="Times New Roman" panose="02020603050405020304" pitchFamily="18" charset="0"/>
                        </a:rPr>
                        <a:t>Highlight</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lgn="just">
                        <a:lnSpc>
                          <a:spcPct val="115000"/>
                        </a:lnSpc>
                        <a:spcAft>
                          <a:spcPts val="0"/>
                        </a:spcAft>
                      </a:pPr>
                      <a:r>
                        <a:rPr lang="en-US" sz="1400" dirty="0">
                          <a:effectLst/>
                          <a:latin typeface="Calibri" panose="020F0502020204030204" pitchFamily="34" charset="0"/>
                          <a:ea typeface="DengXian" panose="02010600030101010101" pitchFamily="2" charset="-122"/>
                          <a:cs typeface="Times New Roman" panose="02020603050405020304" pitchFamily="18" charset="0"/>
                        </a:rPr>
                        <a:t>Infer</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lgn="just">
                        <a:lnSpc>
                          <a:spcPct val="115000"/>
                        </a:lnSpc>
                        <a:spcAft>
                          <a:spcPts val="0"/>
                        </a:spcAft>
                      </a:pPr>
                      <a:r>
                        <a:rPr lang="en-US" sz="1400" dirty="0">
                          <a:effectLst/>
                          <a:latin typeface="Calibri" panose="020F0502020204030204" pitchFamily="34" charset="0"/>
                          <a:ea typeface="DengXian" panose="02010600030101010101" pitchFamily="2" charset="-122"/>
                          <a:cs typeface="Times New Roman" panose="02020603050405020304" pitchFamily="18" charset="0"/>
                        </a:rPr>
                        <a:t>Maintain</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lgn="just">
                        <a:lnSpc>
                          <a:spcPct val="115000"/>
                        </a:lnSpc>
                        <a:spcAft>
                          <a:spcPts val="0"/>
                        </a:spcAft>
                      </a:pPr>
                      <a:r>
                        <a:rPr lang="en-US" sz="1400" dirty="0">
                          <a:effectLst/>
                          <a:latin typeface="Calibri" panose="020F0502020204030204" pitchFamily="34" charset="0"/>
                          <a:ea typeface="DengXian" panose="02010600030101010101" pitchFamily="2" charset="-122"/>
                          <a:cs typeface="Times New Roman" panose="02020603050405020304" pitchFamily="18" charset="0"/>
                        </a:rPr>
                        <a:t>Oppose</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lgn="just">
                        <a:lnSpc>
                          <a:spcPct val="115000"/>
                        </a:lnSpc>
                        <a:spcAft>
                          <a:spcPts val="0"/>
                        </a:spcAft>
                      </a:pPr>
                      <a:r>
                        <a:rPr lang="en-US" sz="1400" dirty="0">
                          <a:effectLst/>
                          <a:latin typeface="Calibri" panose="020F0502020204030204" pitchFamily="34" charset="0"/>
                          <a:ea typeface="DengXian" panose="02010600030101010101" pitchFamily="2" charset="-122"/>
                          <a:cs typeface="Times New Roman" panose="02020603050405020304" pitchFamily="18" charset="0"/>
                        </a:rPr>
                        <a:t>Object to</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lgn="just">
                        <a:lnSpc>
                          <a:spcPct val="115000"/>
                        </a:lnSpc>
                        <a:spcAft>
                          <a:spcPts val="0"/>
                        </a:spcAft>
                      </a:pPr>
                      <a:r>
                        <a:rPr lang="en-US" sz="1400" dirty="0">
                          <a:effectLst/>
                          <a:latin typeface="Calibri" panose="020F0502020204030204" pitchFamily="34" charset="0"/>
                          <a:ea typeface="DengXian" panose="02010600030101010101" pitchFamily="2" charset="-122"/>
                          <a:cs typeface="Times New Roman" panose="02020603050405020304" pitchFamily="18" charset="0"/>
                        </a:rPr>
                        <a:t>Presume</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lgn="just">
                        <a:lnSpc>
                          <a:spcPct val="115000"/>
                        </a:lnSpc>
                        <a:spcAft>
                          <a:spcPts val="0"/>
                        </a:spcAft>
                      </a:pPr>
                      <a:r>
                        <a:rPr lang="en-US" sz="1400" dirty="0">
                          <a:effectLst/>
                          <a:latin typeface="Calibri" panose="020F0502020204030204" pitchFamily="34" charset="0"/>
                          <a:ea typeface="DengXian" panose="02010600030101010101" pitchFamily="2" charset="-122"/>
                          <a:cs typeface="Times New Roman" panose="02020603050405020304" pitchFamily="18" charset="0"/>
                        </a:rPr>
                        <a:t>Refute</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lgn="just">
                        <a:lnSpc>
                          <a:spcPct val="115000"/>
                        </a:lnSpc>
                        <a:spcAft>
                          <a:spcPts val="0"/>
                        </a:spcAft>
                      </a:pPr>
                      <a:r>
                        <a:rPr lang="en-US" sz="1400" dirty="0">
                          <a:effectLst/>
                          <a:latin typeface="Calibri" panose="020F0502020204030204" pitchFamily="34" charset="0"/>
                          <a:ea typeface="DengXian" panose="02010600030101010101" pitchFamily="2" charset="-122"/>
                          <a:cs typeface="Times New Roman" panose="02020603050405020304" pitchFamily="18" charset="0"/>
                        </a:rPr>
                        <a:t>Reject</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lgn="just">
                        <a:lnSpc>
                          <a:spcPct val="115000"/>
                        </a:lnSpc>
                        <a:spcAft>
                          <a:spcPts val="0"/>
                        </a:spcAft>
                      </a:pPr>
                      <a:r>
                        <a:rPr lang="en-US" sz="1400" dirty="0">
                          <a:effectLst/>
                          <a:latin typeface="Calibri" panose="020F0502020204030204" pitchFamily="34" charset="0"/>
                          <a:ea typeface="DengXian" panose="02010600030101010101" pitchFamily="2" charset="-122"/>
                          <a:cs typeface="Times New Roman" panose="02020603050405020304" pitchFamily="18" charset="0"/>
                        </a:rPr>
                        <a:t>Stress </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lgn="just">
                        <a:lnSpc>
                          <a:spcPct val="115000"/>
                        </a:lnSpc>
                        <a:spcAft>
                          <a:spcPts val="0"/>
                        </a:spcAft>
                      </a:pPr>
                      <a:r>
                        <a:rPr lang="en-US" sz="1400" dirty="0">
                          <a:effectLst/>
                          <a:latin typeface="Calibri" panose="020F0502020204030204" pitchFamily="34" charset="0"/>
                          <a:ea typeface="DengXian" panose="02010600030101010101" pitchFamily="2" charset="-122"/>
                          <a:cs typeface="Times New Roman" panose="02020603050405020304" pitchFamily="18" charset="0"/>
                        </a:rPr>
                        <a:t>Support the view that</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lgn="just">
                        <a:lnSpc>
                          <a:spcPct val="115000"/>
                        </a:lnSpc>
                        <a:spcAft>
                          <a:spcPts val="0"/>
                        </a:spcAft>
                      </a:pPr>
                      <a:r>
                        <a:rPr lang="en-US" sz="1400" dirty="0">
                          <a:effectLst/>
                          <a:latin typeface="Calibri" panose="020F0502020204030204" pitchFamily="34" charset="0"/>
                          <a:ea typeface="DengXian" panose="02010600030101010101" pitchFamily="2" charset="-122"/>
                          <a:cs typeface="Times New Roman" panose="02020603050405020304" pitchFamily="18" charset="0"/>
                        </a:rPr>
                        <a:t>Substantiate</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txBody>
                  <a:tcPr marL="48203" marR="4820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9900451"/>
                  </a:ext>
                </a:extLst>
              </a:tr>
            </a:tbl>
          </a:graphicData>
        </a:graphic>
      </p:graphicFrame>
      <p:sp>
        <p:nvSpPr>
          <p:cNvPr id="3" name="Slide Number Placeholder 3">
            <a:extLst>
              <a:ext uri="{FF2B5EF4-FFF2-40B4-BE49-F238E27FC236}">
                <a16:creationId xmlns:a16="http://schemas.microsoft.com/office/drawing/2014/main" id="{FDCE2D1D-9EA0-4321-9570-F3F1C5240E2E}"/>
              </a:ext>
            </a:extLst>
          </p:cNvPr>
          <p:cNvSpPr>
            <a:spLocks noGrp="1"/>
          </p:cNvSpPr>
          <p:nvPr>
            <p:ph type="sldNum" sz="quarter" idx="12"/>
          </p:nvPr>
        </p:nvSpPr>
        <p:spPr>
          <a:xfrm>
            <a:off x="531812" y="787782"/>
            <a:ext cx="779767" cy="365125"/>
          </a:xfrm>
        </p:spPr>
        <p:txBody>
          <a:bodyPr/>
          <a:lstStyle/>
          <a:p>
            <a:fld id="{D57F1E4F-1CFF-5643-939E-217C01CDF565}" type="slidenum">
              <a:rPr lang="en-US" smtClean="0"/>
              <a:pPr/>
              <a:t>20</a:t>
            </a:fld>
            <a:endParaRPr lang="en-US" dirty="0"/>
          </a:p>
        </p:txBody>
      </p:sp>
    </p:spTree>
    <p:extLst>
      <p:ext uri="{BB962C8B-B14F-4D97-AF65-F5344CB8AC3E}">
        <p14:creationId xmlns:p14="http://schemas.microsoft.com/office/powerpoint/2010/main" val="24722753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48312" y="244491"/>
            <a:ext cx="9929361" cy="1083566"/>
          </a:xfrm>
        </p:spPr>
        <p:txBody>
          <a:bodyPr/>
          <a:lstStyle/>
          <a:p>
            <a:pPr marL="0" indent="0" algn="just">
              <a:buNone/>
            </a:pPr>
            <a:r>
              <a:rPr lang="en-US" dirty="0"/>
              <a:t>Reporting verbs can be used to convey </a:t>
            </a:r>
            <a:r>
              <a:rPr lang="en-US" b="1" dirty="0"/>
              <a:t>the attitudes of the writer </a:t>
            </a:r>
            <a:r>
              <a:rPr lang="en-US" dirty="0"/>
              <a:t>of the summary/literature review. What do you think about the attitude of the writer of the two sentences below?</a:t>
            </a:r>
            <a:endParaRPr lang="en-GB" dirty="0"/>
          </a:p>
          <a:p>
            <a:pPr marL="0" indent="0">
              <a:buNone/>
            </a:pPr>
            <a:endParaRPr lang="en-US" dirty="0"/>
          </a:p>
        </p:txBody>
      </p:sp>
      <p:graphicFrame>
        <p:nvGraphicFramePr>
          <p:cNvPr id="7" name="Table 6">
            <a:extLst>
              <a:ext uri="{FF2B5EF4-FFF2-40B4-BE49-F238E27FC236}">
                <a16:creationId xmlns:a16="http://schemas.microsoft.com/office/drawing/2014/main" id="{E335E2E8-56F7-4FB5-9D76-11A32FEA863A}"/>
              </a:ext>
            </a:extLst>
          </p:cNvPr>
          <p:cNvGraphicFramePr>
            <a:graphicFrameLocks noGrp="1"/>
          </p:cNvGraphicFramePr>
          <p:nvPr>
            <p:extLst>
              <p:ext uri="{D42A27DB-BD31-4B8C-83A1-F6EECF244321}">
                <p14:modId xmlns:p14="http://schemas.microsoft.com/office/powerpoint/2010/main" val="760780381"/>
              </p:ext>
            </p:extLst>
          </p:nvPr>
        </p:nvGraphicFramePr>
        <p:xfrm>
          <a:off x="2191929" y="1328057"/>
          <a:ext cx="9042128" cy="1682342"/>
        </p:xfrm>
        <a:graphic>
          <a:graphicData uri="http://schemas.openxmlformats.org/drawingml/2006/table">
            <a:tbl>
              <a:tblPr firstRow="1" firstCol="1" bandRow="1"/>
              <a:tblGrid>
                <a:gridCol w="9042128">
                  <a:extLst>
                    <a:ext uri="{9D8B030D-6E8A-4147-A177-3AD203B41FA5}">
                      <a16:colId xmlns:a16="http://schemas.microsoft.com/office/drawing/2014/main" val="1166909161"/>
                    </a:ext>
                  </a:extLst>
                </a:gridCol>
              </a:tblGrid>
              <a:tr h="1682342">
                <a:tc>
                  <a:txBody>
                    <a:bodyPr/>
                    <a:lstStyle/>
                    <a:p>
                      <a:pPr algn="just">
                        <a:lnSpc>
                          <a:spcPct val="115000"/>
                        </a:lnSpc>
                        <a:spcAft>
                          <a:spcPts val="1200"/>
                        </a:spcAft>
                      </a:pPr>
                      <a:r>
                        <a:rPr lang="en-US" sz="1800" kern="1200" dirty="0">
                          <a:solidFill>
                            <a:schemeClr val="tx1">
                              <a:lumMod val="75000"/>
                              <a:lumOff val="25000"/>
                            </a:schemeClr>
                          </a:solidFill>
                          <a:latin typeface="+mn-lt"/>
                          <a:ea typeface="+mn-ea"/>
                          <a:cs typeface="+mn-cs"/>
                        </a:rPr>
                        <a:t>Campbell (2010) </a:t>
                      </a:r>
                      <a:r>
                        <a:rPr lang="en-US" sz="1800" b="1" i="1" kern="1200" dirty="0">
                          <a:solidFill>
                            <a:schemeClr val="tx1">
                              <a:lumMod val="75000"/>
                              <a:lumOff val="25000"/>
                            </a:schemeClr>
                          </a:solidFill>
                          <a:latin typeface="+mn-lt"/>
                          <a:ea typeface="+mn-ea"/>
                          <a:cs typeface="+mn-cs"/>
                        </a:rPr>
                        <a:t>presumes</a:t>
                      </a:r>
                      <a:r>
                        <a:rPr lang="en-US" sz="1800" kern="1200" dirty="0">
                          <a:solidFill>
                            <a:schemeClr val="tx1">
                              <a:lumMod val="75000"/>
                              <a:lumOff val="25000"/>
                            </a:schemeClr>
                          </a:solidFill>
                          <a:latin typeface="+mn-lt"/>
                          <a:ea typeface="+mn-ea"/>
                          <a:cs typeface="+mn-cs"/>
                        </a:rPr>
                        <a:t> that the findings will be representative of the whole population…</a:t>
                      </a:r>
                      <a:endParaRPr lang="en-GB" sz="1800" kern="1200" dirty="0">
                        <a:solidFill>
                          <a:schemeClr val="tx1">
                            <a:lumMod val="75000"/>
                            <a:lumOff val="25000"/>
                          </a:schemeClr>
                        </a:solidFill>
                        <a:latin typeface="+mn-lt"/>
                        <a:ea typeface="+mn-ea"/>
                        <a:cs typeface="+mn-cs"/>
                      </a:endParaRPr>
                    </a:p>
                    <a:p>
                      <a:pPr algn="just">
                        <a:lnSpc>
                          <a:spcPct val="115000"/>
                        </a:lnSpc>
                        <a:spcAft>
                          <a:spcPts val="1200"/>
                        </a:spcAft>
                      </a:pPr>
                      <a:r>
                        <a:rPr lang="en-US" sz="1800" kern="1200" dirty="0">
                          <a:solidFill>
                            <a:schemeClr val="tx1">
                              <a:lumMod val="75000"/>
                              <a:lumOff val="25000"/>
                            </a:schemeClr>
                          </a:solidFill>
                          <a:latin typeface="+mn-lt"/>
                          <a:ea typeface="+mn-ea"/>
                          <a:cs typeface="+mn-cs"/>
                        </a:rPr>
                        <a:t>The authors </a:t>
                      </a:r>
                      <a:r>
                        <a:rPr lang="en-US" sz="1800" b="1" i="1" kern="1200" dirty="0">
                          <a:solidFill>
                            <a:schemeClr val="tx1">
                              <a:lumMod val="75000"/>
                              <a:lumOff val="25000"/>
                            </a:schemeClr>
                          </a:solidFill>
                          <a:latin typeface="+mn-lt"/>
                          <a:ea typeface="+mn-ea"/>
                          <a:cs typeface="+mn-cs"/>
                        </a:rPr>
                        <a:t>speculate </a:t>
                      </a:r>
                      <a:r>
                        <a:rPr lang="en-US" sz="1800" kern="1200" dirty="0">
                          <a:solidFill>
                            <a:schemeClr val="tx1">
                              <a:lumMod val="75000"/>
                              <a:lumOff val="25000"/>
                            </a:schemeClr>
                          </a:solidFill>
                          <a:latin typeface="+mn-lt"/>
                          <a:ea typeface="+mn-ea"/>
                          <a:cs typeface="+mn-cs"/>
                        </a:rPr>
                        <a:t>that people who scrap their old cars will immediately buy another new(</a:t>
                      </a:r>
                      <a:r>
                        <a:rPr lang="en-US" sz="1800" kern="1200" dirty="0" err="1">
                          <a:solidFill>
                            <a:schemeClr val="tx1">
                              <a:lumMod val="75000"/>
                              <a:lumOff val="25000"/>
                            </a:schemeClr>
                          </a:solidFill>
                          <a:latin typeface="+mn-lt"/>
                          <a:ea typeface="+mn-ea"/>
                          <a:cs typeface="+mn-cs"/>
                        </a:rPr>
                        <a:t>er</a:t>
                      </a:r>
                      <a:r>
                        <a:rPr lang="en-US" sz="1800" kern="1200" dirty="0">
                          <a:solidFill>
                            <a:schemeClr val="tx1">
                              <a:lumMod val="75000"/>
                              <a:lumOff val="25000"/>
                            </a:schemeClr>
                          </a:solidFill>
                          <a:latin typeface="+mn-lt"/>
                          <a:ea typeface="+mn-ea"/>
                          <a:cs typeface="+mn-cs"/>
                        </a:rPr>
                        <a:t>) car.</a:t>
                      </a:r>
                      <a:endParaRPr lang="en-GB" sz="1800" kern="1200" dirty="0">
                        <a:solidFill>
                          <a:schemeClr val="tx1">
                            <a:lumMod val="75000"/>
                            <a:lumOff val="25000"/>
                          </a:schemeClr>
                        </a:solidFill>
                        <a:latin typeface="+mn-lt"/>
                        <a:ea typeface="+mn-ea"/>
                        <a:cs typeface="+mn-cs"/>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39044672"/>
                  </a:ext>
                </a:extLst>
              </a:tr>
            </a:tbl>
          </a:graphicData>
        </a:graphic>
      </p:graphicFrame>
      <p:sp>
        <p:nvSpPr>
          <p:cNvPr id="8" name="Content Placeholder 2">
            <a:extLst>
              <a:ext uri="{FF2B5EF4-FFF2-40B4-BE49-F238E27FC236}">
                <a16:creationId xmlns:a16="http://schemas.microsoft.com/office/drawing/2014/main" id="{BAE90A97-75C5-4B6D-8E31-1195D92E3D9F}"/>
              </a:ext>
            </a:extLst>
          </p:cNvPr>
          <p:cNvSpPr txBox="1">
            <a:spLocks/>
          </p:cNvSpPr>
          <p:nvPr/>
        </p:nvSpPr>
        <p:spPr>
          <a:xfrm>
            <a:off x="1748311" y="3429000"/>
            <a:ext cx="9929361" cy="772886"/>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lgn="just">
              <a:buNone/>
            </a:pPr>
            <a:r>
              <a:rPr lang="en-GB" dirty="0"/>
              <a:t>Notice also how the addition of an adverb can even more clearly reveal the stance of the writer. This is commonly used when making critical analysis of the sources.</a:t>
            </a:r>
            <a:endParaRPr lang="en-US" dirty="0"/>
          </a:p>
        </p:txBody>
      </p:sp>
      <p:graphicFrame>
        <p:nvGraphicFramePr>
          <p:cNvPr id="9" name="Table 8">
            <a:extLst>
              <a:ext uri="{FF2B5EF4-FFF2-40B4-BE49-F238E27FC236}">
                <a16:creationId xmlns:a16="http://schemas.microsoft.com/office/drawing/2014/main" id="{33613AB5-8849-4AB4-8D92-DFEBD8776F94}"/>
              </a:ext>
            </a:extLst>
          </p:cNvPr>
          <p:cNvGraphicFramePr>
            <a:graphicFrameLocks noGrp="1"/>
          </p:cNvGraphicFramePr>
          <p:nvPr>
            <p:extLst>
              <p:ext uri="{D42A27DB-BD31-4B8C-83A1-F6EECF244321}">
                <p14:modId xmlns:p14="http://schemas.microsoft.com/office/powerpoint/2010/main" val="3534122667"/>
              </p:ext>
            </p:extLst>
          </p:nvPr>
        </p:nvGraphicFramePr>
        <p:xfrm>
          <a:off x="2191929" y="4602684"/>
          <a:ext cx="9140099" cy="1017315"/>
        </p:xfrm>
        <a:graphic>
          <a:graphicData uri="http://schemas.openxmlformats.org/drawingml/2006/table">
            <a:tbl>
              <a:tblPr firstRow="1" firstCol="1" bandRow="1"/>
              <a:tblGrid>
                <a:gridCol w="9140099">
                  <a:extLst>
                    <a:ext uri="{9D8B030D-6E8A-4147-A177-3AD203B41FA5}">
                      <a16:colId xmlns:a16="http://schemas.microsoft.com/office/drawing/2014/main" val="2513977086"/>
                    </a:ext>
                  </a:extLst>
                </a:gridCol>
              </a:tblGrid>
              <a:tr h="1017315">
                <a:tc>
                  <a:txBody>
                    <a:bodyPr/>
                    <a:lstStyle/>
                    <a:p>
                      <a:pPr algn="just">
                        <a:lnSpc>
                          <a:spcPct val="115000"/>
                        </a:lnSpc>
                        <a:spcAft>
                          <a:spcPts val="1200"/>
                        </a:spcAft>
                      </a:pPr>
                      <a:r>
                        <a:rPr lang="en-US" sz="1800" kern="1200" dirty="0">
                          <a:solidFill>
                            <a:schemeClr val="tx1">
                              <a:lumMod val="75000"/>
                              <a:lumOff val="25000"/>
                            </a:schemeClr>
                          </a:solidFill>
                          <a:latin typeface="+mn-lt"/>
                          <a:ea typeface="+mn-ea"/>
                          <a:cs typeface="+mn-cs"/>
                        </a:rPr>
                        <a:t>The authors </a:t>
                      </a:r>
                      <a:r>
                        <a:rPr lang="en-US" sz="1800" b="1" i="1" kern="1200" dirty="0">
                          <a:solidFill>
                            <a:schemeClr val="tx1">
                              <a:lumMod val="75000"/>
                              <a:lumOff val="25000"/>
                            </a:schemeClr>
                          </a:solidFill>
                          <a:latin typeface="+mn-lt"/>
                          <a:ea typeface="+mn-ea"/>
                          <a:cs typeface="+mn-cs"/>
                        </a:rPr>
                        <a:t>incorrectly assume </a:t>
                      </a:r>
                      <a:r>
                        <a:rPr lang="en-US" sz="1800" kern="1200" dirty="0">
                          <a:solidFill>
                            <a:schemeClr val="tx1">
                              <a:lumMod val="75000"/>
                              <a:lumOff val="25000"/>
                            </a:schemeClr>
                          </a:solidFill>
                          <a:latin typeface="+mn-lt"/>
                          <a:ea typeface="+mn-ea"/>
                          <a:cs typeface="+mn-cs"/>
                        </a:rPr>
                        <a:t>that patients will always take the medicine that he been prescribed.</a:t>
                      </a:r>
                      <a:endParaRPr lang="en-GB" sz="1800" kern="1200" dirty="0">
                        <a:solidFill>
                          <a:schemeClr val="tx1">
                            <a:lumMod val="75000"/>
                            <a:lumOff val="25000"/>
                          </a:schemeClr>
                        </a:solidFill>
                        <a:latin typeface="+mn-lt"/>
                        <a:ea typeface="+mn-ea"/>
                        <a:cs typeface="+mn-cs"/>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43175859"/>
                  </a:ext>
                </a:extLst>
              </a:tr>
            </a:tbl>
          </a:graphicData>
        </a:graphic>
      </p:graphicFrame>
      <p:sp>
        <p:nvSpPr>
          <p:cNvPr id="6" name="Slide Number Placeholder 3">
            <a:extLst>
              <a:ext uri="{FF2B5EF4-FFF2-40B4-BE49-F238E27FC236}">
                <a16:creationId xmlns:a16="http://schemas.microsoft.com/office/drawing/2014/main" id="{E566B41C-B35F-4287-ACA7-A81151166FB0}"/>
              </a:ext>
            </a:extLst>
          </p:cNvPr>
          <p:cNvSpPr>
            <a:spLocks noGrp="1"/>
          </p:cNvSpPr>
          <p:nvPr>
            <p:ph type="sldNum" sz="quarter" idx="12"/>
          </p:nvPr>
        </p:nvSpPr>
        <p:spPr>
          <a:xfrm>
            <a:off x="531812" y="787782"/>
            <a:ext cx="779767" cy="365125"/>
          </a:xfrm>
        </p:spPr>
        <p:txBody>
          <a:bodyPr/>
          <a:lstStyle/>
          <a:p>
            <a:fld id="{D57F1E4F-1CFF-5643-939E-217C01CDF565}" type="slidenum">
              <a:rPr lang="en-US" smtClean="0"/>
              <a:pPr/>
              <a:t>21</a:t>
            </a:fld>
            <a:endParaRPr lang="en-US" dirty="0"/>
          </a:p>
        </p:txBody>
      </p:sp>
    </p:spTree>
    <p:extLst>
      <p:ext uri="{BB962C8B-B14F-4D97-AF65-F5344CB8AC3E}">
        <p14:creationId xmlns:p14="http://schemas.microsoft.com/office/powerpoint/2010/main" val="13095004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48312" y="244491"/>
            <a:ext cx="10379033" cy="1083566"/>
          </a:xfrm>
        </p:spPr>
        <p:txBody>
          <a:bodyPr/>
          <a:lstStyle/>
          <a:p>
            <a:pPr marL="0" indent="0" algn="just">
              <a:buNone/>
            </a:pPr>
            <a:r>
              <a:rPr lang="en-GB" dirty="0"/>
              <a:t>Practice: Replace “say” with each of the verbs listed and try to find out their implied meanings.</a:t>
            </a:r>
            <a:endParaRPr lang="en-US" dirty="0"/>
          </a:p>
        </p:txBody>
      </p:sp>
      <p:sp>
        <p:nvSpPr>
          <p:cNvPr id="10" name="TextBox 9">
            <a:extLst>
              <a:ext uri="{FF2B5EF4-FFF2-40B4-BE49-F238E27FC236}">
                <a16:creationId xmlns:a16="http://schemas.microsoft.com/office/drawing/2014/main" id="{1F0D48CD-0AF9-4565-A74B-1C5FDDDBF211}"/>
              </a:ext>
            </a:extLst>
          </p:cNvPr>
          <p:cNvSpPr txBox="1"/>
          <p:nvPr/>
        </p:nvSpPr>
        <p:spPr>
          <a:xfrm>
            <a:off x="1591294" y="935898"/>
            <a:ext cx="9944924" cy="392159"/>
          </a:xfrm>
          <a:prstGeom prst="rect">
            <a:avLst/>
          </a:prstGeom>
          <a:noFill/>
        </p:spPr>
        <p:txBody>
          <a:bodyPr wrap="square">
            <a:spAutoFit/>
          </a:bodyPr>
          <a:lstStyle/>
          <a:p>
            <a:pPr marL="457200" algn="just">
              <a:lnSpc>
                <a:spcPct val="115000"/>
              </a:lnSpc>
              <a:spcAft>
                <a:spcPts val="600"/>
              </a:spcAft>
            </a:pPr>
            <a:r>
              <a:rPr lang="en-US" b="1" dirty="0">
                <a:solidFill>
                  <a:schemeClr val="tx1">
                    <a:lumMod val="75000"/>
                    <a:lumOff val="25000"/>
                  </a:schemeClr>
                </a:solidFill>
              </a:rPr>
              <a:t>Dr. Mead says that COVID-19 could be airborne in addition to contact infection.</a:t>
            </a:r>
            <a:endParaRPr lang="en-GB" b="1" dirty="0">
              <a:solidFill>
                <a:schemeClr val="tx1">
                  <a:lumMod val="75000"/>
                  <a:lumOff val="25000"/>
                </a:schemeClr>
              </a:solidFill>
            </a:endParaRPr>
          </a:p>
        </p:txBody>
      </p:sp>
      <p:graphicFrame>
        <p:nvGraphicFramePr>
          <p:cNvPr id="4" name="Table 3">
            <a:extLst>
              <a:ext uri="{FF2B5EF4-FFF2-40B4-BE49-F238E27FC236}">
                <a16:creationId xmlns:a16="http://schemas.microsoft.com/office/drawing/2014/main" id="{71ACE651-732C-4982-8805-FACE3C27319C}"/>
              </a:ext>
            </a:extLst>
          </p:cNvPr>
          <p:cNvGraphicFramePr>
            <a:graphicFrameLocks noGrp="1"/>
          </p:cNvGraphicFramePr>
          <p:nvPr>
            <p:extLst>
              <p:ext uri="{D42A27DB-BD31-4B8C-83A1-F6EECF244321}">
                <p14:modId xmlns:p14="http://schemas.microsoft.com/office/powerpoint/2010/main" val="269902944"/>
              </p:ext>
            </p:extLst>
          </p:nvPr>
        </p:nvGraphicFramePr>
        <p:xfrm>
          <a:off x="1918052" y="1328057"/>
          <a:ext cx="9424203" cy="5524109"/>
        </p:xfrm>
        <a:graphic>
          <a:graphicData uri="http://schemas.openxmlformats.org/drawingml/2006/table">
            <a:tbl>
              <a:tblPr firstRow="1" firstCol="1" bandRow="1">
                <a:tableStyleId>{5C22544A-7EE6-4342-B048-85BDC9FD1C3A}</a:tableStyleId>
              </a:tblPr>
              <a:tblGrid>
                <a:gridCol w="2254018">
                  <a:extLst>
                    <a:ext uri="{9D8B030D-6E8A-4147-A177-3AD203B41FA5}">
                      <a16:colId xmlns:a16="http://schemas.microsoft.com/office/drawing/2014/main" val="820217497"/>
                    </a:ext>
                  </a:extLst>
                </a:gridCol>
                <a:gridCol w="852196">
                  <a:extLst>
                    <a:ext uri="{9D8B030D-6E8A-4147-A177-3AD203B41FA5}">
                      <a16:colId xmlns:a16="http://schemas.microsoft.com/office/drawing/2014/main" val="2501365254"/>
                    </a:ext>
                  </a:extLst>
                </a:gridCol>
                <a:gridCol w="6317989">
                  <a:extLst>
                    <a:ext uri="{9D8B030D-6E8A-4147-A177-3AD203B41FA5}">
                      <a16:colId xmlns:a16="http://schemas.microsoft.com/office/drawing/2014/main" val="3508396153"/>
                    </a:ext>
                  </a:extLst>
                </a:gridCol>
              </a:tblGrid>
              <a:tr h="287935">
                <a:tc>
                  <a:txBody>
                    <a:bodyPr/>
                    <a:lstStyle/>
                    <a:p>
                      <a:pPr algn="just">
                        <a:lnSpc>
                          <a:spcPct val="115000"/>
                        </a:lnSpc>
                        <a:spcAft>
                          <a:spcPts val="600"/>
                        </a:spcAft>
                      </a:pPr>
                      <a:r>
                        <a:rPr lang="en-US" sz="1800" dirty="0">
                          <a:solidFill>
                            <a:schemeClr val="tx1"/>
                          </a:solidFill>
                          <a:effectLst/>
                        </a:rPr>
                        <a:t> Words</a:t>
                      </a:r>
                      <a:endParaRPr lang="en-GB" sz="180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a:lnSpc>
                          <a:spcPct val="115000"/>
                        </a:lnSpc>
                        <a:spcAft>
                          <a:spcPts val="600"/>
                        </a:spcAft>
                      </a:pPr>
                      <a:r>
                        <a:rPr lang="en-US" sz="1800">
                          <a:solidFill>
                            <a:schemeClr val="tx1"/>
                          </a:solidFill>
                          <a:effectLst/>
                        </a:rPr>
                        <a:t>Key</a:t>
                      </a:r>
                      <a:endParaRPr lang="en-GB" sz="180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a:lnSpc>
                          <a:spcPct val="115000"/>
                        </a:lnSpc>
                        <a:spcAft>
                          <a:spcPts val="600"/>
                        </a:spcAft>
                      </a:pPr>
                      <a:r>
                        <a:rPr lang="en-US" sz="1800" dirty="0">
                          <a:solidFill>
                            <a:schemeClr val="tx1"/>
                          </a:solidFill>
                          <a:effectLst/>
                        </a:rPr>
                        <a:t>Implied meanings</a:t>
                      </a:r>
                      <a:endParaRPr lang="en-GB" sz="180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66459119"/>
                  </a:ext>
                </a:extLst>
              </a:tr>
              <a:tr h="385953">
                <a:tc>
                  <a:txBody>
                    <a:bodyPr/>
                    <a:lstStyle/>
                    <a:p>
                      <a:pPr marL="0" lvl="0" indent="0" algn="just">
                        <a:lnSpc>
                          <a:spcPct val="115000"/>
                        </a:lnSpc>
                        <a:spcAft>
                          <a:spcPts val="600"/>
                        </a:spcAft>
                        <a:buFont typeface="+mj-lt"/>
                        <a:buNone/>
                      </a:pPr>
                      <a:r>
                        <a:rPr lang="en-US" sz="1800" dirty="0">
                          <a:solidFill>
                            <a:schemeClr val="tx1"/>
                          </a:solidFill>
                          <a:effectLst/>
                        </a:rPr>
                        <a:t>1. Tells, states</a:t>
                      </a:r>
                      <a:endParaRPr lang="en-GB" sz="180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a:lnSpc>
                          <a:spcPct val="115000"/>
                        </a:lnSpc>
                        <a:spcAft>
                          <a:spcPts val="600"/>
                        </a:spcAft>
                      </a:pPr>
                      <a:r>
                        <a:rPr lang="en-US" sz="1800" dirty="0">
                          <a:solidFill>
                            <a:schemeClr val="tx1"/>
                          </a:solidFill>
                          <a:effectLst/>
                        </a:rPr>
                        <a:t> </a:t>
                      </a:r>
                      <a:endParaRPr lang="en-GB" sz="180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0" indent="0" algn="just">
                        <a:lnSpc>
                          <a:spcPct val="115000"/>
                        </a:lnSpc>
                        <a:spcAft>
                          <a:spcPts val="600"/>
                        </a:spcAft>
                        <a:buFont typeface="+mj-lt"/>
                        <a:buNone/>
                      </a:pPr>
                      <a:r>
                        <a:rPr lang="en-US" sz="1800" dirty="0">
                          <a:solidFill>
                            <a:schemeClr val="tx1"/>
                          </a:solidFill>
                          <a:effectLst/>
                        </a:rPr>
                        <a:t>a. You are not sure.</a:t>
                      </a:r>
                      <a:endParaRPr lang="en-GB" sz="180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90701176"/>
                  </a:ext>
                </a:extLst>
              </a:tr>
              <a:tr h="413680">
                <a:tc>
                  <a:txBody>
                    <a:bodyPr/>
                    <a:lstStyle/>
                    <a:p>
                      <a:pPr marL="0" lvl="0" indent="0" algn="just">
                        <a:lnSpc>
                          <a:spcPct val="115000"/>
                        </a:lnSpc>
                        <a:spcAft>
                          <a:spcPts val="600"/>
                        </a:spcAft>
                        <a:buFontTx/>
                        <a:buNone/>
                      </a:pPr>
                      <a:r>
                        <a:rPr lang="en-US" sz="1800" dirty="0">
                          <a:solidFill>
                            <a:schemeClr val="tx1"/>
                          </a:solidFill>
                          <a:effectLst/>
                        </a:rPr>
                        <a:t>2. points out </a:t>
                      </a:r>
                      <a:endParaRPr lang="en-GB" sz="180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a:lnSpc>
                          <a:spcPct val="115000"/>
                        </a:lnSpc>
                        <a:spcAft>
                          <a:spcPts val="600"/>
                        </a:spcAft>
                      </a:pPr>
                      <a:r>
                        <a:rPr lang="en-US" sz="1800" dirty="0">
                          <a:solidFill>
                            <a:schemeClr val="tx1"/>
                          </a:solidFill>
                          <a:effectLst/>
                        </a:rPr>
                        <a:t> </a:t>
                      </a:r>
                      <a:endParaRPr lang="en-GB" sz="180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0" indent="0" algn="just">
                        <a:lnSpc>
                          <a:spcPct val="115000"/>
                        </a:lnSpc>
                        <a:spcAft>
                          <a:spcPts val="600"/>
                        </a:spcAft>
                        <a:buFont typeface="+mj-lt"/>
                        <a:buNone/>
                      </a:pPr>
                      <a:r>
                        <a:rPr lang="en-US" sz="1800" dirty="0">
                          <a:solidFill>
                            <a:schemeClr val="tx1"/>
                          </a:solidFill>
                          <a:effectLst/>
                        </a:rPr>
                        <a:t>b. He presents arguments for his views.</a:t>
                      </a:r>
                      <a:endParaRPr lang="en-GB" sz="180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085041"/>
                  </a:ext>
                </a:extLst>
              </a:tr>
              <a:tr h="376647">
                <a:tc>
                  <a:txBody>
                    <a:bodyPr/>
                    <a:lstStyle/>
                    <a:p>
                      <a:pPr marL="0" lvl="0" indent="0" algn="just">
                        <a:lnSpc>
                          <a:spcPct val="115000"/>
                        </a:lnSpc>
                        <a:spcAft>
                          <a:spcPts val="600"/>
                        </a:spcAft>
                        <a:buFont typeface="+mj-lt"/>
                        <a:buNone/>
                      </a:pPr>
                      <a:r>
                        <a:rPr lang="en-US" sz="1800" dirty="0">
                          <a:solidFill>
                            <a:schemeClr val="tx1"/>
                          </a:solidFill>
                          <a:effectLst/>
                        </a:rPr>
                        <a:t>3. asserts, argues</a:t>
                      </a:r>
                      <a:endParaRPr lang="en-GB" sz="180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a:lnSpc>
                          <a:spcPct val="115000"/>
                        </a:lnSpc>
                        <a:spcAft>
                          <a:spcPts val="600"/>
                        </a:spcAft>
                      </a:pPr>
                      <a:r>
                        <a:rPr lang="en-US" sz="1800" dirty="0">
                          <a:solidFill>
                            <a:schemeClr val="tx1"/>
                          </a:solidFill>
                          <a:effectLst/>
                        </a:rPr>
                        <a:t> </a:t>
                      </a:r>
                      <a:endParaRPr lang="en-GB" sz="180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0" indent="0" algn="just">
                        <a:lnSpc>
                          <a:spcPct val="115000"/>
                        </a:lnSpc>
                        <a:spcAft>
                          <a:spcPts val="600"/>
                        </a:spcAft>
                        <a:buFont typeface="+mj-lt"/>
                        <a:buNone/>
                      </a:pPr>
                      <a:r>
                        <a:rPr lang="en-US" sz="1800" dirty="0">
                          <a:solidFill>
                            <a:schemeClr val="tx1"/>
                          </a:solidFill>
                          <a:effectLst/>
                        </a:rPr>
                        <a:t>c. He and you both think it is unquestionably true.</a:t>
                      </a:r>
                      <a:endParaRPr lang="en-GB" sz="180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90567236"/>
                  </a:ext>
                </a:extLst>
              </a:tr>
              <a:tr h="401295">
                <a:tc>
                  <a:txBody>
                    <a:bodyPr/>
                    <a:lstStyle/>
                    <a:p>
                      <a:pPr marL="0" lvl="0" indent="0" algn="just">
                        <a:lnSpc>
                          <a:spcPct val="115000"/>
                        </a:lnSpc>
                        <a:spcAft>
                          <a:spcPts val="600"/>
                        </a:spcAft>
                        <a:buFont typeface="+mj-lt"/>
                        <a:buNone/>
                      </a:pPr>
                      <a:r>
                        <a:rPr lang="en-US" sz="1800" dirty="0">
                          <a:solidFill>
                            <a:schemeClr val="tx1"/>
                          </a:solidFill>
                          <a:effectLst/>
                        </a:rPr>
                        <a:t>4. suggests</a:t>
                      </a:r>
                      <a:endParaRPr lang="en-GB" sz="180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a:lnSpc>
                          <a:spcPct val="115000"/>
                        </a:lnSpc>
                        <a:spcAft>
                          <a:spcPts val="600"/>
                        </a:spcAft>
                      </a:pPr>
                      <a:r>
                        <a:rPr lang="en-US" sz="1800" dirty="0">
                          <a:solidFill>
                            <a:schemeClr val="tx1"/>
                          </a:solidFill>
                          <a:effectLst/>
                        </a:rPr>
                        <a:t> </a:t>
                      </a:r>
                      <a:endParaRPr lang="en-GB" sz="180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0" indent="0" algn="just">
                        <a:lnSpc>
                          <a:spcPct val="115000"/>
                        </a:lnSpc>
                        <a:spcAft>
                          <a:spcPts val="600"/>
                        </a:spcAft>
                        <a:buFont typeface="+mj-lt"/>
                        <a:buNone/>
                      </a:pPr>
                      <a:r>
                        <a:rPr lang="en-US" sz="1800" dirty="0">
                          <a:solidFill>
                            <a:schemeClr val="tx1"/>
                          </a:solidFill>
                          <a:effectLst/>
                        </a:rPr>
                        <a:t>d. He is not sure.</a:t>
                      </a:r>
                      <a:endParaRPr lang="en-GB" sz="180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10901186"/>
                  </a:ext>
                </a:extLst>
              </a:tr>
              <a:tr h="406823">
                <a:tc>
                  <a:txBody>
                    <a:bodyPr/>
                    <a:lstStyle/>
                    <a:p>
                      <a:pPr marL="0" lvl="0" indent="0" algn="just">
                        <a:lnSpc>
                          <a:spcPct val="115000"/>
                        </a:lnSpc>
                        <a:spcAft>
                          <a:spcPts val="600"/>
                        </a:spcAft>
                        <a:buFont typeface="+mj-lt"/>
                        <a:buNone/>
                      </a:pPr>
                      <a:r>
                        <a:rPr lang="en-US" sz="1800" dirty="0">
                          <a:solidFill>
                            <a:schemeClr val="tx1"/>
                          </a:solidFill>
                          <a:effectLst/>
                        </a:rPr>
                        <a:t>5. claims, alleges</a:t>
                      </a:r>
                      <a:endParaRPr lang="en-GB" sz="180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a:lnSpc>
                          <a:spcPct val="115000"/>
                        </a:lnSpc>
                        <a:spcAft>
                          <a:spcPts val="600"/>
                        </a:spcAft>
                      </a:pPr>
                      <a:r>
                        <a:rPr lang="en-US" sz="1800" dirty="0">
                          <a:solidFill>
                            <a:schemeClr val="tx1"/>
                          </a:solidFill>
                          <a:effectLst/>
                        </a:rPr>
                        <a:t> </a:t>
                      </a:r>
                      <a:endParaRPr lang="en-GB" sz="180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0" indent="0" algn="just">
                        <a:lnSpc>
                          <a:spcPct val="115000"/>
                        </a:lnSpc>
                        <a:spcAft>
                          <a:spcPts val="600"/>
                        </a:spcAft>
                        <a:buFont typeface="+mj-lt"/>
                        <a:buNone/>
                      </a:pPr>
                      <a:r>
                        <a:rPr lang="en-US" sz="1800" dirty="0">
                          <a:solidFill>
                            <a:schemeClr val="tx1"/>
                          </a:solidFill>
                          <a:effectLst/>
                        </a:rPr>
                        <a:t>e. He knows something that you don’t.</a:t>
                      </a:r>
                      <a:endParaRPr lang="en-GB" sz="180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49467144"/>
                  </a:ext>
                </a:extLst>
              </a:tr>
              <a:tr h="596343">
                <a:tc>
                  <a:txBody>
                    <a:bodyPr/>
                    <a:lstStyle/>
                    <a:p>
                      <a:pPr marL="0" lvl="0" indent="0" algn="just">
                        <a:lnSpc>
                          <a:spcPct val="115000"/>
                        </a:lnSpc>
                        <a:spcAft>
                          <a:spcPts val="600"/>
                        </a:spcAft>
                        <a:buFont typeface="+mj-lt"/>
                        <a:buNone/>
                      </a:pPr>
                      <a:r>
                        <a:rPr lang="en-US" sz="1800" dirty="0">
                          <a:solidFill>
                            <a:schemeClr val="tx1"/>
                          </a:solidFill>
                          <a:effectLst/>
                        </a:rPr>
                        <a:t>6. implies</a:t>
                      </a:r>
                      <a:endParaRPr lang="en-GB" sz="180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a:lnSpc>
                          <a:spcPct val="115000"/>
                        </a:lnSpc>
                        <a:spcAft>
                          <a:spcPts val="600"/>
                        </a:spcAft>
                      </a:pPr>
                      <a:r>
                        <a:rPr lang="en-US" sz="1800" dirty="0">
                          <a:solidFill>
                            <a:schemeClr val="tx1"/>
                          </a:solidFill>
                          <a:effectLst/>
                        </a:rPr>
                        <a:t> </a:t>
                      </a:r>
                      <a:endParaRPr lang="en-GB" sz="180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52000" lvl="0" indent="-252000" algn="just">
                        <a:lnSpc>
                          <a:spcPct val="115000"/>
                        </a:lnSpc>
                        <a:spcAft>
                          <a:spcPts val="600"/>
                        </a:spcAft>
                        <a:buFont typeface="+mj-lt"/>
                        <a:buNone/>
                      </a:pPr>
                      <a:r>
                        <a:rPr lang="en-US" sz="1800" dirty="0">
                          <a:solidFill>
                            <a:schemeClr val="tx1"/>
                          </a:solidFill>
                          <a:effectLst/>
                        </a:rPr>
                        <a:t>f. He does not say it directly but you read between the lines.</a:t>
                      </a:r>
                      <a:endParaRPr lang="en-GB" sz="180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57835769"/>
                  </a:ext>
                </a:extLst>
              </a:tr>
              <a:tr h="288121">
                <a:tc>
                  <a:txBody>
                    <a:bodyPr/>
                    <a:lstStyle/>
                    <a:p>
                      <a:pPr marL="0" lvl="0" indent="0" algn="just">
                        <a:lnSpc>
                          <a:spcPct val="115000"/>
                        </a:lnSpc>
                        <a:spcAft>
                          <a:spcPts val="600"/>
                        </a:spcAft>
                        <a:buFont typeface="+mj-lt"/>
                        <a:buNone/>
                      </a:pPr>
                      <a:r>
                        <a:rPr lang="en-US" sz="1800" dirty="0">
                          <a:solidFill>
                            <a:schemeClr val="tx1"/>
                          </a:solidFill>
                          <a:effectLst/>
                        </a:rPr>
                        <a:t>7. explains</a:t>
                      </a:r>
                      <a:endParaRPr lang="en-GB" sz="180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a:lnSpc>
                          <a:spcPct val="115000"/>
                        </a:lnSpc>
                        <a:spcAft>
                          <a:spcPts val="600"/>
                        </a:spcAft>
                      </a:pPr>
                      <a:r>
                        <a:rPr lang="en-US" sz="1800" dirty="0">
                          <a:solidFill>
                            <a:schemeClr val="tx1"/>
                          </a:solidFill>
                          <a:effectLst/>
                        </a:rPr>
                        <a:t> </a:t>
                      </a:r>
                      <a:endParaRPr lang="en-GB" sz="180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0" indent="0" algn="just">
                        <a:lnSpc>
                          <a:spcPct val="115000"/>
                        </a:lnSpc>
                        <a:spcAft>
                          <a:spcPts val="600"/>
                        </a:spcAft>
                        <a:buFont typeface="+mj-lt"/>
                        <a:buNone/>
                      </a:pPr>
                      <a:r>
                        <a:rPr lang="en-US" sz="1800" dirty="0">
                          <a:solidFill>
                            <a:schemeClr val="tx1"/>
                          </a:solidFill>
                          <a:effectLst/>
                        </a:rPr>
                        <a:t>g. You have mentioned some other view of his.</a:t>
                      </a:r>
                      <a:endParaRPr lang="en-GB" sz="180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33618242"/>
                  </a:ext>
                </a:extLst>
              </a:tr>
              <a:tr h="596343">
                <a:tc>
                  <a:txBody>
                    <a:bodyPr/>
                    <a:lstStyle/>
                    <a:p>
                      <a:pPr marL="0" lvl="0" indent="0" algn="l">
                        <a:lnSpc>
                          <a:spcPct val="115000"/>
                        </a:lnSpc>
                        <a:spcAft>
                          <a:spcPts val="600"/>
                        </a:spcAft>
                        <a:buFont typeface="+mj-lt"/>
                        <a:buNone/>
                      </a:pPr>
                      <a:r>
                        <a:rPr lang="en-US" sz="1800" dirty="0">
                          <a:solidFill>
                            <a:schemeClr val="tx1"/>
                          </a:solidFill>
                          <a:effectLst/>
                        </a:rPr>
                        <a:t>8. reveals,   discloses</a:t>
                      </a:r>
                      <a:endParaRPr lang="en-GB" sz="180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a:lnSpc>
                          <a:spcPct val="115000"/>
                        </a:lnSpc>
                        <a:spcAft>
                          <a:spcPts val="600"/>
                        </a:spcAft>
                      </a:pPr>
                      <a:r>
                        <a:rPr lang="en-US" sz="1800" dirty="0">
                          <a:solidFill>
                            <a:schemeClr val="tx1"/>
                          </a:solidFill>
                          <a:effectLst/>
                        </a:rPr>
                        <a:t> </a:t>
                      </a:r>
                      <a:endParaRPr lang="en-GB" sz="180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52000" lvl="0" indent="-252000" algn="just">
                        <a:lnSpc>
                          <a:spcPct val="115000"/>
                        </a:lnSpc>
                        <a:spcAft>
                          <a:spcPts val="600"/>
                        </a:spcAft>
                        <a:buFont typeface="+mj-lt"/>
                        <a:buNone/>
                      </a:pPr>
                      <a:r>
                        <a:rPr lang="en-US" sz="1800" dirty="0">
                          <a:solidFill>
                            <a:schemeClr val="tx1"/>
                          </a:solidFill>
                          <a:effectLst/>
                        </a:rPr>
                        <a:t>h. He says it when discussing something else and you  accept it as a fact.</a:t>
                      </a:r>
                      <a:endParaRPr lang="en-GB" sz="180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13425733"/>
                  </a:ext>
                </a:extLst>
              </a:tr>
              <a:tr h="342890">
                <a:tc>
                  <a:txBody>
                    <a:bodyPr/>
                    <a:lstStyle/>
                    <a:p>
                      <a:pPr marL="0" lvl="0" indent="0" algn="just">
                        <a:lnSpc>
                          <a:spcPct val="115000"/>
                        </a:lnSpc>
                        <a:spcAft>
                          <a:spcPts val="600"/>
                        </a:spcAft>
                        <a:buFont typeface="+mj-lt"/>
                        <a:buNone/>
                      </a:pPr>
                      <a:r>
                        <a:rPr lang="en-US" sz="1800" dirty="0">
                          <a:solidFill>
                            <a:schemeClr val="tx1"/>
                          </a:solidFill>
                          <a:effectLst/>
                        </a:rPr>
                        <a:t>9. indicates</a:t>
                      </a:r>
                      <a:endParaRPr lang="en-GB" sz="180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a:lnSpc>
                          <a:spcPct val="115000"/>
                        </a:lnSpc>
                        <a:spcAft>
                          <a:spcPts val="600"/>
                        </a:spcAft>
                      </a:pPr>
                      <a:r>
                        <a:rPr lang="en-US" sz="1800" dirty="0">
                          <a:solidFill>
                            <a:schemeClr val="tx1"/>
                          </a:solidFill>
                          <a:effectLst/>
                        </a:rPr>
                        <a:t> </a:t>
                      </a:r>
                      <a:endParaRPr lang="en-GB" sz="180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0" indent="0" algn="just">
                        <a:lnSpc>
                          <a:spcPct val="115000"/>
                        </a:lnSpc>
                        <a:spcAft>
                          <a:spcPts val="600"/>
                        </a:spcAft>
                        <a:buFont typeface="+mj-lt"/>
                        <a:buNone/>
                      </a:pPr>
                      <a:r>
                        <a:rPr lang="en-US" sz="1800" dirty="0" err="1">
                          <a:solidFill>
                            <a:schemeClr val="tx1"/>
                          </a:solidFill>
                          <a:effectLst/>
                        </a:rPr>
                        <a:t>i</a:t>
                      </a:r>
                      <a:r>
                        <a:rPr lang="en-US" sz="1800" dirty="0">
                          <a:solidFill>
                            <a:schemeClr val="tx1"/>
                          </a:solidFill>
                          <a:effectLst/>
                        </a:rPr>
                        <a:t>. The idea is probably true but he doesn’t like it.</a:t>
                      </a:r>
                      <a:endParaRPr lang="en-GB" sz="180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44351069"/>
                  </a:ext>
                </a:extLst>
              </a:tr>
              <a:tr h="383043">
                <a:tc>
                  <a:txBody>
                    <a:bodyPr/>
                    <a:lstStyle/>
                    <a:p>
                      <a:pPr marL="0" lvl="0" indent="0" algn="just">
                        <a:lnSpc>
                          <a:spcPct val="115000"/>
                        </a:lnSpc>
                        <a:spcAft>
                          <a:spcPts val="600"/>
                        </a:spcAft>
                        <a:buFont typeface="+mj-lt"/>
                        <a:buNone/>
                      </a:pPr>
                      <a:r>
                        <a:rPr lang="en-US" sz="1800" dirty="0">
                          <a:solidFill>
                            <a:schemeClr val="tx1"/>
                          </a:solidFill>
                          <a:effectLst/>
                        </a:rPr>
                        <a:t>10. adds</a:t>
                      </a:r>
                      <a:endParaRPr lang="en-GB" sz="180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a:lnSpc>
                          <a:spcPct val="115000"/>
                        </a:lnSpc>
                        <a:spcAft>
                          <a:spcPts val="600"/>
                        </a:spcAft>
                      </a:pPr>
                      <a:r>
                        <a:rPr lang="en-US" sz="1800">
                          <a:solidFill>
                            <a:schemeClr val="tx1"/>
                          </a:solidFill>
                          <a:effectLst/>
                        </a:rPr>
                        <a:t> </a:t>
                      </a:r>
                      <a:endParaRPr lang="en-GB" sz="180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0" indent="0" algn="just">
                        <a:lnSpc>
                          <a:spcPct val="115000"/>
                        </a:lnSpc>
                        <a:spcAft>
                          <a:spcPts val="600"/>
                        </a:spcAft>
                        <a:buFont typeface="+mj-lt"/>
                        <a:buNone/>
                      </a:pPr>
                      <a:r>
                        <a:rPr lang="en-US" sz="1800" dirty="0">
                          <a:solidFill>
                            <a:schemeClr val="tx1"/>
                          </a:solidFill>
                          <a:effectLst/>
                        </a:rPr>
                        <a:t>j. More or less neutral.</a:t>
                      </a:r>
                      <a:endParaRPr lang="en-GB" sz="180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76229256"/>
                  </a:ext>
                </a:extLst>
              </a:tr>
              <a:tr h="393094">
                <a:tc>
                  <a:txBody>
                    <a:bodyPr/>
                    <a:lstStyle/>
                    <a:p>
                      <a:pPr marL="0" lvl="0" indent="0" algn="just">
                        <a:lnSpc>
                          <a:spcPct val="115000"/>
                        </a:lnSpc>
                        <a:spcAft>
                          <a:spcPts val="600"/>
                        </a:spcAft>
                        <a:buFont typeface="+mj-lt"/>
                        <a:buNone/>
                      </a:pPr>
                      <a:r>
                        <a:rPr lang="en-US" sz="1800" dirty="0">
                          <a:solidFill>
                            <a:schemeClr val="tx1"/>
                          </a:solidFill>
                          <a:effectLst/>
                        </a:rPr>
                        <a:t>11. mentions</a:t>
                      </a:r>
                      <a:endParaRPr lang="en-GB" sz="180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a:lnSpc>
                          <a:spcPct val="115000"/>
                        </a:lnSpc>
                        <a:spcAft>
                          <a:spcPts val="600"/>
                        </a:spcAft>
                      </a:pPr>
                      <a:r>
                        <a:rPr lang="en-US" sz="1800" dirty="0">
                          <a:solidFill>
                            <a:schemeClr val="tx1"/>
                          </a:solidFill>
                          <a:effectLst/>
                        </a:rPr>
                        <a:t> </a:t>
                      </a:r>
                      <a:endParaRPr lang="en-GB" sz="180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0" indent="0" algn="just">
                        <a:lnSpc>
                          <a:spcPct val="115000"/>
                        </a:lnSpc>
                        <a:spcAft>
                          <a:spcPts val="600"/>
                        </a:spcAft>
                        <a:buFont typeface="+mj-lt"/>
                        <a:buNone/>
                      </a:pPr>
                      <a:r>
                        <a:rPr lang="en-US" sz="1800" dirty="0">
                          <a:solidFill>
                            <a:schemeClr val="tx1"/>
                          </a:solidFill>
                          <a:effectLst/>
                        </a:rPr>
                        <a:t>k. It was a fact previously kept secret.</a:t>
                      </a:r>
                      <a:endParaRPr lang="en-GB" sz="180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2552638"/>
                  </a:ext>
                </a:extLst>
              </a:tr>
              <a:tr h="596343">
                <a:tc>
                  <a:txBody>
                    <a:bodyPr/>
                    <a:lstStyle/>
                    <a:p>
                      <a:pPr marL="0" lvl="0" indent="0" algn="just">
                        <a:lnSpc>
                          <a:spcPct val="115000"/>
                        </a:lnSpc>
                        <a:spcAft>
                          <a:spcPts val="600"/>
                        </a:spcAft>
                        <a:buFont typeface="+mj-lt"/>
                        <a:buNone/>
                      </a:pPr>
                      <a:r>
                        <a:rPr lang="en-US" sz="1800" dirty="0">
                          <a:solidFill>
                            <a:schemeClr val="tx1"/>
                          </a:solidFill>
                          <a:effectLst/>
                        </a:rPr>
                        <a:t>12. complains</a:t>
                      </a:r>
                      <a:endParaRPr lang="en-GB" sz="180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a:lnSpc>
                          <a:spcPct val="115000"/>
                        </a:lnSpc>
                        <a:spcAft>
                          <a:spcPts val="600"/>
                        </a:spcAft>
                      </a:pPr>
                      <a:r>
                        <a:rPr lang="en-US" sz="1800" dirty="0">
                          <a:solidFill>
                            <a:schemeClr val="tx1"/>
                          </a:solidFill>
                          <a:effectLst/>
                        </a:rPr>
                        <a:t> </a:t>
                      </a:r>
                      <a:endParaRPr lang="en-GB" sz="180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52000" lvl="0" indent="-252000" algn="just">
                        <a:lnSpc>
                          <a:spcPct val="115000"/>
                        </a:lnSpc>
                        <a:spcAft>
                          <a:spcPts val="600"/>
                        </a:spcAft>
                        <a:buFont typeface="+mj-lt"/>
                        <a:buNone/>
                      </a:pPr>
                      <a:r>
                        <a:rPr lang="en-US" sz="1800" dirty="0">
                          <a:solidFill>
                            <a:schemeClr val="tx1"/>
                          </a:solidFill>
                          <a:effectLst/>
                        </a:rPr>
                        <a:t>l. He gives signs from which we can deduce he thinks this.</a:t>
                      </a:r>
                      <a:endParaRPr lang="en-GB" sz="180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00775783"/>
                  </a:ext>
                </a:extLst>
              </a:tr>
            </a:tbl>
          </a:graphicData>
        </a:graphic>
      </p:graphicFrame>
      <p:sp>
        <p:nvSpPr>
          <p:cNvPr id="33" name="Slide Number Placeholder 3">
            <a:extLst>
              <a:ext uri="{FF2B5EF4-FFF2-40B4-BE49-F238E27FC236}">
                <a16:creationId xmlns:a16="http://schemas.microsoft.com/office/drawing/2014/main" id="{14B34CB4-9F36-4558-B319-5BB4DCC3124E}"/>
              </a:ext>
            </a:extLst>
          </p:cNvPr>
          <p:cNvSpPr>
            <a:spLocks noGrp="1"/>
          </p:cNvSpPr>
          <p:nvPr>
            <p:ph type="sldNum" sz="quarter" idx="12"/>
          </p:nvPr>
        </p:nvSpPr>
        <p:spPr>
          <a:xfrm>
            <a:off x="531812" y="787782"/>
            <a:ext cx="779767" cy="365125"/>
          </a:xfrm>
        </p:spPr>
        <p:txBody>
          <a:bodyPr/>
          <a:lstStyle/>
          <a:p>
            <a:fld id="{D57F1E4F-1CFF-5643-939E-217C01CDF565}" type="slidenum">
              <a:rPr lang="en-US" smtClean="0"/>
              <a:pPr/>
              <a:t>22</a:t>
            </a:fld>
            <a:endParaRPr lang="en-US" dirty="0"/>
          </a:p>
        </p:txBody>
      </p:sp>
    </p:spTree>
    <p:extLst>
      <p:ext uri="{BB962C8B-B14F-4D97-AF65-F5344CB8AC3E}">
        <p14:creationId xmlns:p14="http://schemas.microsoft.com/office/powerpoint/2010/main" val="29694762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71ACE651-732C-4982-8805-FACE3C27319C}"/>
              </a:ext>
            </a:extLst>
          </p:cNvPr>
          <p:cNvGraphicFramePr>
            <a:graphicFrameLocks noGrp="1"/>
          </p:cNvGraphicFramePr>
          <p:nvPr>
            <p:extLst>
              <p:ext uri="{D42A27DB-BD31-4B8C-83A1-F6EECF244321}">
                <p14:modId xmlns:p14="http://schemas.microsoft.com/office/powerpoint/2010/main" val="3541218904"/>
              </p:ext>
            </p:extLst>
          </p:nvPr>
        </p:nvGraphicFramePr>
        <p:xfrm>
          <a:off x="1841271" y="937168"/>
          <a:ext cx="9424203" cy="5524109"/>
        </p:xfrm>
        <a:graphic>
          <a:graphicData uri="http://schemas.openxmlformats.org/drawingml/2006/table">
            <a:tbl>
              <a:tblPr firstRow="1" firstCol="1" bandRow="1">
                <a:tableStyleId>{5C22544A-7EE6-4342-B048-85BDC9FD1C3A}</a:tableStyleId>
              </a:tblPr>
              <a:tblGrid>
                <a:gridCol w="2254018">
                  <a:extLst>
                    <a:ext uri="{9D8B030D-6E8A-4147-A177-3AD203B41FA5}">
                      <a16:colId xmlns:a16="http://schemas.microsoft.com/office/drawing/2014/main" val="820217497"/>
                    </a:ext>
                  </a:extLst>
                </a:gridCol>
                <a:gridCol w="852196">
                  <a:extLst>
                    <a:ext uri="{9D8B030D-6E8A-4147-A177-3AD203B41FA5}">
                      <a16:colId xmlns:a16="http://schemas.microsoft.com/office/drawing/2014/main" val="2501365254"/>
                    </a:ext>
                  </a:extLst>
                </a:gridCol>
                <a:gridCol w="6317989">
                  <a:extLst>
                    <a:ext uri="{9D8B030D-6E8A-4147-A177-3AD203B41FA5}">
                      <a16:colId xmlns:a16="http://schemas.microsoft.com/office/drawing/2014/main" val="3508396153"/>
                    </a:ext>
                  </a:extLst>
                </a:gridCol>
              </a:tblGrid>
              <a:tr h="287935">
                <a:tc>
                  <a:txBody>
                    <a:bodyPr/>
                    <a:lstStyle/>
                    <a:p>
                      <a:pPr algn="just">
                        <a:lnSpc>
                          <a:spcPct val="115000"/>
                        </a:lnSpc>
                        <a:spcAft>
                          <a:spcPts val="600"/>
                        </a:spcAft>
                      </a:pPr>
                      <a:r>
                        <a:rPr lang="en-US" sz="1800" dirty="0">
                          <a:solidFill>
                            <a:schemeClr val="tx1"/>
                          </a:solidFill>
                          <a:effectLst/>
                        </a:rPr>
                        <a:t> Words</a:t>
                      </a:r>
                      <a:endParaRPr lang="en-GB" sz="180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a:lnSpc>
                          <a:spcPct val="115000"/>
                        </a:lnSpc>
                        <a:spcAft>
                          <a:spcPts val="600"/>
                        </a:spcAft>
                      </a:pPr>
                      <a:r>
                        <a:rPr lang="en-US" sz="1800">
                          <a:solidFill>
                            <a:schemeClr val="tx1"/>
                          </a:solidFill>
                          <a:effectLst/>
                        </a:rPr>
                        <a:t>Key</a:t>
                      </a:r>
                      <a:endParaRPr lang="en-GB" sz="180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a:lnSpc>
                          <a:spcPct val="115000"/>
                        </a:lnSpc>
                        <a:spcAft>
                          <a:spcPts val="600"/>
                        </a:spcAft>
                      </a:pPr>
                      <a:r>
                        <a:rPr lang="en-US" sz="1800" dirty="0">
                          <a:solidFill>
                            <a:schemeClr val="tx1"/>
                          </a:solidFill>
                          <a:effectLst/>
                        </a:rPr>
                        <a:t>Implied meanings</a:t>
                      </a:r>
                      <a:endParaRPr lang="en-GB" sz="180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66459119"/>
                  </a:ext>
                </a:extLst>
              </a:tr>
              <a:tr h="385953">
                <a:tc>
                  <a:txBody>
                    <a:bodyPr/>
                    <a:lstStyle/>
                    <a:p>
                      <a:pPr marL="0" lvl="0" indent="0" algn="just">
                        <a:lnSpc>
                          <a:spcPct val="115000"/>
                        </a:lnSpc>
                        <a:spcAft>
                          <a:spcPts val="600"/>
                        </a:spcAft>
                        <a:buFont typeface="+mj-lt"/>
                        <a:buNone/>
                      </a:pPr>
                      <a:r>
                        <a:rPr lang="en-US" sz="1800" dirty="0">
                          <a:solidFill>
                            <a:schemeClr val="tx1"/>
                          </a:solidFill>
                          <a:effectLst/>
                        </a:rPr>
                        <a:t>1. Tells, states</a:t>
                      </a:r>
                      <a:endParaRPr lang="en-GB" sz="180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a:lnSpc>
                          <a:spcPct val="115000"/>
                        </a:lnSpc>
                        <a:spcAft>
                          <a:spcPts val="600"/>
                        </a:spcAft>
                      </a:pPr>
                      <a:r>
                        <a:rPr lang="en-US" sz="1800" dirty="0">
                          <a:solidFill>
                            <a:srgbClr val="0070C0"/>
                          </a:solidFill>
                          <a:effectLst/>
                        </a:rPr>
                        <a:t> j</a:t>
                      </a:r>
                      <a:endParaRPr lang="en-GB" sz="1800" dirty="0">
                        <a:solidFill>
                          <a:srgbClr val="0070C0"/>
                        </a:solidFill>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0" indent="0" algn="just">
                        <a:lnSpc>
                          <a:spcPct val="115000"/>
                        </a:lnSpc>
                        <a:spcAft>
                          <a:spcPts val="600"/>
                        </a:spcAft>
                        <a:buFont typeface="+mj-lt"/>
                        <a:buNone/>
                      </a:pPr>
                      <a:r>
                        <a:rPr lang="en-US" sz="1800" dirty="0">
                          <a:solidFill>
                            <a:schemeClr val="tx1"/>
                          </a:solidFill>
                          <a:effectLst/>
                        </a:rPr>
                        <a:t>a. You are not sure.</a:t>
                      </a:r>
                      <a:endParaRPr lang="en-GB" sz="180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90701176"/>
                  </a:ext>
                </a:extLst>
              </a:tr>
              <a:tr h="413680">
                <a:tc>
                  <a:txBody>
                    <a:bodyPr/>
                    <a:lstStyle/>
                    <a:p>
                      <a:pPr marL="0" lvl="0" indent="0" algn="just">
                        <a:lnSpc>
                          <a:spcPct val="115000"/>
                        </a:lnSpc>
                        <a:spcAft>
                          <a:spcPts val="600"/>
                        </a:spcAft>
                        <a:buFontTx/>
                        <a:buNone/>
                      </a:pPr>
                      <a:r>
                        <a:rPr lang="en-US" sz="1800" dirty="0">
                          <a:solidFill>
                            <a:schemeClr val="tx1"/>
                          </a:solidFill>
                          <a:effectLst/>
                        </a:rPr>
                        <a:t>2. points out </a:t>
                      </a:r>
                      <a:endParaRPr lang="en-GB" sz="180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a:lnSpc>
                          <a:spcPct val="115000"/>
                        </a:lnSpc>
                        <a:spcAft>
                          <a:spcPts val="600"/>
                        </a:spcAft>
                      </a:pPr>
                      <a:r>
                        <a:rPr lang="en-US" sz="1800" dirty="0">
                          <a:solidFill>
                            <a:srgbClr val="0070C0"/>
                          </a:solidFill>
                          <a:effectLst/>
                        </a:rPr>
                        <a:t> c</a:t>
                      </a:r>
                      <a:endParaRPr lang="en-GB" sz="1800" dirty="0">
                        <a:solidFill>
                          <a:srgbClr val="0070C0"/>
                        </a:solidFill>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0" indent="0" algn="just">
                        <a:lnSpc>
                          <a:spcPct val="115000"/>
                        </a:lnSpc>
                        <a:spcAft>
                          <a:spcPts val="600"/>
                        </a:spcAft>
                        <a:buFont typeface="+mj-lt"/>
                        <a:buNone/>
                      </a:pPr>
                      <a:r>
                        <a:rPr lang="en-US" sz="1800" dirty="0">
                          <a:solidFill>
                            <a:schemeClr val="tx1"/>
                          </a:solidFill>
                          <a:effectLst/>
                        </a:rPr>
                        <a:t>b. He presents arguments for his views.</a:t>
                      </a:r>
                      <a:endParaRPr lang="en-GB" sz="180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085041"/>
                  </a:ext>
                </a:extLst>
              </a:tr>
              <a:tr h="376647">
                <a:tc>
                  <a:txBody>
                    <a:bodyPr/>
                    <a:lstStyle/>
                    <a:p>
                      <a:pPr marL="0" lvl="0" indent="0" algn="just">
                        <a:lnSpc>
                          <a:spcPct val="115000"/>
                        </a:lnSpc>
                        <a:spcAft>
                          <a:spcPts val="600"/>
                        </a:spcAft>
                        <a:buFont typeface="+mj-lt"/>
                        <a:buNone/>
                      </a:pPr>
                      <a:r>
                        <a:rPr lang="en-US" sz="1800" dirty="0">
                          <a:solidFill>
                            <a:schemeClr val="tx1"/>
                          </a:solidFill>
                          <a:effectLst/>
                        </a:rPr>
                        <a:t>3. asserts, argues</a:t>
                      </a:r>
                      <a:endParaRPr lang="en-GB" sz="180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a:lnSpc>
                          <a:spcPct val="115000"/>
                        </a:lnSpc>
                        <a:spcAft>
                          <a:spcPts val="600"/>
                        </a:spcAft>
                      </a:pPr>
                      <a:r>
                        <a:rPr lang="en-US" sz="1800" dirty="0">
                          <a:solidFill>
                            <a:srgbClr val="0070C0"/>
                          </a:solidFill>
                          <a:effectLst/>
                        </a:rPr>
                        <a:t> b</a:t>
                      </a:r>
                      <a:endParaRPr lang="en-GB" sz="1800" dirty="0">
                        <a:solidFill>
                          <a:srgbClr val="0070C0"/>
                        </a:solidFill>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0" indent="0" algn="just">
                        <a:lnSpc>
                          <a:spcPct val="115000"/>
                        </a:lnSpc>
                        <a:spcAft>
                          <a:spcPts val="600"/>
                        </a:spcAft>
                        <a:buFont typeface="+mj-lt"/>
                        <a:buNone/>
                      </a:pPr>
                      <a:r>
                        <a:rPr lang="en-US" sz="1800" dirty="0">
                          <a:solidFill>
                            <a:schemeClr val="tx1"/>
                          </a:solidFill>
                          <a:effectLst/>
                        </a:rPr>
                        <a:t>c. He and you both think it is unquestionably true.</a:t>
                      </a:r>
                      <a:endParaRPr lang="en-GB" sz="180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90567236"/>
                  </a:ext>
                </a:extLst>
              </a:tr>
              <a:tr h="401295">
                <a:tc>
                  <a:txBody>
                    <a:bodyPr/>
                    <a:lstStyle/>
                    <a:p>
                      <a:pPr marL="0" lvl="0" indent="0" algn="just">
                        <a:lnSpc>
                          <a:spcPct val="115000"/>
                        </a:lnSpc>
                        <a:spcAft>
                          <a:spcPts val="600"/>
                        </a:spcAft>
                        <a:buFont typeface="+mj-lt"/>
                        <a:buNone/>
                      </a:pPr>
                      <a:r>
                        <a:rPr lang="en-US" sz="1800" dirty="0">
                          <a:solidFill>
                            <a:schemeClr val="tx1"/>
                          </a:solidFill>
                          <a:effectLst/>
                        </a:rPr>
                        <a:t>4. suggests</a:t>
                      </a:r>
                      <a:endParaRPr lang="en-GB" sz="180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a:lnSpc>
                          <a:spcPct val="115000"/>
                        </a:lnSpc>
                        <a:spcAft>
                          <a:spcPts val="600"/>
                        </a:spcAft>
                      </a:pPr>
                      <a:r>
                        <a:rPr lang="en-US" sz="1800" dirty="0">
                          <a:solidFill>
                            <a:srgbClr val="0070C0"/>
                          </a:solidFill>
                          <a:effectLst/>
                        </a:rPr>
                        <a:t> d</a:t>
                      </a:r>
                      <a:endParaRPr lang="en-GB" sz="1800" dirty="0">
                        <a:solidFill>
                          <a:srgbClr val="0070C0"/>
                        </a:solidFill>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0" indent="0" algn="just">
                        <a:lnSpc>
                          <a:spcPct val="115000"/>
                        </a:lnSpc>
                        <a:spcAft>
                          <a:spcPts val="600"/>
                        </a:spcAft>
                        <a:buFont typeface="+mj-lt"/>
                        <a:buNone/>
                      </a:pPr>
                      <a:r>
                        <a:rPr lang="en-US" sz="1800" dirty="0">
                          <a:solidFill>
                            <a:schemeClr val="tx1"/>
                          </a:solidFill>
                          <a:effectLst/>
                        </a:rPr>
                        <a:t>d. He is not sure.</a:t>
                      </a:r>
                      <a:endParaRPr lang="en-GB" sz="180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10901186"/>
                  </a:ext>
                </a:extLst>
              </a:tr>
              <a:tr h="406823">
                <a:tc>
                  <a:txBody>
                    <a:bodyPr/>
                    <a:lstStyle/>
                    <a:p>
                      <a:pPr marL="0" lvl="0" indent="0" algn="just">
                        <a:lnSpc>
                          <a:spcPct val="115000"/>
                        </a:lnSpc>
                        <a:spcAft>
                          <a:spcPts val="600"/>
                        </a:spcAft>
                        <a:buFont typeface="+mj-lt"/>
                        <a:buNone/>
                      </a:pPr>
                      <a:r>
                        <a:rPr lang="en-US" sz="1800" dirty="0">
                          <a:solidFill>
                            <a:schemeClr val="tx1"/>
                          </a:solidFill>
                          <a:effectLst/>
                        </a:rPr>
                        <a:t>5. claims, alleges</a:t>
                      </a:r>
                      <a:endParaRPr lang="en-GB" sz="180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a:lnSpc>
                          <a:spcPct val="115000"/>
                        </a:lnSpc>
                        <a:spcAft>
                          <a:spcPts val="600"/>
                        </a:spcAft>
                      </a:pPr>
                      <a:r>
                        <a:rPr lang="en-US" sz="1800" dirty="0">
                          <a:solidFill>
                            <a:srgbClr val="0070C0"/>
                          </a:solidFill>
                          <a:effectLst/>
                        </a:rPr>
                        <a:t> a</a:t>
                      </a:r>
                      <a:endParaRPr lang="en-GB" sz="1800" dirty="0">
                        <a:solidFill>
                          <a:srgbClr val="0070C0"/>
                        </a:solidFill>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0" indent="0" algn="just">
                        <a:lnSpc>
                          <a:spcPct val="115000"/>
                        </a:lnSpc>
                        <a:spcAft>
                          <a:spcPts val="600"/>
                        </a:spcAft>
                        <a:buFont typeface="+mj-lt"/>
                        <a:buNone/>
                      </a:pPr>
                      <a:r>
                        <a:rPr lang="en-US" sz="1800" dirty="0">
                          <a:solidFill>
                            <a:schemeClr val="tx1"/>
                          </a:solidFill>
                          <a:effectLst/>
                        </a:rPr>
                        <a:t>e. He knows something that you don’t.</a:t>
                      </a:r>
                      <a:endParaRPr lang="en-GB" sz="180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49467144"/>
                  </a:ext>
                </a:extLst>
              </a:tr>
              <a:tr h="596343">
                <a:tc>
                  <a:txBody>
                    <a:bodyPr/>
                    <a:lstStyle/>
                    <a:p>
                      <a:pPr marL="0" lvl="0" indent="0" algn="just">
                        <a:lnSpc>
                          <a:spcPct val="115000"/>
                        </a:lnSpc>
                        <a:spcAft>
                          <a:spcPts val="600"/>
                        </a:spcAft>
                        <a:buFont typeface="+mj-lt"/>
                        <a:buNone/>
                      </a:pPr>
                      <a:r>
                        <a:rPr lang="en-US" sz="1800" dirty="0">
                          <a:solidFill>
                            <a:schemeClr val="tx1"/>
                          </a:solidFill>
                          <a:effectLst/>
                        </a:rPr>
                        <a:t>6. implies</a:t>
                      </a:r>
                      <a:endParaRPr lang="en-GB" sz="180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a:lnSpc>
                          <a:spcPct val="115000"/>
                        </a:lnSpc>
                        <a:spcAft>
                          <a:spcPts val="600"/>
                        </a:spcAft>
                      </a:pPr>
                      <a:r>
                        <a:rPr lang="en-US" sz="1800" dirty="0">
                          <a:solidFill>
                            <a:srgbClr val="0070C0"/>
                          </a:solidFill>
                          <a:effectLst/>
                        </a:rPr>
                        <a:t> f</a:t>
                      </a:r>
                      <a:endParaRPr lang="en-GB" sz="1800" dirty="0">
                        <a:solidFill>
                          <a:srgbClr val="0070C0"/>
                        </a:solidFill>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52000" lvl="0" indent="-252000" algn="just">
                        <a:lnSpc>
                          <a:spcPct val="115000"/>
                        </a:lnSpc>
                        <a:spcAft>
                          <a:spcPts val="600"/>
                        </a:spcAft>
                        <a:buFont typeface="+mj-lt"/>
                        <a:buNone/>
                      </a:pPr>
                      <a:r>
                        <a:rPr lang="en-US" sz="1800" dirty="0">
                          <a:solidFill>
                            <a:schemeClr val="tx1"/>
                          </a:solidFill>
                          <a:effectLst/>
                        </a:rPr>
                        <a:t>f. He does not say it directly but you read between the lines.</a:t>
                      </a:r>
                      <a:endParaRPr lang="en-GB" sz="180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57835769"/>
                  </a:ext>
                </a:extLst>
              </a:tr>
              <a:tr h="288121">
                <a:tc>
                  <a:txBody>
                    <a:bodyPr/>
                    <a:lstStyle/>
                    <a:p>
                      <a:pPr marL="0" lvl="0" indent="0" algn="just">
                        <a:lnSpc>
                          <a:spcPct val="115000"/>
                        </a:lnSpc>
                        <a:spcAft>
                          <a:spcPts val="600"/>
                        </a:spcAft>
                        <a:buFont typeface="+mj-lt"/>
                        <a:buNone/>
                      </a:pPr>
                      <a:r>
                        <a:rPr lang="en-US" sz="1800" dirty="0">
                          <a:solidFill>
                            <a:schemeClr val="tx1"/>
                          </a:solidFill>
                          <a:effectLst/>
                        </a:rPr>
                        <a:t>7. explains</a:t>
                      </a:r>
                      <a:endParaRPr lang="en-GB" sz="180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a:lnSpc>
                          <a:spcPct val="115000"/>
                        </a:lnSpc>
                        <a:spcAft>
                          <a:spcPts val="600"/>
                        </a:spcAft>
                      </a:pPr>
                      <a:r>
                        <a:rPr lang="en-US" sz="1800" dirty="0">
                          <a:solidFill>
                            <a:srgbClr val="0070C0"/>
                          </a:solidFill>
                          <a:effectLst/>
                        </a:rPr>
                        <a:t> e</a:t>
                      </a:r>
                      <a:endParaRPr lang="en-GB" sz="1800" dirty="0">
                        <a:solidFill>
                          <a:srgbClr val="0070C0"/>
                        </a:solidFill>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0" indent="0" algn="just">
                        <a:lnSpc>
                          <a:spcPct val="115000"/>
                        </a:lnSpc>
                        <a:spcAft>
                          <a:spcPts val="600"/>
                        </a:spcAft>
                        <a:buFont typeface="+mj-lt"/>
                        <a:buNone/>
                      </a:pPr>
                      <a:r>
                        <a:rPr lang="en-US" sz="1800" dirty="0">
                          <a:solidFill>
                            <a:schemeClr val="tx1"/>
                          </a:solidFill>
                          <a:effectLst/>
                        </a:rPr>
                        <a:t>g. You have mentioned some other view of his.</a:t>
                      </a:r>
                      <a:endParaRPr lang="en-GB" sz="180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33618242"/>
                  </a:ext>
                </a:extLst>
              </a:tr>
              <a:tr h="596343">
                <a:tc>
                  <a:txBody>
                    <a:bodyPr/>
                    <a:lstStyle/>
                    <a:p>
                      <a:pPr marL="0" lvl="0" indent="0" algn="l">
                        <a:lnSpc>
                          <a:spcPct val="115000"/>
                        </a:lnSpc>
                        <a:spcAft>
                          <a:spcPts val="600"/>
                        </a:spcAft>
                        <a:buFont typeface="+mj-lt"/>
                        <a:buNone/>
                      </a:pPr>
                      <a:r>
                        <a:rPr lang="en-US" sz="1800" dirty="0">
                          <a:solidFill>
                            <a:schemeClr val="tx1"/>
                          </a:solidFill>
                          <a:effectLst/>
                        </a:rPr>
                        <a:t>8. reveals,   discloses</a:t>
                      </a:r>
                      <a:endParaRPr lang="en-GB" sz="180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a:lnSpc>
                          <a:spcPct val="115000"/>
                        </a:lnSpc>
                        <a:spcAft>
                          <a:spcPts val="600"/>
                        </a:spcAft>
                      </a:pPr>
                      <a:r>
                        <a:rPr lang="en-US" sz="1800" dirty="0">
                          <a:solidFill>
                            <a:srgbClr val="0070C0"/>
                          </a:solidFill>
                          <a:effectLst/>
                        </a:rPr>
                        <a:t> k</a:t>
                      </a:r>
                      <a:endParaRPr lang="en-GB" sz="1800" dirty="0">
                        <a:solidFill>
                          <a:srgbClr val="0070C0"/>
                        </a:solidFill>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52000" lvl="0" indent="-252000" algn="just">
                        <a:lnSpc>
                          <a:spcPct val="115000"/>
                        </a:lnSpc>
                        <a:spcAft>
                          <a:spcPts val="600"/>
                        </a:spcAft>
                        <a:buFont typeface="+mj-lt"/>
                        <a:buNone/>
                      </a:pPr>
                      <a:r>
                        <a:rPr lang="en-US" sz="1800" dirty="0">
                          <a:solidFill>
                            <a:schemeClr val="tx1"/>
                          </a:solidFill>
                          <a:effectLst/>
                        </a:rPr>
                        <a:t>h. He says it when discussing something else and you  accept it as a fact.</a:t>
                      </a:r>
                      <a:endParaRPr lang="en-GB" sz="180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13425733"/>
                  </a:ext>
                </a:extLst>
              </a:tr>
              <a:tr h="342890">
                <a:tc>
                  <a:txBody>
                    <a:bodyPr/>
                    <a:lstStyle/>
                    <a:p>
                      <a:pPr marL="0" lvl="0" indent="0" algn="just">
                        <a:lnSpc>
                          <a:spcPct val="115000"/>
                        </a:lnSpc>
                        <a:spcAft>
                          <a:spcPts val="600"/>
                        </a:spcAft>
                        <a:buFont typeface="+mj-lt"/>
                        <a:buNone/>
                      </a:pPr>
                      <a:r>
                        <a:rPr lang="en-US" sz="1800" dirty="0">
                          <a:solidFill>
                            <a:schemeClr val="tx1"/>
                          </a:solidFill>
                          <a:effectLst/>
                        </a:rPr>
                        <a:t>9. indicates</a:t>
                      </a:r>
                      <a:endParaRPr lang="en-GB" sz="180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a:lnSpc>
                          <a:spcPct val="115000"/>
                        </a:lnSpc>
                        <a:spcAft>
                          <a:spcPts val="600"/>
                        </a:spcAft>
                      </a:pPr>
                      <a:r>
                        <a:rPr lang="en-US" sz="1800" dirty="0">
                          <a:solidFill>
                            <a:srgbClr val="0070C0"/>
                          </a:solidFill>
                          <a:effectLst/>
                        </a:rPr>
                        <a:t> l</a:t>
                      </a:r>
                      <a:endParaRPr lang="en-GB" sz="1800" dirty="0">
                        <a:solidFill>
                          <a:srgbClr val="0070C0"/>
                        </a:solidFill>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0" indent="0" algn="just">
                        <a:lnSpc>
                          <a:spcPct val="115000"/>
                        </a:lnSpc>
                        <a:spcAft>
                          <a:spcPts val="600"/>
                        </a:spcAft>
                        <a:buFont typeface="+mj-lt"/>
                        <a:buNone/>
                      </a:pPr>
                      <a:r>
                        <a:rPr lang="en-US" sz="1800" dirty="0" err="1">
                          <a:solidFill>
                            <a:schemeClr val="tx1"/>
                          </a:solidFill>
                          <a:effectLst/>
                        </a:rPr>
                        <a:t>i</a:t>
                      </a:r>
                      <a:r>
                        <a:rPr lang="en-US" sz="1800" dirty="0">
                          <a:solidFill>
                            <a:schemeClr val="tx1"/>
                          </a:solidFill>
                          <a:effectLst/>
                        </a:rPr>
                        <a:t>. The idea is probably true but he doesn’t like it.</a:t>
                      </a:r>
                      <a:endParaRPr lang="en-GB" sz="180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44351069"/>
                  </a:ext>
                </a:extLst>
              </a:tr>
              <a:tr h="383043">
                <a:tc>
                  <a:txBody>
                    <a:bodyPr/>
                    <a:lstStyle/>
                    <a:p>
                      <a:pPr marL="0" lvl="0" indent="0" algn="just">
                        <a:lnSpc>
                          <a:spcPct val="115000"/>
                        </a:lnSpc>
                        <a:spcAft>
                          <a:spcPts val="600"/>
                        </a:spcAft>
                        <a:buFont typeface="+mj-lt"/>
                        <a:buNone/>
                      </a:pPr>
                      <a:r>
                        <a:rPr lang="en-US" sz="1800" dirty="0">
                          <a:solidFill>
                            <a:schemeClr val="tx1"/>
                          </a:solidFill>
                          <a:effectLst/>
                        </a:rPr>
                        <a:t>10. adds</a:t>
                      </a:r>
                      <a:endParaRPr lang="en-GB" sz="180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a:lnSpc>
                          <a:spcPct val="115000"/>
                        </a:lnSpc>
                        <a:spcAft>
                          <a:spcPts val="600"/>
                        </a:spcAft>
                      </a:pPr>
                      <a:r>
                        <a:rPr lang="en-US" sz="1800" dirty="0">
                          <a:solidFill>
                            <a:srgbClr val="0070C0"/>
                          </a:solidFill>
                          <a:effectLst/>
                        </a:rPr>
                        <a:t> g</a:t>
                      </a:r>
                      <a:endParaRPr lang="en-GB" sz="1800" dirty="0">
                        <a:solidFill>
                          <a:srgbClr val="0070C0"/>
                        </a:solidFill>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0" indent="0" algn="just">
                        <a:lnSpc>
                          <a:spcPct val="115000"/>
                        </a:lnSpc>
                        <a:spcAft>
                          <a:spcPts val="600"/>
                        </a:spcAft>
                        <a:buFont typeface="+mj-lt"/>
                        <a:buNone/>
                      </a:pPr>
                      <a:r>
                        <a:rPr lang="en-US" sz="1800" dirty="0">
                          <a:solidFill>
                            <a:schemeClr val="tx1"/>
                          </a:solidFill>
                          <a:effectLst/>
                        </a:rPr>
                        <a:t>j. More or less neutral.</a:t>
                      </a:r>
                      <a:endParaRPr lang="en-GB" sz="180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76229256"/>
                  </a:ext>
                </a:extLst>
              </a:tr>
              <a:tr h="393094">
                <a:tc>
                  <a:txBody>
                    <a:bodyPr/>
                    <a:lstStyle/>
                    <a:p>
                      <a:pPr marL="0" lvl="0" indent="0" algn="just">
                        <a:lnSpc>
                          <a:spcPct val="115000"/>
                        </a:lnSpc>
                        <a:spcAft>
                          <a:spcPts val="600"/>
                        </a:spcAft>
                        <a:buFont typeface="+mj-lt"/>
                        <a:buNone/>
                      </a:pPr>
                      <a:r>
                        <a:rPr lang="en-US" sz="1800" dirty="0">
                          <a:solidFill>
                            <a:schemeClr val="tx1"/>
                          </a:solidFill>
                          <a:effectLst/>
                        </a:rPr>
                        <a:t>11. mentions</a:t>
                      </a:r>
                      <a:endParaRPr lang="en-GB" sz="180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a:lnSpc>
                          <a:spcPct val="115000"/>
                        </a:lnSpc>
                        <a:spcAft>
                          <a:spcPts val="600"/>
                        </a:spcAft>
                      </a:pPr>
                      <a:r>
                        <a:rPr lang="en-US" sz="1800" dirty="0">
                          <a:solidFill>
                            <a:srgbClr val="0070C0"/>
                          </a:solidFill>
                          <a:effectLst/>
                        </a:rPr>
                        <a:t> h</a:t>
                      </a:r>
                      <a:endParaRPr lang="en-GB" sz="1800" dirty="0">
                        <a:solidFill>
                          <a:srgbClr val="0070C0"/>
                        </a:solidFill>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0" indent="0" algn="just">
                        <a:lnSpc>
                          <a:spcPct val="115000"/>
                        </a:lnSpc>
                        <a:spcAft>
                          <a:spcPts val="600"/>
                        </a:spcAft>
                        <a:buFont typeface="+mj-lt"/>
                        <a:buNone/>
                      </a:pPr>
                      <a:r>
                        <a:rPr lang="en-US" sz="1800" dirty="0">
                          <a:solidFill>
                            <a:schemeClr val="tx1"/>
                          </a:solidFill>
                          <a:effectLst/>
                        </a:rPr>
                        <a:t>k. It was a fact previously kept secret.</a:t>
                      </a:r>
                      <a:endParaRPr lang="en-GB" sz="180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2552638"/>
                  </a:ext>
                </a:extLst>
              </a:tr>
              <a:tr h="596343">
                <a:tc>
                  <a:txBody>
                    <a:bodyPr/>
                    <a:lstStyle/>
                    <a:p>
                      <a:pPr marL="0" lvl="0" indent="0" algn="just">
                        <a:lnSpc>
                          <a:spcPct val="115000"/>
                        </a:lnSpc>
                        <a:spcAft>
                          <a:spcPts val="600"/>
                        </a:spcAft>
                        <a:buFont typeface="+mj-lt"/>
                        <a:buNone/>
                      </a:pPr>
                      <a:r>
                        <a:rPr lang="en-US" sz="1800" dirty="0">
                          <a:solidFill>
                            <a:schemeClr val="tx1"/>
                          </a:solidFill>
                          <a:effectLst/>
                        </a:rPr>
                        <a:t>12. complains</a:t>
                      </a:r>
                      <a:endParaRPr lang="en-GB" sz="180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a:lnSpc>
                          <a:spcPct val="115000"/>
                        </a:lnSpc>
                        <a:spcAft>
                          <a:spcPts val="600"/>
                        </a:spcAft>
                      </a:pPr>
                      <a:r>
                        <a:rPr lang="en-US" sz="1800" dirty="0">
                          <a:solidFill>
                            <a:srgbClr val="0070C0"/>
                          </a:solidFill>
                          <a:effectLst/>
                        </a:rPr>
                        <a:t> </a:t>
                      </a:r>
                      <a:r>
                        <a:rPr lang="en-US" sz="1800" dirty="0" err="1">
                          <a:solidFill>
                            <a:srgbClr val="0070C0"/>
                          </a:solidFill>
                          <a:effectLst/>
                        </a:rPr>
                        <a:t>i</a:t>
                      </a:r>
                      <a:endParaRPr lang="en-GB" sz="1800" dirty="0">
                        <a:solidFill>
                          <a:srgbClr val="0070C0"/>
                        </a:solidFill>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52000" lvl="0" indent="-252000" algn="just">
                        <a:lnSpc>
                          <a:spcPct val="115000"/>
                        </a:lnSpc>
                        <a:spcAft>
                          <a:spcPts val="600"/>
                        </a:spcAft>
                        <a:buFont typeface="+mj-lt"/>
                        <a:buNone/>
                      </a:pPr>
                      <a:r>
                        <a:rPr lang="en-US" sz="1800" dirty="0">
                          <a:solidFill>
                            <a:schemeClr val="tx1"/>
                          </a:solidFill>
                          <a:effectLst/>
                        </a:rPr>
                        <a:t>l. He gives signs from which we can deduce he thinks this.</a:t>
                      </a:r>
                      <a:endParaRPr lang="en-GB" sz="180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00775783"/>
                  </a:ext>
                </a:extLst>
              </a:tr>
            </a:tbl>
          </a:graphicData>
        </a:graphic>
      </p:graphicFrame>
      <p:sp>
        <p:nvSpPr>
          <p:cNvPr id="6" name="TextBox 5">
            <a:extLst>
              <a:ext uri="{FF2B5EF4-FFF2-40B4-BE49-F238E27FC236}">
                <a16:creationId xmlns:a16="http://schemas.microsoft.com/office/drawing/2014/main" id="{D6308B51-C463-4B84-AD50-B00A56C1276F}"/>
              </a:ext>
            </a:extLst>
          </p:cNvPr>
          <p:cNvSpPr txBox="1"/>
          <p:nvPr/>
        </p:nvSpPr>
        <p:spPr>
          <a:xfrm>
            <a:off x="1736568" y="327432"/>
            <a:ext cx="6100652" cy="392159"/>
          </a:xfrm>
          <a:prstGeom prst="rect">
            <a:avLst/>
          </a:prstGeom>
          <a:noFill/>
        </p:spPr>
        <p:txBody>
          <a:bodyPr wrap="square">
            <a:spAutoFit/>
          </a:bodyPr>
          <a:lstStyle/>
          <a:p>
            <a:pPr algn="just">
              <a:lnSpc>
                <a:spcPct val="115000"/>
              </a:lnSpc>
              <a:spcAft>
                <a:spcPts val="600"/>
              </a:spcAft>
            </a:pPr>
            <a:r>
              <a:rPr lang="en-US" sz="1800" dirty="0">
                <a:solidFill>
                  <a:srgbClr val="0070C0"/>
                </a:solidFill>
                <a:effectLst/>
                <a:latin typeface="Calibri" panose="020F0502020204030204" pitchFamily="34" charset="0"/>
                <a:ea typeface="DengXian" panose="02010600030101010101" pitchFamily="2" charset="-122"/>
                <a:cs typeface="Times New Roman" panose="02020603050405020304" pitchFamily="18" charset="0"/>
              </a:rPr>
              <a:t>Answer key:</a:t>
            </a:r>
            <a:endParaRPr lang="en-GB" sz="1800" dirty="0">
              <a:solidFill>
                <a:srgbClr val="0070C0"/>
              </a:solidFill>
              <a:effectLst/>
              <a:latin typeface="Calibri" panose="020F0502020204030204" pitchFamily="34" charset="0"/>
              <a:ea typeface="DengXian" panose="02010600030101010101" pitchFamily="2" charset="-122"/>
              <a:cs typeface="Times New Roman" panose="02020603050405020304" pitchFamily="18" charset="0"/>
            </a:endParaRPr>
          </a:p>
        </p:txBody>
      </p:sp>
      <p:sp>
        <p:nvSpPr>
          <p:cNvPr id="7" name="Slide Number Placeholder 3">
            <a:extLst>
              <a:ext uri="{FF2B5EF4-FFF2-40B4-BE49-F238E27FC236}">
                <a16:creationId xmlns:a16="http://schemas.microsoft.com/office/drawing/2014/main" id="{7BDD1F84-2FCF-4726-BAC2-ABC19F9FEA34}"/>
              </a:ext>
            </a:extLst>
          </p:cNvPr>
          <p:cNvSpPr>
            <a:spLocks noGrp="1"/>
          </p:cNvSpPr>
          <p:nvPr>
            <p:ph type="sldNum" sz="quarter" idx="12"/>
          </p:nvPr>
        </p:nvSpPr>
        <p:spPr>
          <a:xfrm>
            <a:off x="531812" y="787782"/>
            <a:ext cx="779767" cy="365125"/>
          </a:xfrm>
        </p:spPr>
        <p:txBody>
          <a:bodyPr/>
          <a:lstStyle/>
          <a:p>
            <a:fld id="{D57F1E4F-1CFF-5643-939E-217C01CDF565}" type="slidenum">
              <a:rPr lang="en-US" smtClean="0"/>
              <a:pPr/>
              <a:t>23</a:t>
            </a:fld>
            <a:endParaRPr lang="en-US" dirty="0"/>
          </a:p>
        </p:txBody>
      </p:sp>
    </p:spTree>
    <p:extLst>
      <p:ext uri="{BB962C8B-B14F-4D97-AF65-F5344CB8AC3E}">
        <p14:creationId xmlns:p14="http://schemas.microsoft.com/office/powerpoint/2010/main" val="16932622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3419E28B-721B-4D0D-A1D3-78EAC57253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59E45B9-0D24-465E-84AD-FEDBA836B5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HK"/>
          </a:p>
        </p:txBody>
      </p:sp>
      <p:sp>
        <p:nvSpPr>
          <p:cNvPr id="2" name="Rectangle 1">
            <a:extLst>
              <a:ext uri="{FF2B5EF4-FFF2-40B4-BE49-F238E27FC236}">
                <a16:creationId xmlns:a16="http://schemas.microsoft.com/office/drawing/2014/main" id="{2F5F68FC-42A0-4C55-8D76-BB0CBECBFD4B}"/>
              </a:ext>
            </a:extLst>
          </p:cNvPr>
          <p:cNvSpPr/>
          <p:nvPr/>
        </p:nvSpPr>
        <p:spPr>
          <a:xfrm>
            <a:off x="1038035" y="2410691"/>
            <a:ext cx="9593902" cy="3759253"/>
          </a:xfrm>
          <a:prstGeom prst="rect">
            <a:avLst/>
          </a:prstGeom>
        </p:spPr>
        <p:txBody>
          <a:bodyPr vert="horz" lIns="91440" tIns="45720" rIns="91440" bIns="45720" rtlCol="0">
            <a:normAutofit/>
          </a:bodyPr>
          <a:lstStyle/>
          <a:p>
            <a:pPr>
              <a:spcBef>
                <a:spcPts val="1000"/>
              </a:spcBef>
              <a:buClr>
                <a:schemeClr val="accent1"/>
              </a:buClr>
            </a:pPr>
            <a:endParaRPr lang="en-US" dirty="0">
              <a:solidFill>
                <a:schemeClr val="tx1">
                  <a:lumMod val="75000"/>
                  <a:lumOff val="25000"/>
                </a:schemeClr>
              </a:solidFill>
            </a:endParaRPr>
          </a:p>
          <a:p>
            <a:pPr marL="285750" lvl="0" indent="-285750">
              <a:spcBef>
                <a:spcPts val="1000"/>
              </a:spcBef>
              <a:buClr>
                <a:schemeClr val="accent1"/>
              </a:buClr>
              <a:buFont typeface="Wingdings 3" panose="05040102010807070707" pitchFamily="18" charset="2"/>
              <a:buChar char="´"/>
            </a:pPr>
            <a:r>
              <a:rPr lang="en-US" dirty="0">
                <a:solidFill>
                  <a:schemeClr val="tx1">
                    <a:lumMod val="75000"/>
                    <a:lumOff val="25000"/>
                  </a:schemeClr>
                </a:solidFill>
              </a:rPr>
              <a:t>1. What tense(s) is/are used for the reporting verbs? Why do you think the particular tense(s) is/are used?</a:t>
            </a:r>
          </a:p>
          <a:p>
            <a:pPr>
              <a:spcBef>
                <a:spcPts val="1000"/>
              </a:spcBef>
              <a:buClr>
                <a:schemeClr val="accent1"/>
              </a:buClr>
              <a:buFont typeface="Wingdings 3" charset="2"/>
              <a:buChar char=""/>
            </a:pPr>
            <a:endParaRPr lang="en-US" dirty="0">
              <a:solidFill>
                <a:schemeClr val="tx1">
                  <a:lumMod val="75000"/>
                  <a:lumOff val="25000"/>
                </a:schemeClr>
              </a:solidFill>
            </a:endParaRPr>
          </a:p>
          <a:p>
            <a:pPr>
              <a:spcBef>
                <a:spcPts val="1000"/>
              </a:spcBef>
              <a:buClr>
                <a:schemeClr val="accent1"/>
              </a:buClr>
              <a:buFont typeface="Wingdings 3" charset="2"/>
              <a:buChar char=""/>
            </a:pPr>
            <a:endParaRPr lang="en-US" dirty="0">
              <a:solidFill>
                <a:schemeClr val="tx1">
                  <a:lumMod val="75000"/>
                  <a:lumOff val="25000"/>
                </a:schemeClr>
              </a:solidFill>
            </a:endParaRPr>
          </a:p>
          <a:p>
            <a:pPr marL="285750" lvl="0" indent="-285750">
              <a:spcBef>
                <a:spcPts val="1000"/>
              </a:spcBef>
              <a:buClr>
                <a:schemeClr val="accent1"/>
              </a:buClr>
              <a:buFont typeface="Wingdings 3" panose="05040102010807070707" pitchFamily="18" charset="2"/>
              <a:buChar char="´"/>
            </a:pPr>
            <a:r>
              <a:rPr lang="en-US" dirty="0">
                <a:solidFill>
                  <a:schemeClr val="tx1">
                    <a:lumMod val="75000"/>
                    <a:lumOff val="25000"/>
                  </a:schemeClr>
                </a:solidFill>
              </a:rPr>
              <a:t>2. Do you think the reporting verbs show the attitude of the writer of the summary/literature review? Can you give some examples?</a:t>
            </a:r>
          </a:p>
        </p:txBody>
      </p:sp>
      <p:sp>
        <p:nvSpPr>
          <p:cNvPr id="16" name="Freeform 12">
            <a:extLst>
              <a:ext uri="{FF2B5EF4-FFF2-40B4-BE49-F238E27FC236}">
                <a16:creationId xmlns:a16="http://schemas.microsoft.com/office/drawing/2014/main" id="{1F36A2FB-17CD-4DA6-9D8A-BFD6ADF6A3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061223"/>
            <a:ext cx="1038036"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0B14C9D3-0406-4691-A500-F235957F5E77}"/>
              </a:ext>
            </a:extLst>
          </p:cNvPr>
          <p:cNvSpPr/>
          <p:nvPr/>
        </p:nvSpPr>
        <p:spPr>
          <a:xfrm>
            <a:off x="1038035" y="5909011"/>
            <a:ext cx="9100457" cy="710707"/>
          </a:xfrm>
          <a:prstGeom prst="rect">
            <a:avLst/>
          </a:prstGeom>
        </p:spPr>
        <p:txBody>
          <a:bodyPr wrap="square">
            <a:spAutoFit/>
          </a:bodyPr>
          <a:lstStyle/>
          <a:p>
            <a:pPr algn="just">
              <a:lnSpc>
                <a:spcPct val="115000"/>
              </a:lnSpc>
              <a:spcAft>
                <a:spcPts val="1000"/>
              </a:spcAft>
            </a:pPr>
            <a:r>
              <a:rPr lang="en-US" dirty="0">
                <a:solidFill>
                  <a:schemeClr val="tx1">
                    <a:lumMod val="75000"/>
                    <a:lumOff val="25000"/>
                  </a:schemeClr>
                </a:solidFill>
              </a:rPr>
              <a:t>This task was adapted from: Swales, J.M., &amp; Feak, C.B. (2012). Academic writing for graduate students (3rd edition). The University of Michigan Press. </a:t>
            </a:r>
            <a:endParaRPr lang="en-GB" dirty="0">
              <a:solidFill>
                <a:schemeClr val="tx1">
                  <a:lumMod val="75000"/>
                  <a:lumOff val="25000"/>
                </a:schemeClr>
              </a:solidFill>
            </a:endParaRPr>
          </a:p>
        </p:txBody>
      </p:sp>
      <p:graphicFrame>
        <p:nvGraphicFramePr>
          <p:cNvPr id="7" name="Content Placeholder 6">
            <a:extLst>
              <a:ext uri="{FF2B5EF4-FFF2-40B4-BE49-F238E27FC236}">
                <a16:creationId xmlns:a16="http://schemas.microsoft.com/office/drawing/2014/main" id="{53FE42AA-EE22-49D3-8B6A-E94CA60AC2A4}"/>
              </a:ext>
            </a:extLst>
          </p:cNvPr>
          <p:cNvGraphicFramePr>
            <a:graphicFrameLocks noGrp="1"/>
          </p:cNvGraphicFramePr>
          <p:nvPr>
            <p:ph idx="1"/>
            <p:extLst>
              <p:ext uri="{D42A27DB-BD31-4B8C-83A1-F6EECF244321}">
                <p14:modId xmlns:p14="http://schemas.microsoft.com/office/powerpoint/2010/main" val="3139630309"/>
              </p:ext>
            </p:extLst>
          </p:nvPr>
        </p:nvGraphicFramePr>
        <p:xfrm>
          <a:off x="738375" y="345501"/>
          <a:ext cx="9593902" cy="1239291"/>
        </p:xfrm>
        <a:graphic>
          <a:graphicData uri="http://schemas.openxmlformats.org/drawingml/2006/table">
            <a:tbl>
              <a:tblPr firstRow="1" firstCol="1" bandRow="1"/>
              <a:tblGrid>
                <a:gridCol w="9593902">
                  <a:extLst>
                    <a:ext uri="{9D8B030D-6E8A-4147-A177-3AD203B41FA5}">
                      <a16:colId xmlns:a16="http://schemas.microsoft.com/office/drawing/2014/main" val="2627285854"/>
                    </a:ext>
                  </a:extLst>
                </a:gridCol>
              </a:tblGrid>
              <a:tr h="1239291">
                <a:tc>
                  <a:txBody>
                    <a:bodyPr/>
                    <a:lstStyle/>
                    <a:p>
                      <a:pPr marL="0" lvl="0" indent="0" algn="l" defTabSz="457200" rtl="0" eaLnBrk="1" fontAlgn="t" latinLnBrk="0" hangingPunct="1">
                        <a:lnSpc>
                          <a:spcPct val="115000"/>
                        </a:lnSpc>
                        <a:spcBef>
                          <a:spcPts val="1000"/>
                        </a:spcBef>
                        <a:spcAft>
                          <a:spcPts val="600"/>
                        </a:spcAft>
                        <a:buClr>
                          <a:schemeClr val="accent1"/>
                        </a:buClr>
                        <a:buFont typeface="Wingdings 3" charset="2"/>
                        <a:buNone/>
                      </a:pPr>
                      <a:r>
                        <a:rPr lang="en-US" sz="1800" b="1" kern="1200" dirty="0">
                          <a:solidFill>
                            <a:schemeClr val="tx1">
                              <a:lumMod val="75000"/>
                              <a:lumOff val="25000"/>
                            </a:schemeClr>
                          </a:solidFill>
                          <a:latin typeface="+mn-lt"/>
                          <a:ea typeface="+mn-ea"/>
                          <a:cs typeface="+mn-cs"/>
                        </a:rPr>
                        <a:t>Extended Task: </a:t>
                      </a:r>
                      <a:r>
                        <a:rPr lang="en-US" sz="1800" kern="1200" dirty="0">
                          <a:solidFill>
                            <a:schemeClr val="tx1">
                              <a:lumMod val="75000"/>
                              <a:lumOff val="25000"/>
                            </a:schemeClr>
                          </a:solidFill>
                          <a:latin typeface="+mn-lt"/>
                          <a:ea typeface="+mn-ea"/>
                          <a:cs typeface="+mn-cs"/>
                        </a:rPr>
                        <a:t>Find at least three well-written published research papers that are typical of papers in your field of study. Underline all the reporting verbs in the literature review section. Then, answer the following questions.</a:t>
                      </a:r>
                    </a:p>
                  </a:txBody>
                  <a:tcPr marL="103996" marR="103996" marT="14444"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80C687"/>
                    </a:solidFill>
                  </a:tcPr>
                </a:tc>
                <a:extLst>
                  <a:ext uri="{0D108BD9-81ED-4DB2-BD59-A6C34878D82A}">
                    <a16:rowId xmlns:a16="http://schemas.microsoft.com/office/drawing/2014/main" val="3373190913"/>
                  </a:ext>
                </a:extLst>
              </a:tr>
            </a:tbl>
          </a:graphicData>
        </a:graphic>
      </p:graphicFrame>
      <p:sp>
        <p:nvSpPr>
          <p:cNvPr id="13" name="TextBox 12">
            <a:extLst>
              <a:ext uri="{FF2B5EF4-FFF2-40B4-BE49-F238E27FC236}">
                <a16:creationId xmlns:a16="http://schemas.microsoft.com/office/drawing/2014/main" id="{2A87E8FB-0951-4416-BF8A-2FE67BF56F37}"/>
              </a:ext>
            </a:extLst>
          </p:cNvPr>
          <p:cNvSpPr txBox="1"/>
          <p:nvPr/>
        </p:nvSpPr>
        <p:spPr>
          <a:xfrm>
            <a:off x="822037" y="1924111"/>
            <a:ext cx="6096000" cy="392159"/>
          </a:xfrm>
          <a:prstGeom prst="rect">
            <a:avLst/>
          </a:prstGeom>
          <a:noFill/>
        </p:spPr>
        <p:txBody>
          <a:bodyPr wrap="square">
            <a:spAutoFit/>
          </a:bodyPr>
          <a:lstStyle/>
          <a:p>
            <a:pPr algn="just">
              <a:lnSpc>
                <a:spcPct val="115000"/>
              </a:lnSpc>
              <a:spcAft>
                <a:spcPts val="1000"/>
              </a:spcAft>
            </a:pPr>
            <a:r>
              <a:rPr lang="en-US" dirty="0">
                <a:solidFill>
                  <a:schemeClr val="tx1">
                    <a:lumMod val="75000"/>
                    <a:lumOff val="25000"/>
                  </a:schemeClr>
                </a:solidFill>
              </a:rPr>
              <a:t>Answer the questions below:</a:t>
            </a:r>
            <a:endParaRPr lang="en-GB" dirty="0">
              <a:solidFill>
                <a:schemeClr val="tx1">
                  <a:lumMod val="75000"/>
                  <a:lumOff val="25000"/>
                </a:schemeClr>
              </a:solidFill>
            </a:endParaRPr>
          </a:p>
        </p:txBody>
      </p:sp>
      <p:sp>
        <p:nvSpPr>
          <p:cNvPr id="15" name="Slide Number Placeholder 3">
            <a:extLst>
              <a:ext uri="{FF2B5EF4-FFF2-40B4-BE49-F238E27FC236}">
                <a16:creationId xmlns:a16="http://schemas.microsoft.com/office/drawing/2014/main" id="{677ACB40-EF50-44A0-BC1C-A64A1AAA2178}"/>
              </a:ext>
            </a:extLst>
          </p:cNvPr>
          <p:cNvSpPr>
            <a:spLocks noGrp="1"/>
          </p:cNvSpPr>
          <p:nvPr>
            <p:ph type="sldNum" sz="quarter" idx="12"/>
          </p:nvPr>
        </p:nvSpPr>
        <p:spPr>
          <a:xfrm>
            <a:off x="0" y="6147374"/>
            <a:ext cx="779767" cy="365125"/>
          </a:xfrm>
        </p:spPr>
        <p:txBody>
          <a:bodyPr/>
          <a:lstStyle/>
          <a:p>
            <a:fld id="{D57F1E4F-1CFF-5643-939E-217C01CDF565}" type="slidenum">
              <a:rPr lang="en-US" smtClean="0"/>
              <a:pPr/>
              <a:t>24</a:t>
            </a:fld>
            <a:endParaRPr lang="en-US" dirty="0"/>
          </a:p>
        </p:txBody>
      </p:sp>
    </p:spTree>
    <p:extLst>
      <p:ext uri="{BB962C8B-B14F-4D97-AF65-F5344CB8AC3E}">
        <p14:creationId xmlns:p14="http://schemas.microsoft.com/office/powerpoint/2010/main" val="14577209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0487" y="539050"/>
            <a:ext cx="8911687" cy="821917"/>
          </a:xfrm>
        </p:spPr>
        <p:txBody>
          <a:bodyPr/>
          <a:lstStyle/>
          <a:p>
            <a:r>
              <a:rPr lang="en-US" dirty="0"/>
              <a:t>Task 6</a:t>
            </a:r>
          </a:p>
        </p:txBody>
      </p:sp>
      <p:sp>
        <p:nvSpPr>
          <p:cNvPr id="3" name="Content Placeholder 2"/>
          <p:cNvSpPr>
            <a:spLocks noGrp="1"/>
          </p:cNvSpPr>
          <p:nvPr>
            <p:ph idx="1"/>
          </p:nvPr>
        </p:nvSpPr>
        <p:spPr>
          <a:xfrm>
            <a:off x="1820488" y="1360966"/>
            <a:ext cx="9492554" cy="5188690"/>
          </a:xfrm>
        </p:spPr>
        <p:txBody>
          <a:bodyPr>
            <a:normAutofit/>
          </a:bodyPr>
          <a:lstStyle/>
          <a:p>
            <a:pPr marL="0" indent="0">
              <a:buNone/>
            </a:pPr>
            <a:r>
              <a:rPr lang="en-US" b="1" dirty="0"/>
              <a:t>Use of Evaluative Language in Literature Review Writing</a:t>
            </a:r>
            <a:endParaRPr lang="en-HK" dirty="0"/>
          </a:p>
          <a:p>
            <a:pPr marL="0" indent="0">
              <a:buNone/>
            </a:pPr>
            <a:r>
              <a:rPr lang="en-HK" dirty="0"/>
              <a:t>A key role of your literature review is to show your critical analysis and evaluation of the literature. When reviewing the literature and taking notes, you can develop this critical evaluation by asking yourself questions such as:</a:t>
            </a:r>
          </a:p>
          <a:p>
            <a:pPr lvl="0"/>
            <a:r>
              <a:rPr lang="en-US" dirty="0"/>
              <a:t>What are the </a:t>
            </a:r>
            <a:r>
              <a:rPr lang="en-US" b="1" dirty="0"/>
              <a:t>strengths</a:t>
            </a:r>
            <a:r>
              <a:rPr lang="en-US" dirty="0"/>
              <a:t> and </a:t>
            </a:r>
            <a:r>
              <a:rPr lang="en-US" b="1" dirty="0"/>
              <a:t>weaknesses/limitations</a:t>
            </a:r>
            <a:r>
              <a:rPr lang="en-US" dirty="0"/>
              <a:t> of the different bodies of literature/studies you are reviewing?</a:t>
            </a:r>
            <a:endParaRPr lang="en-HK" dirty="0"/>
          </a:p>
          <a:p>
            <a:pPr lvl="0"/>
            <a:r>
              <a:rPr lang="en-US" dirty="0"/>
              <a:t>What accounts for the </a:t>
            </a:r>
            <a:r>
              <a:rPr lang="en-US" b="1" dirty="0"/>
              <a:t>different or similar findings</a:t>
            </a:r>
            <a:r>
              <a:rPr lang="en-US" dirty="0"/>
              <a:t> in the previous studies? How can these be explained (e.g. theory or methodology adopted, the context of the studies, etc.)? </a:t>
            </a:r>
            <a:endParaRPr lang="en-HK" dirty="0"/>
          </a:p>
          <a:p>
            <a:pPr lvl="0"/>
            <a:r>
              <a:rPr lang="en-US" dirty="0"/>
              <a:t>Which </a:t>
            </a:r>
            <a:r>
              <a:rPr lang="en-US" b="1" dirty="0"/>
              <a:t>issues, gaps, ambiguities, unresolved problems</a:t>
            </a:r>
            <a:r>
              <a:rPr lang="en-US" dirty="0"/>
              <a:t>, etc. in the literature do you wish to particularly address in your own research? Why?</a:t>
            </a:r>
            <a:endParaRPr lang="en-HK" dirty="0"/>
          </a:p>
          <a:p>
            <a:pPr lvl="0"/>
            <a:r>
              <a:rPr lang="en-US" dirty="0"/>
              <a:t>What are the </a:t>
            </a:r>
            <a:r>
              <a:rPr lang="en-US" b="1" dirty="0"/>
              <a:t>implications </a:t>
            </a:r>
            <a:r>
              <a:rPr lang="en-US" dirty="0"/>
              <a:t>of your critical analysis and evaluation? </a:t>
            </a:r>
            <a:endParaRPr lang="en-HK" dirty="0"/>
          </a:p>
          <a:p>
            <a:pPr marL="0" indent="0">
              <a:buNone/>
            </a:pPr>
            <a:endParaRPr lang="en-HK" i="1" dirty="0"/>
          </a:p>
          <a:p>
            <a:pPr marL="0" indent="0">
              <a:buNone/>
            </a:pPr>
            <a:r>
              <a:rPr lang="en-HK" dirty="0"/>
              <a:t>When writing </a:t>
            </a:r>
            <a:r>
              <a:rPr lang="en-US" dirty="0"/>
              <a:t>up your literature review, you can use evaluative language to show your critical interpretation and evaluation. </a:t>
            </a:r>
            <a:endParaRPr lang="en-HK" dirty="0"/>
          </a:p>
          <a:p>
            <a:pPr marL="0" indent="0">
              <a:buNone/>
            </a:pPr>
            <a:endParaRPr lang="en-US" dirty="0"/>
          </a:p>
          <a:p>
            <a:endParaRPr lang="en-US" dirty="0"/>
          </a:p>
        </p:txBody>
      </p:sp>
      <p:sp>
        <p:nvSpPr>
          <p:cNvPr id="4" name="Slide Number Placeholder 3">
            <a:extLst>
              <a:ext uri="{FF2B5EF4-FFF2-40B4-BE49-F238E27FC236}">
                <a16:creationId xmlns:a16="http://schemas.microsoft.com/office/drawing/2014/main" id="{6FBAB42D-DA2E-4C43-B042-DD97D690C04A}"/>
              </a:ext>
            </a:extLst>
          </p:cNvPr>
          <p:cNvSpPr>
            <a:spLocks noGrp="1"/>
          </p:cNvSpPr>
          <p:nvPr>
            <p:ph type="sldNum" sz="quarter" idx="12"/>
          </p:nvPr>
        </p:nvSpPr>
        <p:spPr>
          <a:xfrm>
            <a:off x="531812" y="787782"/>
            <a:ext cx="779767" cy="365125"/>
          </a:xfrm>
        </p:spPr>
        <p:txBody>
          <a:bodyPr/>
          <a:lstStyle/>
          <a:p>
            <a:fld id="{D57F1E4F-1CFF-5643-939E-217C01CDF565}" type="slidenum">
              <a:rPr lang="en-US" smtClean="0"/>
              <a:pPr/>
              <a:t>25</a:t>
            </a:fld>
            <a:endParaRPr lang="en-US" dirty="0"/>
          </a:p>
        </p:txBody>
      </p:sp>
    </p:spTree>
    <p:extLst>
      <p:ext uri="{BB962C8B-B14F-4D97-AF65-F5344CB8AC3E}">
        <p14:creationId xmlns:p14="http://schemas.microsoft.com/office/powerpoint/2010/main" val="33674785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5BECA2C-47D7-4102-0A0A-A6428E7CE8AD}"/>
              </a:ext>
            </a:extLst>
          </p:cNvPr>
          <p:cNvPicPr>
            <a:picLocks noChangeAspect="1"/>
          </p:cNvPicPr>
          <p:nvPr/>
        </p:nvPicPr>
        <p:blipFill>
          <a:blip r:embed="rId2"/>
          <a:stretch>
            <a:fillRect/>
          </a:stretch>
        </p:blipFill>
        <p:spPr>
          <a:xfrm>
            <a:off x="2753833" y="130073"/>
            <a:ext cx="6847367" cy="6998399"/>
          </a:xfrm>
          <a:prstGeom prst="rect">
            <a:avLst/>
          </a:prstGeom>
        </p:spPr>
      </p:pic>
    </p:spTree>
    <p:extLst>
      <p:ext uri="{BB962C8B-B14F-4D97-AF65-F5344CB8AC3E}">
        <p14:creationId xmlns:p14="http://schemas.microsoft.com/office/powerpoint/2010/main" val="26643374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6385507-0CA1-D548-8746-5B0C8C5CA169}"/>
              </a:ext>
            </a:extLst>
          </p:cNvPr>
          <p:cNvSpPr>
            <a:spLocks noGrp="1"/>
          </p:cNvSpPr>
          <p:nvPr>
            <p:ph idx="1"/>
          </p:nvPr>
        </p:nvSpPr>
        <p:spPr>
          <a:xfrm>
            <a:off x="1736257" y="468805"/>
            <a:ext cx="9219175" cy="5165970"/>
          </a:xfrm>
        </p:spPr>
        <p:txBody>
          <a:bodyPr/>
          <a:lstStyle/>
          <a:p>
            <a:r>
              <a:rPr lang="en-US" dirty="0"/>
              <a:t>1. </a:t>
            </a:r>
            <a:r>
              <a:rPr lang="en-HK" dirty="0"/>
              <a:t>Read the following short paragraphs. Underline all the evaluative language:</a:t>
            </a:r>
          </a:p>
          <a:p>
            <a:pPr marL="0" indent="0">
              <a:buNone/>
            </a:pPr>
            <a:endParaRPr lang="en-US" dirty="0"/>
          </a:p>
        </p:txBody>
      </p:sp>
      <p:sp>
        <p:nvSpPr>
          <p:cNvPr id="8" name="Slide Number Placeholder 3">
            <a:extLst>
              <a:ext uri="{FF2B5EF4-FFF2-40B4-BE49-F238E27FC236}">
                <a16:creationId xmlns:a16="http://schemas.microsoft.com/office/drawing/2014/main" id="{EFAAE7D4-63E4-4490-97F4-4D1F89DFDB83}"/>
              </a:ext>
            </a:extLst>
          </p:cNvPr>
          <p:cNvSpPr>
            <a:spLocks noGrp="1"/>
          </p:cNvSpPr>
          <p:nvPr>
            <p:ph type="sldNum" sz="quarter" idx="12"/>
          </p:nvPr>
        </p:nvSpPr>
        <p:spPr>
          <a:xfrm>
            <a:off x="531812" y="787782"/>
            <a:ext cx="779767" cy="365125"/>
          </a:xfrm>
        </p:spPr>
        <p:txBody>
          <a:bodyPr/>
          <a:lstStyle/>
          <a:p>
            <a:fld id="{D57F1E4F-1CFF-5643-939E-217C01CDF565}" type="slidenum">
              <a:rPr lang="en-US" smtClean="0"/>
              <a:pPr/>
              <a:t>27</a:t>
            </a:fld>
            <a:endParaRPr lang="en-US" dirty="0"/>
          </a:p>
        </p:txBody>
      </p:sp>
      <p:graphicFrame>
        <p:nvGraphicFramePr>
          <p:cNvPr id="2" name="Table 1">
            <a:extLst>
              <a:ext uri="{FF2B5EF4-FFF2-40B4-BE49-F238E27FC236}">
                <a16:creationId xmlns:a16="http://schemas.microsoft.com/office/drawing/2014/main" id="{6A1D1CDD-A7C7-E215-FC0B-1AABEE244B2A}"/>
              </a:ext>
            </a:extLst>
          </p:cNvPr>
          <p:cNvGraphicFramePr>
            <a:graphicFrameLocks noGrp="1"/>
          </p:cNvGraphicFramePr>
          <p:nvPr>
            <p:extLst>
              <p:ext uri="{D42A27DB-BD31-4B8C-83A1-F6EECF244321}">
                <p14:modId xmlns:p14="http://schemas.microsoft.com/office/powerpoint/2010/main" val="104578274"/>
              </p:ext>
            </p:extLst>
          </p:nvPr>
        </p:nvGraphicFramePr>
        <p:xfrm>
          <a:off x="1823587" y="1075245"/>
          <a:ext cx="9219175" cy="4707509"/>
        </p:xfrm>
        <a:graphic>
          <a:graphicData uri="http://schemas.openxmlformats.org/drawingml/2006/table">
            <a:tbl>
              <a:tblPr firstRow="1" firstCol="1" bandRow="1"/>
              <a:tblGrid>
                <a:gridCol w="9219175">
                  <a:extLst>
                    <a:ext uri="{9D8B030D-6E8A-4147-A177-3AD203B41FA5}">
                      <a16:colId xmlns:a16="http://schemas.microsoft.com/office/drawing/2014/main" val="2463205581"/>
                    </a:ext>
                  </a:extLst>
                </a:gridCol>
              </a:tblGrid>
              <a:tr h="3966068">
                <a:tc>
                  <a:txBody>
                    <a:bodyPr/>
                    <a:lstStyle/>
                    <a:p>
                      <a:pPr algn="just">
                        <a:lnSpc>
                          <a:spcPct val="115000"/>
                        </a:lnSpc>
                        <a:spcAft>
                          <a:spcPts val="1000"/>
                        </a:spcAft>
                        <a:buNone/>
                      </a:pPr>
                      <a:r>
                        <a:rPr lang="en-HK" sz="2000" dirty="0">
                          <a:effectLst/>
                          <a:latin typeface="Calibri" panose="020F0502020204030204" pitchFamily="34" charset="0"/>
                          <a:ea typeface="DengXian" panose="02010600030101010101" pitchFamily="2" charset="-122"/>
                          <a:cs typeface="Times New Roman" panose="02020603050405020304" pitchFamily="18" charset="0"/>
                        </a:rPr>
                        <a:t>Hematopoietic lineage choice and differentiation require </a:t>
                      </a:r>
                      <a:r>
                        <a:rPr lang="en-HK" sz="2000" dirty="0">
                          <a:effectLst/>
                          <a:highlight>
                            <a:srgbClr val="00FF00"/>
                          </a:highlight>
                          <a:latin typeface="Calibri" panose="020F0502020204030204" pitchFamily="34" charset="0"/>
                          <a:ea typeface="DengXian" panose="02010600030101010101" pitchFamily="2" charset="-122"/>
                          <a:cs typeface="Times New Roman" panose="02020603050405020304" pitchFamily="18" charset="0"/>
                        </a:rPr>
                        <a:t>dynamic changes</a:t>
                      </a:r>
                      <a:r>
                        <a:rPr lang="en-HK" sz="2000" dirty="0">
                          <a:effectLst/>
                          <a:latin typeface="Calibri" panose="020F0502020204030204" pitchFamily="34" charset="0"/>
                          <a:ea typeface="DengXian" panose="02010600030101010101" pitchFamily="2" charset="-122"/>
                          <a:cs typeface="Times New Roman" panose="02020603050405020304" pitchFamily="18" charset="0"/>
                        </a:rPr>
                        <a:t> in gene expression, under </a:t>
                      </a:r>
                      <a:r>
                        <a:rPr lang="en-HK" sz="2000" dirty="0">
                          <a:effectLst/>
                          <a:highlight>
                            <a:srgbClr val="00FF00"/>
                          </a:highlight>
                          <a:latin typeface="Calibri" panose="020F0502020204030204" pitchFamily="34" charset="0"/>
                          <a:ea typeface="DengXian" panose="02010600030101010101" pitchFamily="2" charset="-122"/>
                          <a:cs typeface="Times New Roman" panose="02020603050405020304" pitchFamily="18" charset="0"/>
                        </a:rPr>
                        <a:t>tight regulation</a:t>
                      </a:r>
                      <a:r>
                        <a:rPr lang="en-HK" sz="2000" dirty="0">
                          <a:effectLst/>
                          <a:latin typeface="Calibri" panose="020F0502020204030204" pitchFamily="34" charset="0"/>
                          <a:ea typeface="DengXian" panose="02010600030101010101" pitchFamily="2" charset="-122"/>
                          <a:cs typeface="Times New Roman" panose="02020603050405020304" pitchFamily="18" charset="0"/>
                        </a:rPr>
                        <a:t> by lineage-specific transcription factors (TFs), whose interplay can </a:t>
                      </a:r>
                      <a:r>
                        <a:rPr lang="en-HK" sz="2000" dirty="0">
                          <a:effectLst/>
                          <a:highlight>
                            <a:srgbClr val="00FF00"/>
                          </a:highlight>
                          <a:latin typeface="Calibri" panose="020F0502020204030204" pitchFamily="34" charset="0"/>
                          <a:ea typeface="DengXian" panose="02010600030101010101" pitchFamily="2" charset="-122"/>
                          <a:cs typeface="Times New Roman" panose="02020603050405020304" pitchFamily="18" charset="0"/>
                        </a:rPr>
                        <a:t>promote</a:t>
                      </a:r>
                      <a:r>
                        <a:rPr lang="en-HK" sz="2000" dirty="0">
                          <a:effectLst/>
                          <a:latin typeface="Calibri" panose="020F0502020204030204" pitchFamily="34" charset="0"/>
                          <a:ea typeface="DengXian" panose="02010600030101010101" pitchFamily="2" charset="-122"/>
                          <a:cs typeface="Times New Roman" panose="02020603050405020304" pitchFamily="18" charset="0"/>
                        </a:rPr>
                        <a:t> or antagonize distinct fates. Our understanding of the TFs that are involved in </a:t>
                      </a:r>
                      <a:r>
                        <a:rPr lang="en-HK" sz="2000" dirty="0" err="1">
                          <a:effectLst/>
                          <a:latin typeface="Calibri" panose="020F0502020204030204" pitchFamily="34" charset="0"/>
                          <a:ea typeface="DengXian" panose="02010600030101010101" pitchFamily="2" charset="-122"/>
                          <a:cs typeface="Times New Roman" panose="02020603050405020304" pitchFamily="18" charset="0"/>
                        </a:rPr>
                        <a:t>myelopoeisis</a:t>
                      </a:r>
                      <a:r>
                        <a:rPr lang="en-HK" sz="2000" dirty="0">
                          <a:effectLst/>
                          <a:latin typeface="Calibri" panose="020F0502020204030204" pitchFamily="34" charset="0"/>
                          <a:ea typeface="DengXian" panose="02010600030101010101" pitchFamily="2" charset="-122"/>
                          <a:cs typeface="Times New Roman" panose="02020603050405020304" pitchFamily="18" charset="0"/>
                        </a:rPr>
                        <a:t> and the </a:t>
                      </a:r>
                      <a:r>
                        <a:rPr lang="en-HK" sz="2000" dirty="0">
                          <a:effectLst/>
                          <a:highlight>
                            <a:srgbClr val="00FF00"/>
                          </a:highlight>
                          <a:latin typeface="Calibri" panose="020F0502020204030204" pitchFamily="34" charset="0"/>
                          <a:ea typeface="DengXian" panose="02010600030101010101" pitchFamily="2" charset="-122"/>
                          <a:cs typeface="Times New Roman" panose="02020603050405020304" pitchFamily="18" charset="0"/>
                        </a:rPr>
                        <a:t>precise stages</a:t>
                      </a:r>
                      <a:r>
                        <a:rPr lang="en-HK" sz="2000" dirty="0">
                          <a:effectLst/>
                          <a:latin typeface="Calibri" panose="020F0502020204030204" pitchFamily="34" charset="0"/>
                          <a:ea typeface="DengXian" panose="02010600030101010101" pitchFamily="2" charset="-122"/>
                          <a:cs typeface="Times New Roman" panose="02020603050405020304" pitchFamily="18" charset="0"/>
                        </a:rPr>
                        <a:t> at which they function </a:t>
                      </a:r>
                      <a:r>
                        <a:rPr lang="en-HK" sz="2000" dirty="0">
                          <a:effectLst/>
                          <a:highlight>
                            <a:srgbClr val="00FF00"/>
                          </a:highlight>
                          <a:latin typeface="Calibri" panose="020F0502020204030204" pitchFamily="34" charset="0"/>
                          <a:ea typeface="DengXian" panose="02010600030101010101" pitchFamily="2" charset="-122"/>
                          <a:cs typeface="Times New Roman" panose="02020603050405020304" pitchFamily="18" charset="0"/>
                        </a:rPr>
                        <a:t>remains rudimentary</a:t>
                      </a:r>
                      <a:r>
                        <a:rPr lang="en-HK" sz="2000" dirty="0">
                          <a:effectLst/>
                          <a:latin typeface="Calibri" panose="020F0502020204030204" pitchFamily="34" charset="0"/>
                          <a:ea typeface="DengXian" panose="02010600030101010101" pitchFamily="2" charset="-122"/>
                          <a:cs typeface="Times New Roman" panose="02020603050405020304" pitchFamily="18" charset="0"/>
                        </a:rPr>
                        <a:t>. Our prior </a:t>
                      </a:r>
                      <a:r>
                        <a:rPr lang="en-HK" sz="2000" dirty="0" err="1">
                          <a:effectLst/>
                          <a:latin typeface="Calibri" panose="020F0502020204030204" pitchFamily="34" charset="0"/>
                          <a:ea typeface="DengXian" panose="02010600030101010101" pitchFamily="2" charset="-122"/>
                          <a:cs typeface="Times New Roman" panose="02020603050405020304" pitchFamily="18" charset="0"/>
                        </a:rPr>
                        <a:t>scRNA-Seq</a:t>
                      </a:r>
                      <a:r>
                        <a:rPr lang="en-HK" sz="2000" dirty="0">
                          <a:effectLst/>
                          <a:latin typeface="Calibri" panose="020F0502020204030204" pitchFamily="34" charset="0"/>
                          <a:ea typeface="DengXian" panose="02010600030101010101" pitchFamily="2" charset="-122"/>
                          <a:cs typeface="Times New Roman" panose="02020603050405020304" pitchFamily="18" charset="0"/>
                        </a:rPr>
                        <a:t> studies, coupled with colony assays, identified a </a:t>
                      </a:r>
                      <a:r>
                        <a:rPr lang="en-HK" sz="2000" dirty="0">
                          <a:effectLst/>
                          <a:highlight>
                            <a:srgbClr val="00FF00"/>
                          </a:highlight>
                          <a:latin typeface="Calibri" panose="020F0502020204030204" pitchFamily="34" charset="0"/>
                          <a:ea typeface="DengXian" panose="02010600030101010101" pitchFamily="2" charset="-122"/>
                          <a:cs typeface="Times New Roman" panose="02020603050405020304" pitchFamily="18" charset="0"/>
                        </a:rPr>
                        <a:t>novel</a:t>
                      </a:r>
                      <a:r>
                        <a:rPr lang="en-HK" sz="2000" dirty="0">
                          <a:effectLst/>
                          <a:latin typeface="Calibri" panose="020F0502020204030204" pitchFamily="34" charset="0"/>
                          <a:ea typeface="DengXian" panose="02010600030101010101" pitchFamily="2" charset="-122"/>
                          <a:cs typeface="Times New Roman" panose="02020603050405020304" pitchFamily="18" charset="0"/>
                        </a:rPr>
                        <a:t> mixed-lineage intermediate (</a:t>
                      </a:r>
                      <a:r>
                        <a:rPr lang="en-HK" sz="2000" dirty="0" err="1">
                          <a:effectLst/>
                          <a:latin typeface="Calibri" panose="020F0502020204030204" pitchFamily="34" charset="0"/>
                          <a:ea typeface="DengXian" panose="02010600030101010101" pitchFamily="2" charset="-122"/>
                          <a:cs typeface="Times New Roman" panose="02020603050405020304" pitchFamily="18" charset="0"/>
                        </a:rPr>
                        <a:t>MultiLin</a:t>
                      </a:r>
                      <a:r>
                        <a:rPr lang="en-HK" sz="2000" dirty="0">
                          <a:effectLst/>
                          <a:latin typeface="Calibri" panose="020F0502020204030204" pitchFamily="34" charset="0"/>
                          <a:ea typeface="DengXian" panose="02010600030101010101" pitchFamily="2" charset="-122"/>
                          <a:cs typeface="Times New Roman" panose="02020603050405020304" pitchFamily="18" charset="0"/>
                        </a:rPr>
                        <a:t>) state in which collapsing hematopoietic stem cell/progenitor (HSCP) gene expression is coupled with opening of early myeloid enhancers by PU.1 and </a:t>
                      </a:r>
                      <a:r>
                        <a:rPr lang="en-HK" sz="2000" dirty="0" err="1">
                          <a:effectLst/>
                          <a:latin typeface="Calibri" panose="020F0502020204030204" pitchFamily="34" charset="0"/>
                          <a:ea typeface="DengXian" panose="02010600030101010101" pitchFamily="2" charset="-122"/>
                          <a:cs typeface="Times New Roman" panose="02020603050405020304" pitchFamily="18" charset="0"/>
                        </a:rPr>
                        <a:t>Cebpa</a:t>
                      </a:r>
                      <a:r>
                        <a:rPr lang="en-HK" sz="2000" dirty="0">
                          <a:effectLst/>
                          <a:latin typeface="Calibri" panose="020F0502020204030204" pitchFamily="34" charset="0"/>
                          <a:ea typeface="DengXian" panose="02010600030101010101" pitchFamily="2" charset="-122"/>
                          <a:cs typeface="Times New Roman" panose="02020603050405020304" pitchFamily="18" charset="0"/>
                        </a:rPr>
                        <a:t>. We demonstrated that exit from the </a:t>
                      </a:r>
                      <a:r>
                        <a:rPr lang="en-HK" sz="2000" dirty="0" err="1">
                          <a:effectLst/>
                          <a:latin typeface="Calibri" panose="020F0502020204030204" pitchFamily="34" charset="0"/>
                          <a:ea typeface="DengXian" panose="02010600030101010101" pitchFamily="2" charset="-122"/>
                          <a:cs typeface="Times New Roman" panose="02020603050405020304" pitchFamily="18" charset="0"/>
                        </a:rPr>
                        <a:t>MulitLin</a:t>
                      </a:r>
                      <a:r>
                        <a:rPr lang="en-HK" sz="2000" dirty="0">
                          <a:effectLst/>
                          <a:latin typeface="Calibri" panose="020F0502020204030204" pitchFamily="34" charset="0"/>
                          <a:ea typeface="DengXian" panose="02010600030101010101" pitchFamily="2" charset="-122"/>
                          <a:cs typeface="Times New Roman" panose="02020603050405020304" pitchFamily="18" charset="0"/>
                        </a:rPr>
                        <a:t> state can occur via a metastable intermediate </a:t>
                      </a:r>
                      <a:r>
                        <a:rPr lang="en-HK" sz="2000" dirty="0">
                          <a:effectLst/>
                          <a:highlight>
                            <a:srgbClr val="00FF00"/>
                          </a:highlight>
                          <a:latin typeface="Calibri" panose="020F0502020204030204" pitchFamily="34" charset="0"/>
                          <a:ea typeface="DengXian" panose="02010600030101010101" pitchFamily="2" charset="-122"/>
                          <a:cs typeface="Times New Roman" panose="02020603050405020304" pitchFamily="18" charset="0"/>
                        </a:rPr>
                        <a:t>exhibiting simultaneous</a:t>
                      </a:r>
                      <a:r>
                        <a:rPr lang="en-HK" sz="2000" dirty="0">
                          <a:effectLst/>
                          <a:latin typeface="Calibri" panose="020F0502020204030204" pitchFamily="34" charset="0"/>
                          <a:ea typeface="DengXian" panose="02010600030101010101" pitchFamily="2" charset="-122"/>
                          <a:cs typeface="Times New Roman" panose="02020603050405020304" pitchFamily="18" charset="0"/>
                        </a:rPr>
                        <a:t> low-level expression of the antagonistic TFs Irf8 and Gfi1, and </a:t>
                      </a:r>
                      <a:r>
                        <a:rPr lang="en-HK" sz="2000" dirty="0">
                          <a:effectLst/>
                          <a:highlight>
                            <a:srgbClr val="00FF00"/>
                          </a:highlight>
                          <a:latin typeface="Calibri" panose="020F0502020204030204" pitchFamily="34" charset="0"/>
                          <a:ea typeface="DengXian" panose="02010600030101010101" pitchFamily="2" charset="-122"/>
                          <a:cs typeface="Times New Roman" panose="02020603050405020304" pitchFamily="18" charset="0"/>
                        </a:rPr>
                        <a:t>identified complex cross regulation</a:t>
                      </a:r>
                      <a:r>
                        <a:rPr lang="en-HK" sz="2000" dirty="0">
                          <a:effectLst/>
                          <a:latin typeface="Calibri" panose="020F0502020204030204" pitchFamily="34" charset="0"/>
                          <a:ea typeface="DengXian" panose="02010600030101010101" pitchFamily="2" charset="-122"/>
                          <a:cs typeface="Times New Roman" panose="02020603050405020304" pitchFamily="18" charset="0"/>
                        </a:rPr>
                        <a:t> between these factors and other TFs (Ets1, Per3, Klf4, Zeb2 and Irf5)7; however, the complete gene regulatory network (GRN) </a:t>
                      </a:r>
                      <a:r>
                        <a:rPr lang="en-HK" sz="2000" dirty="0">
                          <a:effectLst/>
                          <a:highlight>
                            <a:srgbClr val="00FF00"/>
                          </a:highlight>
                          <a:latin typeface="Calibri" panose="020F0502020204030204" pitchFamily="34" charset="0"/>
                          <a:ea typeface="DengXian" panose="02010600030101010101" pitchFamily="2" charset="-122"/>
                          <a:cs typeface="Times New Roman" panose="02020603050405020304" pitchFamily="18" charset="0"/>
                        </a:rPr>
                        <a:t>remains unknown</a:t>
                      </a:r>
                      <a:r>
                        <a:rPr lang="en-HK" sz="2000" dirty="0">
                          <a:effectLst/>
                          <a:latin typeface="Calibri" panose="020F0502020204030204" pitchFamily="34" charset="0"/>
                          <a:ea typeface="DengXian" panose="02010600030101010101" pitchFamily="2" charset="-122"/>
                          <a:cs typeface="Times New Roman" panose="02020603050405020304" pitchFamily="18" charset="0"/>
                        </a:rPr>
                        <a:t>.</a:t>
                      </a:r>
                    </a:p>
                    <a:p>
                      <a:pPr algn="just">
                        <a:lnSpc>
                          <a:spcPct val="115000"/>
                        </a:lnSpc>
                        <a:spcAft>
                          <a:spcPts val="1000"/>
                        </a:spcAft>
                        <a:buNone/>
                      </a:pPr>
                      <a:r>
                        <a:rPr lang="en-HK" sz="1100" dirty="0">
                          <a:effectLst/>
                          <a:latin typeface="Calibri" panose="020F0502020204030204" pitchFamily="34" charset="0"/>
                          <a:ea typeface="DengXian" panose="02010600030101010101" pitchFamily="2" charset="-122"/>
                          <a:cs typeface="Times New Roman" panose="02020603050405020304" pitchFamily="18" charset="0"/>
                        </a:rPr>
                        <a:t>Basu, J., Olsson, A., </a:t>
                      </a:r>
                      <a:r>
                        <a:rPr lang="en-HK" sz="1100" dirty="0" err="1">
                          <a:effectLst/>
                          <a:latin typeface="Calibri" panose="020F0502020204030204" pitchFamily="34" charset="0"/>
                          <a:ea typeface="DengXian" panose="02010600030101010101" pitchFamily="2" charset="-122"/>
                          <a:cs typeface="Times New Roman" panose="02020603050405020304" pitchFamily="18" charset="0"/>
                        </a:rPr>
                        <a:t>Ferchen</a:t>
                      </a:r>
                      <a:r>
                        <a:rPr lang="en-HK" sz="1100" dirty="0">
                          <a:effectLst/>
                          <a:latin typeface="Calibri" panose="020F0502020204030204" pitchFamily="34" charset="0"/>
                          <a:ea typeface="DengXian" panose="02010600030101010101" pitchFamily="2" charset="-122"/>
                          <a:cs typeface="Times New Roman" panose="02020603050405020304" pitchFamily="18" charset="0"/>
                        </a:rPr>
                        <a:t>, K. Elizaveta, K., Chetal, K., Nicolas, E., Czyzewicz, P., Levchenko, D. Ge, L. Hua, X. Grimes, H., </a:t>
                      </a:r>
                      <a:r>
                        <a:rPr lang="en-HK" sz="1100" dirty="0" err="1">
                          <a:effectLst/>
                          <a:latin typeface="Calibri" panose="020F0502020204030204" pitchFamily="34" charset="0"/>
                          <a:ea typeface="DengXian" panose="02010600030101010101" pitchFamily="2" charset="-122"/>
                          <a:cs typeface="Times New Roman" panose="02020603050405020304" pitchFamily="18" charset="0"/>
                        </a:rPr>
                        <a:t>Salomonis</a:t>
                      </a:r>
                      <a:r>
                        <a:rPr lang="en-HK" sz="1100" dirty="0">
                          <a:effectLst/>
                          <a:latin typeface="Calibri" panose="020F0502020204030204" pitchFamily="34" charset="0"/>
                          <a:ea typeface="DengXian" panose="02010600030101010101" pitchFamily="2" charset="-122"/>
                          <a:cs typeface="Times New Roman" panose="02020603050405020304" pitchFamily="18" charset="0"/>
                        </a:rPr>
                        <a:t>, N., &amp; Kappes, D. (2023)</a:t>
                      </a:r>
                      <a:r>
                        <a:rPr lang="en-HK" sz="1100" i="1" dirty="0">
                          <a:effectLst/>
                          <a:latin typeface="Calibri" panose="020F0502020204030204" pitchFamily="34" charset="0"/>
                          <a:ea typeface="DengXian" panose="02010600030101010101" pitchFamily="2" charset="-122"/>
                          <a:cs typeface="Times New Roman" panose="02020603050405020304" pitchFamily="18" charset="0"/>
                        </a:rPr>
                        <a:t>.</a:t>
                      </a:r>
                      <a:r>
                        <a:rPr lang="en-HK" sz="1100" dirty="0">
                          <a:effectLst/>
                          <a:latin typeface="Calibri" panose="020F0502020204030204" pitchFamily="34" charset="0"/>
                          <a:ea typeface="DengXian" panose="02010600030101010101" pitchFamily="2" charset="-122"/>
                          <a:cs typeface="Times New Roman" panose="02020603050405020304" pitchFamily="18" charset="0"/>
                        </a:rPr>
                        <a:t> </a:t>
                      </a:r>
                      <a:r>
                        <a:rPr lang="en-HK" sz="1100" dirty="0" err="1">
                          <a:effectLst/>
                          <a:latin typeface="Calibri" panose="020F0502020204030204" pitchFamily="34" charset="0"/>
                          <a:ea typeface="DengXian" panose="02010600030101010101" pitchFamily="2" charset="-122"/>
                          <a:cs typeface="Times New Roman" panose="02020603050405020304" pitchFamily="18" charset="0"/>
                        </a:rPr>
                        <a:t>ThPOK</a:t>
                      </a:r>
                      <a:r>
                        <a:rPr lang="en-HK" sz="1100" dirty="0">
                          <a:effectLst/>
                          <a:latin typeface="Calibri" panose="020F0502020204030204" pitchFamily="34" charset="0"/>
                          <a:ea typeface="DengXian" panose="02010600030101010101" pitchFamily="2" charset="-122"/>
                          <a:cs typeface="Times New Roman" panose="02020603050405020304" pitchFamily="18" charset="0"/>
                        </a:rPr>
                        <a:t> is a critical multifaceted regulator of myeloid lineage development. </a:t>
                      </a:r>
                      <a:r>
                        <a:rPr lang="en-HK" sz="1100" i="1" dirty="0">
                          <a:effectLst/>
                          <a:latin typeface="Calibri" panose="020F0502020204030204" pitchFamily="34" charset="0"/>
                          <a:ea typeface="DengXian" panose="02010600030101010101" pitchFamily="2" charset="-122"/>
                          <a:cs typeface="Times New Roman" panose="02020603050405020304" pitchFamily="18" charset="0"/>
                        </a:rPr>
                        <a:t>Nat Immunol, </a:t>
                      </a:r>
                      <a:r>
                        <a:rPr lang="en-HK" sz="1100" dirty="0">
                          <a:effectLst/>
                          <a:latin typeface="Calibri" panose="020F0502020204030204" pitchFamily="34" charset="0"/>
                          <a:ea typeface="DengXian" panose="02010600030101010101" pitchFamily="2" charset="-122"/>
                          <a:cs typeface="Times New Roman" panose="02020603050405020304" pitchFamily="18" charset="0"/>
                        </a:rPr>
                        <a:t>24, 1295–1307. https://doi.org/10.1038/s41590-023-01549-3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52014896"/>
                  </a:ext>
                </a:extLst>
              </a:tr>
            </a:tbl>
          </a:graphicData>
        </a:graphic>
      </p:graphicFrame>
    </p:spTree>
    <p:extLst>
      <p:ext uri="{BB962C8B-B14F-4D97-AF65-F5344CB8AC3E}">
        <p14:creationId xmlns:p14="http://schemas.microsoft.com/office/powerpoint/2010/main" val="13400103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A2217D9-76BC-4E4A-A9FC-E520615A3BD5}"/>
              </a:ext>
            </a:extLst>
          </p:cNvPr>
          <p:cNvSpPr>
            <a:spLocks noGrp="1"/>
          </p:cNvSpPr>
          <p:nvPr>
            <p:ph idx="1"/>
          </p:nvPr>
        </p:nvSpPr>
        <p:spPr>
          <a:xfrm>
            <a:off x="1755709" y="970344"/>
            <a:ext cx="8915400" cy="1041990"/>
          </a:xfrm>
        </p:spPr>
        <p:txBody>
          <a:bodyPr>
            <a:noAutofit/>
          </a:bodyPr>
          <a:lstStyle/>
          <a:p>
            <a:pPr marL="0" indent="0">
              <a:lnSpc>
                <a:spcPct val="150000"/>
              </a:lnSpc>
              <a:buNone/>
            </a:pPr>
            <a:r>
              <a:rPr lang="en-US" sz="2400" dirty="0"/>
              <a:t>2. Read the literature review section of a journal article in your field. Identify instances of evaluative language and analyze their rhetorical purposes. Share your findings with the class.</a:t>
            </a:r>
          </a:p>
        </p:txBody>
      </p:sp>
      <p:sp>
        <p:nvSpPr>
          <p:cNvPr id="7" name="Slide Number Placeholder 3">
            <a:extLst>
              <a:ext uri="{FF2B5EF4-FFF2-40B4-BE49-F238E27FC236}">
                <a16:creationId xmlns:a16="http://schemas.microsoft.com/office/drawing/2014/main" id="{C24D0896-71F2-401B-9D1C-48DAA3283E6C}"/>
              </a:ext>
            </a:extLst>
          </p:cNvPr>
          <p:cNvSpPr>
            <a:spLocks noGrp="1"/>
          </p:cNvSpPr>
          <p:nvPr>
            <p:ph type="sldNum" sz="quarter" idx="12"/>
          </p:nvPr>
        </p:nvSpPr>
        <p:spPr>
          <a:xfrm>
            <a:off x="531812" y="787782"/>
            <a:ext cx="779767" cy="365125"/>
          </a:xfrm>
        </p:spPr>
        <p:txBody>
          <a:bodyPr/>
          <a:lstStyle/>
          <a:p>
            <a:fld id="{D57F1E4F-1CFF-5643-939E-217C01CDF565}" type="slidenum">
              <a:rPr lang="en-US" smtClean="0"/>
              <a:pPr/>
              <a:t>28</a:t>
            </a:fld>
            <a:endParaRPr lang="en-US" dirty="0"/>
          </a:p>
        </p:txBody>
      </p:sp>
    </p:spTree>
    <p:extLst>
      <p:ext uri="{BB962C8B-B14F-4D97-AF65-F5344CB8AC3E}">
        <p14:creationId xmlns:p14="http://schemas.microsoft.com/office/powerpoint/2010/main" val="30054161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7FB43-FF4A-1843-9A43-21BE0EB288E7}"/>
              </a:ext>
            </a:extLst>
          </p:cNvPr>
          <p:cNvSpPr>
            <a:spLocks noGrp="1"/>
          </p:cNvSpPr>
          <p:nvPr>
            <p:ph type="title"/>
          </p:nvPr>
        </p:nvSpPr>
        <p:spPr>
          <a:xfrm>
            <a:off x="1891176" y="624110"/>
            <a:ext cx="8911687" cy="800653"/>
          </a:xfrm>
        </p:spPr>
        <p:txBody>
          <a:bodyPr/>
          <a:lstStyle/>
          <a:p>
            <a:r>
              <a:rPr lang="en-US" dirty="0"/>
              <a:t>Task 7</a:t>
            </a:r>
          </a:p>
        </p:txBody>
      </p:sp>
      <p:sp>
        <p:nvSpPr>
          <p:cNvPr id="3" name="Content Placeholder 2">
            <a:extLst>
              <a:ext uri="{FF2B5EF4-FFF2-40B4-BE49-F238E27FC236}">
                <a16:creationId xmlns:a16="http://schemas.microsoft.com/office/drawing/2014/main" id="{958E31FF-3BB7-034D-905F-9634AB04FD61}"/>
              </a:ext>
            </a:extLst>
          </p:cNvPr>
          <p:cNvSpPr>
            <a:spLocks noGrp="1"/>
          </p:cNvSpPr>
          <p:nvPr>
            <p:ph idx="1"/>
          </p:nvPr>
        </p:nvSpPr>
        <p:spPr>
          <a:xfrm>
            <a:off x="1891175" y="1573619"/>
            <a:ext cx="9499067" cy="4847059"/>
          </a:xfrm>
        </p:spPr>
        <p:txBody>
          <a:bodyPr>
            <a:normAutofit/>
          </a:bodyPr>
          <a:lstStyle/>
          <a:p>
            <a:pPr marL="0" indent="0">
              <a:buNone/>
            </a:pPr>
            <a:r>
              <a:rPr lang="en-US" sz="2400" dirty="0"/>
              <a:t>Choose a systematic literature review or meta-analysis paper from a reputable journal in your field. </a:t>
            </a:r>
          </a:p>
          <a:p>
            <a:pPr marL="0" indent="0">
              <a:buNone/>
            </a:pPr>
            <a:endParaRPr lang="en-HK" sz="2400" dirty="0"/>
          </a:p>
          <a:p>
            <a:pPr lvl="0">
              <a:buFont typeface="+mj-lt"/>
              <a:buAutoNum type="arabicPeriod"/>
            </a:pPr>
            <a:r>
              <a:rPr lang="en-US" sz="2400" dirty="0"/>
              <a:t>Examine how the paper is organized. </a:t>
            </a:r>
            <a:endParaRPr lang="en-HK" sz="2400" dirty="0"/>
          </a:p>
          <a:p>
            <a:pPr lvl="0">
              <a:buFont typeface="+mj-lt"/>
              <a:buAutoNum type="arabicPeriod"/>
            </a:pPr>
            <a:r>
              <a:rPr lang="en-US" sz="2400" dirty="0"/>
              <a:t>Analyze the language features (e.g. reporting verbs, evaluative language, hedging, comparative language, signposting). </a:t>
            </a:r>
            <a:endParaRPr lang="en-HK" sz="2400" dirty="0"/>
          </a:p>
          <a:p>
            <a:pPr lvl="0">
              <a:buFont typeface="+mj-lt"/>
              <a:buAutoNum type="arabicPeriod"/>
            </a:pPr>
            <a:r>
              <a:rPr lang="en-US" sz="2400" dirty="0"/>
              <a:t>Reflect on how the structure and language of the paper contribute to its clarity and effectiveness.</a:t>
            </a:r>
            <a:endParaRPr lang="en-HK" sz="2400" dirty="0"/>
          </a:p>
          <a:p>
            <a:pPr marL="0" indent="0">
              <a:buNone/>
            </a:pPr>
            <a:endParaRPr lang="en-HK" sz="2400" dirty="0"/>
          </a:p>
          <a:p>
            <a:endParaRPr lang="en-US" dirty="0"/>
          </a:p>
          <a:p>
            <a:endParaRPr lang="en-US" dirty="0"/>
          </a:p>
        </p:txBody>
      </p:sp>
      <p:sp>
        <p:nvSpPr>
          <p:cNvPr id="4" name="Slide Number Placeholder 3">
            <a:extLst>
              <a:ext uri="{FF2B5EF4-FFF2-40B4-BE49-F238E27FC236}">
                <a16:creationId xmlns:a16="http://schemas.microsoft.com/office/drawing/2014/main" id="{8AC60F25-B6FD-48DA-9AD0-0F0B9F45B8FF}"/>
              </a:ext>
            </a:extLst>
          </p:cNvPr>
          <p:cNvSpPr>
            <a:spLocks noGrp="1"/>
          </p:cNvSpPr>
          <p:nvPr>
            <p:ph type="sldNum" sz="quarter" idx="12"/>
          </p:nvPr>
        </p:nvSpPr>
        <p:spPr>
          <a:xfrm>
            <a:off x="531812" y="787782"/>
            <a:ext cx="779767" cy="365125"/>
          </a:xfrm>
        </p:spPr>
        <p:txBody>
          <a:bodyPr/>
          <a:lstStyle/>
          <a:p>
            <a:fld id="{D57F1E4F-1CFF-5643-939E-217C01CDF565}" type="slidenum">
              <a:rPr lang="en-US" smtClean="0"/>
              <a:pPr/>
              <a:t>29</a:t>
            </a:fld>
            <a:endParaRPr lang="en-US" dirty="0"/>
          </a:p>
        </p:txBody>
      </p:sp>
    </p:spTree>
    <p:extLst>
      <p:ext uri="{BB962C8B-B14F-4D97-AF65-F5344CB8AC3E}">
        <p14:creationId xmlns:p14="http://schemas.microsoft.com/office/powerpoint/2010/main" val="32214914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FC7B4F-74BF-FA48-B6EA-D8154BE5C271}"/>
              </a:ext>
            </a:extLst>
          </p:cNvPr>
          <p:cNvSpPr>
            <a:spLocks noGrp="1"/>
          </p:cNvSpPr>
          <p:nvPr>
            <p:ph type="title"/>
          </p:nvPr>
        </p:nvSpPr>
        <p:spPr>
          <a:xfrm>
            <a:off x="1853623" y="585200"/>
            <a:ext cx="8911687" cy="835038"/>
          </a:xfrm>
        </p:spPr>
        <p:txBody>
          <a:bodyPr/>
          <a:lstStyle/>
          <a:p>
            <a:r>
              <a:rPr lang="en-US" dirty="0"/>
              <a:t>Making Academic Attribution</a:t>
            </a:r>
            <a:endParaRPr lang="en-HK" dirty="0"/>
          </a:p>
        </p:txBody>
      </p:sp>
      <p:sp>
        <p:nvSpPr>
          <p:cNvPr id="3" name="Content Placeholder 2">
            <a:extLst>
              <a:ext uri="{FF2B5EF4-FFF2-40B4-BE49-F238E27FC236}">
                <a16:creationId xmlns:a16="http://schemas.microsoft.com/office/drawing/2014/main" id="{EBEEE868-7F66-2849-BF84-B51A20F087C5}"/>
              </a:ext>
            </a:extLst>
          </p:cNvPr>
          <p:cNvSpPr>
            <a:spLocks noGrp="1"/>
          </p:cNvSpPr>
          <p:nvPr>
            <p:ph idx="1"/>
          </p:nvPr>
        </p:nvSpPr>
        <p:spPr>
          <a:xfrm>
            <a:off x="1853623" y="1579727"/>
            <a:ext cx="9819568" cy="5175115"/>
          </a:xfrm>
        </p:spPr>
        <p:txBody>
          <a:bodyPr>
            <a:normAutofit lnSpcReduction="10000"/>
          </a:bodyPr>
          <a:lstStyle/>
          <a:p>
            <a:pPr marL="0" indent="0">
              <a:buNone/>
            </a:pPr>
            <a:r>
              <a:rPr lang="en-US" dirty="0"/>
              <a:t>Why do you need to cite sources in academic writing?</a:t>
            </a:r>
            <a:endParaRPr lang="en-HK" dirty="0"/>
          </a:p>
          <a:p>
            <a:pPr lvl="0"/>
            <a:r>
              <a:rPr lang="en-US" dirty="0"/>
              <a:t>To demonstrate you are familiar with the work in your field</a:t>
            </a:r>
            <a:endParaRPr lang="en-HK" dirty="0"/>
          </a:p>
          <a:p>
            <a:pPr lvl="0"/>
            <a:r>
              <a:rPr lang="en-US" dirty="0"/>
              <a:t>Incorporate other people’s work to justify your arguments and make your work more credible</a:t>
            </a:r>
            <a:endParaRPr lang="en-HK" dirty="0"/>
          </a:p>
          <a:p>
            <a:pPr lvl="0"/>
            <a:r>
              <a:rPr lang="en-US" dirty="0"/>
              <a:t>Attribute the research space to the studies conducted by other researchers in order to show the originality of your research</a:t>
            </a:r>
            <a:endParaRPr lang="en-HK" dirty="0"/>
          </a:p>
          <a:p>
            <a:pPr lvl="0"/>
            <a:r>
              <a:rPr lang="en-US" dirty="0"/>
              <a:t>Avoid plagiarism</a:t>
            </a:r>
          </a:p>
          <a:p>
            <a:pPr lvl="0"/>
            <a:endParaRPr lang="en-HK" dirty="0"/>
          </a:p>
          <a:p>
            <a:pPr marL="0" indent="0">
              <a:buNone/>
            </a:pPr>
            <a:r>
              <a:rPr lang="en-US" dirty="0"/>
              <a:t>What is plagiarism?</a:t>
            </a:r>
            <a:endParaRPr lang="en-HK" dirty="0"/>
          </a:p>
          <a:p>
            <a:pPr lvl="0"/>
            <a:r>
              <a:rPr lang="en-US" dirty="0"/>
              <a:t>Plagiarism means making use of other peoples’ words or ideas without acknowledgement, copying word for word or only making slight changes when rewriting the ideas using your own words.</a:t>
            </a:r>
            <a:endParaRPr lang="en-HK" dirty="0"/>
          </a:p>
          <a:p>
            <a:pPr lvl="0"/>
            <a:r>
              <a:rPr lang="en-US" dirty="0"/>
              <a:t>Plagiarism applies to all kinds of information and all types of sources including books, magazines, newspapers, lecturer’s notes, TV </a:t>
            </a:r>
            <a:r>
              <a:rPr lang="en-GB" dirty="0"/>
              <a:t>programmes</a:t>
            </a:r>
            <a:r>
              <a:rPr lang="en-US" dirty="0"/>
              <a:t>, online videos, websites, students’ work.</a:t>
            </a:r>
          </a:p>
          <a:p>
            <a:pPr lvl="0"/>
            <a:endParaRPr lang="en-HK" dirty="0"/>
          </a:p>
          <a:p>
            <a:endParaRPr lang="en-US" dirty="0"/>
          </a:p>
        </p:txBody>
      </p:sp>
      <p:sp>
        <p:nvSpPr>
          <p:cNvPr id="4" name="Slide Number Placeholder 3">
            <a:extLst>
              <a:ext uri="{FF2B5EF4-FFF2-40B4-BE49-F238E27FC236}">
                <a16:creationId xmlns:a16="http://schemas.microsoft.com/office/drawing/2014/main" id="{8F73C616-978C-41A4-822E-5960C2603BC4}"/>
              </a:ext>
            </a:extLst>
          </p:cNvPr>
          <p:cNvSpPr>
            <a:spLocks noGrp="1"/>
          </p:cNvSpPr>
          <p:nvPr>
            <p:ph type="sldNum" sz="quarter" idx="12"/>
          </p:nvPr>
        </p:nvSpPr>
        <p:spPr>
          <a:xfrm>
            <a:off x="531812" y="787782"/>
            <a:ext cx="779767" cy="365125"/>
          </a:xfrm>
        </p:spPr>
        <p:txBody>
          <a:bodyPr/>
          <a:lstStyle/>
          <a:p>
            <a:fld id="{D57F1E4F-1CFF-5643-939E-217C01CDF565}" type="slidenum">
              <a:rPr lang="en-US" smtClean="0"/>
              <a:pPr/>
              <a:t>30</a:t>
            </a:fld>
            <a:endParaRPr lang="en-US" dirty="0"/>
          </a:p>
        </p:txBody>
      </p:sp>
    </p:spTree>
    <p:extLst>
      <p:ext uri="{BB962C8B-B14F-4D97-AF65-F5344CB8AC3E}">
        <p14:creationId xmlns:p14="http://schemas.microsoft.com/office/powerpoint/2010/main" val="167662187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45097A-05D3-654A-95EB-6D26D75BB167}"/>
              </a:ext>
            </a:extLst>
          </p:cNvPr>
          <p:cNvSpPr>
            <a:spLocks noGrp="1"/>
          </p:cNvSpPr>
          <p:nvPr>
            <p:ph type="title"/>
          </p:nvPr>
        </p:nvSpPr>
        <p:spPr>
          <a:xfrm>
            <a:off x="1778113" y="473591"/>
            <a:ext cx="5122652" cy="1259894"/>
          </a:xfrm>
        </p:spPr>
        <p:txBody>
          <a:bodyPr>
            <a:normAutofit/>
          </a:bodyPr>
          <a:lstStyle/>
          <a:p>
            <a:r>
              <a:rPr lang="en-US" dirty="0"/>
              <a:t>Task 8</a:t>
            </a:r>
          </a:p>
        </p:txBody>
      </p:sp>
      <p:sp>
        <p:nvSpPr>
          <p:cNvPr id="3" name="Content Placeholder 2">
            <a:extLst>
              <a:ext uri="{FF2B5EF4-FFF2-40B4-BE49-F238E27FC236}">
                <a16:creationId xmlns:a16="http://schemas.microsoft.com/office/drawing/2014/main" id="{72284C56-4A9E-7E49-BEC9-7013A2ADA109}"/>
              </a:ext>
            </a:extLst>
          </p:cNvPr>
          <p:cNvSpPr>
            <a:spLocks noGrp="1"/>
          </p:cNvSpPr>
          <p:nvPr>
            <p:ph idx="1"/>
          </p:nvPr>
        </p:nvSpPr>
        <p:spPr>
          <a:xfrm>
            <a:off x="519017" y="1546606"/>
            <a:ext cx="4851911" cy="3759253"/>
          </a:xfrm>
        </p:spPr>
        <p:txBody>
          <a:bodyPr>
            <a:normAutofit/>
          </a:bodyPr>
          <a:lstStyle/>
          <a:p>
            <a:pPr marL="0" indent="0">
              <a:buNone/>
            </a:pPr>
            <a:r>
              <a:rPr lang="en-US" b="1" dirty="0"/>
              <a:t>C</a:t>
            </a:r>
            <a:r>
              <a:rPr lang="en-GB" b="1" dirty="0"/>
              <a:t>itation and Referencing skills (In-text citations, paraphrasing and synthesizing skills)</a:t>
            </a:r>
            <a:endParaRPr lang="en-GB" dirty="0"/>
          </a:p>
          <a:p>
            <a:pPr marL="0" indent="0">
              <a:buNone/>
            </a:pPr>
            <a:endParaRPr lang="en-GB" dirty="0"/>
          </a:p>
          <a:p>
            <a:pPr marL="0" indent="0">
              <a:buNone/>
            </a:pPr>
            <a:r>
              <a:rPr lang="en-GB" dirty="0"/>
              <a:t>You can use the </a:t>
            </a:r>
            <a:r>
              <a:rPr lang="en-GB" b="1" dirty="0"/>
              <a:t>author-prominent approach</a:t>
            </a:r>
            <a:r>
              <a:rPr lang="en-GB" dirty="0"/>
              <a:t> or </a:t>
            </a:r>
            <a:r>
              <a:rPr lang="en-GB" b="1" dirty="0"/>
              <a:t>information-prominent approach</a:t>
            </a:r>
            <a:r>
              <a:rPr lang="en-GB" dirty="0"/>
              <a:t> in in-text citations. Compare the two approaches below:</a:t>
            </a:r>
          </a:p>
          <a:p>
            <a:endParaRPr lang="en-GB" dirty="0"/>
          </a:p>
        </p:txBody>
      </p:sp>
      <p:pic>
        <p:nvPicPr>
          <p:cNvPr id="4" name="Picture 3" descr="A screenshot of a cell phone&#10;&#10;Description automatically generated">
            <a:extLst>
              <a:ext uri="{FF2B5EF4-FFF2-40B4-BE49-F238E27FC236}">
                <a16:creationId xmlns:a16="http://schemas.microsoft.com/office/drawing/2014/main" id="{0690D6D9-8D24-724E-ACAF-0F869D275521}"/>
              </a:ext>
            </a:extLst>
          </p:cNvPr>
          <p:cNvPicPr>
            <a:picLocks noChangeAspect="1"/>
          </p:cNvPicPr>
          <p:nvPr/>
        </p:nvPicPr>
        <p:blipFill>
          <a:blip r:embed="rId2"/>
          <a:stretch>
            <a:fillRect/>
          </a:stretch>
        </p:blipFill>
        <p:spPr>
          <a:xfrm>
            <a:off x="5081550" y="355989"/>
            <a:ext cx="6882431" cy="2679042"/>
          </a:xfrm>
          <a:prstGeom prst="rect">
            <a:avLst/>
          </a:prstGeom>
        </p:spPr>
      </p:pic>
      <p:pic>
        <p:nvPicPr>
          <p:cNvPr id="5" name="Picture 4">
            <a:extLst>
              <a:ext uri="{FF2B5EF4-FFF2-40B4-BE49-F238E27FC236}">
                <a16:creationId xmlns:a16="http://schemas.microsoft.com/office/drawing/2014/main" id="{38CCD201-60CD-4747-8628-7C95C9B659C9}"/>
              </a:ext>
            </a:extLst>
          </p:cNvPr>
          <p:cNvPicPr>
            <a:picLocks noChangeAspect="1"/>
          </p:cNvPicPr>
          <p:nvPr/>
        </p:nvPicPr>
        <p:blipFill>
          <a:blip r:embed="rId3"/>
          <a:stretch>
            <a:fillRect/>
          </a:stretch>
        </p:blipFill>
        <p:spPr>
          <a:xfrm>
            <a:off x="5081550" y="3152633"/>
            <a:ext cx="6882431" cy="1921937"/>
          </a:xfrm>
          <a:prstGeom prst="rect">
            <a:avLst/>
          </a:prstGeom>
        </p:spPr>
      </p:pic>
      <p:sp>
        <p:nvSpPr>
          <p:cNvPr id="6" name="TextBox 5">
            <a:extLst>
              <a:ext uri="{FF2B5EF4-FFF2-40B4-BE49-F238E27FC236}">
                <a16:creationId xmlns:a16="http://schemas.microsoft.com/office/drawing/2014/main" id="{1063E953-14EC-7842-930C-3795DFAA19C1}"/>
              </a:ext>
            </a:extLst>
          </p:cNvPr>
          <p:cNvSpPr txBox="1"/>
          <p:nvPr/>
        </p:nvSpPr>
        <p:spPr>
          <a:xfrm>
            <a:off x="1303298" y="5268069"/>
            <a:ext cx="10369685" cy="369332"/>
          </a:xfrm>
          <a:prstGeom prst="rect">
            <a:avLst/>
          </a:prstGeom>
          <a:noFill/>
        </p:spPr>
        <p:txBody>
          <a:bodyPr wrap="square" rtlCol="0">
            <a:spAutoFit/>
          </a:bodyPr>
          <a:lstStyle/>
          <a:p>
            <a:r>
              <a:rPr lang="en-US" dirty="0"/>
              <a:t>1. Which in-text citation approach is more common in your field? Do you know why?  </a:t>
            </a:r>
            <a:endParaRPr lang="en-HK" dirty="0"/>
          </a:p>
        </p:txBody>
      </p:sp>
      <p:sp>
        <p:nvSpPr>
          <p:cNvPr id="7" name="Slide Number Placeholder 3">
            <a:extLst>
              <a:ext uri="{FF2B5EF4-FFF2-40B4-BE49-F238E27FC236}">
                <a16:creationId xmlns:a16="http://schemas.microsoft.com/office/drawing/2014/main" id="{9982230E-67B6-4A33-BE52-4F857D906E5D}"/>
              </a:ext>
            </a:extLst>
          </p:cNvPr>
          <p:cNvSpPr>
            <a:spLocks noGrp="1"/>
          </p:cNvSpPr>
          <p:nvPr>
            <p:ph type="sldNum" sz="quarter" idx="12"/>
          </p:nvPr>
        </p:nvSpPr>
        <p:spPr>
          <a:xfrm>
            <a:off x="531812" y="787782"/>
            <a:ext cx="779767" cy="365125"/>
          </a:xfrm>
        </p:spPr>
        <p:txBody>
          <a:bodyPr/>
          <a:lstStyle/>
          <a:p>
            <a:fld id="{D57F1E4F-1CFF-5643-939E-217C01CDF565}" type="slidenum">
              <a:rPr lang="en-US" smtClean="0"/>
              <a:pPr/>
              <a:t>31</a:t>
            </a:fld>
            <a:endParaRPr lang="en-US" dirty="0"/>
          </a:p>
        </p:txBody>
      </p:sp>
    </p:spTree>
    <p:extLst>
      <p:ext uri="{BB962C8B-B14F-4D97-AF65-F5344CB8AC3E}">
        <p14:creationId xmlns:p14="http://schemas.microsoft.com/office/powerpoint/2010/main" val="150439187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50A0016-1BF1-E04D-83BD-628AFE76298F}"/>
              </a:ext>
            </a:extLst>
          </p:cNvPr>
          <p:cNvSpPr>
            <a:spLocks noGrp="1"/>
          </p:cNvSpPr>
          <p:nvPr>
            <p:ph idx="1"/>
          </p:nvPr>
        </p:nvSpPr>
        <p:spPr>
          <a:xfrm>
            <a:off x="1536969" y="1026408"/>
            <a:ext cx="10233498" cy="4105073"/>
          </a:xfrm>
        </p:spPr>
        <p:txBody>
          <a:bodyPr/>
          <a:lstStyle/>
          <a:p>
            <a:pPr marL="0" indent="0">
              <a:buNone/>
            </a:pPr>
            <a:r>
              <a:rPr lang="en-US" dirty="0"/>
              <a:t>Sometimes </a:t>
            </a:r>
            <a:r>
              <a:rPr lang="en-US" b="1" dirty="0"/>
              <a:t>direct quotations </a:t>
            </a:r>
            <a:r>
              <a:rPr lang="en-US" dirty="0"/>
              <a:t>are used when the original wording is particularly useful or paraphrasing the ideas may change the meaning of the original text. The direct quotation should be indicated by double quotation marks, and the page number should be provided. For example:</a:t>
            </a:r>
          </a:p>
          <a:p>
            <a:pPr marL="0" indent="0">
              <a:buNone/>
            </a:pPr>
            <a:endParaRPr lang="en-HK" dirty="0"/>
          </a:p>
          <a:p>
            <a:endParaRPr lang="en-US" dirty="0"/>
          </a:p>
          <a:p>
            <a:endParaRPr lang="en-US" dirty="0"/>
          </a:p>
          <a:p>
            <a:endParaRPr lang="en-US" dirty="0"/>
          </a:p>
          <a:p>
            <a:endParaRPr lang="en-US" dirty="0"/>
          </a:p>
          <a:p>
            <a:r>
              <a:rPr lang="en-US" dirty="0"/>
              <a:t>2. Can you find any direct quotations in the sample journal articles/theses in your field? How are direct quotation cited in the text? </a:t>
            </a:r>
            <a:endParaRPr lang="en-HK" dirty="0"/>
          </a:p>
          <a:p>
            <a:endParaRPr lang="en-US" dirty="0"/>
          </a:p>
        </p:txBody>
      </p:sp>
      <p:graphicFrame>
        <p:nvGraphicFramePr>
          <p:cNvPr id="5" name="Table 4">
            <a:extLst>
              <a:ext uri="{FF2B5EF4-FFF2-40B4-BE49-F238E27FC236}">
                <a16:creationId xmlns:a16="http://schemas.microsoft.com/office/drawing/2014/main" id="{9180DFA0-A887-F746-8E00-4360D5013644}"/>
              </a:ext>
            </a:extLst>
          </p:cNvPr>
          <p:cNvGraphicFramePr>
            <a:graphicFrameLocks noGrp="1"/>
          </p:cNvGraphicFramePr>
          <p:nvPr>
            <p:extLst>
              <p:ext uri="{D42A27DB-BD31-4B8C-83A1-F6EECF244321}">
                <p14:modId xmlns:p14="http://schemas.microsoft.com/office/powerpoint/2010/main" val="2214869477"/>
              </p:ext>
            </p:extLst>
          </p:nvPr>
        </p:nvGraphicFramePr>
        <p:xfrm>
          <a:off x="1619366" y="2344918"/>
          <a:ext cx="10068703" cy="1791208"/>
        </p:xfrm>
        <a:graphic>
          <a:graphicData uri="http://schemas.openxmlformats.org/drawingml/2006/table">
            <a:tbl>
              <a:tblPr firstRow="1" firstCol="1" bandRow="1">
                <a:tableStyleId>{5C22544A-7EE6-4342-B048-85BDC9FD1C3A}</a:tableStyleId>
              </a:tblPr>
              <a:tblGrid>
                <a:gridCol w="10068703">
                  <a:extLst>
                    <a:ext uri="{9D8B030D-6E8A-4147-A177-3AD203B41FA5}">
                      <a16:colId xmlns:a16="http://schemas.microsoft.com/office/drawing/2014/main" val="1249811607"/>
                    </a:ext>
                  </a:extLst>
                </a:gridCol>
              </a:tblGrid>
              <a:tr h="1437968">
                <a:tc>
                  <a:txBody>
                    <a:bodyPr/>
                    <a:lstStyle/>
                    <a:p>
                      <a:pPr algn="just">
                        <a:lnSpc>
                          <a:spcPct val="115000"/>
                        </a:lnSpc>
                        <a:spcAft>
                          <a:spcPts val="1000"/>
                        </a:spcAft>
                      </a:pPr>
                      <a:r>
                        <a:rPr lang="en-US" sz="1600" b="0" dirty="0">
                          <a:solidFill>
                            <a:schemeClr val="tx1"/>
                          </a:solidFill>
                          <a:effectLst/>
                        </a:rPr>
                        <a:t>The survey of corporate senior marketing managers produced findings suggesting that “clients should be responsible for the strategic direction and planning, which are the foundation of integrated communications programs” (Low, 2000, p.36).</a:t>
                      </a:r>
                      <a:endParaRPr lang="en-HK" sz="1600" b="0" dirty="0">
                        <a:solidFill>
                          <a:schemeClr val="tx1"/>
                        </a:solidFill>
                        <a:effectLst/>
                      </a:endParaRPr>
                    </a:p>
                    <a:p>
                      <a:pPr algn="just">
                        <a:lnSpc>
                          <a:spcPct val="115000"/>
                        </a:lnSpc>
                        <a:spcAft>
                          <a:spcPts val="1000"/>
                        </a:spcAft>
                      </a:pPr>
                      <a:r>
                        <a:rPr lang="en-US" sz="1600" b="0" dirty="0">
                          <a:solidFill>
                            <a:schemeClr val="tx1"/>
                          </a:solidFill>
                          <a:effectLst/>
                        </a:rPr>
                        <a:t>The survey of corporate senior marketing managers produced findings suggesting that “clients should be responsible for the strategic direction and planning, which are the foundation of integrated communications programs”</a:t>
                      </a:r>
                      <a:r>
                        <a:rPr lang="en-US" sz="1600" b="0" baseline="30000" dirty="0">
                          <a:solidFill>
                            <a:schemeClr val="tx1"/>
                          </a:solidFill>
                          <a:effectLst/>
                        </a:rPr>
                        <a:t>1, p36</a:t>
                      </a:r>
                      <a:endParaRPr lang="en-HK" sz="1600" b="0" dirty="0">
                        <a:solidFill>
                          <a:schemeClr val="tx1"/>
                        </a:solidFill>
                        <a:effectLst/>
                        <a:latin typeface="Calibri" panose="020F0502020204030204" pitchFamily="34" charset="0"/>
                        <a:ea typeface="DengXian" panose="02010600030101010101" pitchFamily="2" charset="-122"/>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47862691"/>
                  </a:ext>
                </a:extLst>
              </a:tr>
            </a:tbl>
          </a:graphicData>
        </a:graphic>
      </p:graphicFrame>
      <p:sp>
        <p:nvSpPr>
          <p:cNvPr id="6" name="TextBox 5">
            <a:extLst>
              <a:ext uri="{FF2B5EF4-FFF2-40B4-BE49-F238E27FC236}">
                <a16:creationId xmlns:a16="http://schemas.microsoft.com/office/drawing/2014/main" id="{D39E8530-F0F3-6C48-ADC9-97434DF1BE15}"/>
              </a:ext>
            </a:extLst>
          </p:cNvPr>
          <p:cNvSpPr txBox="1"/>
          <p:nvPr/>
        </p:nvSpPr>
        <p:spPr>
          <a:xfrm>
            <a:off x="1794465" y="5131481"/>
            <a:ext cx="10151101" cy="369332"/>
          </a:xfrm>
          <a:prstGeom prst="rect">
            <a:avLst/>
          </a:prstGeom>
          <a:noFill/>
        </p:spPr>
        <p:txBody>
          <a:bodyPr wrap="square" rtlCol="0">
            <a:spAutoFit/>
          </a:bodyPr>
          <a:lstStyle/>
          <a:p>
            <a:r>
              <a:rPr lang="en-US" i="1" dirty="0">
                <a:solidFill>
                  <a:srgbClr val="0070C0"/>
                </a:solidFill>
              </a:rPr>
              <a:t>It is worth noting that direct quotations are often discouraged in the Sciences. </a:t>
            </a:r>
            <a:endParaRPr lang="en-HK" dirty="0">
              <a:solidFill>
                <a:srgbClr val="0070C0"/>
              </a:solidFill>
            </a:endParaRPr>
          </a:p>
        </p:txBody>
      </p:sp>
      <p:sp>
        <p:nvSpPr>
          <p:cNvPr id="8" name="Slide Number Placeholder 3">
            <a:extLst>
              <a:ext uri="{FF2B5EF4-FFF2-40B4-BE49-F238E27FC236}">
                <a16:creationId xmlns:a16="http://schemas.microsoft.com/office/drawing/2014/main" id="{97916367-A351-498E-84D8-D38E1E0471AB}"/>
              </a:ext>
            </a:extLst>
          </p:cNvPr>
          <p:cNvSpPr>
            <a:spLocks noGrp="1"/>
          </p:cNvSpPr>
          <p:nvPr>
            <p:ph type="sldNum" sz="quarter" idx="12"/>
          </p:nvPr>
        </p:nvSpPr>
        <p:spPr>
          <a:xfrm>
            <a:off x="531812" y="787782"/>
            <a:ext cx="779767" cy="365125"/>
          </a:xfrm>
        </p:spPr>
        <p:txBody>
          <a:bodyPr/>
          <a:lstStyle/>
          <a:p>
            <a:fld id="{D57F1E4F-1CFF-5643-939E-217C01CDF565}" type="slidenum">
              <a:rPr lang="en-US" smtClean="0"/>
              <a:pPr/>
              <a:t>32</a:t>
            </a:fld>
            <a:endParaRPr lang="en-US" dirty="0"/>
          </a:p>
        </p:txBody>
      </p:sp>
    </p:spTree>
    <p:extLst>
      <p:ext uri="{BB962C8B-B14F-4D97-AF65-F5344CB8AC3E}">
        <p14:creationId xmlns:p14="http://schemas.microsoft.com/office/powerpoint/2010/main" val="1982174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4ADE616-DA47-0148-A2DE-D3BC2760A139}"/>
              </a:ext>
            </a:extLst>
          </p:cNvPr>
          <p:cNvSpPr>
            <a:spLocks noGrp="1"/>
          </p:cNvSpPr>
          <p:nvPr>
            <p:ph idx="1"/>
          </p:nvPr>
        </p:nvSpPr>
        <p:spPr>
          <a:xfrm>
            <a:off x="1668077" y="834074"/>
            <a:ext cx="10033035" cy="5303114"/>
          </a:xfrm>
        </p:spPr>
        <p:txBody>
          <a:bodyPr>
            <a:normAutofit/>
          </a:bodyPr>
          <a:lstStyle/>
          <a:p>
            <a:pPr marL="0" indent="0">
              <a:buNone/>
            </a:pPr>
            <a:r>
              <a:rPr lang="en-US" b="1" dirty="0"/>
              <a:t>Paraphrasing</a:t>
            </a:r>
            <a:r>
              <a:rPr lang="en-US" dirty="0"/>
              <a:t> is a more common in-text citation method than direct quotations. It means communicating the source’s ideas using your own words. There are several advantages: It shows that you have understood the ideas in the sources; you are able to select and skillfully integrate key definitions, theories, models, ideas of research findings into your own paper, using your own words.</a:t>
            </a:r>
            <a:endParaRPr lang="en-HK" dirty="0"/>
          </a:p>
          <a:p>
            <a:pPr marL="0" indent="0">
              <a:buNone/>
            </a:pPr>
            <a:r>
              <a:rPr lang="en-US" dirty="0"/>
              <a:t>If you want to use the information in the source but write in your own words, you could begin by identifying the important information in the sentences and the relationships between points. You then might think about the language to establish relationships:</a:t>
            </a:r>
            <a:endParaRPr lang="en-HK" dirty="0"/>
          </a:p>
          <a:p>
            <a:pPr lvl="0"/>
            <a:r>
              <a:rPr lang="en-US" dirty="0"/>
              <a:t>What are the important points?</a:t>
            </a:r>
            <a:endParaRPr lang="en-HK" dirty="0"/>
          </a:p>
          <a:p>
            <a:pPr lvl="0"/>
            <a:r>
              <a:rPr lang="en-US" dirty="0"/>
              <a:t>What are the important relationships between the points? (e.g. cause and effect, problem and solution, pros and cons, comparison and contrast)</a:t>
            </a:r>
            <a:endParaRPr lang="en-HK" dirty="0"/>
          </a:p>
          <a:p>
            <a:pPr lvl="0"/>
            <a:r>
              <a:rPr lang="en-US" dirty="0"/>
              <a:t>What linking phrases and expressions that can connect the points? (e.g. because, therefore, as a result, due to, caused by, can be attributed to)</a:t>
            </a:r>
            <a:endParaRPr lang="en-HK" dirty="0"/>
          </a:p>
          <a:p>
            <a:pPr marL="0" indent="0">
              <a:buNone/>
            </a:pPr>
            <a:r>
              <a:rPr lang="en-US" dirty="0"/>
              <a:t>Next, you might consider </a:t>
            </a:r>
            <a:r>
              <a:rPr lang="en-US" b="1" dirty="0">
                <a:solidFill>
                  <a:srgbClr val="0070C0"/>
                </a:solidFill>
              </a:rPr>
              <a:t>possible synonyms for the source vocabulary and changing the part of speech (e.g. nouns to verbs) and sentence structure</a:t>
            </a:r>
            <a:r>
              <a:rPr lang="en-US" dirty="0"/>
              <a:t>.</a:t>
            </a:r>
            <a:endParaRPr lang="en-HK" dirty="0"/>
          </a:p>
          <a:p>
            <a:endParaRPr lang="en-US" dirty="0"/>
          </a:p>
        </p:txBody>
      </p:sp>
      <p:sp>
        <p:nvSpPr>
          <p:cNvPr id="6" name="Slide Number Placeholder 3">
            <a:extLst>
              <a:ext uri="{FF2B5EF4-FFF2-40B4-BE49-F238E27FC236}">
                <a16:creationId xmlns:a16="http://schemas.microsoft.com/office/drawing/2014/main" id="{F2C7E49A-E243-4093-A5A4-0CF6E0181F36}"/>
              </a:ext>
            </a:extLst>
          </p:cNvPr>
          <p:cNvSpPr>
            <a:spLocks noGrp="1"/>
          </p:cNvSpPr>
          <p:nvPr>
            <p:ph type="sldNum" sz="quarter" idx="12"/>
          </p:nvPr>
        </p:nvSpPr>
        <p:spPr>
          <a:xfrm>
            <a:off x="531812" y="787782"/>
            <a:ext cx="779767" cy="365125"/>
          </a:xfrm>
        </p:spPr>
        <p:txBody>
          <a:bodyPr/>
          <a:lstStyle/>
          <a:p>
            <a:fld id="{D57F1E4F-1CFF-5643-939E-217C01CDF565}" type="slidenum">
              <a:rPr lang="en-US" smtClean="0"/>
              <a:pPr/>
              <a:t>33</a:t>
            </a:fld>
            <a:endParaRPr lang="en-US" dirty="0"/>
          </a:p>
        </p:txBody>
      </p:sp>
    </p:spTree>
    <p:extLst>
      <p:ext uri="{BB962C8B-B14F-4D97-AF65-F5344CB8AC3E}">
        <p14:creationId xmlns:p14="http://schemas.microsoft.com/office/powerpoint/2010/main" val="62671592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91B1E6A-B3C5-5742-8037-7A76BFC304C1}"/>
              </a:ext>
            </a:extLst>
          </p:cNvPr>
          <p:cNvSpPr>
            <a:spLocks noGrp="1"/>
          </p:cNvSpPr>
          <p:nvPr>
            <p:ph idx="1"/>
          </p:nvPr>
        </p:nvSpPr>
        <p:spPr>
          <a:xfrm>
            <a:off x="1430446" y="680840"/>
            <a:ext cx="10320386" cy="1280890"/>
          </a:xfrm>
        </p:spPr>
        <p:txBody>
          <a:bodyPr>
            <a:normAutofit/>
          </a:bodyPr>
          <a:lstStyle/>
          <a:p>
            <a:r>
              <a:rPr lang="en-US" dirty="0">
                <a:solidFill>
                  <a:srgbClr val="000000"/>
                </a:solidFill>
              </a:rPr>
              <a:t>3. Read the following example of paraphrase. Identify the paraphrasing strategies adopted by the writer.</a:t>
            </a:r>
            <a:endParaRPr lang="en-HK" dirty="0">
              <a:solidFill>
                <a:srgbClr val="000000"/>
              </a:solidFill>
            </a:endParaRPr>
          </a:p>
          <a:p>
            <a:pPr marL="0" indent="0">
              <a:buNone/>
            </a:pPr>
            <a:endParaRPr lang="en-US" sz="1600" dirty="0">
              <a:solidFill>
                <a:srgbClr val="000000"/>
              </a:solidFill>
            </a:endParaRPr>
          </a:p>
        </p:txBody>
      </p:sp>
      <p:sp>
        <p:nvSpPr>
          <p:cNvPr id="5" name="Rectangle 4">
            <a:extLst>
              <a:ext uri="{FF2B5EF4-FFF2-40B4-BE49-F238E27FC236}">
                <a16:creationId xmlns:a16="http://schemas.microsoft.com/office/drawing/2014/main" id="{D2D9CBF1-0F69-8C48-B3B4-0DAD123A24AF}"/>
              </a:ext>
            </a:extLst>
          </p:cNvPr>
          <p:cNvSpPr/>
          <p:nvPr/>
        </p:nvSpPr>
        <p:spPr>
          <a:xfrm>
            <a:off x="1216618" y="4567536"/>
            <a:ext cx="9758764" cy="1666354"/>
          </a:xfrm>
          <a:prstGeom prst="rect">
            <a:avLst/>
          </a:prstGeom>
        </p:spPr>
        <p:txBody>
          <a:bodyPr wrap="square">
            <a:spAutoFit/>
          </a:bodyPr>
          <a:lstStyle/>
          <a:p>
            <a:pPr marL="342900" lvl="0" indent="-342900" algn="just">
              <a:lnSpc>
                <a:spcPct val="115000"/>
              </a:lnSpc>
              <a:spcAft>
                <a:spcPts val="0"/>
              </a:spcAft>
              <a:buFont typeface="Symbol" pitchFamily="2" charset="2"/>
              <a:buChar char=""/>
            </a:pPr>
            <a:r>
              <a:rPr lang="en-US" i="1" dirty="0">
                <a:solidFill>
                  <a:srgbClr val="0070C0"/>
                </a:solidFill>
                <a:latin typeface="Calibri" panose="020F0502020204030204" pitchFamily="34" charset="0"/>
                <a:ea typeface="DengXian" panose="02010600030101010101" pitchFamily="2" charset="-122"/>
                <a:cs typeface="Times New Roman" panose="02020603050405020304" pitchFamily="18" charset="0"/>
              </a:rPr>
              <a:t>Use of synonyms (e.g. school children </a:t>
            </a:r>
            <a:r>
              <a:rPr lang="en-US" i="1" dirty="0">
                <a:solidFill>
                  <a:srgbClr val="0070C0"/>
                </a:solidFill>
                <a:latin typeface="Calibri" panose="020F0502020204030204" pitchFamily="34" charset="0"/>
                <a:ea typeface="DengXian" panose="02010600030101010101" pitchFamily="2" charset="-122"/>
                <a:cs typeface="Times New Roman" panose="02020603050405020304" pitchFamily="18" charset="0"/>
                <a:sym typeface="Wingdings" pitchFamily="2" charset="2"/>
              </a:rPr>
              <a:t></a:t>
            </a:r>
            <a:r>
              <a:rPr lang="en-US" i="1" dirty="0">
                <a:solidFill>
                  <a:srgbClr val="0070C0"/>
                </a:solidFill>
                <a:latin typeface="Calibri" panose="020F0502020204030204" pitchFamily="34" charset="0"/>
                <a:ea typeface="DengXian" panose="02010600030101010101" pitchFamily="2" charset="-122"/>
                <a:cs typeface="Times New Roman" panose="02020603050405020304" pitchFamily="18" charset="0"/>
              </a:rPr>
              <a:t> school-age children; caused by </a:t>
            </a:r>
            <a:r>
              <a:rPr lang="en-US" i="1" dirty="0">
                <a:solidFill>
                  <a:srgbClr val="0070C0"/>
                </a:solidFill>
                <a:latin typeface="Calibri" panose="020F0502020204030204" pitchFamily="34" charset="0"/>
                <a:ea typeface="DengXian" panose="02010600030101010101" pitchFamily="2" charset="-122"/>
                <a:cs typeface="Times New Roman" panose="02020603050405020304" pitchFamily="18" charset="0"/>
                <a:sym typeface="Wingdings" pitchFamily="2" charset="2"/>
              </a:rPr>
              <a:t></a:t>
            </a:r>
            <a:r>
              <a:rPr lang="en-US" i="1" dirty="0">
                <a:solidFill>
                  <a:srgbClr val="0070C0"/>
                </a:solidFill>
                <a:latin typeface="Calibri" panose="020F0502020204030204" pitchFamily="34" charset="0"/>
                <a:ea typeface="DengXian" panose="02010600030101010101" pitchFamily="2" charset="-122"/>
                <a:cs typeface="Times New Roman" panose="02020603050405020304" pitchFamily="18" charset="0"/>
              </a:rPr>
              <a:t> due to; fatalities </a:t>
            </a:r>
            <a:r>
              <a:rPr lang="en-US" i="1" dirty="0">
                <a:solidFill>
                  <a:srgbClr val="0070C0"/>
                </a:solidFill>
                <a:latin typeface="Calibri" panose="020F0502020204030204" pitchFamily="34" charset="0"/>
                <a:ea typeface="DengXian" panose="02010600030101010101" pitchFamily="2" charset="-122"/>
                <a:cs typeface="Times New Roman" panose="02020603050405020304" pitchFamily="18" charset="0"/>
                <a:sym typeface="Wingdings" pitchFamily="2" charset="2"/>
              </a:rPr>
              <a:t></a:t>
            </a:r>
            <a:r>
              <a:rPr lang="en-US" i="1" dirty="0">
                <a:solidFill>
                  <a:srgbClr val="0070C0"/>
                </a:solidFill>
                <a:latin typeface="Calibri" panose="020F0502020204030204" pitchFamily="34" charset="0"/>
                <a:ea typeface="DengXian" panose="02010600030101010101" pitchFamily="2" charset="-122"/>
                <a:cs typeface="Times New Roman" panose="02020603050405020304" pitchFamily="18" charset="0"/>
              </a:rPr>
              <a:t> deaths; 75% </a:t>
            </a:r>
            <a:r>
              <a:rPr lang="en-US" i="1" dirty="0">
                <a:solidFill>
                  <a:srgbClr val="0070C0"/>
                </a:solidFill>
                <a:latin typeface="Calibri" panose="020F0502020204030204" pitchFamily="34" charset="0"/>
                <a:ea typeface="DengXian" panose="02010600030101010101" pitchFamily="2" charset="-122"/>
                <a:cs typeface="Times New Roman" panose="02020603050405020304" pitchFamily="18" charset="0"/>
                <a:sym typeface="Wingdings" pitchFamily="2" charset="2"/>
              </a:rPr>
              <a:t></a:t>
            </a:r>
            <a:r>
              <a:rPr lang="en-US" i="1" dirty="0">
                <a:solidFill>
                  <a:srgbClr val="0070C0"/>
                </a:solidFill>
                <a:latin typeface="Calibri" panose="020F0502020204030204" pitchFamily="34" charset="0"/>
                <a:ea typeface="DengXian" panose="02010600030101010101" pitchFamily="2" charset="-122"/>
                <a:cs typeface="Times New Roman" panose="02020603050405020304" pitchFamily="18" charset="0"/>
              </a:rPr>
              <a:t> three-fourths).</a:t>
            </a:r>
            <a:endParaRPr lang="en-HK" dirty="0">
              <a:latin typeface="Calibri" panose="020F0502020204030204" pitchFamily="34" charset="0"/>
              <a:ea typeface="DengXian" panose="02010600030101010101" pitchFamily="2" charset="-122"/>
              <a:cs typeface="Times New Roman" panose="02020603050405020304" pitchFamily="18" charset="0"/>
            </a:endParaRPr>
          </a:p>
          <a:p>
            <a:pPr marL="342900" lvl="0" indent="-342900" algn="just">
              <a:lnSpc>
                <a:spcPct val="115000"/>
              </a:lnSpc>
              <a:spcAft>
                <a:spcPts val="0"/>
              </a:spcAft>
              <a:buFont typeface="Symbol" pitchFamily="2" charset="2"/>
              <a:buChar char=""/>
            </a:pPr>
            <a:r>
              <a:rPr lang="en-US" i="1" dirty="0">
                <a:solidFill>
                  <a:srgbClr val="0070C0"/>
                </a:solidFill>
                <a:latin typeface="Calibri" panose="020F0502020204030204" pitchFamily="34" charset="0"/>
                <a:ea typeface="DengXian" panose="02010600030101010101" pitchFamily="2" charset="-122"/>
                <a:cs typeface="Times New Roman" panose="02020603050405020304" pitchFamily="18" charset="0"/>
              </a:rPr>
              <a:t>Changing the sentence structure (e.g. By cushioning the head upon impact, a helmet can reduce accidental injury by…  </a:t>
            </a:r>
            <a:r>
              <a:rPr lang="en-US" i="1" dirty="0">
                <a:solidFill>
                  <a:srgbClr val="0070C0"/>
                </a:solidFill>
                <a:latin typeface="Calibri" panose="020F0502020204030204" pitchFamily="34" charset="0"/>
                <a:ea typeface="DengXian" panose="02010600030101010101" pitchFamily="2" charset="-122"/>
                <a:cs typeface="Times New Roman" panose="02020603050405020304" pitchFamily="18" charset="0"/>
                <a:sym typeface="Wingdings" pitchFamily="2" charset="2"/>
              </a:rPr>
              <a:t></a:t>
            </a:r>
            <a:r>
              <a:rPr lang="en-US" i="1" dirty="0">
                <a:solidFill>
                  <a:srgbClr val="0070C0"/>
                </a:solidFill>
                <a:latin typeface="Calibri" panose="020F0502020204030204" pitchFamily="34" charset="0"/>
                <a:ea typeface="DengXian" panose="02010600030101010101" pitchFamily="2" charset="-122"/>
                <a:cs typeface="Times New Roman" panose="02020603050405020304" pitchFamily="18" charset="0"/>
              </a:rPr>
              <a:t> In an accident, a bike helmet absorbs the shock and cushions the head).</a:t>
            </a:r>
            <a:endParaRPr lang="en-HK" dirty="0">
              <a:latin typeface="Calibri" panose="020F0502020204030204" pitchFamily="34" charset="0"/>
              <a:ea typeface="DengXian" panose="02010600030101010101" pitchFamily="2" charset="-122"/>
              <a:cs typeface="Times New Roman" panose="02020603050405020304" pitchFamily="18" charset="0"/>
            </a:endParaRPr>
          </a:p>
          <a:p>
            <a:pPr marL="342900" lvl="0" indent="-342900" algn="just">
              <a:lnSpc>
                <a:spcPct val="115000"/>
              </a:lnSpc>
              <a:spcAft>
                <a:spcPts val="1000"/>
              </a:spcAft>
              <a:buFont typeface="Symbol" pitchFamily="2" charset="2"/>
              <a:buChar char=""/>
            </a:pPr>
            <a:r>
              <a:rPr lang="en-US" i="1" dirty="0">
                <a:solidFill>
                  <a:srgbClr val="0070C0"/>
                </a:solidFill>
                <a:latin typeface="Calibri" panose="020F0502020204030204" pitchFamily="34" charset="0"/>
                <a:ea typeface="DengXian" panose="02010600030101010101" pitchFamily="2" charset="-122"/>
                <a:cs typeface="Times New Roman" panose="02020603050405020304" pitchFamily="18" charset="0"/>
              </a:rPr>
              <a:t>Changing the order of the information presented.</a:t>
            </a:r>
            <a:endParaRPr lang="en-HK" dirty="0">
              <a:latin typeface="Calibri" panose="020F0502020204030204" pitchFamily="34" charset="0"/>
              <a:ea typeface="DengXian" panose="02010600030101010101" pitchFamily="2" charset="-122"/>
              <a:cs typeface="Times New Roman" panose="02020603050405020304" pitchFamily="18" charset="0"/>
            </a:endParaRPr>
          </a:p>
        </p:txBody>
      </p:sp>
      <p:sp>
        <p:nvSpPr>
          <p:cNvPr id="6" name="TextBox 5">
            <a:extLst>
              <a:ext uri="{FF2B5EF4-FFF2-40B4-BE49-F238E27FC236}">
                <a16:creationId xmlns:a16="http://schemas.microsoft.com/office/drawing/2014/main" id="{4BF015AB-D277-2F4E-9F18-A6B5C053F760}"/>
              </a:ext>
            </a:extLst>
          </p:cNvPr>
          <p:cNvSpPr txBox="1"/>
          <p:nvPr/>
        </p:nvSpPr>
        <p:spPr>
          <a:xfrm>
            <a:off x="1560439" y="1430350"/>
            <a:ext cx="9071122" cy="2800767"/>
          </a:xfrm>
          <a:prstGeom prst="rect">
            <a:avLst/>
          </a:prstGeom>
          <a:solidFill>
            <a:schemeClr val="bg1"/>
          </a:solidFill>
        </p:spPr>
        <p:txBody>
          <a:bodyPr wrap="square" rtlCol="0">
            <a:spAutoFit/>
          </a:bodyPr>
          <a:lstStyle/>
          <a:p>
            <a:r>
              <a:rPr lang="en-US" sz="1600" b="1" dirty="0"/>
              <a:t>Original paragraph:</a:t>
            </a:r>
            <a:endParaRPr lang="en-HK" sz="1600" dirty="0"/>
          </a:p>
          <a:p>
            <a:r>
              <a:rPr lang="en-US" sz="1600" dirty="0"/>
              <a:t>The use of a helmet is the key to reducing bicycling fatalities, which are due to head injuries 75% of the time. By cushioning the head upon impact, a helmet can reduce accidental injury by as much as 85%, saving the lives of hundreds of victims annually, half of whom are school children ("Bike Helmets: Unused Lifesavers", 1990).</a:t>
            </a:r>
          </a:p>
          <a:p>
            <a:endParaRPr lang="en-HK" sz="1600" dirty="0"/>
          </a:p>
          <a:p>
            <a:r>
              <a:rPr lang="en-US" sz="1600" b="1" dirty="0"/>
              <a:t>Paraphrase:</a:t>
            </a:r>
            <a:endParaRPr lang="en-HK" sz="1600" dirty="0"/>
          </a:p>
          <a:p>
            <a:r>
              <a:rPr lang="en-US" sz="1600" dirty="0"/>
              <a:t>Of the hundreds of bicycling deaths each year, three-fourths are caused by head injuries. Half of those killed are school-age children. One study concluded that wearing a bike helmet can reduce the risk of head injury by 85 percent. In an accident, a bike helmet absorbs the shock and cushions the head ("Bike Helmets: Unused Lifesavers", 1990).</a:t>
            </a:r>
            <a:r>
              <a:rPr lang="en-HK" sz="1600" dirty="0"/>
              <a:t> </a:t>
            </a:r>
            <a:endParaRPr lang="en-US" sz="1600" dirty="0"/>
          </a:p>
        </p:txBody>
      </p:sp>
      <p:sp>
        <p:nvSpPr>
          <p:cNvPr id="8" name="Slide Number Placeholder 3">
            <a:extLst>
              <a:ext uri="{FF2B5EF4-FFF2-40B4-BE49-F238E27FC236}">
                <a16:creationId xmlns:a16="http://schemas.microsoft.com/office/drawing/2014/main" id="{516F76FD-B042-4EF9-ADF6-AB0BB1BABD84}"/>
              </a:ext>
            </a:extLst>
          </p:cNvPr>
          <p:cNvSpPr>
            <a:spLocks noGrp="1"/>
          </p:cNvSpPr>
          <p:nvPr>
            <p:ph type="sldNum" sz="quarter" idx="12"/>
          </p:nvPr>
        </p:nvSpPr>
        <p:spPr>
          <a:xfrm>
            <a:off x="531812" y="787782"/>
            <a:ext cx="779767" cy="365125"/>
          </a:xfrm>
        </p:spPr>
        <p:txBody>
          <a:bodyPr/>
          <a:lstStyle/>
          <a:p>
            <a:fld id="{D57F1E4F-1CFF-5643-939E-217C01CDF565}" type="slidenum">
              <a:rPr lang="en-US" smtClean="0"/>
              <a:pPr/>
              <a:t>34</a:t>
            </a:fld>
            <a:endParaRPr lang="en-US" dirty="0"/>
          </a:p>
        </p:txBody>
      </p:sp>
    </p:spTree>
    <p:extLst>
      <p:ext uri="{BB962C8B-B14F-4D97-AF65-F5344CB8AC3E}">
        <p14:creationId xmlns:p14="http://schemas.microsoft.com/office/powerpoint/2010/main" val="26185305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DCA3D4C-F5B0-AB4F-940C-D632935E2292}"/>
              </a:ext>
            </a:extLst>
          </p:cNvPr>
          <p:cNvSpPr>
            <a:spLocks noGrp="1"/>
          </p:cNvSpPr>
          <p:nvPr>
            <p:ph idx="1"/>
          </p:nvPr>
        </p:nvSpPr>
        <p:spPr>
          <a:xfrm>
            <a:off x="1717436" y="1653703"/>
            <a:ext cx="9650989" cy="4276975"/>
          </a:xfrm>
        </p:spPr>
        <p:txBody>
          <a:bodyPr/>
          <a:lstStyle/>
          <a:p>
            <a:r>
              <a:rPr lang="en-US" sz="2400" dirty="0"/>
              <a:t>4. Choose one research article you have read recently and paraphrase a short section/paragraph of it. You may focus on the methods, results or implications. What tense(s) will you use in your paraphrase? Why? After you finished, show your paraphrase to a classmate. Then, show the original text to him/her. Get feedback.</a:t>
            </a:r>
            <a:endParaRPr lang="en-HK" sz="2400" dirty="0"/>
          </a:p>
          <a:p>
            <a:endParaRPr lang="en-US" dirty="0"/>
          </a:p>
        </p:txBody>
      </p:sp>
      <p:sp>
        <p:nvSpPr>
          <p:cNvPr id="6" name="Slide Number Placeholder 3">
            <a:extLst>
              <a:ext uri="{FF2B5EF4-FFF2-40B4-BE49-F238E27FC236}">
                <a16:creationId xmlns:a16="http://schemas.microsoft.com/office/drawing/2014/main" id="{DEEEDB34-D81B-4678-9B8E-06FC25DB4EA1}"/>
              </a:ext>
            </a:extLst>
          </p:cNvPr>
          <p:cNvSpPr>
            <a:spLocks noGrp="1"/>
          </p:cNvSpPr>
          <p:nvPr>
            <p:ph type="sldNum" sz="quarter" idx="12"/>
          </p:nvPr>
        </p:nvSpPr>
        <p:spPr>
          <a:xfrm>
            <a:off x="531812" y="787782"/>
            <a:ext cx="779767" cy="365125"/>
          </a:xfrm>
        </p:spPr>
        <p:txBody>
          <a:bodyPr/>
          <a:lstStyle/>
          <a:p>
            <a:fld id="{D57F1E4F-1CFF-5643-939E-217C01CDF565}" type="slidenum">
              <a:rPr lang="en-US" smtClean="0"/>
              <a:pPr/>
              <a:t>35</a:t>
            </a:fld>
            <a:endParaRPr lang="en-US" dirty="0"/>
          </a:p>
        </p:txBody>
      </p:sp>
    </p:spTree>
    <p:extLst>
      <p:ext uri="{BB962C8B-B14F-4D97-AF65-F5344CB8AC3E}">
        <p14:creationId xmlns:p14="http://schemas.microsoft.com/office/powerpoint/2010/main" val="14816501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06EF067-F750-B645-B424-22DB51D04121}"/>
              </a:ext>
            </a:extLst>
          </p:cNvPr>
          <p:cNvSpPr>
            <a:spLocks noGrp="1"/>
          </p:cNvSpPr>
          <p:nvPr>
            <p:ph idx="1"/>
          </p:nvPr>
        </p:nvSpPr>
        <p:spPr>
          <a:xfrm>
            <a:off x="1810256" y="853361"/>
            <a:ext cx="9683382" cy="5276505"/>
          </a:xfrm>
        </p:spPr>
        <p:txBody>
          <a:bodyPr>
            <a:normAutofit/>
          </a:bodyPr>
          <a:lstStyle/>
          <a:p>
            <a:pPr marL="0" indent="0">
              <a:buNone/>
            </a:pPr>
            <a:r>
              <a:rPr lang="en-US" sz="2000" dirty="0"/>
              <a:t>When writing a literature review, you are expected to synthesize information from a number of sources that may overlap, slightly differ, or contradict each other. When working with multiple sources, you often need to infer and make explicit the relationships among them. This is called </a:t>
            </a:r>
            <a:r>
              <a:rPr lang="en-US" sz="2000" b="1" dirty="0"/>
              <a:t>synthesizing skills</a:t>
            </a:r>
            <a:r>
              <a:rPr lang="en-US" sz="2000" dirty="0"/>
              <a:t>. To do so, you need to </a:t>
            </a:r>
            <a:r>
              <a:rPr lang="en-US" sz="2000" b="1" dirty="0"/>
              <a:t>identify the similarities and/or differences between the sources</a:t>
            </a:r>
            <a:r>
              <a:rPr lang="en-US" sz="2000" dirty="0"/>
              <a:t>. Then, organize the ideas to ensure that you can logically present the information. To summarize, use the following steps to synthesize information from multiple sources:</a:t>
            </a:r>
          </a:p>
          <a:p>
            <a:pPr marL="0" indent="0">
              <a:buNone/>
            </a:pPr>
            <a:endParaRPr lang="en-HK" sz="2000" dirty="0"/>
          </a:p>
          <a:p>
            <a:pPr lvl="0">
              <a:buClrTx/>
              <a:buFont typeface="+mj-lt"/>
              <a:buAutoNum type="arabicPeriod"/>
            </a:pPr>
            <a:r>
              <a:rPr lang="en-US" sz="2000" dirty="0"/>
              <a:t>Organize your sources and identify the similarities and differences between the sources</a:t>
            </a:r>
            <a:endParaRPr lang="en-HK" sz="2000" dirty="0"/>
          </a:p>
          <a:p>
            <a:pPr lvl="0">
              <a:buClrTx/>
              <a:buFont typeface="+mj-lt"/>
              <a:buAutoNum type="arabicPeriod"/>
            </a:pPr>
            <a:r>
              <a:rPr lang="en-US" sz="2000" dirty="0"/>
              <a:t>Outline the structure of the synthesis</a:t>
            </a:r>
            <a:endParaRPr lang="en-HK" sz="2000" dirty="0"/>
          </a:p>
          <a:p>
            <a:pPr lvl="0">
              <a:buClrTx/>
              <a:buFont typeface="+mj-lt"/>
              <a:buAutoNum type="arabicPeriod"/>
            </a:pPr>
            <a:r>
              <a:rPr lang="en-US" sz="2000" dirty="0"/>
              <a:t>Write paragraphs with topic sentences</a:t>
            </a:r>
            <a:endParaRPr lang="en-HK" sz="2000" dirty="0"/>
          </a:p>
          <a:p>
            <a:pPr lvl="0">
              <a:buClrTx/>
              <a:buFont typeface="+mj-lt"/>
              <a:buAutoNum type="arabicPeriod"/>
            </a:pPr>
            <a:r>
              <a:rPr lang="en-US" sz="2000" dirty="0"/>
              <a:t>Revise, edit and proofread the synthesis</a:t>
            </a:r>
            <a:endParaRPr lang="en-HK" sz="2000" dirty="0"/>
          </a:p>
          <a:p>
            <a:pPr marL="0" indent="0">
              <a:buNone/>
            </a:pPr>
            <a:endParaRPr lang="en-US" dirty="0"/>
          </a:p>
        </p:txBody>
      </p:sp>
      <p:sp>
        <p:nvSpPr>
          <p:cNvPr id="6" name="Slide Number Placeholder 3">
            <a:extLst>
              <a:ext uri="{FF2B5EF4-FFF2-40B4-BE49-F238E27FC236}">
                <a16:creationId xmlns:a16="http://schemas.microsoft.com/office/drawing/2014/main" id="{104EE714-1706-4399-BE52-1038D18DC161}"/>
              </a:ext>
            </a:extLst>
          </p:cNvPr>
          <p:cNvSpPr>
            <a:spLocks noGrp="1"/>
          </p:cNvSpPr>
          <p:nvPr>
            <p:ph type="sldNum" sz="quarter" idx="12"/>
          </p:nvPr>
        </p:nvSpPr>
        <p:spPr>
          <a:xfrm>
            <a:off x="531812" y="787782"/>
            <a:ext cx="779767" cy="365125"/>
          </a:xfrm>
        </p:spPr>
        <p:txBody>
          <a:bodyPr/>
          <a:lstStyle/>
          <a:p>
            <a:fld id="{D57F1E4F-1CFF-5643-939E-217C01CDF565}" type="slidenum">
              <a:rPr lang="en-US" smtClean="0"/>
              <a:pPr/>
              <a:t>36</a:t>
            </a:fld>
            <a:endParaRPr lang="en-US" dirty="0"/>
          </a:p>
        </p:txBody>
      </p:sp>
    </p:spTree>
    <p:extLst>
      <p:ext uri="{BB962C8B-B14F-4D97-AF65-F5344CB8AC3E}">
        <p14:creationId xmlns:p14="http://schemas.microsoft.com/office/powerpoint/2010/main" val="216066325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466C79-EF96-C54B-AD8E-7D8B8DCC03F8}"/>
              </a:ext>
            </a:extLst>
          </p:cNvPr>
          <p:cNvSpPr>
            <a:spLocks noGrp="1"/>
          </p:cNvSpPr>
          <p:nvPr>
            <p:ph type="title"/>
          </p:nvPr>
        </p:nvSpPr>
        <p:spPr>
          <a:xfrm>
            <a:off x="1834167" y="604654"/>
            <a:ext cx="8911687" cy="718308"/>
          </a:xfrm>
        </p:spPr>
        <p:txBody>
          <a:bodyPr>
            <a:normAutofit/>
          </a:bodyPr>
          <a:lstStyle/>
          <a:p>
            <a:r>
              <a:rPr lang="en-US" sz="3200" b="1" dirty="0"/>
              <a:t>Step 1</a:t>
            </a:r>
          </a:p>
        </p:txBody>
      </p:sp>
      <p:sp>
        <p:nvSpPr>
          <p:cNvPr id="3" name="Content Placeholder 2">
            <a:extLst>
              <a:ext uri="{FF2B5EF4-FFF2-40B4-BE49-F238E27FC236}">
                <a16:creationId xmlns:a16="http://schemas.microsoft.com/office/drawing/2014/main" id="{DFC7E0C2-ADD3-504A-B482-9A1C4530EA0F}"/>
              </a:ext>
            </a:extLst>
          </p:cNvPr>
          <p:cNvSpPr>
            <a:spLocks noGrp="1"/>
          </p:cNvSpPr>
          <p:nvPr>
            <p:ph idx="1"/>
          </p:nvPr>
        </p:nvSpPr>
        <p:spPr>
          <a:xfrm>
            <a:off x="1834167" y="1478604"/>
            <a:ext cx="9741748" cy="4980562"/>
          </a:xfrm>
        </p:spPr>
        <p:txBody>
          <a:bodyPr/>
          <a:lstStyle/>
          <a:p>
            <a:pPr marL="0" indent="0">
              <a:buNone/>
            </a:pPr>
            <a:r>
              <a:rPr lang="en-US" dirty="0"/>
              <a:t>You may use the following summary table or synthesis matrix to help you identify the relationships between the sources:</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HK" dirty="0"/>
              <a:t>Each row in the table lists one source, and each column identifies a specific part of the source. You can decide which headings to include based on what is most relevant to the literature you are reading. The summary table gives you a quick overview of the key points of each source. This allows you to group sources by relevant similarities, as well as noticing important differences or contradictions in their findings.</a:t>
            </a:r>
          </a:p>
          <a:p>
            <a:endParaRPr lang="en-US" dirty="0"/>
          </a:p>
        </p:txBody>
      </p:sp>
      <p:pic>
        <p:nvPicPr>
          <p:cNvPr id="4" name="Picture 3">
            <a:extLst>
              <a:ext uri="{FF2B5EF4-FFF2-40B4-BE49-F238E27FC236}">
                <a16:creationId xmlns:a16="http://schemas.microsoft.com/office/drawing/2014/main" id="{FAF2DB15-C50E-9647-A4AE-4C65B23F6FCF}"/>
              </a:ext>
            </a:extLst>
          </p:cNvPr>
          <p:cNvPicPr>
            <a:picLocks noChangeAspect="1"/>
          </p:cNvPicPr>
          <p:nvPr/>
        </p:nvPicPr>
        <p:blipFill>
          <a:blip r:embed="rId2"/>
          <a:stretch>
            <a:fillRect/>
          </a:stretch>
        </p:blipFill>
        <p:spPr>
          <a:xfrm>
            <a:off x="1834167" y="2265598"/>
            <a:ext cx="9333186" cy="1858929"/>
          </a:xfrm>
          <a:prstGeom prst="rect">
            <a:avLst/>
          </a:prstGeom>
        </p:spPr>
      </p:pic>
      <p:sp>
        <p:nvSpPr>
          <p:cNvPr id="5" name="Slide Number Placeholder 3">
            <a:extLst>
              <a:ext uri="{FF2B5EF4-FFF2-40B4-BE49-F238E27FC236}">
                <a16:creationId xmlns:a16="http://schemas.microsoft.com/office/drawing/2014/main" id="{E4F7B74A-CA8F-4DDE-9CBA-64637EB1FEF7}"/>
              </a:ext>
            </a:extLst>
          </p:cNvPr>
          <p:cNvSpPr>
            <a:spLocks noGrp="1"/>
          </p:cNvSpPr>
          <p:nvPr>
            <p:ph type="sldNum" sz="quarter" idx="12"/>
          </p:nvPr>
        </p:nvSpPr>
        <p:spPr>
          <a:xfrm>
            <a:off x="531812" y="787782"/>
            <a:ext cx="779767" cy="365125"/>
          </a:xfrm>
        </p:spPr>
        <p:txBody>
          <a:bodyPr/>
          <a:lstStyle/>
          <a:p>
            <a:fld id="{D57F1E4F-1CFF-5643-939E-217C01CDF565}" type="slidenum">
              <a:rPr lang="en-US" smtClean="0"/>
              <a:pPr/>
              <a:t>37</a:t>
            </a:fld>
            <a:endParaRPr lang="en-US" dirty="0"/>
          </a:p>
        </p:txBody>
      </p:sp>
    </p:spTree>
    <p:extLst>
      <p:ext uri="{BB962C8B-B14F-4D97-AF65-F5344CB8AC3E}">
        <p14:creationId xmlns:p14="http://schemas.microsoft.com/office/powerpoint/2010/main" val="360839834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E27560-993D-7E47-93C3-AF305E25E16E}"/>
              </a:ext>
            </a:extLst>
          </p:cNvPr>
          <p:cNvSpPr>
            <a:spLocks noGrp="1"/>
          </p:cNvSpPr>
          <p:nvPr>
            <p:ph type="title"/>
          </p:nvPr>
        </p:nvSpPr>
        <p:spPr>
          <a:xfrm>
            <a:off x="1834168" y="624110"/>
            <a:ext cx="8911687" cy="776673"/>
          </a:xfrm>
        </p:spPr>
        <p:txBody>
          <a:bodyPr>
            <a:normAutofit/>
          </a:bodyPr>
          <a:lstStyle/>
          <a:p>
            <a:r>
              <a:rPr lang="en-US" sz="3200" b="1" dirty="0"/>
              <a:t>Step 1</a:t>
            </a:r>
          </a:p>
        </p:txBody>
      </p:sp>
      <p:pic>
        <p:nvPicPr>
          <p:cNvPr id="4" name="Content Placeholder 3">
            <a:extLst>
              <a:ext uri="{FF2B5EF4-FFF2-40B4-BE49-F238E27FC236}">
                <a16:creationId xmlns:a16="http://schemas.microsoft.com/office/drawing/2014/main" id="{BDADCC22-CB2A-3341-8081-5A73448F98AF}"/>
              </a:ext>
            </a:extLst>
          </p:cNvPr>
          <p:cNvPicPr>
            <a:picLocks noGrp="1" noChangeAspect="1"/>
          </p:cNvPicPr>
          <p:nvPr>
            <p:ph idx="1"/>
          </p:nvPr>
        </p:nvPicPr>
        <p:blipFill>
          <a:blip r:embed="rId2"/>
          <a:stretch>
            <a:fillRect/>
          </a:stretch>
        </p:blipFill>
        <p:spPr>
          <a:xfrm>
            <a:off x="1834168" y="1400783"/>
            <a:ext cx="8628516" cy="2028217"/>
          </a:xfrm>
          <a:prstGeom prst="rect">
            <a:avLst/>
          </a:prstGeom>
        </p:spPr>
      </p:pic>
      <p:sp>
        <p:nvSpPr>
          <p:cNvPr id="6" name="TextBox 5">
            <a:extLst>
              <a:ext uri="{FF2B5EF4-FFF2-40B4-BE49-F238E27FC236}">
                <a16:creationId xmlns:a16="http://schemas.microsoft.com/office/drawing/2014/main" id="{B47313E8-4DD5-5D42-A3BF-1F9FDF188991}"/>
              </a:ext>
            </a:extLst>
          </p:cNvPr>
          <p:cNvSpPr txBox="1"/>
          <p:nvPr/>
        </p:nvSpPr>
        <p:spPr>
          <a:xfrm>
            <a:off x="1834168" y="3910519"/>
            <a:ext cx="8628516" cy="2322174"/>
          </a:xfrm>
          <a:prstGeom prst="rect">
            <a:avLst/>
          </a:prstGeom>
          <a:noFill/>
        </p:spPr>
        <p:txBody>
          <a:bodyPr wrap="square" rtlCol="0">
            <a:spAutoFit/>
          </a:bodyPr>
          <a:lstStyle/>
          <a:p>
            <a:pPr algn="just">
              <a:lnSpc>
                <a:spcPct val="115000"/>
              </a:lnSpc>
              <a:spcAft>
                <a:spcPts val="1000"/>
              </a:spcAft>
            </a:pPr>
            <a:r>
              <a:rPr lang="en-HK" dirty="0">
                <a:solidFill>
                  <a:srgbClr val="000000"/>
                </a:solidFill>
                <a:ea typeface="Times New Roman" panose="02020603050405020304" pitchFamily="18" charset="0"/>
              </a:rPr>
              <a:t>If you plan to organize your literature review using a </a:t>
            </a:r>
            <a:r>
              <a:rPr lang="en-HK" b="1" dirty="0">
                <a:solidFill>
                  <a:srgbClr val="000000"/>
                </a:solidFill>
                <a:ea typeface="Times New Roman" panose="02020603050405020304" pitchFamily="18" charset="0"/>
              </a:rPr>
              <a:t>thematic approach</a:t>
            </a:r>
            <a:r>
              <a:rPr lang="en-HK" dirty="0">
                <a:solidFill>
                  <a:srgbClr val="000000"/>
                </a:solidFill>
                <a:ea typeface="Times New Roman" panose="02020603050405020304" pitchFamily="18" charset="0"/>
              </a:rPr>
              <a:t>, a synthesis matrix may help. </a:t>
            </a:r>
            <a:r>
              <a:rPr lang="en-HK" dirty="0">
                <a:solidFill>
                  <a:srgbClr val="121212"/>
                </a:solidFill>
                <a:ea typeface="Times New Roman" panose="02020603050405020304" pitchFamily="18" charset="0"/>
                <a:cs typeface="Times New Roman" panose="02020603050405020304" pitchFamily="18" charset="0"/>
              </a:rPr>
              <a:t>Each column in the table lists one source. Each row is labelled with a specific concept, topic or theme that recurs across all or most of the sources. Then, for each source, you summarize the main points or arguments related to the theme. This allows you to </a:t>
            </a:r>
            <a:r>
              <a:rPr lang="en-HK" b="1" dirty="0">
                <a:solidFill>
                  <a:srgbClr val="121212"/>
                </a:solidFill>
                <a:ea typeface="Times New Roman" panose="02020603050405020304" pitchFamily="18" charset="0"/>
                <a:cs typeface="Times New Roman" panose="02020603050405020304" pitchFamily="18" charset="0"/>
              </a:rPr>
              <a:t>identify the common points that connect the sources, and also the differences between the sources.</a:t>
            </a:r>
            <a:endParaRPr lang="en-HK" sz="2000" b="1" dirty="0">
              <a:ea typeface="Times New Roman" panose="02020603050405020304" pitchFamily="18" charset="0"/>
            </a:endParaRPr>
          </a:p>
        </p:txBody>
      </p:sp>
      <p:sp>
        <p:nvSpPr>
          <p:cNvPr id="5" name="Slide Number Placeholder 3">
            <a:extLst>
              <a:ext uri="{FF2B5EF4-FFF2-40B4-BE49-F238E27FC236}">
                <a16:creationId xmlns:a16="http://schemas.microsoft.com/office/drawing/2014/main" id="{37EBADFC-8E63-4948-843B-F296CB4A41D2}"/>
              </a:ext>
            </a:extLst>
          </p:cNvPr>
          <p:cNvSpPr>
            <a:spLocks noGrp="1"/>
          </p:cNvSpPr>
          <p:nvPr>
            <p:ph type="sldNum" sz="quarter" idx="12"/>
          </p:nvPr>
        </p:nvSpPr>
        <p:spPr>
          <a:xfrm>
            <a:off x="531812" y="787782"/>
            <a:ext cx="779767" cy="365125"/>
          </a:xfrm>
        </p:spPr>
        <p:txBody>
          <a:bodyPr/>
          <a:lstStyle/>
          <a:p>
            <a:fld id="{D57F1E4F-1CFF-5643-939E-217C01CDF565}" type="slidenum">
              <a:rPr lang="en-US" smtClean="0"/>
              <a:pPr/>
              <a:t>38</a:t>
            </a:fld>
            <a:endParaRPr lang="en-US" dirty="0"/>
          </a:p>
        </p:txBody>
      </p:sp>
    </p:spTree>
    <p:extLst>
      <p:ext uri="{BB962C8B-B14F-4D97-AF65-F5344CB8AC3E}">
        <p14:creationId xmlns:p14="http://schemas.microsoft.com/office/powerpoint/2010/main" val="368987687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C5AA6A-0F10-B74E-B8C6-5C1F1C4F9047}"/>
              </a:ext>
            </a:extLst>
          </p:cNvPr>
          <p:cNvSpPr>
            <a:spLocks noGrp="1"/>
          </p:cNvSpPr>
          <p:nvPr>
            <p:ph type="title"/>
          </p:nvPr>
        </p:nvSpPr>
        <p:spPr>
          <a:xfrm>
            <a:off x="1795257" y="682476"/>
            <a:ext cx="8911687" cy="815584"/>
          </a:xfrm>
        </p:spPr>
        <p:txBody>
          <a:bodyPr>
            <a:normAutofit/>
          </a:bodyPr>
          <a:lstStyle/>
          <a:p>
            <a:r>
              <a:rPr lang="en-US" sz="3200" b="1" dirty="0"/>
              <a:t>Step 2</a:t>
            </a:r>
          </a:p>
        </p:txBody>
      </p:sp>
      <p:sp>
        <p:nvSpPr>
          <p:cNvPr id="3" name="Content Placeholder 2">
            <a:extLst>
              <a:ext uri="{FF2B5EF4-FFF2-40B4-BE49-F238E27FC236}">
                <a16:creationId xmlns:a16="http://schemas.microsoft.com/office/drawing/2014/main" id="{5E25D83F-5E6D-7241-A39D-DE8412D24719}"/>
              </a:ext>
            </a:extLst>
          </p:cNvPr>
          <p:cNvSpPr>
            <a:spLocks noGrp="1"/>
          </p:cNvSpPr>
          <p:nvPr>
            <p:ph idx="1"/>
          </p:nvPr>
        </p:nvSpPr>
        <p:spPr>
          <a:xfrm>
            <a:off x="1795257" y="1498061"/>
            <a:ext cx="9709355" cy="1342416"/>
          </a:xfrm>
        </p:spPr>
        <p:txBody>
          <a:bodyPr>
            <a:normAutofit fontScale="92500"/>
          </a:bodyPr>
          <a:lstStyle/>
          <a:p>
            <a:pPr>
              <a:lnSpc>
                <a:spcPct val="150000"/>
              </a:lnSpc>
            </a:pPr>
            <a:r>
              <a:rPr lang="en-HK" dirty="0"/>
              <a:t>The most commonly used approaches/frameworks for organizing ideas in a synthesis are: </a:t>
            </a:r>
            <a:r>
              <a:rPr lang="en-HK" b="1" dirty="0"/>
              <a:t>chronological, thematic, methodological and theoretical approaches</a:t>
            </a:r>
            <a:r>
              <a:rPr lang="en-HK" dirty="0"/>
              <a:t>. You need to decide which approach is more suitable for the literature you are dealing with.</a:t>
            </a:r>
          </a:p>
          <a:p>
            <a:endParaRPr lang="en-US" dirty="0"/>
          </a:p>
        </p:txBody>
      </p:sp>
      <p:sp>
        <p:nvSpPr>
          <p:cNvPr id="4" name="Title 1">
            <a:extLst>
              <a:ext uri="{FF2B5EF4-FFF2-40B4-BE49-F238E27FC236}">
                <a16:creationId xmlns:a16="http://schemas.microsoft.com/office/drawing/2014/main" id="{4DF7B487-3F71-FF4C-939B-0F1967A7DD2E}"/>
              </a:ext>
            </a:extLst>
          </p:cNvPr>
          <p:cNvSpPr txBox="1">
            <a:spLocks/>
          </p:cNvSpPr>
          <p:nvPr/>
        </p:nvSpPr>
        <p:spPr>
          <a:xfrm>
            <a:off x="1795256" y="3021208"/>
            <a:ext cx="8911687" cy="815584"/>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200" b="1" dirty="0"/>
              <a:t>Step 3</a:t>
            </a:r>
          </a:p>
        </p:txBody>
      </p:sp>
      <p:sp>
        <p:nvSpPr>
          <p:cNvPr id="5" name="Content Placeholder 2">
            <a:extLst>
              <a:ext uri="{FF2B5EF4-FFF2-40B4-BE49-F238E27FC236}">
                <a16:creationId xmlns:a16="http://schemas.microsoft.com/office/drawing/2014/main" id="{65358043-82DB-884E-B902-353731CF8972}"/>
              </a:ext>
            </a:extLst>
          </p:cNvPr>
          <p:cNvSpPr txBox="1">
            <a:spLocks/>
          </p:cNvSpPr>
          <p:nvPr/>
        </p:nvSpPr>
        <p:spPr>
          <a:xfrm>
            <a:off x="1795257" y="3657600"/>
            <a:ext cx="9709355" cy="3048000"/>
          </a:xfrm>
          <a:prstGeom prst="rect">
            <a:avLst/>
          </a:prstGeom>
        </p:spPr>
        <p:txBody>
          <a:bodyPr vert="horz" lIns="91440" tIns="45720" rIns="91440" bIns="45720" rtlCol="0">
            <a:normAutofit fontScale="92500" lnSpcReduction="10000"/>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a:lnSpc>
                <a:spcPct val="150000"/>
              </a:lnSpc>
            </a:pPr>
            <a:r>
              <a:rPr lang="en-HK" dirty="0"/>
              <a:t>When writing a synthesis, each paragraph should discuss a few different sources, and you should be able to </a:t>
            </a:r>
            <a:r>
              <a:rPr lang="en-HK" b="1" dirty="0"/>
              <a:t>condense the overall point of the paragraph into one sentence which is called the topic sentence</a:t>
            </a:r>
            <a:r>
              <a:rPr lang="en-HK" dirty="0"/>
              <a:t>. The topic sentence signals what the whole paragraph is about; every sentence in the paragraph should be clearly related to it. For an effective synthesis, you can use topic sentences to link back to the previous paragraph or highlight a point of debate or critique. By using topic sentences, you can ensure that your paragraphs are coherent and clearly show the connections between the articles you are discussing.</a:t>
            </a:r>
          </a:p>
          <a:p>
            <a:pPr>
              <a:lnSpc>
                <a:spcPct val="150000"/>
              </a:lnSpc>
            </a:pPr>
            <a:endParaRPr lang="en-US" dirty="0"/>
          </a:p>
        </p:txBody>
      </p:sp>
      <p:sp>
        <p:nvSpPr>
          <p:cNvPr id="6" name="Slide Number Placeholder 3">
            <a:extLst>
              <a:ext uri="{FF2B5EF4-FFF2-40B4-BE49-F238E27FC236}">
                <a16:creationId xmlns:a16="http://schemas.microsoft.com/office/drawing/2014/main" id="{DF614CE1-A37A-492F-B1A4-DFD0D7BB6695}"/>
              </a:ext>
            </a:extLst>
          </p:cNvPr>
          <p:cNvSpPr>
            <a:spLocks noGrp="1"/>
          </p:cNvSpPr>
          <p:nvPr>
            <p:ph type="sldNum" sz="quarter" idx="12"/>
          </p:nvPr>
        </p:nvSpPr>
        <p:spPr>
          <a:xfrm>
            <a:off x="531812" y="787782"/>
            <a:ext cx="779767" cy="365125"/>
          </a:xfrm>
        </p:spPr>
        <p:txBody>
          <a:bodyPr/>
          <a:lstStyle/>
          <a:p>
            <a:fld id="{D57F1E4F-1CFF-5643-939E-217C01CDF565}" type="slidenum">
              <a:rPr lang="en-US" smtClean="0"/>
              <a:pPr/>
              <a:t>39</a:t>
            </a:fld>
            <a:endParaRPr lang="en-US" dirty="0"/>
          </a:p>
        </p:txBody>
      </p:sp>
    </p:spTree>
    <p:extLst>
      <p:ext uri="{BB962C8B-B14F-4D97-AF65-F5344CB8AC3E}">
        <p14:creationId xmlns:p14="http://schemas.microsoft.com/office/powerpoint/2010/main" val="299211131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D5C003-9F72-7E4F-8D6E-64BE70B9109B}"/>
              </a:ext>
            </a:extLst>
          </p:cNvPr>
          <p:cNvSpPr>
            <a:spLocks noGrp="1"/>
          </p:cNvSpPr>
          <p:nvPr>
            <p:ph type="title"/>
          </p:nvPr>
        </p:nvSpPr>
        <p:spPr>
          <a:xfrm>
            <a:off x="1640156" y="643566"/>
            <a:ext cx="8911687" cy="776672"/>
          </a:xfrm>
        </p:spPr>
        <p:txBody>
          <a:bodyPr>
            <a:normAutofit/>
          </a:bodyPr>
          <a:lstStyle/>
          <a:p>
            <a:r>
              <a:rPr lang="en-US" sz="3200" b="1" dirty="0"/>
              <a:t>Step 4</a:t>
            </a:r>
          </a:p>
        </p:txBody>
      </p:sp>
      <p:sp>
        <p:nvSpPr>
          <p:cNvPr id="3" name="Content Placeholder 2">
            <a:extLst>
              <a:ext uri="{FF2B5EF4-FFF2-40B4-BE49-F238E27FC236}">
                <a16:creationId xmlns:a16="http://schemas.microsoft.com/office/drawing/2014/main" id="{37A8D187-40EE-5841-94C4-71D402FC0B57}"/>
              </a:ext>
            </a:extLst>
          </p:cNvPr>
          <p:cNvSpPr>
            <a:spLocks noGrp="1"/>
          </p:cNvSpPr>
          <p:nvPr>
            <p:ph idx="1"/>
          </p:nvPr>
        </p:nvSpPr>
        <p:spPr>
          <a:xfrm>
            <a:off x="1640156" y="1420238"/>
            <a:ext cx="9864456" cy="4490984"/>
          </a:xfrm>
        </p:spPr>
        <p:txBody>
          <a:bodyPr>
            <a:normAutofit/>
          </a:bodyPr>
          <a:lstStyle/>
          <a:p>
            <a:pPr marL="0" indent="0">
              <a:buNone/>
            </a:pPr>
            <a:r>
              <a:rPr lang="en-US" dirty="0"/>
              <a:t>After writing the synthesis, you can use the following checklist to evaluate your synthesis:</a:t>
            </a:r>
            <a:endParaRPr lang="en-HK" dirty="0"/>
          </a:p>
          <a:p>
            <a:pPr marL="0" indent="0">
              <a:buNone/>
            </a:pPr>
            <a:endParaRPr lang="en-HK" dirty="0"/>
          </a:p>
          <a:p>
            <a:pPr marL="0" indent="0">
              <a:buNone/>
            </a:pPr>
            <a:r>
              <a:rPr lang="en-US" dirty="0">
                <a:sym typeface="Symbol" pitchFamily="2" charset="2"/>
              </a:rPr>
              <a:t></a:t>
            </a:r>
            <a:r>
              <a:rPr lang="en-US" dirty="0"/>
              <a:t>  Is there a clear and focused topic sentence outlining what the paragraph is about?</a:t>
            </a:r>
            <a:endParaRPr lang="en-HK" dirty="0"/>
          </a:p>
          <a:p>
            <a:pPr marL="0" indent="0">
              <a:buNone/>
            </a:pPr>
            <a:r>
              <a:rPr lang="en-US" dirty="0">
                <a:sym typeface="Symbol" pitchFamily="2" charset="2"/>
              </a:rPr>
              <a:t></a:t>
            </a:r>
            <a:r>
              <a:rPr lang="en-US" dirty="0"/>
              <a:t> Is the paragraph organized around one single idea?</a:t>
            </a:r>
            <a:endParaRPr lang="en-HK" dirty="0"/>
          </a:p>
          <a:p>
            <a:pPr marL="0" indent="0">
              <a:buNone/>
            </a:pPr>
            <a:r>
              <a:rPr lang="en-US" dirty="0">
                <a:sym typeface="Symbol" pitchFamily="2" charset="2"/>
              </a:rPr>
              <a:t></a:t>
            </a:r>
            <a:r>
              <a:rPr lang="en-US" dirty="0"/>
              <a:t> Has the synthesis discussed multiple sources?</a:t>
            </a:r>
            <a:endParaRPr lang="en-HK" dirty="0"/>
          </a:p>
          <a:p>
            <a:pPr marL="0" indent="0">
              <a:buNone/>
            </a:pPr>
            <a:r>
              <a:rPr lang="en-US" dirty="0">
                <a:sym typeface="Symbol" pitchFamily="2" charset="2"/>
              </a:rPr>
              <a:t></a:t>
            </a:r>
            <a:r>
              <a:rPr lang="en-US" dirty="0"/>
              <a:t> Are the similarities and differences between the sources highlighted?</a:t>
            </a:r>
            <a:endParaRPr lang="en-HK" dirty="0"/>
          </a:p>
          <a:p>
            <a:pPr marL="0" indent="0">
              <a:buNone/>
            </a:pPr>
            <a:r>
              <a:rPr lang="en-US" dirty="0">
                <a:sym typeface="Symbol" pitchFamily="2" charset="2"/>
              </a:rPr>
              <a:t></a:t>
            </a:r>
            <a:r>
              <a:rPr lang="en-US" dirty="0"/>
              <a:t> Is the synthesis written in your own words?</a:t>
            </a:r>
            <a:endParaRPr lang="en-HK" dirty="0"/>
          </a:p>
          <a:p>
            <a:pPr marL="0" indent="0">
              <a:buNone/>
            </a:pPr>
            <a:r>
              <a:rPr lang="en-US" dirty="0">
                <a:sym typeface="Symbol" pitchFamily="2" charset="2"/>
              </a:rPr>
              <a:t></a:t>
            </a:r>
            <a:r>
              <a:rPr lang="en-US" dirty="0"/>
              <a:t> Is the synthesis directly relevant to your research question or topic?</a:t>
            </a:r>
            <a:endParaRPr lang="en-HK" dirty="0"/>
          </a:p>
          <a:p>
            <a:pPr marL="0" indent="0">
              <a:buNone/>
            </a:pPr>
            <a:r>
              <a:rPr lang="en-US" dirty="0">
                <a:sym typeface="Symbol" pitchFamily="2" charset="2"/>
              </a:rPr>
              <a:t></a:t>
            </a:r>
            <a:r>
              <a:rPr lang="en-US" dirty="0"/>
              <a:t> Is there a logical transition between sentences and between paragraphs? </a:t>
            </a:r>
            <a:endParaRPr lang="en-HK" dirty="0"/>
          </a:p>
          <a:p>
            <a:pPr marL="0" indent="0">
              <a:buNone/>
            </a:pPr>
            <a:r>
              <a:rPr lang="en-US" dirty="0">
                <a:sym typeface="Symbol" pitchFamily="2" charset="2"/>
              </a:rPr>
              <a:t></a:t>
            </a:r>
            <a:r>
              <a:rPr lang="en-US" dirty="0"/>
              <a:t> Are the sources cited correctly using the correct referencing style and conventions?</a:t>
            </a:r>
            <a:endParaRPr lang="en-HK" dirty="0"/>
          </a:p>
          <a:p>
            <a:endParaRPr lang="en-US" dirty="0"/>
          </a:p>
        </p:txBody>
      </p:sp>
      <p:sp>
        <p:nvSpPr>
          <p:cNvPr id="4" name="Slide Number Placeholder 3">
            <a:extLst>
              <a:ext uri="{FF2B5EF4-FFF2-40B4-BE49-F238E27FC236}">
                <a16:creationId xmlns:a16="http://schemas.microsoft.com/office/drawing/2014/main" id="{E4AC845D-B8B4-4C31-B16D-D53B49D2356E}"/>
              </a:ext>
            </a:extLst>
          </p:cNvPr>
          <p:cNvSpPr>
            <a:spLocks noGrp="1"/>
          </p:cNvSpPr>
          <p:nvPr>
            <p:ph type="sldNum" sz="quarter" idx="12"/>
          </p:nvPr>
        </p:nvSpPr>
        <p:spPr>
          <a:xfrm>
            <a:off x="531812" y="787782"/>
            <a:ext cx="779767" cy="365125"/>
          </a:xfrm>
        </p:spPr>
        <p:txBody>
          <a:bodyPr/>
          <a:lstStyle/>
          <a:p>
            <a:fld id="{D57F1E4F-1CFF-5643-939E-217C01CDF565}" type="slidenum">
              <a:rPr lang="en-US" smtClean="0"/>
              <a:pPr/>
              <a:t>40</a:t>
            </a:fld>
            <a:endParaRPr lang="en-US" dirty="0"/>
          </a:p>
        </p:txBody>
      </p:sp>
    </p:spTree>
    <p:extLst>
      <p:ext uri="{BB962C8B-B14F-4D97-AF65-F5344CB8AC3E}">
        <p14:creationId xmlns:p14="http://schemas.microsoft.com/office/powerpoint/2010/main" val="160183299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Content Placeholder 2">
            <a:extLst>
              <a:ext uri="{FF2B5EF4-FFF2-40B4-BE49-F238E27FC236}">
                <a16:creationId xmlns:a16="http://schemas.microsoft.com/office/drawing/2014/main" id="{81167803-78A0-924B-B808-3165A0957B48}"/>
              </a:ext>
            </a:extLst>
          </p:cNvPr>
          <p:cNvSpPr txBox="1">
            <a:spLocks/>
          </p:cNvSpPr>
          <p:nvPr/>
        </p:nvSpPr>
        <p:spPr>
          <a:xfrm>
            <a:off x="1519586" y="1503006"/>
            <a:ext cx="9180987" cy="3081697"/>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lvl="0"/>
            <a:r>
              <a:rPr lang="en-US" altLang="zh-CN" sz="2400" dirty="0"/>
              <a:t>6.</a:t>
            </a:r>
            <a:r>
              <a:rPr lang="zh-CN" altLang="en-US" sz="2400" dirty="0"/>
              <a:t> </a:t>
            </a:r>
            <a:r>
              <a:rPr lang="en-US" sz="2400" dirty="0"/>
              <a:t>Choose three research articles you have read recently and identify the common points between them. Write a synthesis (no more than 80 words) of the information from the three sources. You may focus on the methods, results or implications. After you finished, show your synthesis to a classmate. Use the checklist above (in step 4) to evaluate the synthesis.</a:t>
            </a:r>
            <a:endParaRPr lang="en-HK" sz="2400" dirty="0"/>
          </a:p>
          <a:p>
            <a:endParaRPr lang="en-US" sz="1600" dirty="0">
              <a:solidFill>
                <a:schemeClr val="tx1"/>
              </a:solidFill>
            </a:endParaRPr>
          </a:p>
          <a:p>
            <a:endParaRPr lang="en-US" sz="1600" dirty="0">
              <a:solidFill>
                <a:schemeClr val="tx1"/>
              </a:solidFill>
            </a:endParaRPr>
          </a:p>
          <a:p>
            <a:pPr marL="0" indent="0">
              <a:buFont typeface="Wingdings 3" charset="2"/>
              <a:buNone/>
            </a:pPr>
            <a:endParaRPr lang="en-US" sz="1600" dirty="0">
              <a:solidFill>
                <a:schemeClr val="tx1"/>
              </a:solidFill>
            </a:endParaRPr>
          </a:p>
          <a:p>
            <a:pPr marL="0" indent="0">
              <a:buFont typeface="Wingdings 3" charset="2"/>
              <a:buNone/>
            </a:pPr>
            <a:endParaRPr lang="en-US" sz="1600" dirty="0">
              <a:solidFill>
                <a:schemeClr val="tx1"/>
              </a:solidFill>
            </a:endParaRPr>
          </a:p>
          <a:p>
            <a:endParaRPr lang="en-US" sz="1600" dirty="0">
              <a:solidFill>
                <a:schemeClr val="tx1"/>
              </a:solidFill>
            </a:endParaRPr>
          </a:p>
          <a:p>
            <a:endParaRPr lang="en-US" sz="1600" dirty="0">
              <a:solidFill>
                <a:schemeClr val="tx1"/>
              </a:solidFill>
            </a:endParaRPr>
          </a:p>
          <a:p>
            <a:endParaRPr lang="en-HK" sz="1600" dirty="0">
              <a:solidFill>
                <a:srgbClr val="000000"/>
              </a:solidFill>
            </a:endParaRPr>
          </a:p>
        </p:txBody>
      </p:sp>
      <p:sp>
        <p:nvSpPr>
          <p:cNvPr id="9" name="Slide Number Placeholder 3">
            <a:extLst>
              <a:ext uri="{FF2B5EF4-FFF2-40B4-BE49-F238E27FC236}">
                <a16:creationId xmlns:a16="http://schemas.microsoft.com/office/drawing/2014/main" id="{E63EE252-8A87-47C9-BE42-54C6F92011EA}"/>
              </a:ext>
            </a:extLst>
          </p:cNvPr>
          <p:cNvSpPr>
            <a:spLocks noGrp="1"/>
          </p:cNvSpPr>
          <p:nvPr>
            <p:ph type="sldNum" sz="quarter" idx="12"/>
          </p:nvPr>
        </p:nvSpPr>
        <p:spPr>
          <a:xfrm>
            <a:off x="531812" y="787782"/>
            <a:ext cx="779767" cy="365125"/>
          </a:xfrm>
        </p:spPr>
        <p:txBody>
          <a:bodyPr/>
          <a:lstStyle/>
          <a:p>
            <a:fld id="{D57F1E4F-1CFF-5643-939E-217C01CDF565}" type="slidenum">
              <a:rPr lang="en-US" smtClean="0"/>
              <a:pPr/>
              <a:t>41</a:t>
            </a:fld>
            <a:endParaRPr lang="en-US" dirty="0"/>
          </a:p>
        </p:txBody>
      </p:sp>
    </p:spTree>
    <p:extLst>
      <p:ext uri="{BB962C8B-B14F-4D97-AF65-F5344CB8AC3E}">
        <p14:creationId xmlns:p14="http://schemas.microsoft.com/office/powerpoint/2010/main" val="20905424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7568" y="424604"/>
            <a:ext cx="8911687" cy="1280890"/>
          </a:xfrm>
        </p:spPr>
        <p:txBody>
          <a:bodyPr/>
          <a:lstStyle/>
          <a:p>
            <a:r>
              <a:rPr lang="en-US" dirty="0"/>
              <a:t>Independent Learning: Using Corpora to Improve Academic Writing</a:t>
            </a:r>
          </a:p>
        </p:txBody>
      </p:sp>
      <p:sp>
        <p:nvSpPr>
          <p:cNvPr id="3" name="Content Placeholder 2"/>
          <p:cNvSpPr>
            <a:spLocks noGrp="1"/>
          </p:cNvSpPr>
          <p:nvPr>
            <p:ph idx="1"/>
          </p:nvPr>
        </p:nvSpPr>
        <p:spPr>
          <a:xfrm>
            <a:off x="1907568" y="1973179"/>
            <a:ext cx="9507676" cy="4726878"/>
          </a:xfrm>
        </p:spPr>
        <p:txBody>
          <a:bodyPr>
            <a:normAutofit/>
          </a:bodyPr>
          <a:lstStyle/>
          <a:p>
            <a:pPr marL="0" indent="0">
              <a:buNone/>
            </a:pPr>
            <a:r>
              <a:rPr lang="en-US" sz="2000" b="1" dirty="0"/>
              <a:t>BNC Web Corpus</a:t>
            </a:r>
          </a:p>
          <a:p>
            <a:r>
              <a:rPr lang="en-US" sz="2000" b="1" dirty="0"/>
              <a:t>Video 4: Search for One Word (</a:t>
            </a:r>
            <a:r>
              <a:rPr lang="en-US" sz="2000" b="1" i="1" dirty="0"/>
              <a:t>indicate</a:t>
            </a:r>
            <a:r>
              <a:rPr lang="en-US" sz="2000" b="1" dirty="0"/>
              <a:t>); Sort and Frequency Breakdown Functions (~8 minutes)</a:t>
            </a:r>
            <a:endParaRPr lang="en-US" sz="2000" dirty="0"/>
          </a:p>
          <a:p>
            <a:pPr marL="400050" lvl="1" indent="0">
              <a:buNone/>
            </a:pPr>
            <a:r>
              <a:rPr lang="en-US" sz="2000" dirty="0">
                <a:hlinkClick r:id="rId2"/>
              </a:rPr>
              <a:t>https://youtu.be/esL5EVjkHVw</a:t>
            </a:r>
            <a:r>
              <a:rPr lang="en-US" sz="2000" dirty="0"/>
              <a:t> </a:t>
            </a:r>
          </a:p>
          <a:p>
            <a:r>
              <a:rPr lang="en-US" sz="2000" b="1" dirty="0"/>
              <a:t>Video 5: Search for Phrases (</a:t>
            </a:r>
            <a:r>
              <a:rPr lang="en-US" sz="2000" b="1" i="1" dirty="0"/>
              <a:t>the </a:t>
            </a:r>
            <a:r>
              <a:rPr lang="en-US" sz="2000" b="1" dirty="0"/>
              <a:t>NOUN </a:t>
            </a:r>
            <a:r>
              <a:rPr lang="en-US" sz="2000" b="1" i="1" dirty="0"/>
              <a:t>that</a:t>
            </a:r>
            <a:r>
              <a:rPr lang="en-US" sz="2000" b="1" dirty="0"/>
              <a:t>) (~7 minutes)</a:t>
            </a:r>
            <a:endParaRPr lang="en-US" sz="2000" dirty="0"/>
          </a:p>
          <a:p>
            <a:pPr marL="400050" lvl="1" indent="0">
              <a:buNone/>
            </a:pPr>
            <a:r>
              <a:rPr lang="en-US" sz="2000" dirty="0">
                <a:hlinkClick r:id="rId3"/>
              </a:rPr>
              <a:t>https://youtu.be/YeLGzHmJ7N0</a:t>
            </a:r>
            <a:r>
              <a:rPr lang="en-US" sz="2000" dirty="0"/>
              <a:t> </a:t>
            </a:r>
          </a:p>
          <a:p>
            <a:pPr marL="0" indent="0">
              <a:buNone/>
            </a:pPr>
            <a:endParaRPr lang="en-US" sz="2000" b="1" dirty="0"/>
          </a:p>
          <a:p>
            <a:pPr marL="0" indent="0">
              <a:buNone/>
            </a:pPr>
            <a:r>
              <a:rPr lang="en-US" sz="2000" b="1" dirty="0" err="1"/>
              <a:t>AntConc</a:t>
            </a:r>
            <a:endParaRPr lang="en-US" sz="2000" b="1" dirty="0"/>
          </a:p>
          <a:p>
            <a:r>
              <a:rPr lang="en-US" sz="2000" b="1" dirty="0"/>
              <a:t>Video 5: Search for Collocations in </a:t>
            </a:r>
            <a:r>
              <a:rPr lang="en-US" sz="2000" b="1" dirty="0" err="1"/>
              <a:t>AntConc</a:t>
            </a:r>
            <a:r>
              <a:rPr lang="en-US" sz="2000" b="1" dirty="0"/>
              <a:t> (~6 minutes)</a:t>
            </a:r>
            <a:endParaRPr lang="en-US" sz="2000" dirty="0"/>
          </a:p>
          <a:p>
            <a:pPr marL="400050" lvl="1" indent="0">
              <a:buNone/>
            </a:pPr>
            <a:r>
              <a:rPr lang="en-US" sz="2000" dirty="0">
                <a:hlinkClick r:id="rId4"/>
              </a:rPr>
              <a:t>https://youtu.be/rNdmJOF25_k</a:t>
            </a:r>
            <a:r>
              <a:rPr lang="en-US" sz="2000" dirty="0"/>
              <a:t> </a:t>
            </a:r>
          </a:p>
        </p:txBody>
      </p:sp>
      <p:sp>
        <p:nvSpPr>
          <p:cNvPr id="5" name="Rectangle 4"/>
          <p:cNvSpPr/>
          <p:nvPr/>
        </p:nvSpPr>
        <p:spPr>
          <a:xfrm>
            <a:off x="224589" y="2486526"/>
            <a:ext cx="1682979" cy="2470484"/>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t>Continue to use your personal corpora to do linguistic search! </a:t>
            </a:r>
          </a:p>
        </p:txBody>
      </p:sp>
      <p:sp>
        <p:nvSpPr>
          <p:cNvPr id="6" name="Slide Number Placeholder 5"/>
          <p:cNvSpPr>
            <a:spLocks noGrp="1"/>
          </p:cNvSpPr>
          <p:nvPr>
            <p:ph type="sldNum" sz="quarter" idx="12"/>
          </p:nvPr>
        </p:nvSpPr>
        <p:spPr/>
        <p:txBody>
          <a:bodyPr/>
          <a:lstStyle/>
          <a:p>
            <a:fld id="{D57F1E4F-1CFF-5643-939E-217C01CDF565}" type="slidenum">
              <a:rPr lang="en-US" smtClean="0"/>
              <a:pPr/>
              <a:t>42</a:t>
            </a:fld>
            <a:endParaRPr lang="en-US" dirty="0"/>
          </a:p>
        </p:txBody>
      </p:sp>
    </p:spTree>
    <p:extLst>
      <p:ext uri="{BB962C8B-B14F-4D97-AF65-F5344CB8AC3E}">
        <p14:creationId xmlns:p14="http://schemas.microsoft.com/office/powerpoint/2010/main" val="1769969247"/>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647252"/>
      </a:dk2>
      <a:lt2>
        <a:srgbClr val="EAE8CF"/>
      </a:lt2>
      <a:accent1>
        <a:srgbClr val="E78712"/>
      </a:accent1>
      <a:accent2>
        <a:srgbClr val="B73C26"/>
      </a:accent2>
      <a:accent3>
        <a:srgbClr val="865331"/>
      </a:accent3>
      <a:accent4>
        <a:srgbClr val="B38648"/>
      </a:accent4>
      <a:accent5>
        <a:srgbClr val="BBB473"/>
      </a:accent5>
      <a:accent6>
        <a:srgbClr val="849276"/>
      </a:accent6>
      <a:hlink>
        <a:srgbClr val="FDAB2A"/>
      </a:hlink>
      <a:folHlink>
        <a:srgbClr val="CCB182"/>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54F6613E-5ED7-40ED-90A8-F639BE712C0E}"/>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MigrationWizId xmlns="30d3476f-ec53-4671-8980-d10767fdaaec" xsi:nil="true"/>
    <MigrationWizIdPermissions xmlns="30d3476f-ec53-4671-8980-d10767fdaaec" xsi:nil="true"/>
    <MigrationWizIdVersion xmlns="30d3476f-ec53-4671-8980-d10767fdaaec" xsi:nil="true"/>
    <_activity xmlns="30d3476f-ec53-4671-8980-d10767fdaaec"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6CBE5400CADFA0469A091337646547C3" ma:contentTypeVersion="18" ma:contentTypeDescription="Create a new document." ma:contentTypeScope="" ma:versionID="8c181785002a1dbe4526f90e3827fc40">
  <xsd:schema xmlns:xsd="http://www.w3.org/2001/XMLSchema" xmlns:xs="http://www.w3.org/2001/XMLSchema" xmlns:p="http://schemas.microsoft.com/office/2006/metadata/properties" xmlns:ns3="30d3476f-ec53-4671-8980-d10767fdaaec" xmlns:ns4="4b97df95-d6ed-4c71-86d4-bf7c4bd3aaf0" targetNamespace="http://schemas.microsoft.com/office/2006/metadata/properties" ma:root="true" ma:fieldsID="49d229b7914550cb2e0d3eae77a3ab84" ns3:_="" ns4:_="">
    <xsd:import namespace="30d3476f-ec53-4671-8980-d10767fdaaec"/>
    <xsd:import namespace="4b97df95-d6ed-4c71-86d4-bf7c4bd3aaf0"/>
    <xsd:element name="properties">
      <xsd:complexType>
        <xsd:sequence>
          <xsd:element name="documentManagement">
            <xsd:complexType>
              <xsd:all>
                <xsd:element ref="ns3:MigrationWizId" minOccurs="0"/>
                <xsd:element ref="ns3:MigrationWizIdPermissions" minOccurs="0"/>
                <xsd:element ref="ns3:MigrationWizIdVersion" minOccurs="0"/>
                <xsd:element ref="ns3:MediaServiceMetadata" minOccurs="0"/>
                <xsd:element ref="ns3:MediaServiceFastMetadata" minOccurs="0"/>
                <xsd:element ref="ns3:MediaServiceAutoKeyPoints" minOccurs="0"/>
                <xsd:element ref="ns3:MediaServiceKeyPoints" minOccurs="0"/>
                <xsd:element ref="ns3:MediaServiceDateTaken" minOccurs="0"/>
                <xsd:element ref="ns3:MediaLengthInSeconds" minOccurs="0"/>
                <xsd:element ref="ns4:SharedWithUsers" minOccurs="0"/>
                <xsd:element ref="ns4:SharedWithDetails" minOccurs="0"/>
                <xsd:element ref="ns4:SharingHintHash" minOccurs="0"/>
                <xsd:element ref="ns3:MediaServiceAutoTags" minOccurs="0"/>
                <xsd:element ref="ns3:MediaServiceGenerationTime" minOccurs="0"/>
                <xsd:element ref="ns3:MediaServiceEventHashCode" minOccurs="0"/>
                <xsd:element ref="ns3:MediaServiceOCR" minOccurs="0"/>
                <xsd:element ref="ns3:MediaServiceLocation"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0d3476f-ec53-4671-8980-d10767fdaaec" elementFormDefault="qualified">
    <xsd:import namespace="http://schemas.microsoft.com/office/2006/documentManagement/types"/>
    <xsd:import namespace="http://schemas.microsoft.com/office/infopath/2007/PartnerControls"/>
    <xsd:element name="MigrationWizId" ma:index="8" nillable="true" ma:displayName="MigrationWizId" ma:internalName="MigrationWizId">
      <xsd:simpleType>
        <xsd:restriction base="dms:Text"/>
      </xsd:simpleType>
    </xsd:element>
    <xsd:element name="MigrationWizIdPermissions" ma:index="9" nillable="true" ma:displayName="MigrationWizIdPermissions" ma:internalName="MigrationWizIdPermissions">
      <xsd:simpleType>
        <xsd:restriction base="dms:Text"/>
      </xsd:simpleType>
    </xsd:element>
    <xsd:element name="MigrationWizIdVersion" ma:index="10" nillable="true" ma:displayName="MigrationWizIdVersion" ma:internalName="MigrationWizIdVersion">
      <xsd:simpleType>
        <xsd:restriction base="dms:Text"/>
      </xsd:simple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MediaServiceAutoTags" ma:index="20" nillable="true" ma:displayName="Tags" ma:internalName="MediaServiceAutoTags" ma:readOnly="true">
      <xsd:simpleType>
        <xsd:restriction base="dms:Text"/>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OCR" ma:index="23" nillable="true" ma:displayName="Extracted Text" ma:internalName="MediaServiceOCR" ma:readOnly="true">
      <xsd:simpleType>
        <xsd:restriction base="dms:Note">
          <xsd:maxLength value="255"/>
        </xsd:restriction>
      </xsd:simpleType>
    </xsd:element>
    <xsd:element name="MediaServiceLocation" ma:index="24" nillable="true" ma:displayName="Location" ma:internalName="MediaServiceLocation" ma:readOnly="true">
      <xsd:simpleType>
        <xsd:restriction base="dms:Text"/>
      </xsd:simpleType>
    </xsd:element>
    <xsd:element name="_activity" ma:index="25" nillable="true" ma:displayName="_activity" ma:hidden="true" ma:internalName="_activity">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b97df95-d6ed-4c71-86d4-bf7c4bd3aaf0"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SharingHintHash" ma:index="19"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C7E0372-AF4E-4921-B560-D411CBA57CF9}">
  <ds:schemaRefs>
    <ds:schemaRef ds:uri="http://schemas.microsoft.com/sharepoint/v3/contenttype/forms"/>
  </ds:schemaRefs>
</ds:datastoreItem>
</file>

<file path=customXml/itemProps2.xml><?xml version="1.0" encoding="utf-8"?>
<ds:datastoreItem xmlns:ds="http://schemas.openxmlformats.org/officeDocument/2006/customXml" ds:itemID="{1A00F63A-7301-4CA8-93D7-59289B70F4E0}">
  <ds:schemaRefs>
    <ds:schemaRef ds:uri="http://schemas.microsoft.com/office/2006/documentManagement/types"/>
    <ds:schemaRef ds:uri="30d3476f-ec53-4671-8980-d10767fdaaec"/>
    <ds:schemaRef ds:uri="http://schemas.openxmlformats.org/package/2006/metadata/core-properties"/>
    <ds:schemaRef ds:uri="http://schemas.microsoft.com/office/infopath/2007/PartnerControls"/>
    <ds:schemaRef ds:uri="http://purl.org/dc/terms/"/>
    <ds:schemaRef ds:uri="http://purl.org/dc/elements/1.1/"/>
    <ds:schemaRef ds:uri="4b97df95-d6ed-4c71-86d4-bf7c4bd3aaf0"/>
    <ds:schemaRef ds:uri="http://schemas.microsoft.com/office/2006/metadata/properties"/>
    <ds:schemaRef ds:uri="http://www.w3.org/XML/1998/namespace"/>
    <ds:schemaRef ds:uri="http://purl.org/dc/dcmitype/"/>
  </ds:schemaRefs>
</ds:datastoreItem>
</file>

<file path=customXml/itemProps3.xml><?xml version="1.0" encoding="utf-8"?>
<ds:datastoreItem xmlns:ds="http://schemas.openxmlformats.org/officeDocument/2006/customXml" ds:itemID="{B9DF4588-A6D4-4105-A7D4-5424DBDBFB9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0d3476f-ec53-4671-8980-d10767fdaaec"/>
    <ds:schemaRef ds:uri="4b97df95-d6ed-4c71-86d4-bf7c4bd3aaf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ed9ca920-543e-4305-9a64-d6239716efbb}" enabled="0" method="" siteId="{ed9ca920-543e-4305-9a64-d6239716efbb}" removed="1"/>
</clbl:labelList>
</file>

<file path=docProps/app.xml><?xml version="1.0" encoding="utf-8"?>
<Properties xmlns="http://schemas.openxmlformats.org/officeDocument/2006/extended-properties" xmlns:vt="http://schemas.openxmlformats.org/officeDocument/2006/docPropsVTypes">
  <TotalTime>1061</TotalTime>
  <Words>5337</Words>
  <Application>Microsoft Office PowerPoint</Application>
  <PresentationFormat>Widescreen</PresentationFormat>
  <Paragraphs>473</Paragraphs>
  <Slides>42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42</vt:i4>
      </vt:variant>
    </vt:vector>
  </HeadingPairs>
  <TitlesOfParts>
    <vt:vector size="50" baseType="lpstr">
      <vt:lpstr>Arial</vt:lpstr>
      <vt:lpstr>Calibri</vt:lpstr>
      <vt:lpstr>Century Gothic</vt:lpstr>
      <vt:lpstr>Symbol</vt:lpstr>
      <vt:lpstr>Times New Roman</vt:lpstr>
      <vt:lpstr>Wingdings</vt:lpstr>
      <vt:lpstr>Wingdings 3</vt:lpstr>
      <vt:lpstr>Wisp</vt:lpstr>
      <vt:lpstr>MCCP6020  Advanced English for Academic Purposes</vt:lpstr>
      <vt:lpstr>Learning Outcomes:</vt:lpstr>
      <vt:lpstr>Warm-up Task</vt:lpstr>
      <vt:lpstr>Steps in Preparing to Write a Literature Review</vt:lpstr>
      <vt:lpstr>Task 1 </vt:lpstr>
      <vt:lpstr>PowerPoint Presentation</vt:lpstr>
      <vt:lpstr>What is a Good Review of the Literature?</vt:lpstr>
      <vt:lpstr>Functions and Moves of a Literature Review </vt:lpstr>
      <vt:lpstr>Task 2</vt:lpstr>
      <vt:lpstr>PowerPoint Presentation</vt:lpstr>
      <vt:lpstr>PowerPoint Presentation</vt:lpstr>
      <vt:lpstr>Task 3</vt:lpstr>
      <vt:lpstr>PowerPoint Presentation</vt:lpstr>
      <vt:lpstr>Task 4</vt:lpstr>
      <vt:lpstr>PowerPoint Presentation</vt:lpstr>
      <vt:lpstr>Writing a Systematic Literature Review of Meta-analysis Review Paper</vt:lpstr>
      <vt:lpstr>Writing a Systematic Literature Review of Meta-analysis Review Paper</vt:lpstr>
      <vt:lpstr>Language Use in a Literature Review</vt:lpstr>
      <vt:lpstr>Task 5</vt:lpstr>
      <vt:lpstr>PowerPoint Presentation</vt:lpstr>
      <vt:lpstr>PowerPoint Presentation</vt:lpstr>
      <vt:lpstr>PowerPoint Presentation</vt:lpstr>
      <vt:lpstr>PowerPoint Presentation</vt:lpstr>
      <vt:lpstr>PowerPoint Presentation</vt:lpstr>
      <vt:lpstr>Task 6</vt:lpstr>
      <vt:lpstr>PowerPoint Presentation</vt:lpstr>
      <vt:lpstr>PowerPoint Presentation</vt:lpstr>
      <vt:lpstr>PowerPoint Presentation</vt:lpstr>
      <vt:lpstr>Task 7</vt:lpstr>
      <vt:lpstr>Making Academic Attribution</vt:lpstr>
      <vt:lpstr>Task 8</vt:lpstr>
      <vt:lpstr>PowerPoint Presentation</vt:lpstr>
      <vt:lpstr>PowerPoint Presentation</vt:lpstr>
      <vt:lpstr>PowerPoint Presentation</vt:lpstr>
      <vt:lpstr>PowerPoint Presentation</vt:lpstr>
      <vt:lpstr>PowerPoint Presentation</vt:lpstr>
      <vt:lpstr>Step 1</vt:lpstr>
      <vt:lpstr>Step 1</vt:lpstr>
      <vt:lpstr>Step 2</vt:lpstr>
      <vt:lpstr>Step 4</vt:lpstr>
      <vt:lpstr>PowerPoint Presentation</vt:lpstr>
      <vt:lpstr>Independent Learning: Using Corpora to Improve Academic Writing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MCCP7020 English for Advanced Academic Purposes</dc:title>
  <dc:creator>GAN Ling</dc:creator>
  <cp:lastModifiedBy>Author</cp:lastModifiedBy>
  <cp:revision>40</cp:revision>
  <dcterms:created xsi:type="dcterms:W3CDTF">2020-08-09T09:18:42Z</dcterms:created>
  <dcterms:modified xsi:type="dcterms:W3CDTF">2025-08-26T10:58:47Z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0x0101006CBE5400CADFA0469A091337646547C3</vt:lpwstr>
  </property>
</Properties>
</file>