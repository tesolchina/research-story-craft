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87" r:id="rId6"/>
    <p:sldId id="263" r:id="rId7"/>
    <p:sldId id="264" r:id="rId8"/>
    <p:sldId id="308" r:id="rId9"/>
    <p:sldId id="309" r:id="rId10"/>
    <p:sldId id="310" r:id="rId11"/>
    <p:sldId id="311" r:id="rId12"/>
    <p:sldId id="295" r:id="rId13"/>
    <p:sldId id="296" r:id="rId14"/>
    <p:sldId id="297" r:id="rId15"/>
    <p:sldId id="302" r:id="rId16"/>
    <p:sldId id="303" r:id="rId17"/>
    <p:sldId id="312" r:id="rId18"/>
    <p:sldId id="29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102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en Yi LAW" userId="7022f2d7-95f0-4fb1-89f4-e72d0af4d2c8" providerId="ADAL" clId="{DAE7E556-B81F-49CF-87CC-6B5E1129EA8D}"/>
    <pc:docChg chg="custSel addSld modSld">
      <pc:chgData name="Yuen Yi LAW" userId="7022f2d7-95f0-4fb1-89f4-e72d0af4d2c8" providerId="ADAL" clId="{DAE7E556-B81F-49CF-87CC-6B5E1129EA8D}" dt="2023-08-18T07:00:33.619" v="239" actId="27636"/>
      <pc:docMkLst>
        <pc:docMk/>
      </pc:docMkLst>
      <pc:sldChg chg="modSp">
        <pc:chgData name="Yuen Yi LAW" userId="7022f2d7-95f0-4fb1-89f4-e72d0af4d2c8" providerId="ADAL" clId="{DAE7E556-B81F-49CF-87CC-6B5E1129EA8D}" dt="2023-08-18T04:37:56.962" v="4" actId="255"/>
        <pc:sldMkLst>
          <pc:docMk/>
          <pc:sldMk cId="1580096689" sldId="296"/>
        </pc:sldMkLst>
      </pc:sldChg>
      <pc:sldChg chg="modSp">
        <pc:chgData name="Yuen Yi LAW" userId="7022f2d7-95f0-4fb1-89f4-e72d0af4d2c8" providerId="ADAL" clId="{DAE7E556-B81F-49CF-87CC-6B5E1129EA8D}" dt="2023-08-18T04:38:49.791" v="16" actId="1076"/>
        <pc:sldMkLst>
          <pc:docMk/>
          <pc:sldMk cId="3573293072" sldId="297"/>
        </pc:sldMkLst>
      </pc:sldChg>
      <pc:sldChg chg="modSp add">
        <pc:chgData name="Yuen Yi LAW" userId="7022f2d7-95f0-4fb1-89f4-e72d0af4d2c8" providerId="ADAL" clId="{DAE7E556-B81F-49CF-87CC-6B5E1129EA8D}" dt="2023-08-18T04:40:43.626" v="63" actId="1076"/>
        <pc:sldMkLst>
          <pc:docMk/>
          <pc:sldMk cId="1999373743" sldId="302"/>
        </pc:sldMkLst>
      </pc:sldChg>
      <pc:sldChg chg="modSp add">
        <pc:chgData name="Yuen Yi LAW" userId="7022f2d7-95f0-4fb1-89f4-e72d0af4d2c8" providerId="ADAL" clId="{DAE7E556-B81F-49CF-87CC-6B5E1129EA8D}" dt="2023-08-18T04:42:47.483" v="126" actId="27636"/>
        <pc:sldMkLst>
          <pc:docMk/>
          <pc:sldMk cId="3474677367" sldId="303"/>
        </pc:sldMkLst>
      </pc:sldChg>
      <pc:sldChg chg="modSp add">
        <pc:chgData name="Yuen Yi LAW" userId="7022f2d7-95f0-4fb1-89f4-e72d0af4d2c8" providerId="ADAL" clId="{DAE7E556-B81F-49CF-87CC-6B5E1129EA8D}" dt="2023-08-18T06:40:01.982" v="149" actId="27636"/>
        <pc:sldMkLst>
          <pc:docMk/>
          <pc:sldMk cId="191505371" sldId="304"/>
        </pc:sldMkLst>
      </pc:sldChg>
      <pc:sldChg chg="addSp modSp add">
        <pc:chgData name="Yuen Yi LAW" userId="7022f2d7-95f0-4fb1-89f4-e72d0af4d2c8" providerId="ADAL" clId="{DAE7E556-B81F-49CF-87CC-6B5E1129EA8D}" dt="2023-08-18T06:50:59.398" v="187" actId="1076"/>
        <pc:sldMkLst>
          <pc:docMk/>
          <pc:sldMk cId="3209821507" sldId="305"/>
        </pc:sldMkLst>
      </pc:sldChg>
      <pc:sldChg chg="addSp modSp add">
        <pc:chgData name="Yuen Yi LAW" userId="7022f2d7-95f0-4fb1-89f4-e72d0af4d2c8" providerId="ADAL" clId="{DAE7E556-B81F-49CF-87CC-6B5E1129EA8D}" dt="2023-08-18T06:55:17.732" v="221" actId="1076"/>
        <pc:sldMkLst>
          <pc:docMk/>
          <pc:sldMk cId="2675981105" sldId="306"/>
        </pc:sldMkLst>
      </pc:sldChg>
      <pc:sldChg chg="modSp add">
        <pc:chgData name="Yuen Yi LAW" userId="7022f2d7-95f0-4fb1-89f4-e72d0af4d2c8" providerId="ADAL" clId="{DAE7E556-B81F-49CF-87CC-6B5E1129EA8D}" dt="2023-08-18T07:00:33.619" v="239" actId="27636"/>
        <pc:sldMkLst>
          <pc:docMk/>
          <pc:sldMk cId="754334132" sldId="307"/>
        </pc:sldMkLst>
      </pc:sldChg>
    </pc:docChg>
  </pc:docChgLst>
  <pc:docChgLst>
    <pc:chgData name="Yuen Yi LAW" userId="7022f2d7-95f0-4fb1-89f4-e72d0af4d2c8" providerId="ADAL" clId="{3056BB1B-57A7-9D43-8F98-481531813E84}"/>
    <pc:docChg chg="modSld">
      <pc:chgData name="Yuen Yi LAW" userId="7022f2d7-95f0-4fb1-89f4-e72d0af4d2c8" providerId="ADAL" clId="{3056BB1B-57A7-9D43-8F98-481531813E84}" dt="2023-12-26T10:18:38.679" v="44" actId="207"/>
      <pc:docMkLst>
        <pc:docMk/>
      </pc:docMkLst>
      <pc:sldChg chg="modSp mod">
        <pc:chgData name="Yuen Yi LAW" userId="7022f2d7-95f0-4fb1-89f4-e72d0af4d2c8" providerId="ADAL" clId="{3056BB1B-57A7-9D43-8F98-481531813E84}" dt="2023-12-26T10:18:38.679" v="44" actId="207"/>
        <pc:sldMkLst>
          <pc:docMk/>
          <pc:sldMk cId="2675981105" sldId="306"/>
        </pc:sldMkLst>
      </pc:sldChg>
    </pc:docChg>
  </pc:docChgLst>
  <pc:docChgLst>
    <pc:chgData name="Yuen Yi LAW" userId="7022f2d7-95f0-4fb1-89f4-e72d0af4d2c8" providerId="ADAL" clId="{19B22AAF-9156-4C17-9263-5C26F223C41A}"/>
    <pc:docChg chg="delSld">
      <pc:chgData name="Yuen Yi LAW" userId="7022f2d7-95f0-4fb1-89f4-e72d0af4d2c8" providerId="ADAL" clId="{19B22AAF-9156-4C17-9263-5C26F223C41A}" dt="2025-10-09T04:41:55.536" v="0" actId="2696"/>
      <pc:docMkLst>
        <pc:docMk/>
      </pc:docMkLst>
      <pc:sldChg chg="del">
        <pc:chgData name="Yuen Yi LAW" userId="7022f2d7-95f0-4fb1-89f4-e72d0af4d2c8" providerId="ADAL" clId="{19B22AAF-9156-4C17-9263-5C26F223C41A}" dt="2025-10-09T04:41:55.536" v="0" actId="2696"/>
        <pc:sldMkLst>
          <pc:docMk/>
          <pc:sldMk cId="191505371" sldId="304"/>
        </pc:sldMkLst>
      </pc:sldChg>
      <pc:sldChg chg="del">
        <pc:chgData name="Yuen Yi LAW" userId="7022f2d7-95f0-4fb1-89f4-e72d0af4d2c8" providerId="ADAL" clId="{19B22AAF-9156-4C17-9263-5C26F223C41A}" dt="2025-10-09T04:41:55.536" v="0" actId="2696"/>
        <pc:sldMkLst>
          <pc:docMk/>
          <pc:sldMk cId="3209821507" sldId="305"/>
        </pc:sldMkLst>
      </pc:sldChg>
      <pc:sldChg chg="del">
        <pc:chgData name="Yuen Yi LAW" userId="7022f2d7-95f0-4fb1-89f4-e72d0af4d2c8" providerId="ADAL" clId="{19B22AAF-9156-4C17-9263-5C26F223C41A}" dt="2025-10-09T04:41:55.536" v="0" actId="2696"/>
        <pc:sldMkLst>
          <pc:docMk/>
          <pc:sldMk cId="2675981105" sldId="306"/>
        </pc:sldMkLst>
      </pc:sldChg>
      <pc:sldChg chg="del">
        <pc:chgData name="Yuen Yi LAW" userId="7022f2d7-95f0-4fb1-89f4-e72d0af4d2c8" providerId="ADAL" clId="{19B22AAF-9156-4C17-9263-5C26F223C41A}" dt="2025-10-09T04:41:55.536" v="0" actId="2696"/>
        <pc:sldMkLst>
          <pc:docMk/>
          <pc:sldMk cId="754334132" sldId="307"/>
        </pc:sldMkLst>
      </pc:sldChg>
    </pc:docChg>
  </pc:docChgLst>
  <pc:docChgLst>
    <pc:chgData name="Yuen Yi LAW" userId="7022f2d7-95f0-4fb1-89f4-e72d0af4d2c8" providerId="ADAL" clId="{6CFE0852-2B17-4518-9AF0-663F5723F8B3}"/>
    <pc:docChg chg="undo custSel addSld delSld modSld sldOrd">
      <pc:chgData name="Yuen Yi LAW" userId="7022f2d7-95f0-4fb1-89f4-e72d0af4d2c8" providerId="ADAL" clId="{6CFE0852-2B17-4518-9AF0-663F5723F8B3}" dt="2025-08-27T11:06:07.155" v="621" actId="20577"/>
      <pc:docMkLst>
        <pc:docMk/>
      </pc:docMkLst>
      <pc:sldChg chg="modSp mod">
        <pc:chgData name="Yuen Yi LAW" userId="7022f2d7-95f0-4fb1-89f4-e72d0af4d2c8" providerId="ADAL" clId="{6CFE0852-2B17-4518-9AF0-663F5723F8B3}" dt="2025-08-20T09:17:36.757" v="2" actId="20577"/>
        <pc:sldMkLst>
          <pc:docMk/>
          <pc:sldMk cId="253334600" sldId="256"/>
        </pc:sldMkLst>
      </pc:sldChg>
      <pc:sldChg chg="del">
        <pc:chgData name="Yuen Yi LAW" userId="7022f2d7-95f0-4fb1-89f4-e72d0af4d2c8" providerId="ADAL" clId="{6CFE0852-2B17-4518-9AF0-663F5723F8B3}" dt="2025-08-20T09:19:08.715" v="20" actId="2696"/>
        <pc:sldMkLst>
          <pc:docMk/>
          <pc:sldMk cId="1388711242" sldId="257"/>
        </pc:sldMkLst>
      </pc:sldChg>
      <pc:sldChg chg="del">
        <pc:chgData name="Yuen Yi LAW" userId="7022f2d7-95f0-4fb1-89f4-e72d0af4d2c8" providerId="ADAL" clId="{6CFE0852-2B17-4518-9AF0-663F5723F8B3}" dt="2025-08-20T09:19:10.968" v="21" actId="2696"/>
        <pc:sldMkLst>
          <pc:docMk/>
          <pc:sldMk cId="3870967943" sldId="258"/>
        </pc:sldMkLst>
      </pc:sldChg>
      <pc:sldChg chg="del">
        <pc:chgData name="Yuen Yi LAW" userId="7022f2d7-95f0-4fb1-89f4-e72d0af4d2c8" providerId="ADAL" clId="{6CFE0852-2B17-4518-9AF0-663F5723F8B3}" dt="2025-08-20T09:19:13.178" v="22" actId="2696"/>
        <pc:sldMkLst>
          <pc:docMk/>
          <pc:sldMk cId="2707476550" sldId="259"/>
        </pc:sldMkLst>
      </pc:sldChg>
      <pc:sldChg chg="del">
        <pc:chgData name="Yuen Yi LAW" userId="7022f2d7-95f0-4fb1-89f4-e72d0af4d2c8" providerId="ADAL" clId="{6CFE0852-2B17-4518-9AF0-663F5723F8B3}" dt="2025-08-20T09:19:15.828" v="23" actId="2696"/>
        <pc:sldMkLst>
          <pc:docMk/>
          <pc:sldMk cId="3224218950" sldId="260"/>
        </pc:sldMkLst>
      </pc:sldChg>
      <pc:sldChg chg="del">
        <pc:chgData name="Yuen Yi LAW" userId="7022f2d7-95f0-4fb1-89f4-e72d0af4d2c8" providerId="ADAL" clId="{6CFE0852-2B17-4518-9AF0-663F5723F8B3}" dt="2025-08-20T09:19:18.417" v="24" actId="2696"/>
        <pc:sldMkLst>
          <pc:docMk/>
          <pc:sldMk cId="47703966" sldId="261"/>
        </pc:sldMkLst>
      </pc:sldChg>
      <pc:sldChg chg="del">
        <pc:chgData name="Yuen Yi LAW" userId="7022f2d7-95f0-4fb1-89f4-e72d0af4d2c8" providerId="ADAL" clId="{6CFE0852-2B17-4518-9AF0-663F5723F8B3}" dt="2025-08-20T09:19:21.408" v="25" actId="2696"/>
        <pc:sldMkLst>
          <pc:docMk/>
          <pc:sldMk cId="2644246582" sldId="262"/>
        </pc:sldMkLst>
      </pc:sldChg>
      <pc:sldChg chg="modSp mod">
        <pc:chgData name="Yuen Yi LAW" userId="7022f2d7-95f0-4fb1-89f4-e72d0af4d2c8" providerId="ADAL" clId="{6CFE0852-2B17-4518-9AF0-663F5723F8B3}" dt="2025-08-20T09:19:27.580" v="27" actId="20577"/>
        <pc:sldMkLst>
          <pc:docMk/>
          <pc:sldMk cId="4026027522" sldId="263"/>
        </pc:sldMkLst>
      </pc:sldChg>
      <pc:sldChg chg="del">
        <pc:chgData name="Yuen Yi LAW" userId="7022f2d7-95f0-4fb1-89f4-e72d0af4d2c8" providerId="ADAL" clId="{6CFE0852-2B17-4518-9AF0-663F5723F8B3}" dt="2025-08-20T09:19:44.042" v="28" actId="2696"/>
        <pc:sldMkLst>
          <pc:docMk/>
          <pc:sldMk cId="2968046526" sldId="265"/>
        </pc:sldMkLst>
      </pc:sldChg>
      <pc:sldChg chg="del">
        <pc:chgData name="Yuen Yi LAW" userId="7022f2d7-95f0-4fb1-89f4-e72d0af4d2c8" providerId="ADAL" clId="{6CFE0852-2B17-4518-9AF0-663F5723F8B3}" dt="2025-08-20T09:19:46.479" v="29" actId="2696"/>
        <pc:sldMkLst>
          <pc:docMk/>
          <pc:sldMk cId="2946818882" sldId="266"/>
        </pc:sldMkLst>
      </pc:sldChg>
      <pc:sldChg chg="del">
        <pc:chgData name="Yuen Yi LAW" userId="7022f2d7-95f0-4fb1-89f4-e72d0af4d2c8" providerId="ADAL" clId="{6CFE0852-2B17-4518-9AF0-663F5723F8B3}" dt="2025-08-20T09:19:55.784" v="32" actId="2696"/>
        <pc:sldMkLst>
          <pc:docMk/>
          <pc:sldMk cId="437549731" sldId="267"/>
        </pc:sldMkLst>
      </pc:sldChg>
      <pc:sldChg chg="del">
        <pc:chgData name="Yuen Yi LAW" userId="7022f2d7-95f0-4fb1-89f4-e72d0af4d2c8" providerId="ADAL" clId="{6CFE0852-2B17-4518-9AF0-663F5723F8B3}" dt="2025-08-20T09:20:29.565" v="33" actId="2696"/>
        <pc:sldMkLst>
          <pc:docMk/>
          <pc:sldMk cId="3382036378" sldId="268"/>
        </pc:sldMkLst>
      </pc:sldChg>
      <pc:sldChg chg="del">
        <pc:chgData name="Yuen Yi LAW" userId="7022f2d7-95f0-4fb1-89f4-e72d0af4d2c8" providerId="ADAL" clId="{6CFE0852-2B17-4518-9AF0-663F5723F8B3}" dt="2025-08-22T04:12:28.617" v="488" actId="47"/>
        <pc:sldMkLst>
          <pc:docMk/>
          <pc:sldMk cId="2224650875" sldId="269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25081732" sldId="270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1662365655" sldId="271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362047291" sldId="272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3033175377" sldId="273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3626495495" sldId="274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3367909048" sldId="275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3873398482" sldId="276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1443129529" sldId="277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3843655744" sldId="278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4013324130" sldId="279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2031889891" sldId="280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1848702493" sldId="281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3303633233" sldId="282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1856817495" sldId="283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601469711" sldId="284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2834468529" sldId="285"/>
        </pc:sldMkLst>
      </pc:sldChg>
      <pc:sldChg chg="del">
        <pc:chgData name="Yuen Yi LAW" userId="7022f2d7-95f0-4fb1-89f4-e72d0af4d2c8" providerId="ADAL" clId="{6CFE0852-2B17-4518-9AF0-663F5723F8B3}" dt="2025-08-22T04:12:38.561" v="489" actId="47"/>
        <pc:sldMkLst>
          <pc:docMk/>
          <pc:sldMk cId="665486200" sldId="286"/>
        </pc:sldMkLst>
      </pc:sldChg>
      <pc:sldChg chg="modSp mod">
        <pc:chgData name="Yuen Yi LAW" userId="7022f2d7-95f0-4fb1-89f4-e72d0af4d2c8" providerId="ADAL" clId="{6CFE0852-2B17-4518-9AF0-663F5723F8B3}" dt="2025-08-20T09:19:02.034" v="19" actId="20577"/>
        <pc:sldMkLst>
          <pc:docMk/>
          <pc:sldMk cId="312666242" sldId="287"/>
        </pc:sldMkLst>
      </pc:sldChg>
      <pc:sldChg chg="del">
        <pc:chgData name="Yuen Yi LAW" userId="7022f2d7-95f0-4fb1-89f4-e72d0af4d2c8" providerId="ADAL" clId="{6CFE0852-2B17-4518-9AF0-663F5723F8B3}" dt="2025-08-22T04:28:38.363" v="603" actId="47"/>
        <pc:sldMkLst>
          <pc:docMk/>
          <pc:sldMk cId="1229863761" sldId="288"/>
        </pc:sldMkLst>
      </pc:sldChg>
      <pc:sldChg chg="del">
        <pc:chgData name="Yuen Yi LAW" userId="7022f2d7-95f0-4fb1-89f4-e72d0af4d2c8" providerId="ADAL" clId="{6CFE0852-2B17-4518-9AF0-663F5723F8B3}" dt="2025-08-22T04:28:42.132" v="604" actId="47"/>
        <pc:sldMkLst>
          <pc:docMk/>
          <pc:sldMk cId="877693217" sldId="289"/>
        </pc:sldMkLst>
      </pc:sldChg>
      <pc:sldChg chg="del">
        <pc:chgData name="Yuen Yi LAW" userId="7022f2d7-95f0-4fb1-89f4-e72d0af4d2c8" providerId="ADAL" clId="{6CFE0852-2B17-4518-9AF0-663F5723F8B3}" dt="2025-08-22T04:28:43.859" v="605" actId="47"/>
        <pc:sldMkLst>
          <pc:docMk/>
          <pc:sldMk cId="584476882" sldId="290"/>
        </pc:sldMkLst>
      </pc:sldChg>
      <pc:sldChg chg="del">
        <pc:chgData name="Yuen Yi LAW" userId="7022f2d7-95f0-4fb1-89f4-e72d0af4d2c8" providerId="ADAL" clId="{6CFE0852-2B17-4518-9AF0-663F5723F8B3}" dt="2025-08-22T04:28:45.520" v="606" actId="47"/>
        <pc:sldMkLst>
          <pc:docMk/>
          <pc:sldMk cId="639958997" sldId="291"/>
        </pc:sldMkLst>
      </pc:sldChg>
      <pc:sldChg chg="del">
        <pc:chgData name="Yuen Yi LAW" userId="7022f2d7-95f0-4fb1-89f4-e72d0af4d2c8" providerId="ADAL" clId="{6CFE0852-2B17-4518-9AF0-663F5723F8B3}" dt="2025-08-22T04:28:47.008" v="607" actId="47"/>
        <pc:sldMkLst>
          <pc:docMk/>
          <pc:sldMk cId="2683065219" sldId="292"/>
        </pc:sldMkLst>
      </pc:sldChg>
      <pc:sldChg chg="del">
        <pc:chgData name="Yuen Yi LAW" userId="7022f2d7-95f0-4fb1-89f4-e72d0af4d2c8" providerId="ADAL" clId="{6CFE0852-2B17-4518-9AF0-663F5723F8B3}" dt="2025-08-22T04:28:49.984" v="608" actId="47"/>
        <pc:sldMkLst>
          <pc:docMk/>
          <pc:sldMk cId="2615710456" sldId="293"/>
        </pc:sldMkLst>
      </pc:sldChg>
      <pc:sldChg chg="addSp delSp modSp mod">
        <pc:chgData name="Yuen Yi LAW" userId="7022f2d7-95f0-4fb1-89f4-e72d0af4d2c8" providerId="ADAL" clId="{6CFE0852-2B17-4518-9AF0-663F5723F8B3}" dt="2025-08-22T04:17:18.223" v="495" actId="1076"/>
        <pc:sldMkLst>
          <pc:docMk/>
          <pc:sldMk cId="3385651100" sldId="298"/>
        </pc:sldMkLst>
      </pc:sldChg>
      <pc:sldChg chg="del">
        <pc:chgData name="Yuen Yi LAW" userId="7022f2d7-95f0-4fb1-89f4-e72d0af4d2c8" providerId="ADAL" clId="{6CFE0852-2B17-4518-9AF0-663F5723F8B3}" dt="2025-08-22T04:31:01.489" v="613" actId="47"/>
        <pc:sldMkLst>
          <pc:docMk/>
          <pc:sldMk cId="1645132032" sldId="299"/>
        </pc:sldMkLst>
      </pc:sldChg>
      <pc:sldChg chg="del">
        <pc:chgData name="Yuen Yi LAW" userId="7022f2d7-95f0-4fb1-89f4-e72d0af4d2c8" providerId="ADAL" clId="{6CFE0852-2B17-4518-9AF0-663F5723F8B3}" dt="2025-08-20T09:19:48.602" v="30" actId="2696"/>
        <pc:sldMkLst>
          <pc:docMk/>
          <pc:sldMk cId="3215679259" sldId="300"/>
        </pc:sldMkLst>
      </pc:sldChg>
      <pc:sldChg chg="del">
        <pc:chgData name="Yuen Yi LAW" userId="7022f2d7-95f0-4fb1-89f4-e72d0af4d2c8" providerId="ADAL" clId="{6CFE0852-2B17-4518-9AF0-663F5723F8B3}" dt="2025-08-20T09:19:52.523" v="31" actId="2696"/>
        <pc:sldMkLst>
          <pc:docMk/>
          <pc:sldMk cId="2510449042" sldId="301"/>
        </pc:sldMkLst>
      </pc:sldChg>
      <pc:sldChg chg="modSp mod">
        <pc:chgData name="Yuen Yi LAW" userId="7022f2d7-95f0-4fb1-89f4-e72d0af4d2c8" providerId="ADAL" clId="{6CFE0852-2B17-4518-9AF0-663F5723F8B3}" dt="2025-08-22T04:28:23.195" v="602" actId="20577"/>
        <pc:sldMkLst>
          <pc:docMk/>
          <pc:sldMk cId="191505371" sldId="304"/>
        </pc:sldMkLst>
      </pc:sldChg>
      <pc:sldChg chg="modSp mod">
        <pc:chgData name="Yuen Yi LAW" userId="7022f2d7-95f0-4fb1-89f4-e72d0af4d2c8" providerId="ADAL" clId="{6CFE0852-2B17-4518-9AF0-663F5723F8B3}" dt="2025-08-22T04:28:55.355" v="610" actId="20577"/>
        <pc:sldMkLst>
          <pc:docMk/>
          <pc:sldMk cId="3209821507" sldId="305"/>
        </pc:sldMkLst>
      </pc:sldChg>
      <pc:sldChg chg="modSp mod">
        <pc:chgData name="Yuen Yi LAW" userId="7022f2d7-95f0-4fb1-89f4-e72d0af4d2c8" providerId="ADAL" clId="{6CFE0852-2B17-4518-9AF0-663F5723F8B3}" dt="2025-08-27T11:06:00.406" v="619" actId="20577"/>
        <pc:sldMkLst>
          <pc:docMk/>
          <pc:sldMk cId="2675981105" sldId="306"/>
        </pc:sldMkLst>
      </pc:sldChg>
      <pc:sldChg chg="modSp mod">
        <pc:chgData name="Yuen Yi LAW" userId="7022f2d7-95f0-4fb1-89f4-e72d0af4d2c8" providerId="ADAL" clId="{6CFE0852-2B17-4518-9AF0-663F5723F8B3}" dt="2025-08-27T11:06:07.155" v="621" actId="20577"/>
        <pc:sldMkLst>
          <pc:docMk/>
          <pc:sldMk cId="754334132" sldId="307"/>
        </pc:sldMkLst>
      </pc:sldChg>
      <pc:sldChg chg="addSp modSp new mod ord modAnim">
        <pc:chgData name="Yuen Yi LAW" userId="7022f2d7-95f0-4fb1-89f4-e72d0af4d2c8" providerId="ADAL" clId="{6CFE0852-2B17-4518-9AF0-663F5723F8B3}" dt="2025-08-22T02:17:40.508" v="156"/>
        <pc:sldMkLst>
          <pc:docMk/>
          <pc:sldMk cId="4109396677" sldId="308"/>
        </pc:sldMkLst>
      </pc:sldChg>
      <pc:sldChg chg="modSp new mod">
        <pc:chgData name="Yuen Yi LAW" userId="7022f2d7-95f0-4fb1-89f4-e72d0af4d2c8" providerId="ADAL" clId="{6CFE0852-2B17-4518-9AF0-663F5723F8B3}" dt="2025-08-22T03:56:29.897" v="178" actId="1076"/>
        <pc:sldMkLst>
          <pc:docMk/>
          <pc:sldMk cId="4223847217" sldId="309"/>
        </pc:sldMkLst>
      </pc:sldChg>
      <pc:sldChg chg="modSp new mod">
        <pc:chgData name="Yuen Yi LAW" userId="7022f2d7-95f0-4fb1-89f4-e72d0af4d2c8" providerId="ADAL" clId="{6CFE0852-2B17-4518-9AF0-663F5723F8B3}" dt="2025-08-22T04:07:34.395" v="473" actId="1076"/>
        <pc:sldMkLst>
          <pc:docMk/>
          <pc:sldMk cId="1587095671" sldId="310"/>
        </pc:sldMkLst>
      </pc:sldChg>
      <pc:sldChg chg="modSp new mod">
        <pc:chgData name="Yuen Yi LAW" userId="7022f2d7-95f0-4fb1-89f4-e72d0af4d2c8" providerId="ADAL" clId="{6CFE0852-2B17-4518-9AF0-663F5723F8B3}" dt="2025-08-22T04:11:59.556" v="487" actId="404"/>
        <pc:sldMkLst>
          <pc:docMk/>
          <pc:sldMk cId="1834291564" sldId="311"/>
        </pc:sldMkLst>
      </pc:sldChg>
      <pc:sldChg chg="addSp modSp new mod setBg">
        <pc:chgData name="Yuen Yi LAW" userId="7022f2d7-95f0-4fb1-89f4-e72d0af4d2c8" providerId="ADAL" clId="{6CFE0852-2B17-4518-9AF0-663F5723F8B3}" dt="2025-08-22T04:28:01.934" v="600" actId="27636"/>
        <pc:sldMkLst>
          <pc:docMk/>
          <pc:sldMk cId="527478706" sldId="31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nYpA2UgV0s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9nYpA2UgV0s" TargetMode="Externa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d.com/talks/hany_farid_how_to_spot_fake_ai_photos?subtitle=e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fvLHvOr-CD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hreeminutethesis.uq.edu.au/watch-3m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vimeo.com/user20353817/review/370081216/5a3d853e6c" TargetMode="External"/><Relationship Id="rId2" Type="http://schemas.openxmlformats.org/officeDocument/2006/relationships/hyperlink" Target="https://vimeo.com/user20353817/review/370081235/9d7a96cc4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1EbNTEV2M8A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threeminutethesis.uq.edu.au/resources/3mt-competitor-guid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77/14614456211037438" TargetMode="External"/><Relationship Id="rId2" Type="http://schemas.openxmlformats.org/officeDocument/2006/relationships/hyperlink" Target="https://www.sciencedirect.com/topics/social-sciences/imperative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MCCP6020</a:t>
            </a:r>
            <a:br>
              <a:rPr lang="en-US" dirty="0"/>
            </a:br>
            <a:r>
              <a:rPr lang="en-US" dirty="0"/>
              <a:t>Advanced English for Academic Purposes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958862"/>
            <a:ext cx="8915399" cy="944800"/>
          </a:xfrm>
        </p:spPr>
        <p:txBody>
          <a:bodyPr/>
          <a:lstStyle/>
          <a:p>
            <a:r>
              <a:rPr lang="en-US" dirty="0"/>
              <a:t>Session 9 Giving an Academic Presentation (Part 2)</a:t>
            </a:r>
          </a:p>
        </p:txBody>
      </p:sp>
    </p:spTree>
    <p:extLst>
      <p:ext uri="{BB962C8B-B14F-4D97-AF65-F5344CB8AC3E}">
        <p14:creationId xmlns:p14="http://schemas.microsoft.com/office/powerpoint/2010/main" val="253334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1010971"/>
            <a:ext cx="8911687" cy="1280890"/>
          </a:xfrm>
        </p:spPr>
        <p:txBody>
          <a:bodyPr/>
          <a:lstStyle/>
          <a:p>
            <a:r>
              <a:rPr lang="en-US" dirty="0"/>
              <a:t>Learning Outcomes: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0809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By the end of this session, students should be able to:</a:t>
            </a:r>
          </a:p>
          <a:p>
            <a:endParaRPr lang="en-US" sz="2400" dirty="0"/>
          </a:p>
          <a:p>
            <a:pPr lvl="0"/>
            <a:r>
              <a:rPr lang="en-HK" sz="2400" dirty="0"/>
              <a:t>use word stress and intonation to convey meaning effectively in academic presentations</a:t>
            </a:r>
            <a:endParaRPr lang="en-US" sz="2400" dirty="0"/>
          </a:p>
          <a:p>
            <a:pPr lvl="0"/>
            <a:r>
              <a:rPr lang="en-HK" sz="2400" dirty="0"/>
              <a:t>design and use visual aids effectively in academic presentations</a:t>
            </a:r>
          </a:p>
          <a:p>
            <a:r>
              <a:rPr lang="en-HK" sz="2400" dirty="0"/>
              <a:t>give a three-minute thesis presentation highlighting the significance of their research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66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1BED9-11A0-954F-9E5C-04CD0CDFD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421" y="121756"/>
            <a:ext cx="1677486" cy="808323"/>
          </a:xfrm>
        </p:spPr>
        <p:txBody>
          <a:bodyPr>
            <a:normAutofit/>
          </a:bodyPr>
          <a:lstStyle/>
          <a:p>
            <a:r>
              <a:rPr lang="en-US" dirty="0"/>
              <a:t>Task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256659-9951-2848-B296-D7DE64B4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83926E-7190-4344-B3CE-F0307FE8EF86}"/>
              </a:ext>
            </a:extLst>
          </p:cNvPr>
          <p:cNvSpPr txBox="1"/>
          <p:nvPr/>
        </p:nvSpPr>
        <p:spPr>
          <a:xfrm>
            <a:off x="1733421" y="855326"/>
            <a:ext cx="9201355" cy="1089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en-GB" dirty="0">
                <a:ea typeface="DengXian" panose="02010600030101010101" pitchFamily="2" charset="-122"/>
                <a:cs typeface="Times New Roman" panose="02020603050405020304" pitchFamily="18" charset="0"/>
              </a:rPr>
              <a:t>Watch the following video from 0:00-2:08 to see why they are so important. </a:t>
            </a:r>
            <a:r>
              <a:rPr lang="en-GB" dirty="0">
                <a:solidFill>
                  <a:srgbClr val="0070C0"/>
                </a:solidFill>
                <a:ea typeface="DengXian" panose="02010600030101010101" pitchFamily="2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https://www.youtube.com/watch?v=9nYpA2UgV0s</a:t>
            </a:r>
            <a:r>
              <a:rPr lang="en-GB" dirty="0">
                <a:solidFill>
                  <a:srgbClr val="0070C0"/>
                </a:solidFill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a typeface="DengXian" panose="02010600030101010101" pitchFamily="2" charset="-122"/>
                <a:cs typeface="Times New Roman" panose="02020603050405020304" pitchFamily="18" charset="0"/>
              </a:rPr>
              <a:t>While watching the video, take notes for the following questions:</a:t>
            </a:r>
          </a:p>
        </p:txBody>
      </p:sp>
      <p:pic>
        <p:nvPicPr>
          <p:cNvPr id="4" name="9nYpA2UgV0s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881554" y="1944920"/>
            <a:ext cx="8223738" cy="462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27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256659-9951-2848-B296-D7DE64B4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78E15D-7030-4B44-9460-C7263B3A8B40}"/>
              </a:ext>
            </a:extLst>
          </p:cNvPr>
          <p:cNvSpPr txBox="1"/>
          <p:nvPr/>
        </p:nvSpPr>
        <p:spPr>
          <a:xfrm>
            <a:off x="2005393" y="2487785"/>
            <a:ext cx="6096000" cy="365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a typeface="DengXian" panose="02010600030101010101" pitchFamily="2" charset="-122"/>
                <a:cs typeface="Times New Roman" panose="02020603050405020304" pitchFamily="18" charset="0"/>
              </a:rPr>
              <a:t>2.	Which words in a sentence are often stressed?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CCC642-6115-4E27-AF55-2904E3E55977}"/>
              </a:ext>
            </a:extLst>
          </p:cNvPr>
          <p:cNvSpPr txBox="1"/>
          <p:nvPr/>
        </p:nvSpPr>
        <p:spPr>
          <a:xfrm>
            <a:off x="2223245" y="2943029"/>
            <a:ext cx="9004132" cy="1019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lnSpc>
                <a:spcPct val="115000"/>
              </a:lnSpc>
              <a:spcAft>
                <a:spcPts val="800"/>
              </a:spcAft>
            </a:pPr>
            <a:r>
              <a:rPr lang="en-GB" sz="1800" dirty="0">
                <a:solidFill>
                  <a:srgbClr val="0070C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While speaking stress and intonation are used to make the important content of your talk clear. Often there is a rise in intonation on a keyword, but sometimes there is a fall especially at the end of sentences.</a:t>
            </a:r>
            <a:endParaRPr lang="en-GB" sz="18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3A9F7-C15A-4C87-B491-AFD67CF07B5A}"/>
              </a:ext>
            </a:extLst>
          </p:cNvPr>
          <p:cNvSpPr txBox="1"/>
          <p:nvPr/>
        </p:nvSpPr>
        <p:spPr>
          <a:xfrm>
            <a:off x="2005393" y="4141160"/>
            <a:ext cx="8184779" cy="365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a typeface="DengXian" panose="02010600030101010101" pitchFamily="2" charset="-122"/>
                <a:cs typeface="Times New Roman" panose="02020603050405020304" pitchFamily="18" charset="0"/>
              </a:rPr>
              <a:t>3.	What is the most important thing in achieving good intonation?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79C4C-1480-4EB8-A3EF-C36FD1470B4B}"/>
              </a:ext>
            </a:extLst>
          </p:cNvPr>
          <p:cNvSpPr txBox="1"/>
          <p:nvPr/>
        </p:nvSpPr>
        <p:spPr>
          <a:xfrm>
            <a:off x="2294963" y="5825291"/>
            <a:ext cx="9004132" cy="70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lnSpc>
                <a:spcPct val="115000"/>
              </a:lnSpc>
              <a:spcAft>
                <a:spcPts val="800"/>
              </a:spcAft>
            </a:pPr>
            <a:r>
              <a:rPr lang="en-GB" sz="1800" u="sng" dirty="0">
                <a:solidFill>
                  <a:srgbClr val="0070C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Without</a:t>
            </a:r>
            <a:r>
              <a:rPr lang="en-GB" sz="1800" dirty="0">
                <a:solidFill>
                  <a:srgbClr val="0070C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appropriate stress and intonation, your listeners may miss the point you're trying to make. What’s worse, you may end up sounding like a robot. </a:t>
            </a:r>
            <a:endParaRPr lang="en-GB" sz="18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811733-7F4C-4FFC-9A30-A5649885104B}"/>
              </a:ext>
            </a:extLst>
          </p:cNvPr>
          <p:cNvSpPr txBox="1"/>
          <p:nvPr/>
        </p:nvSpPr>
        <p:spPr>
          <a:xfrm>
            <a:off x="2005393" y="5459422"/>
            <a:ext cx="9439837" cy="365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a typeface="DengXian" panose="02010600030101010101" pitchFamily="2" charset="-122"/>
                <a:cs typeface="Times New Roman" panose="02020603050405020304" pitchFamily="18" charset="0"/>
              </a:rPr>
              <a:t>4.	Without proper stress and intonation when you talk, how will your listeners feel?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46F501-07B3-4F6F-9B6C-729CC194181D}"/>
              </a:ext>
            </a:extLst>
          </p:cNvPr>
          <p:cNvSpPr txBox="1"/>
          <p:nvPr/>
        </p:nvSpPr>
        <p:spPr>
          <a:xfrm>
            <a:off x="2223245" y="4590818"/>
            <a:ext cx="9004132" cy="70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lnSpc>
                <a:spcPct val="115000"/>
              </a:lnSpc>
              <a:spcAft>
                <a:spcPts val="800"/>
              </a:spcAft>
            </a:pPr>
            <a:r>
              <a:rPr lang="en-GB" sz="1800" dirty="0">
                <a:solidFill>
                  <a:srgbClr val="0070C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The important thing is that there is a contrast in intonation with the words that surround the one you want to stress.</a:t>
            </a:r>
            <a:endParaRPr lang="en-GB" sz="18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CCC642-6115-4E27-AF55-2904E3E55977}"/>
              </a:ext>
            </a:extLst>
          </p:cNvPr>
          <p:cNvSpPr txBox="1"/>
          <p:nvPr/>
        </p:nvSpPr>
        <p:spPr>
          <a:xfrm>
            <a:off x="2294963" y="1253957"/>
            <a:ext cx="9004132" cy="110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lnSpc>
                <a:spcPct val="115000"/>
              </a:lnSpc>
              <a:spcAft>
                <a:spcPts val="800"/>
              </a:spcAft>
            </a:pPr>
            <a:r>
              <a:rPr lang="en-GB" sz="1800" b="1" dirty="0">
                <a:solidFill>
                  <a:srgbClr val="0070C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Stress</a:t>
            </a:r>
            <a:r>
              <a:rPr lang="en-GB" sz="1800" dirty="0">
                <a:solidFill>
                  <a:srgbClr val="0070C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is the emphasis given to a syllable in a word or words within a sentence and usually involves an increase in volume and a change in intonation.</a:t>
            </a:r>
            <a:endParaRPr lang="en-GB" sz="18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indent="228600"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solidFill>
                  <a:srgbClr val="0070C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Intonation</a:t>
            </a:r>
            <a:r>
              <a:rPr lang="en-GB" sz="1800" dirty="0">
                <a:solidFill>
                  <a:srgbClr val="0070C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is the way the voice goes up or down. </a:t>
            </a:r>
            <a:endParaRPr lang="en-GB" sz="18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78E15D-7030-4B44-9460-C7263B3A8B40}"/>
              </a:ext>
            </a:extLst>
          </p:cNvPr>
          <p:cNvSpPr txBox="1"/>
          <p:nvPr/>
        </p:nvSpPr>
        <p:spPr>
          <a:xfrm>
            <a:off x="2005393" y="789031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dirty="0">
                <a:ea typeface="DengXian" panose="02010600030101010101" pitchFamily="2" charset="-122"/>
                <a:cs typeface="Times New Roman" panose="02020603050405020304" pitchFamily="18" charset="0"/>
              </a:rPr>
              <a:t>What is stress? What is intonation?</a:t>
            </a:r>
          </a:p>
        </p:txBody>
      </p:sp>
    </p:spTree>
    <p:extLst>
      <p:ext uri="{BB962C8B-B14F-4D97-AF65-F5344CB8AC3E}">
        <p14:creationId xmlns:p14="http://schemas.microsoft.com/office/powerpoint/2010/main" val="399789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17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7578-54E8-8E78-53F5-8277BACA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791" y="183844"/>
            <a:ext cx="8911687" cy="1280890"/>
          </a:xfrm>
        </p:spPr>
        <p:txBody>
          <a:bodyPr/>
          <a:lstStyle/>
          <a:p>
            <a:r>
              <a:rPr lang="en-US" dirty="0"/>
              <a:t>Task 2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B399-5AFF-B8F4-00B2-66A49DCAE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1077" y="1002089"/>
            <a:ext cx="8915400" cy="48538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Watch the first two minutes of the following presentation video. How do you think the speaker has used stress and intonation effectively to convey meaning? </a:t>
            </a:r>
            <a:endParaRPr lang="en-HK" sz="2400" dirty="0"/>
          </a:p>
          <a:p>
            <a:pPr marL="0" indent="0">
              <a:buNone/>
            </a:pPr>
            <a:r>
              <a:rPr lang="en-US" sz="2400" u="sng" dirty="0">
                <a:hlinkClick r:id="rId2"/>
              </a:rPr>
              <a:t>Hany Farid: How to spot fake AI photos | TED Talk</a:t>
            </a:r>
            <a:endParaRPr lang="en-HK" sz="2400" dirty="0"/>
          </a:p>
          <a:p>
            <a:pPr marL="0" indent="0">
              <a:buNone/>
            </a:pPr>
            <a:endParaRPr lang="en-HK" sz="2400" dirty="0"/>
          </a:p>
          <a:p>
            <a:pPr>
              <a:buAutoNum type="arabicPeriod"/>
            </a:pPr>
            <a:r>
              <a:rPr lang="en-US" sz="2400" dirty="0"/>
              <a:t>Identify some examples of stressed words in the talk.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Why do you think the speaker stresses these words? What characteristics do these words share?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0" indent="0">
              <a:buNone/>
            </a:pPr>
            <a:r>
              <a:rPr lang="en-HK" sz="2400" dirty="0"/>
              <a:t>      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In what ways do stress and intonation enhance the meaning conveyed during the talk?</a:t>
            </a:r>
            <a:endParaRPr lang="en-HK" sz="2400" dirty="0"/>
          </a:p>
          <a:p>
            <a:pPr marL="0" indent="0">
              <a:buNone/>
            </a:pPr>
            <a:endParaRPr lang="en-HK" dirty="0"/>
          </a:p>
          <a:p>
            <a:pPr marL="0" indent="0">
              <a:buNone/>
            </a:pPr>
            <a:endParaRPr lang="en-H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F04C02-4C8C-741D-E1E2-B09FEA913046}"/>
              </a:ext>
            </a:extLst>
          </p:cNvPr>
          <p:cNvSpPr txBox="1"/>
          <p:nvPr/>
        </p:nvSpPr>
        <p:spPr>
          <a:xfrm>
            <a:off x="2195510" y="4020234"/>
            <a:ext cx="824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Those words carry important meaning, helping listeners grasp the main ideas.</a:t>
            </a:r>
            <a:endParaRPr lang="en-HK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BFD43-87DE-6AE2-A9D3-4B807E4B30D7}"/>
              </a:ext>
            </a:extLst>
          </p:cNvPr>
          <p:cNvSpPr txBox="1"/>
          <p:nvPr/>
        </p:nvSpPr>
        <p:spPr>
          <a:xfrm>
            <a:off x="2195510" y="5689599"/>
            <a:ext cx="824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rgbClr val="0070C0"/>
                </a:solidFill>
              </a:rPr>
              <a:t>Clarifying meaning, expressing emotions and attitudes, maintaining listener interest, </a:t>
            </a:r>
            <a:r>
              <a:rPr lang="en-HK" dirty="0" err="1">
                <a:solidFill>
                  <a:srgbClr val="0070C0"/>
                </a:solidFill>
              </a:rPr>
              <a:t>signaling</a:t>
            </a:r>
            <a:r>
              <a:rPr lang="en-HK" dirty="0">
                <a:solidFill>
                  <a:srgbClr val="0070C0"/>
                </a:solidFill>
              </a:rPr>
              <a:t> confidence and control, organizing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410939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9D2A1-8C39-0A30-3EBD-FE9839BC2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11" y="539445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Giving a Three-Minute-Thesis Presentation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8D4BD-D484-2B85-9CC2-26A875200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8011" y="1540188"/>
            <a:ext cx="9382655" cy="4778367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sz="2200" dirty="0"/>
              <a:t>In a Three-Minute Thesis (3MT) presentation, effectively communicating your research story is essential for engaging your audience and conveying the significance of your work. This skill involves </a:t>
            </a:r>
            <a:r>
              <a:rPr lang="en-US" sz="2200" b="1" dirty="0"/>
              <a:t>distilling complex ideas into clear, concise narratives that highlight key findings and their implications. </a:t>
            </a:r>
            <a:r>
              <a:rPr lang="en-US" sz="2200" dirty="0"/>
              <a:t>Postgraduates must learn to </a:t>
            </a:r>
            <a:r>
              <a:rPr lang="en-US" sz="2200" b="1" dirty="0"/>
              <a:t>structure their presentations logically, employing skills such as creating a strong opening hook to capture attention, using vivid language and relatable examples to clarify concepts, and incorporating visual aids to enhance understanding</a:t>
            </a:r>
            <a:r>
              <a:rPr lang="en-US" sz="2200" dirty="0"/>
              <a:t>. Additionally, </a:t>
            </a:r>
            <a:r>
              <a:rPr lang="en-US" sz="2200" b="1" dirty="0"/>
              <a:t>mastering body language and vocal variety</a:t>
            </a:r>
            <a:r>
              <a:rPr lang="en-US" sz="2200" dirty="0"/>
              <a:t> can help maintain audience interest. By honing these skills, researchers can make their presentations more compelling and accessible, ultimately inspiring interest and dialogue around their work.</a:t>
            </a:r>
            <a:endParaRPr lang="en-HK" sz="2200" dirty="0"/>
          </a:p>
          <a:p>
            <a:pPr marL="0" indent="0">
              <a:buNone/>
            </a:pP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4223847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7FDAD-F271-18BF-8C8C-5BA3C545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40200"/>
            <a:ext cx="8911687" cy="1280890"/>
          </a:xfrm>
        </p:spPr>
        <p:txBody>
          <a:bodyPr/>
          <a:lstStyle/>
          <a:p>
            <a:r>
              <a:rPr lang="en-US" dirty="0"/>
              <a:t>Task 3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556DA-0FD2-33DD-A3E9-614991C03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320800"/>
            <a:ext cx="9484254" cy="51970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Watch a three-minute thesis video from the Graduate School, Stony Brook University: </a:t>
            </a:r>
            <a:r>
              <a:rPr lang="en-US" sz="2000" b="1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  <a:hlinkClick r:id="rId2"/>
              </a:rPr>
              <a:t>SBU Three Minute Thesis 2019: Olivia Swanson, 1st Place - YouTube</a:t>
            </a:r>
            <a:endParaRPr lang="en-HK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HK" sz="2000" dirty="0"/>
          </a:p>
          <a:p>
            <a:pPr marL="0" indent="0">
              <a:buNone/>
            </a:pPr>
            <a:r>
              <a:rPr lang="en-HK" sz="2000" dirty="0"/>
              <a:t>Use the following questions to help you </a:t>
            </a:r>
            <a:r>
              <a:rPr lang="en-HK" sz="2000" dirty="0" err="1"/>
              <a:t>analyze</a:t>
            </a:r>
            <a:r>
              <a:rPr lang="en-HK" sz="2000" dirty="0"/>
              <a:t> the video:</a:t>
            </a:r>
          </a:p>
          <a:p>
            <a:pPr marL="457200" indent="-457200">
              <a:buAutoNum type="arabicPeriod"/>
            </a:pPr>
            <a:r>
              <a:rPr lang="en-HK" sz="2000" dirty="0"/>
              <a:t>How does the speaker </a:t>
            </a:r>
            <a:r>
              <a:rPr lang="en-HK" sz="2000" b="1" dirty="0"/>
              <a:t>organize</a:t>
            </a:r>
            <a:r>
              <a:rPr lang="en-HK" sz="2000" dirty="0"/>
              <a:t> the talk (read the transcript on the next page)? What are the key moves?</a:t>
            </a:r>
          </a:p>
          <a:p>
            <a:pPr marL="457200" indent="-457200">
              <a:buAutoNum type="arabicPeriod"/>
            </a:pPr>
            <a:r>
              <a:rPr lang="en-HK" sz="2000" dirty="0"/>
              <a:t>What strategies does the speaker use to </a:t>
            </a:r>
            <a:r>
              <a:rPr lang="en-HK" sz="2000" b="1" dirty="0"/>
              <a:t>explain abstract or technical concepts</a:t>
            </a:r>
            <a:r>
              <a:rPr lang="en-HK" sz="2000" dirty="0"/>
              <a:t>?</a:t>
            </a:r>
          </a:p>
          <a:p>
            <a:pPr marL="457200" indent="-457200">
              <a:buFont typeface="Wingdings 3" charset="2"/>
              <a:buAutoNum type="arabicPeriod"/>
            </a:pPr>
            <a:r>
              <a:rPr lang="en-US" dirty="0"/>
              <a:t>What do you notice about the </a:t>
            </a:r>
            <a:r>
              <a:rPr lang="en-US" b="1" dirty="0"/>
              <a:t>body language</a:t>
            </a:r>
            <a:r>
              <a:rPr lang="en-US" dirty="0"/>
              <a:t> used by the speaker?</a:t>
            </a:r>
          </a:p>
          <a:p>
            <a:pPr marL="457200" indent="-457200">
              <a:buFont typeface="Wingdings 3" charset="2"/>
              <a:buAutoNum type="arabicPeriod"/>
            </a:pPr>
            <a:r>
              <a:rPr lang="en-US" dirty="0"/>
              <a:t>What do you notice about the </a:t>
            </a:r>
            <a:r>
              <a:rPr lang="en-US" b="1" dirty="0"/>
              <a:t>style/tone</a:t>
            </a:r>
            <a:r>
              <a:rPr lang="en-US" dirty="0"/>
              <a:t> of a 3MT presentation?</a:t>
            </a:r>
            <a:endParaRPr lang="en-HK" dirty="0"/>
          </a:p>
          <a:p>
            <a:pPr marL="457200" indent="-457200">
              <a:buFont typeface="Wingdings 3" charset="2"/>
              <a:buAutoNum type="arabicPeriod"/>
            </a:pPr>
            <a:r>
              <a:rPr lang="en-US" dirty="0"/>
              <a:t>What do you think about the </a:t>
            </a:r>
            <a:r>
              <a:rPr lang="en-US" b="1" dirty="0"/>
              <a:t>delivery skills</a:t>
            </a:r>
            <a:r>
              <a:rPr lang="en-US" dirty="0"/>
              <a:t> of the speaker? What makes her a successful speaker?  </a:t>
            </a:r>
            <a:endParaRPr lang="en-HK" dirty="0"/>
          </a:p>
          <a:p>
            <a:pPr marL="457200" indent="-457200">
              <a:buFont typeface="Wingdings 3" charset="2"/>
              <a:buAutoNum type="arabicPeriod"/>
            </a:pPr>
            <a:r>
              <a:rPr lang="en-US" dirty="0"/>
              <a:t>What</a:t>
            </a:r>
            <a:r>
              <a:rPr lang="en-US" b="1" dirty="0"/>
              <a:t> transitional/signal phrases</a:t>
            </a:r>
            <a:r>
              <a:rPr lang="en-US" dirty="0"/>
              <a:t> are used to connect ideas? Are they natural and economic (time-saving)?</a:t>
            </a:r>
            <a:endParaRPr lang="en-HK" dirty="0"/>
          </a:p>
          <a:p>
            <a:pPr marL="457200" indent="-457200">
              <a:buFont typeface="Wingdings 3" charset="2"/>
              <a:buAutoNum type="arabicPeriod"/>
            </a:pPr>
            <a:endParaRPr lang="en-HK" dirty="0"/>
          </a:p>
          <a:p>
            <a:pPr marL="457200" indent="-457200">
              <a:buAutoNum type="arabicPeriod"/>
            </a:pPr>
            <a:endParaRPr lang="en-HK" sz="2000" dirty="0"/>
          </a:p>
          <a:p>
            <a:pPr marL="0" indent="0">
              <a:buNone/>
            </a:pPr>
            <a:endParaRPr lang="en-HK" dirty="0"/>
          </a:p>
          <a:p>
            <a:pPr marL="0" indent="0">
              <a:buNone/>
            </a:pP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587095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AFD5-AA13-92AD-BDF9-F3D41383A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592" y="674910"/>
            <a:ext cx="8911687" cy="1280890"/>
          </a:xfrm>
        </p:spPr>
        <p:txBody>
          <a:bodyPr/>
          <a:lstStyle/>
          <a:p>
            <a:r>
              <a:rPr lang="en-US" dirty="0"/>
              <a:t>Task 4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98A5C-0556-02E9-C105-F2A586AA3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8945" y="1540189"/>
            <a:ext cx="8915400" cy="37776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Find a 3MT presentation video in your field of study (e.g., on YouTube or the University of Queensland's 3MT website: </a:t>
            </a:r>
            <a:r>
              <a:rPr lang="en-US" sz="2000" u="sng" dirty="0">
                <a:hlinkClick r:id="rId2"/>
              </a:rPr>
              <a:t>Three Minute Thesis - University of Queensland</a:t>
            </a:r>
            <a:r>
              <a:rPr lang="en-US" sz="2000" dirty="0"/>
              <a:t>). Analyze the presentation using the guiding questions in Task 3.</a:t>
            </a:r>
            <a:endParaRPr lang="en-HK" sz="2000" dirty="0"/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83429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 the three 3MT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https://vimeo.com/user20353817/review/370081235/9d7a96cc4a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https://vimeo.com/user20353817/review/370081216/5a3d853e6c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https://www.youtube.com/watch?v=1EbNTEV2M8A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89521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6973" y="607332"/>
            <a:ext cx="8911687" cy="933757"/>
          </a:xfrm>
        </p:spPr>
        <p:txBody>
          <a:bodyPr/>
          <a:lstStyle/>
          <a:p>
            <a:r>
              <a:rPr lang="en-US" dirty="0" err="1"/>
              <a:t>Organisation</a:t>
            </a:r>
            <a:r>
              <a:rPr lang="en-US" dirty="0"/>
              <a:t> of the 3MT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3927" y="1677021"/>
            <a:ext cx="9111721" cy="4656667"/>
          </a:xfrm>
        </p:spPr>
        <p:txBody>
          <a:bodyPr>
            <a:noAutofit/>
          </a:bodyPr>
          <a:lstStyle/>
          <a:p>
            <a:pPr lvl="0"/>
            <a:r>
              <a:rPr lang="en-US" sz="2000" dirty="0"/>
              <a:t>Five typical moves: orientation, rationale, purpose, methods and results (Jiang &amp; </a:t>
            </a:r>
            <a:r>
              <a:rPr lang="en-US" sz="2000" dirty="0" err="1"/>
              <a:t>Qiu</a:t>
            </a:r>
            <a:r>
              <a:rPr lang="en-US" sz="2000" dirty="0"/>
              <a:t>, 2022) </a:t>
            </a:r>
            <a:endParaRPr lang="en-HK" sz="2000" dirty="0"/>
          </a:p>
          <a:p>
            <a:pPr lvl="0"/>
            <a:r>
              <a:rPr lang="en-US" sz="2000" dirty="0"/>
              <a:t>Introduces the topic – grabbing the audience’s attention by providing surprising data, showing a visual, asking rhetorical questions, emphasizing the importance of the topic, etc.</a:t>
            </a:r>
            <a:endParaRPr lang="en-HK" sz="2000" dirty="0"/>
          </a:p>
          <a:p>
            <a:pPr lvl="0"/>
            <a:r>
              <a:rPr lang="en-US" sz="2000" dirty="0"/>
              <a:t>Explains what is still unknown (the research/knowledge gap)</a:t>
            </a:r>
            <a:endParaRPr lang="en-HK" sz="2000" dirty="0"/>
          </a:p>
          <a:p>
            <a:pPr lvl="0"/>
            <a:r>
              <a:rPr lang="en-US" sz="2000" dirty="0"/>
              <a:t>Explains the focus/objectives of your research</a:t>
            </a:r>
            <a:endParaRPr lang="en-HK" sz="2000" dirty="0"/>
          </a:p>
          <a:p>
            <a:pPr lvl="0"/>
            <a:r>
              <a:rPr lang="en-US" sz="2000" dirty="0"/>
              <a:t>Briefly explains the methodology (if possible) and the preliminary results (if any)</a:t>
            </a:r>
            <a:endParaRPr lang="en-HK" sz="2000" dirty="0"/>
          </a:p>
          <a:p>
            <a:pPr lvl="0"/>
            <a:r>
              <a:rPr lang="en-US" sz="2000" dirty="0" err="1"/>
              <a:t>Emphasises</a:t>
            </a:r>
            <a:r>
              <a:rPr lang="en-US" sz="2000" dirty="0"/>
              <a:t> the potential contribution and the significance of the research. </a:t>
            </a:r>
            <a:endParaRPr lang="en-HK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80096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6305" y="615721"/>
            <a:ext cx="8911687" cy="1280890"/>
          </a:xfrm>
        </p:spPr>
        <p:txBody>
          <a:bodyPr/>
          <a:lstStyle/>
          <a:p>
            <a:r>
              <a:rPr lang="en-US" dirty="0"/>
              <a:t>Style/Tone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8702" y="1540189"/>
            <a:ext cx="9759382" cy="3777622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A highly frequent use of first and second person pronouns ‘I’ and ‘you’ in 3MT presentations.</a:t>
            </a:r>
            <a:endParaRPr lang="en-HK" dirty="0"/>
          </a:p>
          <a:p>
            <a:pPr lvl="0"/>
            <a:r>
              <a:rPr lang="en-US" dirty="0"/>
              <a:t>It’s appropriate to use rhetorical questions to interact with the audience</a:t>
            </a:r>
            <a:endParaRPr lang="en-HK" dirty="0"/>
          </a:p>
          <a:p>
            <a:pPr lvl="0"/>
            <a:r>
              <a:rPr lang="en-US" dirty="0"/>
              <a:t>It's important to use stress and intonation and hand gesture effectively to convey messages</a:t>
            </a:r>
            <a:endParaRPr lang="en-HK" dirty="0"/>
          </a:p>
          <a:p>
            <a:pPr lvl="0"/>
            <a:r>
              <a:rPr lang="en-US" dirty="0"/>
              <a:t>“Hard sciences make more use of stance expressions, especially attitude markers which highlight the importance and surprise value of research findings, because research subjects in sciences are typically abstract beyond a common sense of nature and this heightened persuasive interaction oils the wheels of communicating scientific knowledge to a wide audience. In contrast, the fluid and disputable nature of soft knowledge necessitates dialogic involvement, so presenters in the soft disciplines posed more rhetorical questions” (</a:t>
            </a:r>
            <a:r>
              <a:rPr lang="en-US" dirty="0" err="1"/>
              <a:t>Qiu</a:t>
            </a:r>
            <a:r>
              <a:rPr lang="en-US" dirty="0"/>
              <a:t> &amp; Jiang, 2021).</a:t>
            </a:r>
            <a:endParaRPr lang="en-HK" dirty="0"/>
          </a:p>
          <a:p>
            <a:pPr lvl="0"/>
            <a:r>
              <a:rPr lang="en-US" dirty="0"/>
              <a:t>Advice on 3MT preparation: </a:t>
            </a:r>
            <a:r>
              <a:rPr lang="en-US" u="sng" dirty="0">
                <a:hlinkClick r:id="rId2"/>
              </a:rPr>
              <a:t>https://threeminutethesis.uq.edu.au/resources/3mt-competitor-guide</a:t>
            </a:r>
            <a:r>
              <a:rPr lang="en-US" dirty="0"/>
              <a:t> 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573293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EA9BD-1731-491A-B3E2-538AC6AA9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861" y="431164"/>
            <a:ext cx="8911687" cy="1280890"/>
          </a:xfrm>
        </p:spPr>
        <p:txBody>
          <a:bodyPr>
            <a:noAutofit/>
          </a:bodyPr>
          <a:lstStyle/>
          <a:p>
            <a:r>
              <a:rPr lang="en-US" sz="2800" dirty="0"/>
              <a:t>Attitudinal Dimension (</a:t>
            </a:r>
            <a:r>
              <a:rPr lang="en-HK" sz="2800" dirty="0"/>
              <a:t>how 3MT presenters project themselves and convey their judgments, opinions and commitments)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07566-EF1F-42BE-838E-27C21A49B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480" y="2309768"/>
            <a:ext cx="8915400" cy="3777622"/>
          </a:xfrm>
        </p:spPr>
        <p:txBody>
          <a:bodyPr>
            <a:normAutofit/>
          </a:bodyPr>
          <a:lstStyle/>
          <a:p>
            <a:r>
              <a:rPr lang="en-HK" b="1" i="1" dirty="0"/>
              <a:t>Hedges</a:t>
            </a:r>
            <a:r>
              <a:rPr lang="en-HK" dirty="0"/>
              <a:t> allow speakers to withhold complete commitment to a proposition and open a discursive space with listeners’ disputation, such as </a:t>
            </a:r>
            <a:r>
              <a:rPr lang="en-HK" i="1" dirty="0"/>
              <a:t>might</a:t>
            </a:r>
            <a:r>
              <a:rPr lang="en-HK" dirty="0"/>
              <a:t> and </a:t>
            </a:r>
            <a:r>
              <a:rPr lang="en-HK" i="1" dirty="0"/>
              <a:t>could.</a:t>
            </a:r>
            <a:endParaRPr lang="en-HK" dirty="0"/>
          </a:p>
          <a:p>
            <a:r>
              <a:rPr lang="en-HK" b="1" i="1" dirty="0"/>
              <a:t>Boosters</a:t>
            </a:r>
            <a:r>
              <a:rPr lang="en-HK" dirty="0"/>
              <a:t> help speakers present their work with assurance and shut down alternative voices, such as </a:t>
            </a:r>
            <a:r>
              <a:rPr lang="en-HK" i="1" dirty="0"/>
              <a:t>in fact</a:t>
            </a:r>
            <a:r>
              <a:rPr lang="en-HK" dirty="0"/>
              <a:t> and </a:t>
            </a:r>
            <a:r>
              <a:rPr lang="en-HK" i="1" dirty="0"/>
              <a:t>must.</a:t>
            </a:r>
            <a:endParaRPr lang="en-HK" dirty="0"/>
          </a:p>
          <a:p>
            <a:r>
              <a:rPr lang="en-HK" b="1" i="1" dirty="0"/>
              <a:t>Attitude markers</a:t>
            </a:r>
            <a:r>
              <a:rPr lang="en-HK" dirty="0"/>
              <a:t> express speakers’ affective attitudes to propositions, conveying surprise, agreement, appreciation and so on, such as </a:t>
            </a:r>
            <a:r>
              <a:rPr lang="en-HK" i="1" dirty="0"/>
              <a:t>good</a:t>
            </a:r>
            <a:r>
              <a:rPr lang="en-HK" dirty="0"/>
              <a:t> and </a:t>
            </a:r>
            <a:r>
              <a:rPr lang="en-HK" i="1" dirty="0"/>
              <a:t>fascinating.</a:t>
            </a:r>
            <a:endParaRPr lang="en-HK" dirty="0"/>
          </a:p>
          <a:p>
            <a:r>
              <a:rPr lang="en-HK" b="1" i="1" dirty="0"/>
              <a:t>Self mention</a:t>
            </a:r>
            <a:r>
              <a:rPr lang="en-HK" dirty="0"/>
              <a:t> marks speakers’ overt visibility and ownership to their contributions, such as </a:t>
            </a:r>
            <a:r>
              <a:rPr lang="en-HK" i="1" dirty="0"/>
              <a:t>I</a:t>
            </a:r>
            <a:r>
              <a:rPr lang="en-HK" dirty="0"/>
              <a:t> and </a:t>
            </a:r>
            <a:r>
              <a:rPr lang="en-HK" i="1" dirty="0"/>
              <a:t>my.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99937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85E0-BF97-4A26-B0A4-94F3F5CB4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521" y="456331"/>
            <a:ext cx="8911687" cy="1280890"/>
          </a:xfrm>
        </p:spPr>
        <p:txBody>
          <a:bodyPr/>
          <a:lstStyle/>
          <a:p>
            <a:r>
              <a:rPr lang="en-US" dirty="0"/>
              <a:t>Engaging the Audience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A79CA-2A83-4E88-A9A5-AD44B41B3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521" y="1602297"/>
            <a:ext cx="9768091" cy="510889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addition, four categories of engagement are examined for the ways presenters rhetorically focus the listeners’ attention and pull them along with their argument:</a:t>
            </a:r>
            <a:endParaRPr lang="en-HK" dirty="0"/>
          </a:p>
          <a:p>
            <a:pPr marL="0" indent="0">
              <a:buNone/>
            </a:pPr>
            <a:endParaRPr lang="en-HK" dirty="0"/>
          </a:p>
          <a:p>
            <a:pPr>
              <a:lnSpc>
                <a:spcPct val="120000"/>
              </a:lnSpc>
            </a:pPr>
            <a:r>
              <a:rPr lang="en-HK" b="1" i="1" dirty="0"/>
              <a:t>Listener mention</a:t>
            </a:r>
            <a:r>
              <a:rPr lang="en-HK" dirty="0"/>
              <a:t> brings listeners into the on-going speech, normally through second person pronouns and inclusive first-person pronouns, such as </a:t>
            </a:r>
            <a:r>
              <a:rPr lang="en-HK" i="1" dirty="0"/>
              <a:t>you</a:t>
            </a:r>
            <a:r>
              <a:rPr lang="en-HK" dirty="0"/>
              <a:t> and </a:t>
            </a:r>
            <a:r>
              <a:rPr lang="en-HK" i="1" dirty="0"/>
              <a:t>your.</a:t>
            </a:r>
            <a:endParaRPr lang="en-HK" dirty="0"/>
          </a:p>
          <a:p>
            <a:pPr>
              <a:lnSpc>
                <a:spcPct val="120000"/>
              </a:lnSpc>
            </a:pPr>
            <a:r>
              <a:rPr lang="en-HK" b="1" i="1" dirty="0"/>
              <a:t>Directives</a:t>
            </a:r>
            <a:r>
              <a:rPr lang="en-HK" dirty="0"/>
              <a:t> are instructions to the listeners, mainly expressed through </a:t>
            </a:r>
            <a:r>
              <a:rPr lang="en-HK" u="sng" dirty="0">
                <a:hlinkClick r:id="rId2" tooltip="Learn more about imperatives from ScienceDirect's AI-generated Topic Pages"/>
              </a:rPr>
              <a:t>imperatives</a:t>
            </a:r>
            <a:r>
              <a:rPr lang="en-HK" dirty="0"/>
              <a:t> and obligation modals, such as </a:t>
            </a:r>
            <a:r>
              <a:rPr lang="en-HK" i="1" dirty="0"/>
              <a:t>consider</a:t>
            </a:r>
            <a:r>
              <a:rPr lang="en-HK" dirty="0"/>
              <a:t> and </a:t>
            </a:r>
            <a:r>
              <a:rPr lang="en-HK" i="1" dirty="0"/>
              <a:t>it’s important to note.</a:t>
            </a:r>
            <a:endParaRPr lang="en-HK" dirty="0"/>
          </a:p>
          <a:p>
            <a:pPr>
              <a:lnSpc>
                <a:spcPct val="120000"/>
              </a:lnSpc>
            </a:pPr>
            <a:r>
              <a:rPr lang="en-HK" b="1" i="1" dirty="0"/>
              <a:t>Questions</a:t>
            </a:r>
            <a:r>
              <a:rPr lang="en-HK" dirty="0"/>
              <a:t> invite direct collusion by addressing the listeners as having an interest in an issue and a willingness to follow the speakers’ argument, such as </a:t>
            </a:r>
            <a:r>
              <a:rPr lang="en-HK" i="1" dirty="0"/>
              <a:t>And may I ask you a question?</a:t>
            </a:r>
            <a:endParaRPr lang="en-HK" dirty="0"/>
          </a:p>
          <a:p>
            <a:pPr>
              <a:lnSpc>
                <a:spcPct val="120000"/>
              </a:lnSpc>
            </a:pPr>
            <a:r>
              <a:rPr lang="en-HK" b="1" i="1" dirty="0"/>
              <a:t>Appeals to shared knowledge</a:t>
            </a:r>
            <a:r>
              <a:rPr lang="en-HK" dirty="0"/>
              <a:t> are signals asking listeners to recognize something as familiar or accepted, such as </a:t>
            </a:r>
            <a:r>
              <a:rPr lang="en-HK" i="1" dirty="0"/>
              <a:t>obviously</a:t>
            </a:r>
            <a:r>
              <a:rPr lang="en-HK" dirty="0"/>
              <a:t> and </a:t>
            </a:r>
            <a:r>
              <a:rPr lang="en-HK" i="1" dirty="0"/>
              <a:t>normally.</a:t>
            </a:r>
            <a:endParaRPr lang="en-HK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400" dirty="0"/>
              <a:t>Jiang, F., &amp; </a:t>
            </a:r>
            <a:r>
              <a:rPr lang="en-US" sz="1400" dirty="0" err="1"/>
              <a:t>Qiu</a:t>
            </a:r>
            <a:r>
              <a:rPr lang="en-US" sz="1400" dirty="0"/>
              <a:t>, X. (2022). Communicating disciplinary knowledge to a wide audience in 3MT presentations: How students engage with popularization of science. </a:t>
            </a:r>
            <a:r>
              <a:rPr lang="en-US" sz="1400" i="1" dirty="0"/>
              <a:t>Discourse Studies</a:t>
            </a:r>
            <a:r>
              <a:rPr lang="en-US" sz="1400" dirty="0"/>
              <a:t>, </a:t>
            </a:r>
            <a:r>
              <a:rPr lang="en-US" sz="1400" i="1" dirty="0"/>
              <a:t>24</a:t>
            </a:r>
            <a:r>
              <a:rPr lang="en-US" sz="1400" dirty="0"/>
              <a:t>(1), 115–134. </a:t>
            </a:r>
            <a:r>
              <a:rPr lang="en-US" sz="1400" u="sng" dirty="0">
                <a:hlinkClick r:id="rId3"/>
              </a:rPr>
              <a:t>https://doi.org/10.1177/14614456211037438</a:t>
            </a:r>
            <a:endParaRPr lang="en-US" sz="1400" u="sng" dirty="0"/>
          </a:p>
          <a:p>
            <a:pPr marL="0" indent="0">
              <a:buNone/>
            </a:pPr>
            <a:r>
              <a:rPr lang="en-HK" sz="1400" dirty="0" err="1"/>
              <a:t>Qiu</a:t>
            </a:r>
            <a:r>
              <a:rPr lang="en-HK" sz="1400" dirty="0"/>
              <a:t>, X., &amp; Jiang, F. K. (2021). </a:t>
            </a:r>
            <a:r>
              <a:rPr lang="en-US" sz="1400" dirty="0"/>
              <a:t>Stance and engagement in 3MT presentations: How students communicate disciplinary knowledge to a wide audience. </a:t>
            </a:r>
            <a:r>
              <a:rPr lang="en-US" sz="1400" i="1" dirty="0"/>
              <a:t>Journal of English for Academic Purposes</a:t>
            </a:r>
            <a:r>
              <a:rPr lang="en-US" sz="1400" dirty="0"/>
              <a:t>, </a:t>
            </a:r>
            <a:r>
              <a:rPr lang="en-US" sz="1400" i="1" dirty="0"/>
              <a:t>51</a:t>
            </a:r>
            <a:r>
              <a:rPr lang="en-US" sz="1400" dirty="0"/>
              <a:t>, 100976.</a:t>
            </a:r>
            <a:endParaRPr lang="en-HK" sz="1400" dirty="0"/>
          </a:p>
        </p:txBody>
      </p:sp>
    </p:spTree>
    <p:extLst>
      <p:ext uri="{BB962C8B-B14F-4D97-AF65-F5344CB8AC3E}">
        <p14:creationId xmlns:p14="http://schemas.microsoft.com/office/powerpoint/2010/main" val="3474677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19E28B-721B-4D0D-A1D3-78EAC5725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7DA1E-9EE7-BC7D-090E-D908112A0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57" y="611239"/>
            <a:ext cx="5122652" cy="1259894"/>
          </a:xfrm>
        </p:spPr>
        <p:txBody>
          <a:bodyPr>
            <a:normAutofit/>
          </a:bodyPr>
          <a:lstStyle/>
          <a:p>
            <a:r>
              <a:rPr lang="en-US" dirty="0"/>
              <a:t>Task 5</a:t>
            </a:r>
            <a:endParaRPr lang="en-HK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9E45B9-0D24-465E-84AD-FEDBA836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CDD95-71B5-CED8-3E29-603FB6E40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017" y="1710267"/>
            <a:ext cx="4730316" cy="4182533"/>
          </a:xfrm>
        </p:spPr>
        <p:txBody>
          <a:bodyPr>
            <a:normAutofit fontScale="85000" lnSpcReduction="10000"/>
          </a:bodyPr>
          <a:lstStyle/>
          <a:p>
            <a:r>
              <a:rPr lang="en-US" sz="2100" dirty="0"/>
              <a:t>Now plan for your own 3MT presentation using the template below:</a:t>
            </a:r>
          </a:p>
          <a:p>
            <a:pPr marL="0" indent="0">
              <a:buNone/>
            </a:pPr>
            <a:endParaRPr lang="en-HK" dirty="0"/>
          </a:p>
          <a:p>
            <a:pPr marL="0" indent="0">
              <a:buNone/>
            </a:pPr>
            <a:endParaRPr lang="en-HK" dirty="0"/>
          </a:p>
          <a:p>
            <a:pPr marL="0" indent="0">
              <a:buNone/>
            </a:pPr>
            <a:endParaRPr lang="en-HK" dirty="0"/>
          </a:p>
          <a:p>
            <a:pPr>
              <a:lnSpc>
                <a:spcPct val="160000"/>
              </a:lnSpc>
            </a:pPr>
            <a:r>
              <a:rPr lang="en-US" sz="1900" dirty="0"/>
              <a:t>Practice the opening of your 3MT presentation with a partner. You may use ChatGPT to help you brainstorm ideas for ways to engage your audience or explain the scientific/technical concepts to the audience.</a:t>
            </a:r>
            <a:endParaRPr lang="en-HK" sz="1900" dirty="0"/>
          </a:p>
          <a:p>
            <a:pPr marL="0" indent="0">
              <a:buNone/>
            </a:pPr>
            <a:endParaRPr lang="en-HK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F36A2FB-17CD-4DA6-9D8A-BFD6ADF6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7F9972-BB0C-8D04-8C14-327D998D9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157890"/>
              </p:ext>
            </p:extLst>
          </p:nvPr>
        </p:nvGraphicFramePr>
        <p:xfrm>
          <a:off x="5435600" y="160495"/>
          <a:ext cx="6756400" cy="6461863"/>
        </p:xfrm>
        <a:graphic>
          <a:graphicData uri="http://schemas.openxmlformats.org/drawingml/2006/table">
            <a:tbl>
              <a:tblPr firstRow="1" firstCol="1" bandRow="1"/>
              <a:tblGrid>
                <a:gridCol w="2130515">
                  <a:extLst>
                    <a:ext uri="{9D8B030D-6E8A-4147-A177-3AD203B41FA5}">
                      <a16:colId xmlns:a16="http://schemas.microsoft.com/office/drawing/2014/main" val="1869070868"/>
                    </a:ext>
                  </a:extLst>
                </a:gridCol>
                <a:gridCol w="4625885">
                  <a:extLst>
                    <a:ext uri="{9D8B030D-6E8A-4147-A177-3AD203B41FA5}">
                      <a16:colId xmlns:a16="http://schemas.microsoft.com/office/drawing/2014/main" val="1927306079"/>
                    </a:ext>
                  </a:extLst>
                </a:gridCol>
              </a:tblGrid>
              <a:tr h="923238">
                <a:tc>
                  <a:txBody>
                    <a:bodyPr/>
                    <a:lstStyle/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Opening - Hook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74" marR="68074" marT="94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74" marR="68074" marT="94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622034"/>
                  </a:ext>
                </a:extLst>
              </a:tr>
              <a:tr h="755033">
                <a:tc>
                  <a:txBody>
                    <a:bodyPr/>
                    <a:lstStyle/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Research Motivation</a:t>
                      </a:r>
                      <a:endParaRPr 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74" marR="68074" marT="94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74" marR="68074" marT="94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596593"/>
                  </a:ext>
                </a:extLst>
              </a:tr>
              <a:tr h="823895">
                <a:tc>
                  <a:txBody>
                    <a:bodyPr/>
                    <a:lstStyle/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Research Objectives</a:t>
                      </a:r>
                      <a:endParaRPr 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74" marR="68074" marT="94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74" marR="68074" marT="94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383374"/>
                  </a:ext>
                </a:extLst>
              </a:tr>
              <a:tr h="870826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Brief Mention of Research Methodology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74" marR="68074" marT="94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74" marR="68074" marT="94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55814"/>
                  </a:ext>
                </a:extLst>
              </a:tr>
              <a:tr h="1181559">
                <a:tc>
                  <a:txBody>
                    <a:bodyPr/>
                    <a:lstStyle/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Key Findings/</a:t>
                      </a:r>
                      <a:endParaRPr 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Preliminary Findings/</a:t>
                      </a:r>
                      <a:endParaRPr 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Expected Outcomes</a:t>
                      </a:r>
                      <a:endParaRPr 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74" marR="68074" marT="94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74" marR="68074" marT="94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563039"/>
                  </a:ext>
                </a:extLst>
              </a:tr>
              <a:tr h="809943">
                <a:tc>
                  <a:txBody>
                    <a:bodyPr/>
                    <a:lstStyle/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Significance of the Research (i.e. originality), Applications of the Research Findings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74" marR="68074" marT="94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74" marR="68074" marT="945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715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478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7EC38F-0692-8A55-A7B7-7CB76D0CA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482" y="0"/>
            <a:ext cx="7106593" cy="682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511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30d3476f-ec53-4671-8980-d10767fdaaec" xsi:nil="true"/>
    <MigrationWizIdPermissions xmlns="30d3476f-ec53-4671-8980-d10767fdaaec" xsi:nil="true"/>
    <MigrationWizIdVersion xmlns="30d3476f-ec53-4671-8980-d10767fdaaec" xsi:nil="true"/>
    <_activity xmlns="30d3476f-ec53-4671-8980-d10767fdaae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BE5400CADFA0469A091337646547C3" ma:contentTypeVersion="18" ma:contentTypeDescription="Create a new document." ma:contentTypeScope="" ma:versionID="8c181785002a1dbe4526f90e3827fc40">
  <xsd:schema xmlns:xsd="http://www.w3.org/2001/XMLSchema" xmlns:xs="http://www.w3.org/2001/XMLSchema" xmlns:p="http://schemas.microsoft.com/office/2006/metadata/properties" xmlns:ns3="30d3476f-ec53-4671-8980-d10767fdaaec" xmlns:ns4="4b97df95-d6ed-4c71-86d4-bf7c4bd3aaf0" targetNamespace="http://schemas.microsoft.com/office/2006/metadata/properties" ma:root="true" ma:fieldsID="49d229b7914550cb2e0d3eae77a3ab84" ns3:_="" ns4:_="">
    <xsd:import namespace="30d3476f-ec53-4671-8980-d10767fdaaec"/>
    <xsd:import namespace="4b97df95-d6ed-4c71-86d4-bf7c4bd3aaf0"/>
    <xsd:element name="properties">
      <xsd:complexType>
        <xsd:sequence>
          <xsd:element name="documentManagement">
            <xsd:complexType>
              <xsd:all>
                <xsd:element ref="ns3:MigrationWizId" minOccurs="0"/>
                <xsd:element ref="ns3:MigrationWizIdPermissions" minOccurs="0"/>
                <xsd:element ref="ns3:MigrationWizIdVersion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3476f-ec53-4671-8980-d10767fdaaec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20" nillable="true" ma:displayName="Tags" ma:internalName="MediaServiceAutoTags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ternalName="MediaServiceLocation" ma:readOnly="true">
      <xsd:simpleType>
        <xsd:restriction base="dms:Text"/>
      </xsd:simpleType>
    </xsd:element>
    <xsd:element name="_activity" ma:index="25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7df95-d6ed-4c71-86d4-bf7c4bd3aaf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C5DF2B-8EE4-452A-8B3F-9D38F5E8C1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F55352-36CD-4CF3-A5C0-CFA45E50FC05}">
  <ds:schemaRefs>
    <ds:schemaRef ds:uri="http://schemas.openxmlformats.org/package/2006/metadata/core-properties"/>
    <ds:schemaRef ds:uri="4b97df95-d6ed-4c71-86d4-bf7c4bd3aaf0"/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d3476f-ec53-4671-8980-d10767fdaaec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3D9EAF1-7CF5-4E1D-B52B-B51402D8E6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d3476f-ec53-4671-8980-d10767fdaaec"/>
    <ds:schemaRef ds:uri="4b97df95-d6ed-4c71-86d4-bf7c4bd3aa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2929</TotalTime>
  <Words>1460</Words>
  <Application>Microsoft Office PowerPoint</Application>
  <PresentationFormat>Widescreen</PresentationFormat>
  <Paragraphs>117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DengXian</vt:lpstr>
      <vt:lpstr>Arial</vt:lpstr>
      <vt:lpstr>Calibri</vt:lpstr>
      <vt:lpstr>Century Gothic</vt:lpstr>
      <vt:lpstr>Wingdings 3</vt:lpstr>
      <vt:lpstr>Wisp</vt:lpstr>
      <vt:lpstr>MCCP6020 Advanced English for Academic Purposes</vt:lpstr>
      <vt:lpstr>Learning Outcomes:</vt:lpstr>
      <vt:lpstr>Task 1</vt:lpstr>
      <vt:lpstr>PowerPoint Presentation</vt:lpstr>
      <vt:lpstr>Task 2</vt:lpstr>
      <vt:lpstr>Giving a Three-Minute-Thesis Presentation </vt:lpstr>
      <vt:lpstr>Task 3</vt:lpstr>
      <vt:lpstr>Task 4</vt:lpstr>
      <vt:lpstr>Watch the three 3MT videos</vt:lpstr>
      <vt:lpstr>Organisation of the 3MT</vt:lpstr>
      <vt:lpstr>Style/Tone</vt:lpstr>
      <vt:lpstr>Attitudinal Dimension (how 3MT presenters project themselves and convey their judgments, opinions and commitments)</vt:lpstr>
      <vt:lpstr>Engaging the Audience</vt:lpstr>
      <vt:lpstr>Task 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MCCP6020 Advanced English for Academic Purposes</dc:title>
  <dc:creator>Windows User</dc:creator>
  <cp:lastModifiedBy>Author</cp:lastModifiedBy>
  <cp:revision>21</cp:revision>
  <dcterms:created xsi:type="dcterms:W3CDTF">2021-01-04T03:11:40Z</dcterms:created>
  <dcterms:modified xsi:type="dcterms:W3CDTF">2025-10-09T04:42:04Z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0x0101006CBE5400CADFA0469A091337646547C3</vt:lpwstr>
  </property>
</Properties>
</file>