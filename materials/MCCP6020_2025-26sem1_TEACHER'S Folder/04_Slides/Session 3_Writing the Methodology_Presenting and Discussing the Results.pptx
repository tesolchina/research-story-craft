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50"/>
  </p:notesMasterIdLst>
  <p:sldIdLst>
    <p:sldId id="256" r:id="rId5"/>
    <p:sldId id="257" r:id="rId6"/>
    <p:sldId id="335" r:id="rId7"/>
    <p:sldId id="336" r:id="rId8"/>
    <p:sldId id="337" r:id="rId9"/>
    <p:sldId id="338" r:id="rId10"/>
    <p:sldId id="339" r:id="rId11"/>
    <p:sldId id="343" r:id="rId12"/>
    <p:sldId id="344" r:id="rId13"/>
    <p:sldId id="345" r:id="rId14"/>
    <p:sldId id="346" r:id="rId15"/>
    <p:sldId id="347" r:id="rId16"/>
    <p:sldId id="348" r:id="rId17"/>
    <p:sldId id="349" r:id="rId18"/>
    <p:sldId id="350" r:id="rId19"/>
    <p:sldId id="351" r:id="rId20"/>
    <p:sldId id="356" r:id="rId21"/>
    <p:sldId id="357" r:id="rId22"/>
    <p:sldId id="358" r:id="rId23"/>
    <p:sldId id="359" r:id="rId24"/>
    <p:sldId id="360" r:id="rId25"/>
    <p:sldId id="361" r:id="rId26"/>
    <p:sldId id="258" r:id="rId27"/>
    <p:sldId id="281" r:id="rId28"/>
    <p:sldId id="293" r:id="rId29"/>
    <p:sldId id="261" r:id="rId30"/>
    <p:sldId id="262" r:id="rId31"/>
    <p:sldId id="286" r:id="rId32"/>
    <p:sldId id="287" r:id="rId33"/>
    <p:sldId id="288" r:id="rId34"/>
    <p:sldId id="366" r:id="rId35"/>
    <p:sldId id="367" r:id="rId36"/>
    <p:sldId id="313" r:id="rId37"/>
    <p:sldId id="368" r:id="rId38"/>
    <p:sldId id="369" r:id="rId39"/>
    <p:sldId id="370" r:id="rId40"/>
    <p:sldId id="371" r:id="rId41"/>
    <p:sldId id="263" r:id="rId42"/>
    <p:sldId id="264" r:id="rId43"/>
    <p:sldId id="265" r:id="rId44"/>
    <p:sldId id="266" r:id="rId45"/>
    <p:sldId id="267" r:id="rId46"/>
    <p:sldId id="372" r:id="rId47"/>
    <p:sldId id="373" r:id="rId48"/>
    <p:sldId id="365"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N Ling" initials="GL" lastIdx="1" clrIdx="0">
    <p:extLst>
      <p:ext uri="{19B8F6BF-5375-455C-9EA6-DF929625EA0E}">
        <p15:presenceInfo xmlns:p15="http://schemas.microsoft.com/office/powerpoint/2012/main" userId="S::19481578@link.hkbu.edu.hk::e3d205b2-356f-4b65-ab9f-7c14072c95a3" providerId="AD"/>
      </p:ext>
    </p:extLst>
  </p:cmAuthor>
  <p:cmAuthor id="2" name="GAN Ling" initials="GL [2]" lastIdx="5" clrIdx="1">
    <p:extLst>
      <p:ext uri="{19B8F6BF-5375-455C-9EA6-DF929625EA0E}">
        <p15:presenceInfo xmlns:p15="http://schemas.microsoft.com/office/powerpoint/2012/main" userId="GAN L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8C0C2C-72FE-4EF2-84B9-249470F45663}" v="69" dt="2025-08-27T04:49:15.6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23" autoAdjust="0"/>
    <p:restoredTop sz="94249" autoAdjust="0"/>
  </p:normalViewPr>
  <p:slideViewPr>
    <p:cSldViewPr snapToGrid="0">
      <p:cViewPr varScale="1">
        <p:scale>
          <a:sx n="59" d="100"/>
          <a:sy n="59" d="100"/>
        </p:scale>
        <p:origin x="90" y="1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en Yi LAW" userId="7022f2d7-95f0-4fb1-89f4-e72d0af4d2c8" providerId="ADAL" clId="{7501A93D-4D0E-42BE-A33A-B422EB8B860D}"/>
    <pc:docChg chg="modSld">
      <pc:chgData name="Yuen Yi LAW" userId="7022f2d7-95f0-4fb1-89f4-e72d0af4d2c8" providerId="ADAL" clId="{7501A93D-4D0E-42BE-A33A-B422EB8B860D}" dt="2025-08-18T09:42:46.832" v="1" actId="20577"/>
      <pc:docMkLst>
        <pc:docMk/>
      </pc:docMkLst>
      <pc:sldChg chg="modSp mod">
        <pc:chgData name="Yuen Yi LAW" userId="7022f2d7-95f0-4fb1-89f4-e72d0af4d2c8" providerId="ADAL" clId="{7501A93D-4D0E-42BE-A33A-B422EB8B860D}" dt="2025-08-18T09:42:46.832" v="1" actId="20577"/>
        <pc:sldMkLst>
          <pc:docMk/>
          <pc:sldMk cId="3572139831" sldId="256"/>
        </pc:sldMkLst>
        <pc:spChg chg="mod">
          <ac:chgData name="Yuen Yi LAW" userId="7022f2d7-95f0-4fb1-89f4-e72d0af4d2c8" providerId="ADAL" clId="{7501A93D-4D0E-42BE-A33A-B422EB8B860D}" dt="2025-08-18T09:42:46.832" v="1" actId="20577"/>
          <ac:spMkLst>
            <pc:docMk/>
            <pc:sldMk cId="3572139831" sldId="256"/>
            <ac:spMk id="3" creationId="{00000000-0000-0000-0000-000000000000}"/>
          </ac:spMkLst>
        </pc:spChg>
      </pc:sldChg>
    </pc:docChg>
  </pc:docChgLst>
  <pc:docChgLst>
    <pc:chgData name="Yuen Yi LAW" userId="7022f2d7-95f0-4fb1-89f4-e72d0af4d2c8" providerId="ADAL" clId="{398C0C2C-72FE-4EF2-84B9-249470F45663}"/>
    <pc:docChg chg="undo custSel addSld delSld modSld">
      <pc:chgData name="Yuen Yi LAW" userId="7022f2d7-95f0-4fb1-89f4-e72d0af4d2c8" providerId="ADAL" clId="{398C0C2C-72FE-4EF2-84B9-249470F45663}" dt="2025-08-27T04:49:16.276" v="1110" actId="5793"/>
      <pc:docMkLst>
        <pc:docMk/>
      </pc:docMkLst>
      <pc:sldChg chg="modSp mod">
        <pc:chgData name="Yuen Yi LAW" userId="7022f2d7-95f0-4fb1-89f4-e72d0af4d2c8" providerId="ADAL" clId="{398C0C2C-72FE-4EF2-84B9-249470F45663}" dt="2025-08-19T04:50:23.817" v="11" actId="1076"/>
        <pc:sldMkLst>
          <pc:docMk/>
          <pc:sldMk cId="2788102250" sldId="257"/>
        </pc:sldMkLst>
        <pc:spChg chg="mod">
          <ac:chgData name="Yuen Yi LAW" userId="7022f2d7-95f0-4fb1-89f4-e72d0af4d2c8" providerId="ADAL" clId="{398C0C2C-72FE-4EF2-84B9-249470F45663}" dt="2025-08-19T04:50:23.817" v="11" actId="1076"/>
          <ac:spMkLst>
            <pc:docMk/>
            <pc:sldMk cId="2788102250" sldId="257"/>
            <ac:spMk id="2" creationId="{00000000-0000-0000-0000-000000000000}"/>
          </ac:spMkLst>
        </pc:spChg>
        <pc:spChg chg="mod">
          <ac:chgData name="Yuen Yi LAW" userId="7022f2d7-95f0-4fb1-89f4-e72d0af4d2c8" providerId="ADAL" clId="{398C0C2C-72FE-4EF2-84B9-249470F45663}" dt="2025-08-19T04:50:20.525" v="10" actId="1076"/>
          <ac:spMkLst>
            <pc:docMk/>
            <pc:sldMk cId="2788102250" sldId="257"/>
            <ac:spMk id="3" creationId="{00000000-0000-0000-0000-000000000000}"/>
          </ac:spMkLst>
        </pc:spChg>
      </pc:sldChg>
      <pc:sldChg chg="modSp mod">
        <pc:chgData name="Yuen Yi LAW" userId="7022f2d7-95f0-4fb1-89f4-e72d0af4d2c8" providerId="ADAL" clId="{398C0C2C-72FE-4EF2-84B9-249470F45663}" dt="2025-08-19T11:45:43.185" v="1045" actId="20577"/>
        <pc:sldMkLst>
          <pc:docMk/>
          <pc:sldMk cId="3718110898" sldId="258"/>
        </pc:sldMkLst>
        <pc:spChg chg="mod">
          <ac:chgData name="Yuen Yi LAW" userId="7022f2d7-95f0-4fb1-89f4-e72d0af4d2c8" providerId="ADAL" clId="{398C0C2C-72FE-4EF2-84B9-249470F45663}" dt="2025-08-19T11:45:43.185" v="1045" actId="20577"/>
          <ac:spMkLst>
            <pc:docMk/>
            <pc:sldMk cId="3718110898" sldId="258"/>
            <ac:spMk id="2" creationId="{00000000-0000-0000-0000-000000000000}"/>
          </ac:spMkLst>
        </pc:spChg>
        <pc:spChg chg="mod">
          <ac:chgData name="Yuen Yi LAW" userId="7022f2d7-95f0-4fb1-89f4-e72d0af4d2c8" providerId="ADAL" clId="{398C0C2C-72FE-4EF2-84B9-249470F45663}" dt="2025-08-19T05:26:57.560" v="80" actId="20577"/>
          <ac:spMkLst>
            <pc:docMk/>
            <pc:sldMk cId="3718110898" sldId="258"/>
            <ac:spMk id="3" creationId="{00000000-0000-0000-0000-000000000000}"/>
          </ac:spMkLst>
        </pc:spChg>
      </pc:sldChg>
      <pc:sldChg chg="del">
        <pc:chgData name="Yuen Yi LAW" userId="7022f2d7-95f0-4fb1-89f4-e72d0af4d2c8" providerId="ADAL" clId="{398C0C2C-72FE-4EF2-84B9-249470F45663}" dt="2025-08-19T05:27:44.557" v="86" actId="47"/>
        <pc:sldMkLst>
          <pc:docMk/>
          <pc:sldMk cId="3097637986" sldId="260"/>
        </pc:sldMkLst>
      </pc:sldChg>
      <pc:sldChg chg="modSp add mod">
        <pc:chgData name="Yuen Yi LAW" userId="7022f2d7-95f0-4fb1-89f4-e72d0af4d2c8" providerId="ADAL" clId="{398C0C2C-72FE-4EF2-84B9-249470F45663}" dt="2025-08-19T11:49:10.919" v="1052" actId="20577"/>
        <pc:sldMkLst>
          <pc:docMk/>
          <pc:sldMk cId="3619877422" sldId="263"/>
        </pc:sldMkLst>
        <pc:spChg chg="mod">
          <ac:chgData name="Yuen Yi LAW" userId="7022f2d7-95f0-4fb1-89f4-e72d0af4d2c8" providerId="ADAL" clId="{398C0C2C-72FE-4EF2-84B9-249470F45663}" dt="2025-08-19T11:49:10.919" v="1052" actId="20577"/>
          <ac:spMkLst>
            <pc:docMk/>
            <pc:sldMk cId="3619877422" sldId="263"/>
            <ac:spMk id="2" creationId="{1AA4D64D-2F46-8842-B926-4918260CAB77}"/>
          </ac:spMkLst>
        </pc:spChg>
      </pc:sldChg>
      <pc:sldChg chg="add">
        <pc:chgData name="Yuen Yi LAW" userId="7022f2d7-95f0-4fb1-89f4-e72d0af4d2c8" providerId="ADAL" clId="{398C0C2C-72FE-4EF2-84B9-249470F45663}" dt="2025-08-19T11:43:01.544" v="1029"/>
        <pc:sldMkLst>
          <pc:docMk/>
          <pc:sldMk cId="1824886568" sldId="264"/>
        </pc:sldMkLst>
      </pc:sldChg>
      <pc:sldChg chg="add">
        <pc:chgData name="Yuen Yi LAW" userId="7022f2d7-95f0-4fb1-89f4-e72d0af4d2c8" providerId="ADAL" clId="{398C0C2C-72FE-4EF2-84B9-249470F45663}" dt="2025-08-19T11:43:01.544" v="1029"/>
        <pc:sldMkLst>
          <pc:docMk/>
          <pc:sldMk cId="2270247925" sldId="265"/>
        </pc:sldMkLst>
      </pc:sldChg>
      <pc:sldChg chg="modSp add mod">
        <pc:chgData name="Yuen Yi LAW" userId="7022f2d7-95f0-4fb1-89f4-e72d0af4d2c8" providerId="ADAL" clId="{398C0C2C-72FE-4EF2-84B9-249470F45663}" dt="2025-08-19T11:49:18.786" v="1053" actId="20577"/>
        <pc:sldMkLst>
          <pc:docMk/>
          <pc:sldMk cId="3144262412" sldId="266"/>
        </pc:sldMkLst>
        <pc:spChg chg="mod">
          <ac:chgData name="Yuen Yi LAW" userId="7022f2d7-95f0-4fb1-89f4-e72d0af4d2c8" providerId="ADAL" clId="{398C0C2C-72FE-4EF2-84B9-249470F45663}" dt="2025-08-19T11:49:18.786" v="1053" actId="20577"/>
          <ac:spMkLst>
            <pc:docMk/>
            <pc:sldMk cId="3144262412" sldId="266"/>
            <ac:spMk id="2" creationId="{00000000-0000-0000-0000-000000000000}"/>
          </ac:spMkLst>
        </pc:spChg>
      </pc:sldChg>
      <pc:sldChg chg="modSp add mod">
        <pc:chgData name="Yuen Yi LAW" userId="7022f2d7-95f0-4fb1-89f4-e72d0af4d2c8" providerId="ADAL" clId="{398C0C2C-72FE-4EF2-84B9-249470F45663}" dt="2025-08-19T11:49:24.971" v="1054" actId="20577"/>
        <pc:sldMkLst>
          <pc:docMk/>
          <pc:sldMk cId="624032646" sldId="267"/>
        </pc:sldMkLst>
        <pc:spChg chg="mod">
          <ac:chgData name="Yuen Yi LAW" userId="7022f2d7-95f0-4fb1-89f4-e72d0af4d2c8" providerId="ADAL" clId="{398C0C2C-72FE-4EF2-84B9-249470F45663}" dt="2025-08-19T11:49:24.971" v="1054" actId="20577"/>
          <ac:spMkLst>
            <pc:docMk/>
            <pc:sldMk cId="624032646" sldId="267"/>
            <ac:spMk id="2" creationId="{00000000-0000-0000-0000-000000000000}"/>
          </ac:spMkLst>
        </pc:spChg>
      </pc:sldChg>
      <pc:sldChg chg="add del">
        <pc:chgData name="Yuen Yi LAW" userId="7022f2d7-95f0-4fb1-89f4-e72d0af4d2c8" providerId="ADAL" clId="{398C0C2C-72FE-4EF2-84B9-249470F45663}" dt="2025-08-19T11:50:21.085" v="1068" actId="47"/>
        <pc:sldMkLst>
          <pc:docMk/>
          <pc:sldMk cId="2109310491" sldId="268"/>
        </pc:sldMkLst>
      </pc:sldChg>
      <pc:sldChg chg="modSp mod">
        <pc:chgData name="Yuen Yi LAW" userId="7022f2d7-95f0-4fb1-89f4-e72d0af4d2c8" providerId="ADAL" clId="{398C0C2C-72FE-4EF2-84B9-249470F45663}" dt="2025-08-19T11:45:46.565" v="1046" actId="20577"/>
        <pc:sldMkLst>
          <pc:docMk/>
          <pc:sldMk cId="2437937106" sldId="281"/>
        </pc:sldMkLst>
        <pc:spChg chg="mod">
          <ac:chgData name="Yuen Yi LAW" userId="7022f2d7-95f0-4fb1-89f4-e72d0af4d2c8" providerId="ADAL" clId="{398C0C2C-72FE-4EF2-84B9-249470F45663}" dt="2025-08-19T11:45:46.565" v="1046" actId="20577"/>
          <ac:spMkLst>
            <pc:docMk/>
            <pc:sldMk cId="2437937106" sldId="281"/>
            <ac:spMk id="2" creationId="{00000000-0000-0000-0000-000000000000}"/>
          </ac:spMkLst>
        </pc:spChg>
        <pc:spChg chg="mod">
          <ac:chgData name="Yuen Yi LAW" userId="7022f2d7-95f0-4fb1-89f4-e72d0af4d2c8" providerId="ADAL" clId="{398C0C2C-72FE-4EF2-84B9-249470F45663}" dt="2025-08-19T05:27:22.701" v="83" actId="1076"/>
          <ac:spMkLst>
            <pc:docMk/>
            <pc:sldMk cId="2437937106" sldId="281"/>
            <ac:spMk id="3" creationId="{00000000-0000-0000-0000-000000000000}"/>
          </ac:spMkLst>
        </pc:spChg>
      </pc:sldChg>
      <pc:sldChg chg="modSp mod">
        <pc:chgData name="Yuen Yi LAW" userId="7022f2d7-95f0-4fb1-89f4-e72d0af4d2c8" providerId="ADAL" clId="{398C0C2C-72FE-4EF2-84B9-249470F45663}" dt="2025-08-19T11:48:33.648" v="1047" actId="20577"/>
        <pc:sldMkLst>
          <pc:docMk/>
          <pc:sldMk cId="2302673064" sldId="286"/>
        </pc:sldMkLst>
        <pc:spChg chg="mod">
          <ac:chgData name="Yuen Yi LAW" userId="7022f2d7-95f0-4fb1-89f4-e72d0af4d2c8" providerId="ADAL" clId="{398C0C2C-72FE-4EF2-84B9-249470F45663}" dt="2025-08-19T11:48:33.648" v="1047" actId="20577"/>
          <ac:spMkLst>
            <pc:docMk/>
            <pc:sldMk cId="2302673064" sldId="286"/>
            <ac:spMk id="2" creationId="{00000000-0000-0000-0000-000000000000}"/>
          </ac:spMkLst>
        </pc:spChg>
        <pc:spChg chg="mod">
          <ac:chgData name="Yuen Yi LAW" userId="7022f2d7-95f0-4fb1-89f4-e72d0af4d2c8" providerId="ADAL" clId="{398C0C2C-72FE-4EF2-84B9-249470F45663}" dt="2025-08-19T05:30:47.854" v="437" actId="113"/>
          <ac:spMkLst>
            <pc:docMk/>
            <pc:sldMk cId="2302673064" sldId="286"/>
            <ac:spMk id="3" creationId="{00000000-0000-0000-0000-000000000000}"/>
          </ac:spMkLst>
        </pc:spChg>
      </pc:sldChg>
      <pc:sldChg chg="delSp modSp mod">
        <pc:chgData name="Yuen Yi LAW" userId="7022f2d7-95f0-4fb1-89f4-e72d0af4d2c8" providerId="ADAL" clId="{398C0C2C-72FE-4EF2-84B9-249470F45663}" dt="2025-08-19T05:35:11.676" v="456" actId="113"/>
        <pc:sldMkLst>
          <pc:docMk/>
          <pc:sldMk cId="2472275388" sldId="287"/>
        </pc:sldMkLst>
        <pc:spChg chg="mod">
          <ac:chgData name="Yuen Yi LAW" userId="7022f2d7-95f0-4fb1-89f4-e72d0af4d2c8" providerId="ADAL" clId="{398C0C2C-72FE-4EF2-84B9-249470F45663}" dt="2025-08-19T05:35:11.676" v="456" actId="113"/>
          <ac:spMkLst>
            <pc:docMk/>
            <pc:sldMk cId="2472275388" sldId="287"/>
            <ac:spMk id="2" creationId="{E3E064CB-594C-46EC-886F-3BF79D2F18DA}"/>
          </ac:spMkLst>
        </pc:spChg>
      </pc:sldChg>
      <pc:sldChg chg="modSp mod">
        <pc:chgData name="Yuen Yi LAW" userId="7022f2d7-95f0-4fb1-89f4-e72d0af4d2c8" providerId="ADAL" clId="{398C0C2C-72FE-4EF2-84B9-249470F45663}" dt="2025-08-27T04:47:23.960" v="1104" actId="113"/>
        <pc:sldMkLst>
          <pc:docMk/>
          <pc:sldMk cId="3865877948" sldId="288"/>
        </pc:sldMkLst>
        <pc:spChg chg="mod">
          <ac:chgData name="Yuen Yi LAW" userId="7022f2d7-95f0-4fb1-89f4-e72d0af4d2c8" providerId="ADAL" clId="{398C0C2C-72FE-4EF2-84B9-249470F45663}" dt="2025-08-27T04:47:23.960" v="1104" actId="113"/>
          <ac:spMkLst>
            <pc:docMk/>
            <pc:sldMk cId="3865877948" sldId="288"/>
            <ac:spMk id="2" creationId="{425085D2-1B45-40BC-8667-EF7631BCE922}"/>
          </ac:spMkLst>
        </pc:spChg>
      </pc:sldChg>
      <pc:sldChg chg="del">
        <pc:chgData name="Yuen Yi LAW" userId="7022f2d7-95f0-4fb1-89f4-e72d0af4d2c8" providerId="ADAL" clId="{398C0C2C-72FE-4EF2-84B9-249470F45663}" dt="2025-08-19T05:52:36.422" v="485" actId="47"/>
        <pc:sldMkLst>
          <pc:docMk/>
          <pc:sldMk cId="1309500419" sldId="289"/>
        </pc:sldMkLst>
      </pc:sldChg>
      <pc:sldChg chg="del">
        <pc:chgData name="Yuen Yi LAW" userId="7022f2d7-95f0-4fb1-89f4-e72d0af4d2c8" providerId="ADAL" clId="{398C0C2C-72FE-4EF2-84B9-249470F45663}" dt="2025-08-19T05:27:49.521" v="88" actId="47"/>
        <pc:sldMkLst>
          <pc:docMk/>
          <pc:sldMk cId="747738565" sldId="294"/>
        </pc:sldMkLst>
      </pc:sldChg>
      <pc:sldChg chg="del">
        <pc:chgData name="Yuen Yi LAW" userId="7022f2d7-95f0-4fb1-89f4-e72d0af4d2c8" providerId="ADAL" clId="{398C0C2C-72FE-4EF2-84B9-249470F45663}" dt="2025-08-19T05:47:40.979" v="483" actId="47"/>
        <pc:sldMkLst>
          <pc:docMk/>
          <pc:sldMk cId="3463336698" sldId="295"/>
        </pc:sldMkLst>
      </pc:sldChg>
      <pc:sldChg chg="del">
        <pc:chgData name="Yuen Yi LAW" userId="7022f2d7-95f0-4fb1-89f4-e72d0af4d2c8" providerId="ADAL" clId="{398C0C2C-72FE-4EF2-84B9-249470F45663}" dt="2025-08-19T05:47:41.875" v="484" actId="47"/>
        <pc:sldMkLst>
          <pc:docMk/>
          <pc:sldMk cId="3738538615" sldId="296"/>
        </pc:sldMkLst>
      </pc:sldChg>
      <pc:sldChg chg="del">
        <pc:chgData name="Yuen Yi LAW" userId="7022f2d7-95f0-4fb1-89f4-e72d0af4d2c8" providerId="ADAL" clId="{398C0C2C-72FE-4EF2-84B9-249470F45663}" dt="2025-08-19T05:52:38.778" v="486" actId="47"/>
        <pc:sldMkLst>
          <pc:docMk/>
          <pc:sldMk cId="1504245988" sldId="297"/>
        </pc:sldMkLst>
      </pc:sldChg>
      <pc:sldChg chg="del">
        <pc:chgData name="Yuen Yi LAW" userId="7022f2d7-95f0-4fb1-89f4-e72d0af4d2c8" providerId="ADAL" clId="{398C0C2C-72FE-4EF2-84B9-249470F45663}" dt="2025-08-19T05:52:47.913" v="487" actId="47"/>
        <pc:sldMkLst>
          <pc:docMk/>
          <pc:sldMk cId="3140656122" sldId="298"/>
        </pc:sldMkLst>
      </pc:sldChg>
      <pc:sldChg chg="del">
        <pc:chgData name="Yuen Yi LAW" userId="7022f2d7-95f0-4fb1-89f4-e72d0af4d2c8" providerId="ADAL" clId="{398C0C2C-72FE-4EF2-84B9-249470F45663}" dt="2025-08-19T05:52:49.119" v="488" actId="47"/>
        <pc:sldMkLst>
          <pc:docMk/>
          <pc:sldMk cId="2859059856" sldId="299"/>
        </pc:sldMkLst>
      </pc:sldChg>
      <pc:sldChg chg="del">
        <pc:chgData name="Yuen Yi LAW" userId="7022f2d7-95f0-4fb1-89f4-e72d0af4d2c8" providerId="ADAL" clId="{398C0C2C-72FE-4EF2-84B9-249470F45663}" dt="2025-08-19T05:52:51.300" v="489" actId="47"/>
        <pc:sldMkLst>
          <pc:docMk/>
          <pc:sldMk cId="2486266651" sldId="300"/>
        </pc:sldMkLst>
      </pc:sldChg>
      <pc:sldChg chg="del">
        <pc:chgData name="Yuen Yi LAW" userId="7022f2d7-95f0-4fb1-89f4-e72d0af4d2c8" providerId="ADAL" clId="{398C0C2C-72FE-4EF2-84B9-249470F45663}" dt="2025-08-19T05:52:53.008" v="490" actId="47"/>
        <pc:sldMkLst>
          <pc:docMk/>
          <pc:sldMk cId="3322786930" sldId="301"/>
        </pc:sldMkLst>
      </pc:sldChg>
      <pc:sldChg chg="del">
        <pc:chgData name="Yuen Yi LAW" userId="7022f2d7-95f0-4fb1-89f4-e72d0af4d2c8" providerId="ADAL" clId="{398C0C2C-72FE-4EF2-84B9-249470F45663}" dt="2025-08-19T05:52:58.993" v="491" actId="47"/>
        <pc:sldMkLst>
          <pc:docMk/>
          <pc:sldMk cId="2516120306" sldId="302"/>
        </pc:sldMkLst>
      </pc:sldChg>
      <pc:sldChg chg="del">
        <pc:chgData name="Yuen Yi LAW" userId="7022f2d7-95f0-4fb1-89f4-e72d0af4d2c8" providerId="ADAL" clId="{398C0C2C-72FE-4EF2-84B9-249470F45663}" dt="2025-08-19T10:04:47.632" v="681" actId="47"/>
        <pc:sldMkLst>
          <pc:docMk/>
          <pc:sldMk cId="1279554666" sldId="305"/>
        </pc:sldMkLst>
      </pc:sldChg>
      <pc:sldChg chg="del">
        <pc:chgData name="Yuen Yi LAW" userId="7022f2d7-95f0-4fb1-89f4-e72d0af4d2c8" providerId="ADAL" clId="{398C0C2C-72FE-4EF2-84B9-249470F45663}" dt="2025-08-19T10:04:50.079" v="683" actId="47"/>
        <pc:sldMkLst>
          <pc:docMk/>
          <pc:sldMk cId="4137934966" sldId="306"/>
        </pc:sldMkLst>
      </pc:sldChg>
      <pc:sldChg chg="del">
        <pc:chgData name="Yuen Yi LAW" userId="7022f2d7-95f0-4fb1-89f4-e72d0af4d2c8" providerId="ADAL" clId="{398C0C2C-72FE-4EF2-84B9-249470F45663}" dt="2025-08-19T10:04:48.620" v="682" actId="47"/>
        <pc:sldMkLst>
          <pc:docMk/>
          <pc:sldMk cId="3964992951" sldId="309"/>
        </pc:sldMkLst>
      </pc:sldChg>
      <pc:sldChg chg="del">
        <pc:chgData name="Yuen Yi LAW" userId="7022f2d7-95f0-4fb1-89f4-e72d0af4d2c8" providerId="ADAL" clId="{398C0C2C-72FE-4EF2-84B9-249470F45663}" dt="2025-08-19T10:04:52.089" v="684" actId="47"/>
        <pc:sldMkLst>
          <pc:docMk/>
          <pc:sldMk cId="1614451042" sldId="310"/>
        </pc:sldMkLst>
      </pc:sldChg>
      <pc:sldChg chg="del">
        <pc:chgData name="Yuen Yi LAW" userId="7022f2d7-95f0-4fb1-89f4-e72d0af4d2c8" providerId="ADAL" clId="{398C0C2C-72FE-4EF2-84B9-249470F45663}" dt="2025-08-19T10:05:06.644" v="689" actId="47"/>
        <pc:sldMkLst>
          <pc:docMk/>
          <pc:sldMk cId="1919024308" sldId="311"/>
        </pc:sldMkLst>
      </pc:sldChg>
      <pc:sldChg chg="del">
        <pc:chgData name="Yuen Yi LAW" userId="7022f2d7-95f0-4fb1-89f4-e72d0af4d2c8" providerId="ADAL" clId="{398C0C2C-72FE-4EF2-84B9-249470F45663}" dt="2025-08-19T10:04:54.423" v="685" actId="47"/>
        <pc:sldMkLst>
          <pc:docMk/>
          <pc:sldMk cId="2883654177" sldId="312"/>
        </pc:sldMkLst>
      </pc:sldChg>
      <pc:sldChg chg="modSp mod">
        <pc:chgData name="Yuen Yi LAW" userId="7022f2d7-95f0-4fb1-89f4-e72d0af4d2c8" providerId="ADAL" clId="{398C0C2C-72FE-4EF2-84B9-249470F45663}" dt="2025-08-19T11:48:48.564" v="1048" actId="20577"/>
        <pc:sldMkLst>
          <pc:docMk/>
          <pc:sldMk cId="638496737" sldId="313"/>
        </pc:sldMkLst>
        <pc:spChg chg="mod">
          <ac:chgData name="Yuen Yi LAW" userId="7022f2d7-95f0-4fb1-89f4-e72d0af4d2c8" providerId="ADAL" clId="{398C0C2C-72FE-4EF2-84B9-249470F45663}" dt="2025-08-19T11:48:48.564" v="1048" actId="20577"/>
          <ac:spMkLst>
            <pc:docMk/>
            <pc:sldMk cId="638496737" sldId="313"/>
            <ac:spMk id="2" creationId="{00000000-0000-0000-0000-000000000000}"/>
          </ac:spMkLst>
        </pc:spChg>
      </pc:sldChg>
      <pc:sldChg chg="del">
        <pc:chgData name="Yuen Yi LAW" userId="7022f2d7-95f0-4fb1-89f4-e72d0af4d2c8" providerId="ADAL" clId="{398C0C2C-72FE-4EF2-84B9-249470F45663}" dt="2025-08-19T05:03:34.732" v="12" actId="47"/>
        <pc:sldMkLst>
          <pc:docMk/>
          <pc:sldMk cId="716909537" sldId="340"/>
        </pc:sldMkLst>
      </pc:sldChg>
      <pc:sldChg chg="del">
        <pc:chgData name="Yuen Yi LAW" userId="7022f2d7-95f0-4fb1-89f4-e72d0af4d2c8" providerId="ADAL" clId="{398C0C2C-72FE-4EF2-84B9-249470F45663}" dt="2025-08-19T05:03:35.657" v="13" actId="47"/>
        <pc:sldMkLst>
          <pc:docMk/>
          <pc:sldMk cId="3377377225" sldId="341"/>
        </pc:sldMkLst>
      </pc:sldChg>
      <pc:sldChg chg="del">
        <pc:chgData name="Yuen Yi LAW" userId="7022f2d7-95f0-4fb1-89f4-e72d0af4d2c8" providerId="ADAL" clId="{398C0C2C-72FE-4EF2-84B9-249470F45663}" dt="2025-08-19T05:03:36.722" v="14" actId="47"/>
        <pc:sldMkLst>
          <pc:docMk/>
          <pc:sldMk cId="439061437" sldId="342"/>
        </pc:sldMkLst>
      </pc:sldChg>
      <pc:sldChg chg="delSp modSp mod">
        <pc:chgData name="Yuen Yi LAW" userId="7022f2d7-95f0-4fb1-89f4-e72d0af4d2c8" providerId="ADAL" clId="{398C0C2C-72FE-4EF2-84B9-249470F45663}" dt="2025-08-19T05:04:08.388" v="24" actId="1076"/>
        <pc:sldMkLst>
          <pc:docMk/>
          <pc:sldMk cId="2404844149" sldId="343"/>
        </pc:sldMkLst>
        <pc:spChg chg="mod">
          <ac:chgData name="Yuen Yi LAW" userId="7022f2d7-95f0-4fb1-89f4-e72d0af4d2c8" providerId="ADAL" clId="{398C0C2C-72FE-4EF2-84B9-249470F45663}" dt="2025-08-19T05:04:08.388" v="24" actId="1076"/>
          <ac:spMkLst>
            <pc:docMk/>
            <pc:sldMk cId="2404844149" sldId="343"/>
            <ac:spMk id="3" creationId="{945CA9A6-9E00-944B-A3DF-3FD5457DA07A}"/>
          </ac:spMkLst>
        </pc:spChg>
      </pc:sldChg>
      <pc:sldChg chg="addSp delSp modSp mod">
        <pc:chgData name="Yuen Yi LAW" userId="7022f2d7-95f0-4fb1-89f4-e72d0af4d2c8" providerId="ADAL" clId="{398C0C2C-72FE-4EF2-84B9-249470F45663}" dt="2025-08-19T05:05:05.831" v="26" actId="478"/>
        <pc:sldMkLst>
          <pc:docMk/>
          <pc:sldMk cId="384511386" sldId="344"/>
        </pc:sldMkLst>
      </pc:sldChg>
      <pc:sldChg chg="addSp modSp mod">
        <pc:chgData name="Yuen Yi LAW" userId="7022f2d7-95f0-4fb1-89f4-e72d0af4d2c8" providerId="ADAL" clId="{398C0C2C-72FE-4EF2-84B9-249470F45663}" dt="2025-08-27T03:54:38.883" v="1098" actId="20577"/>
        <pc:sldMkLst>
          <pc:docMk/>
          <pc:sldMk cId="2897047523" sldId="346"/>
        </pc:sldMkLst>
        <pc:spChg chg="add mod">
          <ac:chgData name="Yuen Yi LAW" userId="7022f2d7-95f0-4fb1-89f4-e72d0af4d2c8" providerId="ADAL" clId="{398C0C2C-72FE-4EF2-84B9-249470F45663}" dt="2025-08-19T05:06:31.165" v="30" actId="20577"/>
          <ac:spMkLst>
            <pc:docMk/>
            <pc:sldMk cId="2897047523" sldId="346"/>
            <ac:spMk id="2" creationId="{88D32BE3-E15F-08F1-D16F-D99AF36728AD}"/>
          </ac:spMkLst>
        </pc:spChg>
        <pc:spChg chg="mod">
          <ac:chgData name="Yuen Yi LAW" userId="7022f2d7-95f0-4fb1-89f4-e72d0af4d2c8" providerId="ADAL" clId="{398C0C2C-72FE-4EF2-84B9-249470F45663}" dt="2025-08-27T03:54:38.883" v="1098" actId="20577"/>
          <ac:spMkLst>
            <pc:docMk/>
            <pc:sldMk cId="2897047523" sldId="346"/>
            <ac:spMk id="3" creationId="{00000000-0000-0000-0000-000000000000}"/>
          </ac:spMkLst>
        </pc:spChg>
      </pc:sldChg>
      <pc:sldChg chg="modSp mod">
        <pc:chgData name="Yuen Yi LAW" userId="7022f2d7-95f0-4fb1-89f4-e72d0af4d2c8" providerId="ADAL" clId="{398C0C2C-72FE-4EF2-84B9-249470F45663}" dt="2025-08-19T05:06:52.314" v="32" actId="20577"/>
        <pc:sldMkLst>
          <pc:docMk/>
          <pc:sldMk cId="1093365939" sldId="347"/>
        </pc:sldMkLst>
        <pc:spChg chg="mod">
          <ac:chgData name="Yuen Yi LAW" userId="7022f2d7-95f0-4fb1-89f4-e72d0af4d2c8" providerId="ADAL" clId="{398C0C2C-72FE-4EF2-84B9-249470F45663}" dt="2025-08-19T05:06:52.314" v="32" actId="20577"/>
          <ac:spMkLst>
            <pc:docMk/>
            <pc:sldMk cId="1093365939" sldId="347"/>
            <ac:spMk id="2" creationId="{00000000-0000-0000-0000-000000000000}"/>
          </ac:spMkLst>
        </pc:spChg>
      </pc:sldChg>
      <pc:sldChg chg="del">
        <pc:chgData name="Yuen Yi LAW" userId="7022f2d7-95f0-4fb1-89f4-e72d0af4d2c8" providerId="ADAL" clId="{398C0C2C-72FE-4EF2-84B9-249470F45663}" dt="2025-08-19T05:09:47.033" v="33" actId="2696"/>
        <pc:sldMkLst>
          <pc:docMk/>
          <pc:sldMk cId="761753766" sldId="352"/>
        </pc:sldMkLst>
      </pc:sldChg>
      <pc:sldChg chg="del">
        <pc:chgData name="Yuen Yi LAW" userId="7022f2d7-95f0-4fb1-89f4-e72d0af4d2c8" providerId="ADAL" clId="{398C0C2C-72FE-4EF2-84B9-249470F45663}" dt="2025-08-19T05:09:51.721" v="34" actId="2696"/>
        <pc:sldMkLst>
          <pc:docMk/>
          <pc:sldMk cId="3719831631" sldId="353"/>
        </pc:sldMkLst>
      </pc:sldChg>
      <pc:sldChg chg="del">
        <pc:chgData name="Yuen Yi LAW" userId="7022f2d7-95f0-4fb1-89f4-e72d0af4d2c8" providerId="ADAL" clId="{398C0C2C-72FE-4EF2-84B9-249470F45663}" dt="2025-08-19T05:09:54.701" v="35" actId="2696"/>
        <pc:sldMkLst>
          <pc:docMk/>
          <pc:sldMk cId="2317985005" sldId="354"/>
        </pc:sldMkLst>
      </pc:sldChg>
      <pc:sldChg chg="del">
        <pc:chgData name="Yuen Yi LAW" userId="7022f2d7-95f0-4fb1-89f4-e72d0af4d2c8" providerId="ADAL" clId="{398C0C2C-72FE-4EF2-84B9-249470F45663}" dt="2025-08-19T05:09:59.115" v="36" actId="2696"/>
        <pc:sldMkLst>
          <pc:docMk/>
          <pc:sldMk cId="122153167" sldId="355"/>
        </pc:sldMkLst>
      </pc:sldChg>
      <pc:sldChg chg="modSp mod">
        <pc:chgData name="Yuen Yi LAW" userId="7022f2d7-95f0-4fb1-89f4-e72d0af4d2c8" providerId="ADAL" clId="{398C0C2C-72FE-4EF2-84B9-249470F45663}" dt="2025-08-19T05:10:06.057" v="38" actId="20577"/>
        <pc:sldMkLst>
          <pc:docMk/>
          <pc:sldMk cId="3921002324" sldId="356"/>
        </pc:sldMkLst>
        <pc:spChg chg="mod">
          <ac:chgData name="Yuen Yi LAW" userId="7022f2d7-95f0-4fb1-89f4-e72d0af4d2c8" providerId="ADAL" clId="{398C0C2C-72FE-4EF2-84B9-249470F45663}" dt="2025-08-19T05:10:06.057" v="38" actId="20577"/>
          <ac:spMkLst>
            <pc:docMk/>
            <pc:sldMk cId="3921002324" sldId="356"/>
            <ac:spMk id="2" creationId="{00000000-0000-0000-0000-000000000000}"/>
          </ac:spMkLst>
        </pc:spChg>
      </pc:sldChg>
      <pc:sldChg chg="modSp mod">
        <pc:chgData name="Yuen Yi LAW" userId="7022f2d7-95f0-4fb1-89f4-e72d0af4d2c8" providerId="ADAL" clId="{398C0C2C-72FE-4EF2-84B9-249470F45663}" dt="2025-08-19T05:11:20.192" v="40" actId="1076"/>
        <pc:sldMkLst>
          <pc:docMk/>
          <pc:sldMk cId="2899191090" sldId="358"/>
        </pc:sldMkLst>
        <pc:spChg chg="mod">
          <ac:chgData name="Yuen Yi LAW" userId="7022f2d7-95f0-4fb1-89f4-e72d0af4d2c8" providerId="ADAL" clId="{398C0C2C-72FE-4EF2-84B9-249470F45663}" dt="2025-08-19T05:11:20.192" v="40" actId="1076"/>
          <ac:spMkLst>
            <pc:docMk/>
            <pc:sldMk cId="2899191090" sldId="358"/>
            <ac:spMk id="4" creationId="{1357F28B-2D59-AB42-9952-1EBEF5EE9E21}"/>
          </ac:spMkLst>
        </pc:spChg>
      </pc:sldChg>
      <pc:sldChg chg="addSp modSp mod">
        <pc:chgData name="Yuen Yi LAW" userId="7022f2d7-95f0-4fb1-89f4-e72d0af4d2c8" providerId="ADAL" clId="{398C0C2C-72FE-4EF2-84B9-249470F45663}" dt="2025-08-19T05:11:45.353" v="46" actId="404"/>
        <pc:sldMkLst>
          <pc:docMk/>
          <pc:sldMk cId="1134816602" sldId="359"/>
        </pc:sldMkLst>
        <pc:spChg chg="add mod">
          <ac:chgData name="Yuen Yi LAW" userId="7022f2d7-95f0-4fb1-89f4-e72d0af4d2c8" providerId="ADAL" clId="{398C0C2C-72FE-4EF2-84B9-249470F45663}" dt="2025-08-19T05:11:30.043" v="42" actId="1076"/>
          <ac:spMkLst>
            <pc:docMk/>
            <pc:sldMk cId="1134816602" sldId="359"/>
            <ac:spMk id="2" creationId="{742609F0-6AA6-B2EB-4B25-F233220348C9}"/>
          </ac:spMkLst>
        </pc:spChg>
        <pc:spChg chg="mod">
          <ac:chgData name="Yuen Yi LAW" userId="7022f2d7-95f0-4fb1-89f4-e72d0af4d2c8" providerId="ADAL" clId="{398C0C2C-72FE-4EF2-84B9-249470F45663}" dt="2025-08-19T05:11:45.353" v="46" actId="404"/>
          <ac:spMkLst>
            <pc:docMk/>
            <pc:sldMk cId="1134816602" sldId="359"/>
            <ac:spMk id="3" creationId="{6AFCBDA7-0DEC-E942-9B89-C74B42C4CE42}"/>
          </ac:spMkLst>
        </pc:spChg>
      </pc:sldChg>
      <pc:sldChg chg="addSp modSp mod">
        <pc:chgData name="Yuen Yi LAW" userId="7022f2d7-95f0-4fb1-89f4-e72d0af4d2c8" providerId="ADAL" clId="{398C0C2C-72FE-4EF2-84B9-249470F45663}" dt="2025-08-19T05:12:03.243" v="48" actId="14100"/>
        <pc:sldMkLst>
          <pc:docMk/>
          <pc:sldMk cId="3007198146" sldId="360"/>
        </pc:sldMkLst>
        <pc:spChg chg="add mod">
          <ac:chgData name="Yuen Yi LAW" userId="7022f2d7-95f0-4fb1-89f4-e72d0af4d2c8" providerId="ADAL" clId="{398C0C2C-72FE-4EF2-84B9-249470F45663}" dt="2025-08-19T05:12:03.243" v="48" actId="14100"/>
          <ac:spMkLst>
            <pc:docMk/>
            <pc:sldMk cId="3007198146" sldId="360"/>
            <ac:spMk id="2" creationId="{5018038B-075C-A5DB-6BCE-72CD0B127767}"/>
          </ac:spMkLst>
        </pc:spChg>
      </pc:sldChg>
      <pc:sldChg chg="addSp modSp mod">
        <pc:chgData name="Yuen Yi LAW" userId="7022f2d7-95f0-4fb1-89f4-e72d0af4d2c8" providerId="ADAL" clId="{398C0C2C-72FE-4EF2-84B9-249470F45663}" dt="2025-08-19T05:26:35.797" v="77" actId="1076"/>
        <pc:sldMkLst>
          <pc:docMk/>
          <pc:sldMk cId="3805262453" sldId="361"/>
        </pc:sldMkLst>
        <pc:spChg chg="add mod">
          <ac:chgData name="Yuen Yi LAW" userId="7022f2d7-95f0-4fb1-89f4-e72d0af4d2c8" providerId="ADAL" clId="{398C0C2C-72FE-4EF2-84B9-249470F45663}" dt="2025-08-19T05:19:21.294" v="68" actId="1076"/>
          <ac:spMkLst>
            <pc:docMk/>
            <pc:sldMk cId="3805262453" sldId="361"/>
            <ac:spMk id="2" creationId="{F286644D-432A-6BFD-510C-3181A1EECAF5}"/>
          </ac:spMkLst>
        </pc:spChg>
        <pc:spChg chg="mod">
          <ac:chgData name="Yuen Yi LAW" userId="7022f2d7-95f0-4fb1-89f4-e72d0af4d2c8" providerId="ADAL" clId="{398C0C2C-72FE-4EF2-84B9-249470F45663}" dt="2025-08-19T05:19:24.280" v="69" actId="1076"/>
          <ac:spMkLst>
            <pc:docMk/>
            <pc:sldMk cId="3805262453" sldId="361"/>
            <ac:spMk id="3" creationId="{F843897E-5784-A34F-ABA4-534B8584343C}"/>
          </ac:spMkLst>
        </pc:spChg>
        <pc:spChg chg="mod">
          <ac:chgData name="Yuen Yi LAW" userId="7022f2d7-95f0-4fb1-89f4-e72d0af4d2c8" providerId="ADAL" clId="{398C0C2C-72FE-4EF2-84B9-249470F45663}" dt="2025-08-19T05:19:28.524" v="70" actId="1076"/>
          <ac:spMkLst>
            <pc:docMk/>
            <pc:sldMk cId="3805262453" sldId="361"/>
            <ac:spMk id="4" creationId="{60BB3BA5-4DA5-724D-8FB2-1171A57306D3}"/>
          </ac:spMkLst>
        </pc:spChg>
        <pc:spChg chg="mod">
          <ac:chgData name="Yuen Yi LAW" userId="7022f2d7-95f0-4fb1-89f4-e72d0af4d2c8" providerId="ADAL" clId="{398C0C2C-72FE-4EF2-84B9-249470F45663}" dt="2025-08-19T05:19:32.494" v="71" actId="1076"/>
          <ac:spMkLst>
            <pc:docMk/>
            <pc:sldMk cId="3805262453" sldId="361"/>
            <ac:spMk id="5" creationId="{A6A07942-7185-944D-B417-3DF9AFD3FC1D}"/>
          </ac:spMkLst>
        </pc:spChg>
        <pc:spChg chg="mod">
          <ac:chgData name="Yuen Yi LAW" userId="7022f2d7-95f0-4fb1-89f4-e72d0af4d2c8" providerId="ADAL" clId="{398C0C2C-72FE-4EF2-84B9-249470F45663}" dt="2025-08-19T05:26:35.797" v="77" actId="1076"/>
          <ac:spMkLst>
            <pc:docMk/>
            <pc:sldMk cId="3805262453" sldId="361"/>
            <ac:spMk id="6" creationId="{E304BB23-41EE-584C-8C0C-0B2B8F5F8637}"/>
          </ac:spMkLst>
        </pc:spChg>
        <pc:spChg chg="add mod">
          <ac:chgData name="Yuen Yi LAW" userId="7022f2d7-95f0-4fb1-89f4-e72d0af4d2c8" providerId="ADAL" clId="{398C0C2C-72FE-4EF2-84B9-249470F45663}" dt="2025-08-19T05:19:48.190" v="76" actId="1076"/>
          <ac:spMkLst>
            <pc:docMk/>
            <pc:sldMk cId="3805262453" sldId="361"/>
            <ac:spMk id="9" creationId="{390B80BF-DAF9-CE64-AD8B-F35B3290C4CB}"/>
          </ac:spMkLst>
        </pc:spChg>
      </pc:sldChg>
      <pc:sldChg chg="del">
        <pc:chgData name="Yuen Yi LAW" userId="7022f2d7-95f0-4fb1-89f4-e72d0af4d2c8" providerId="ADAL" clId="{398C0C2C-72FE-4EF2-84B9-249470F45663}" dt="2025-08-19T05:27:47.842" v="87" actId="47"/>
        <pc:sldMkLst>
          <pc:docMk/>
          <pc:sldMk cId="4046147017" sldId="364"/>
        </pc:sldMkLst>
      </pc:sldChg>
      <pc:sldChg chg="modSp mod">
        <pc:chgData name="Yuen Yi LAW" userId="7022f2d7-95f0-4fb1-89f4-e72d0af4d2c8" providerId="ADAL" clId="{398C0C2C-72FE-4EF2-84B9-249470F45663}" dt="2025-08-19T11:52:00.782" v="1090" actId="113"/>
        <pc:sldMkLst>
          <pc:docMk/>
          <pc:sldMk cId="4069111373" sldId="365"/>
        </pc:sldMkLst>
        <pc:spChg chg="mod">
          <ac:chgData name="Yuen Yi LAW" userId="7022f2d7-95f0-4fb1-89f4-e72d0af4d2c8" providerId="ADAL" clId="{398C0C2C-72FE-4EF2-84B9-249470F45663}" dt="2025-08-19T11:52:00.782" v="1090" actId="113"/>
          <ac:spMkLst>
            <pc:docMk/>
            <pc:sldMk cId="4069111373" sldId="365"/>
            <ac:spMk id="3" creationId="{00000000-0000-0000-0000-000000000000}"/>
          </ac:spMkLst>
        </pc:spChg>
      </pc:sldChg>
      <pc:sldChg chg="del">
        <pc:chgData name="Yuen Yi LAW" userId="7022f2d7-95f0-4fb1-89f4-e72d0af4d2c8" providerId="ADAL" clId="{398C0C2C-72FE-4EF2-84B9-249470F45663}" dt="2025-08-19T05:27:43.422" v="85" actId="47"/>
        <pc:sldMkLst>
          <pc:docMk/>
          <pc:sldMk cId="1383706343" sldId="366"/>
        </pc:sldMkLst>
      </pc:sldChg>
      <pc:sldChg chg="delSp modSp new mod">
        <pc:chgData name="Yuen Yi LAW" userId="7022f2d7-95f0-4fb1-89f4-e72d0af4d2c8" providerId="ADAL" clId="{398C0C2C-72FE-4EF2-84B9-249470F45663}" dt="2025-08-27T04:48:06.033" v="1107" actId="113"/>
        <pc:sldMkLst>
          <pc:docMk/>
          <pc:sldMk cId="3098199391" sldId="366"/>
        </pc:sldMkLst>
        <pc:spChg chg="mod">
          <ac:chgData name="Yuen Yi LAW" userId="7022f2d7-95f0-4fb1-89f4-e72d0af4d2c8" providerId="ADAL" clId="{398C0C2C-72FE-4EF2-84B9-249470F45663}" dt="2025-08-27T04:48:06.033" v="1107" actId="113"/>
          <ac:spMkLst>
            <pc:docMk/>
            <pc:sldMk cId="3098199391" sldId="366"/>
            <ac:spMk id="3" creationId="{91BFDC43-5743-8145-9AF8-7F04CDC5D868}"/>
          </ac:spMkLst>
        </pc:spChg>
      </pc:sldChg>
      <pc:sldChg chg="addSp delSp modSp new mod">
        <pc:chgData name="Yuen Yi LAW" userId="7022f2d7-95f0-4fb1-89f4-e72d0af4d2c8" providerId="ADAL" clId="{398C0C2C-72FE-4EF2-84B9-249470F45663}" dt="2025-08-19T10:03:54.988" v="680" actId="403"/>
        <pc:sldMkLst>
          <pc:docMk/>
          <pc:sldMk cId="3282112334" sldId="367"/>
        </pc:sldMkLst>
        <pc:spChg chg="mod">
          <ac:chgData name="Yuen Yi LAW" userId="7022f2d7-95f0-4fb1-89f4-e72d0af4d2c8" providerId="ADAL" clId="{398C0C2C-72FE-4EF2-84B9-249470F45663}" dt="2025-08-19T10:02:40.864" v="674" actId="20577"/>
          <ac:spMkLst>
            <pc:docMk/>
            <pc:sldMk cId="3282112334" sldId="367"/>
            <ac:spMk id="3" creationId="{376D5A40-1C2C-CF7F-765A-9A60CF6CC6CC}"/>
          </ac:spMkLst>
        </pc:spChg>
        <pc:graphicFrameChg chg="add mod modGraphic">
          <ac:chgData name="Yuen Yi LAW" userId="7022f2d7-95f0-4fb1-89f4-e72d0af4d2c8" providerId="ADAL" clId="{398C0C2C-72FE-4EF2-84B9-249470F45663}" dt="2025-08-19T10:03:54.988" v="680" actId="403"/>
          <ac:graphicFrameMkLst>
            <pc:docMk/>
            <pc:sldMk cId="3282112334" sldId="367"/>
            <ac:graphicFrameMk id="5" creationId="{01A1570D-A81D-A19E-5FAF-60EB0981973E}"/>
          </ac:graphicFrameMkLst>
        </pc:graphicFrameChg>
      </pc:sldChg>
      <pc:sldChg chg="addSp delSp modSp new mod delAnim modAnim">
        <pc:chgData name="Yuen Yi LAW" userId="7022f2d7-95f0-4fb1-89f4-e72d0af4d2c8" providerId="ADAL" clId="{398C0C2C-72FE-4EF2-84B9-249470F45663}" dt="2025-08-27T04:49:16.276" v="1110" actId="5793"/>
        <pc:sldMkLst>
          <pc:docMk/>
          <pc:sldMk cId="4007441660" sldId="368"/>
        </pc:sldMkLst>
        <pc:spChg chg="mod">
          <ac:chgData name="Yuen Yi LAW" userId="7022f2d7-95f0-4fb1-89f4-e72d0af4d2c8" providerId="ADAL" clId="{398C0C2C-72FE-4EF2-84B9-249470F45663}" dt="2025-08-19T11:48:57.406" v="1050" actId="1076"/>
          <ac:spMkLst>
            <pc:docMk/>
            <pc:sldMk cId="4007441660" sldId="368"/>
            <ac:spMk id="2" creationId="{BF0C2B22-F25D-8A13-7AAD-95DFD72B7C5D}"/>
          </ac:spMkLst>
        </pc:spChg>
        <pc:spChg chg="mod">
          <ac:chgData name="Yuen Yi LAW" userId="7022f2d7-95f0-4fb1-89f4-e72d0af4d2c8" providerId="ADAL" clId="{398C0C2C-72FE-4EF2-84B9-249470F45663}" dt="2025-08-27T04:49:16.276" v="1110" actId="5793"/>
          <ac:spMkLst>
            <pc:docMk/>
            <pc:sldMk cId="4007441660" sldId="368"/>
            <ac:spMk id="3" creationId="{F97C0B82-086E-6866-F863-F61530C3ACD9}"/>
          </ac:spMkLst>
        </pc:spChg>
        <pc:spChg chg="add mod">
          <ac:chgData name="Yuen Yi LAW" userId="7022f2d7-95f0-4fb1-89f4-e72d0af4d2c8" providerId="ADAL" clId="{398C0C2C-72FE-4EF2-84B9-249470F45663}" dt="2025-08-19T11:49:00.403" v="1051" actId="1076"/>
          <ac:spMkLst>
            <pc:docMk/>
            <pc:sldMk cId="4007441660" sldId="368"/>
            <ac:spMk id="5" creationId="{9B6F606F-5C2A-9C93-9777-CEF3B15FF1EA}"/>
          </ac:spMkLst>
        </pc:spChg>
      </pc:sldChg>
      <pc:sldChg chg="addSp modSp new mod modAnim">
        <pc:chgData name="Yuen Yi LAW" userId="7022f2d7-95f0-4fb1-89f4-e72d0af4d2c8" providerId="ADAL" clId="{398C0C2C-72FE-4EF2-84B9-249470F45663}" dt="2025-08-19T11:41:16.160" v="1017" actId="2710"/>
        <pc:sldMkLst>
          <pc:docMk/>
          <pc:sldMk cId="255229513" sldId="369"/>
        </pc:sldMkLst>
        <pc:spChg chg="mod">
          <ac:chgData name="Yuen Yi LAW" userId="7022f2d7-95f0-4fb1-89f4-e72d0af4d2c8" providerId="ADAL" clId="{398C0C2C-72FE-4EF2-84B9-249470F45663}" dt="2025-08-19T11:30:02.933" v="955" actId="1076"/>
          <ac:spMkLst>
            <pc:docMk/>
            <pc:sldMk cId="255229513" sldId="369"/>
            <ac:spMk id="2" creationId="{0BA55151-79DB-2DCA-5571-F00B9BF5465A}"/>
          </ac:spMkLst>
        </pc:spChg>
        <pc:spChg chg="mod">
          <ac:chgData name="Yuen Yi LAW" userId="7022f2d7-95f0-4fb1-89f4-e72d0af4d2c8" providerId="ADAL" clId="{398C0C2C-72FE-4EF2-84B9-249470F45663}" dt="2025-08-19T11:30:38.572" v="959" actId="403"/>
          <ac:spMkLst>
            <pc:docMk/>
            <pc:sldMk cId="255229513" sldId="369"/>
            <ac:spMk id="3" creationId="{50289A1C-820F-0E86-8F03-20132CFA86F1}"/>
          </ac:spMkLst>
        </pc:spChg>
        <pc:spChg chg="add mod">
          <ac:chgData name="Yuen Yi LAW" userId="7022f2d7-95f0-4fb1-89f4-e72d0af4d2c8" providerId="ADAL" clId="{398C0C2C-72FE-4EF2-84B9-249470F45663}" dt="2025-08-19T11:41:16.160" v="1017" actId="2710"/>
          <ac:spMkLst>
            <pc:docMk/>
            <pc:sldMk cId="255229513" sldId="369"/>
            <ac:spMk id="5" creationId="{9C137CF2-31E7-51D5-894A-B8E8BC4C7D78}"/>
          </ac:spMkLst>
        </pc:spChg>
      </pc:sldChg>
      <pc:sldChg chg="addSp delSp modSp new mod">
        <pc:chgData name="Yuen Yi LAW" userId="7022f2d7-95f0-4fb1-89f4-e72d0af4d2c8" providerId="ADAL" clId="{398C0C2C-72FE-4EF2-84B9-249470F45663}" dt="2025-08-19T11:42:35.458" v="1027" actId="1076"/>
        <pc:sldMkLst>
          <pc:docMk/>
          <pc:sldMk cId="2703005740" sldId="370"/>
        </pc:sldMkLst>
        <pc:spChg chg="mod">
          <ac:chgData name="Yuen Yi LAW" userId="7022f2d7-95f0-4fb1-89f4-e72d0af4d2c8" providerId="ADAL" clId="{398C0C2C-72FE-4EF2-84B9-249470F45663}" dt="2025-08-19T11:42:35.458" v="1027" actId="1076"/>
          <ac:spMkLst>
            <pc:docMk/>
            <pc:sldMk cId="2703005740" sldId="370"/>
            <ac:spMk id="2" creationId="{BB816084-3FF5-804B-CFE1-2C126E0D8820}"/>
          </ac:spMkLst>
        </pc:spChg>
        <pc:spChg chg="mod">
          <ac:chgData name="Yuen Yi LAW" userId="7022f2d7-95f0-4fb1-89f4-e72d0af4d2c8" providerId="ADAL" clId="{398C0C2C-72FE-4EF2-84B9-249470F45663}" dt="2025-08-19T11:42:33.216" v="1026" actId="1076"/>
          <ac:spMkLst>
            <pc:docMk/>
            <pc:sldMk cId="2703005740" sldId="370"/>
            <ac:spMk id="3" creationId="{E47B0249-CA27-8889-AD8E-122D0EDBAAC9}"/>
          </ac:spMkLst>
        </pc:spChg>
      </pc:sldChg>
      <pc:sldChg chg="add">
        <pc:chgData name="Yuen Yi LAW" userId="7022f2d7-95f0-4fb1-89f4-e72d0af4d2c8" providerId="ADAL" clId="{398C0C2C-72FE-4EF2-84B9-249470F45663}" dt="2025-08-19T11:42:43.529" v="1028"/>
        <pc:sldMkLst>
          <pc:docMk/>
          <pc:sldMk cId="2329463171" sldId="371"/>
        </pc:sldMkLst>
      </pc:sldChg>
      <pc:sldChg chg="addSp modSp new mod">
        <pc:chgData name="Yuen Yi LAW" userId="7022f2d7-95f0-4fb1-89f4-e72d0af4d2c8" providerId="ADAL" clId="{398C0C2C-72FE-4EF2-84B9-249470F45663}" dt="2025-08-19T11:50:12.528" v="1067" actId="403"/>
        <pc:sldMkLst>
          <pc:docMk/>
          <pc:sldMk cId="2039220159" sldId="372"/>
        </pc:sldMkLst>
        <pc:spChg chg="mod">
          <ac:chgData name="Yuen Yi LAW" userId="7022f2d7-95f0-4fb1-89f4-e72d0af4d2c8" providerId="ADAL" clId="{398C0C2C-72FE-4EF2-84B9-249470F45663}" dt="2025-08-19T11:45:07.762" v="1044" actId="1076"/>
          <ac:spMkLst>
            <pc:docMk/>
            <pc:sldMk cId="2039220159" sldId="372"/>
            <ac:spMk id="2" creationId="{FF0B73D3-B337-BE7C-1214-A29F6AA90069}"/>
          </ac:spMkLst>
        </pc:spChg>
        <pc:spChg chg="mod">
          <ac:chgData name="Yuen Yi LAW" userId="7022f2d7-95f0-4fb1-89f4-e72d0af4d2c8" providerId="ADAL" clId="{398C0C2C-72FE-4EF2-84B9-249470F45663}" dt="2025-08-19T11:49:55.911" v="1060" actId="1076"/>
          <ac:spMkLst>
            <pc:docMk/>
            <pc:sldMk cId="2039220159" sldId="372"/>
            <ac:spMk id="3" creationId="{21A4BF49-9665-96D8-D6AC-B7077C585F26}"/>
          </ac:spMkLst>
        </pc:spChg>
        <pc:graphicFrameChg chg="add mod modGraphic">
          <ac:chgData name="Yuen Yi LAW" userId="7022f2d7-95f0-4fb1-89f4-e72d0af4d2c8" providerId="ADAL" clId="{398C0C2C-72FE-4EF2-84B9-249470F45663}" dt="2025-08-19T11:50:12.528" v="1067" actId="403"/>
          <ac:graphicFrameMkLst>
            <pc:docMk/>
            <pc:sldMk cId="2039220159" sldId="372"/>
            <ac:graphicFrameMk id="5" creationId="{DC34AF9A-4408-6E8B-3F3D-C0AF6986ABF7}"/>
          </ac:graphicFrameMkLst>
        </pc:graphicFrameChg>
      </pc:sldChg>
      <pc:sldChg chg="addSp delSp modSp new mod">
        <pc:chgData name="Yuen Yi LAW" userId="7022f2d7-95f0-4fb1-89f4-e72d0af4d2c8" providerId="ADAL" clId="{398C0C2C-72FE-4EF2-84B9-249470F45663}" dt="2025-08-19T11:51:05.198" v="1080" actId="478"/>
        <pc:sldMkLst>
          <pc:docMk/>
          <pc:sldMk cId="158607162" sldId="373"/>
        </pc:sldMkLst>
        <pc:spChg chg="add mod">
          <ac:chgData name="Yuen Yi LAW" userId="7022f2d7-95f0-4fb1-89f4-e72d0af4d2c8" providerId="ADAL" clId="{398C0C2C-72FE-4EF2-84B9-249470F45663}" dt="2025-08-19T11:50:35.284" v="1070"/>
          <ac:spMkLst>
            <pc:docMk/>
            <pc:sldMk cId="158607162" sldId="373"/>
            <ac:spMk id="6" creationId="{7BE6D3B4-B2EE-155E-CE2C-DABC72088351}"/>
          </ac:spMkLst>
        </pc:spChg>
        <pc:spChg chg="add mod">
          <ac:chgData name="Yuen Yi LAW" userId="7022f2d7-95f0-4fb1-89f4-e72d0af4d2c8" providerId="ADAL" clId="{398C0C2C-72FE-4EF2-84B9-249470F45663}" dt="2025-08-19T11:50:57.798" v="1078" actId="12"/>
          <ac:spMkLst>
            <pc:docMk/>
            <pc:sldMk cId="158607162" sldId="373"/>
            <ac:spMk id="7" creationId="{8F9E87FD-894E-4D40-B59B-0D309B66CC70}"/>
          </ac:spMkLst>
        </pc:spChg>
        <pc:grpChg chg="add mod">
          <ac:chgData name="Yuen Yi LAW" userId="7022f2d7-95f0-4fb1-89f4-e72d0af4d2c8" providerId="ADAL" clId="{398C0C2C-72FE-4EF2-84B9-249470F45663}" dt="2025-08-19T11:50:39.641" v="1072" actId="14100"/>
          <ac:grpSpMkLst>
            <pc:docMk/>
            <pc:sldMk cId="158607162" sldId="373"/>
            <ac:grpSpMk id="5" creationId="{F5B72EB5-40DC-D60C-B032-61CBC817C011}"/>
          </ac:grpSpMkLst>
        </pc:grpChg>
      </pc:sldChg>
    </pc:docChg>
  </pc:docChgLst>
  <pc:docChgLst>
    <pc:chgData name="Yuen Yi LAW" userId="7022f2d7-95f0-4fb1-89f4-e72d0af4d2c8" providerId="ADAL" clId="{C7E1D1AC-36AC-4AE0-A1D7-394F46166BD8}"/>
    <pc:docChg chg="custSel delSld modSld">
      <pc:chgData name="Yuen Yi LAW" userId="7022f2d7-95f0-4fb1-89f4-e72d0af4d2c8" providerId="ADAL" clId="{C7E1D1AC-36AC-4AE0-A1D7-394F46166BD8}" dt="2024-08-22T10:27:37.860" v="26" actId="20577"/>
      <pc:docMkLst>
        <pc:docMk/>
      </pc:docMkLst>
      <pc:sldChg chg="modSp">
        <pc:chgData name="Yuen Yi LAW" userId="7022f2d7-95f0-4fb1-89f4-e72d0af4d2c8" providerId="ADAL" clId="{C7E1D1AC-36AC-4AE0-A1D7-394F46166BD8}" dt="2024-08-22T10:25:23.678" v="9" actId="20577"/>
        <pc:sldMkLst>
          <pc:docMk/>
          <pc:sldMk cId="3718110898" sldId="258"/>
        </pc:sldMkLst>
      </pc:sldChg>
      <pc:sldChg chg="modSp">
        <pc:chgData name="Yuen Yi LAW" userId="7022f2d7-95f0-4fb1-89f4-e72d0af4d2c8" providerId="ADAL" clId="{C7E1D1AC-36AC-4AE0-A1D7-394F46166BD8}" dt="2024-08-22T10:26:09.702" v="15" actId="20577"/>
        <pc:sldMkLst>
          <pc:docMk/>
          <pc:sldMk cId="3097637986" sldId="260"/>
        </pc:sldMkLst>
      </pc:sldChg>
      <pc:sldChg chg="modSp">
        <pc:chgData name="Yuen Yi LAW" userId="7022f2d7-95f0-4fb1-89f4-e72d0af4d2c8" providerId="ADAL" clId="{C7E1D1AC-36AC-4AE0-A1D7-394F46166BD8}" dt="2024-08-22T10:25:47.438" v="11" actId="20577"/>
        <pc:sldMkLst>
          <pc:docMk/>
          <pc:sldMk cId="2437937106" sldId="281"/>
        </pc:sldMkLst>
      </pc:sldChg>
      <pc:sldChg chg="modSp">
        <pc:chgData name="Yuen Yi LAW" userId="7022f2d7-95f0-4fb1-89f4-e72d0af4d2c8" providerId="ADAL" clId="{C7E1D1AC-36AC-4AE0-A1D7-394F46166BD8}" dt="2024-08-22T10:26:35.918" v="17" actId="20577"/>
        <pc:sldMkLst>
          <pc:docMk/>
          <pc:sldMk cId="2302673064" sldId="286"/>
        </pc:sldMkLst>
      </pc:sldChg>
      <pc:sldChg chg="modSp">
        <pc:chgData name="Yuen Yi LAW" userId="7022f2d7-95f0-4fb1-89f4-e72d0af4d2c8" providerId="ADAL" clId="{C7E1D1AC-36AC-4AE0-A1D7-394F46166BD8}" dt="2024-08-22T10:26:55.588" v="20" actId="20577"/>
        <pc:sldMkLst>
          <pc:docMk/>
          <pc:sldMk cId="3140656122" sldId="298"/>
        </pc:sldMkLst>
      </pc:sldChg>
      <pc:sldChg chg="modSp">
        <pc:chgData name="Yuen Yi LAW" userId="7022f2d7-95f0-4fb1-89f4-e72d0af4d2c8" providerId="ADAL" clId="{C7E1D1AC-36AC-4AE0-A1D7-394F46166BD8}" dt="2024-08-22T10:27:08.918" v="22" actId="20577"/>
        <pc:sldMkLst>
          <pc:docMk/>
          <pc:sldMk cId="2516120306" sldId="302"/>
        </pc:sldMkLst>
      </pc:sldChg>
      <pc:sldChg chg="modSp">
        <pc:chgData name="Yuen Yi LAW" userId="7022f2d7-95f0-4fb1-89f4-e72d0af4d2c8" providerId="ADAL" clId="{C7E1D1AC-36AC-4AE0-A1D7-394F46166BD8}" dt="2024-08-22T10:27:22.630" v="24" actId="20577"/>
        <pc:sldMkLst>
          <pc:docMk/>
          <pc:sldMk cId="1614451042" sldId="310"/>
        </pc:sldMkLst>
      </pc:sldChg>
      <pc:sldChg chg="modSp">
        <pc:chgData name="Yuen Yi LAW" userId="7022f2d7-95f0-4fb1-89f4-e72d0af4d2c8" providerId="ADAL" clId="{C7E1D1AC-36AC-4AE0-A1D7-394F46166BD8}" dt="2024-08-22T10:27:37.860" v="26" actId="20577"/>
        <pc:sldMkLst>
          <pc:docMk/>
          <pc:sldMk cId="638496737" sldId="313"/>
        </pc:sldMkLst>
      </pc:sldChg>
      <pc:sldChg chg="addSp modSp">
        <pc:chgData name="Yuen Yi LAW" userId="7022f2d7-95f0-4fb1-89f4-e72d0af4d2c8" providerId="ADAL" clId="{C7E1D1AC-36AC-4AE0-A1D7-394F46166BD8}" dt="2024-08-22T10:24:41.400" v="5" actId="1076"/>
        <pc:sldMkLst>
          <pc:docMk/>
          <pc:sldMk cId="1093365939" sldId="347"/>
        </pc:sldMkLst>
      </pc:sldChg>
      <pc:sldChg chg="del">
        <pc:chgData name="Yuen Yi LAW" userId="7022f2d7-95f0-4fb1-89f4-e72d0af4d2c8" providerId="ADAL" clId="{C7E1D1AC-36AC-4AE0-A1D7-394F46166BD8}" dt="2024-08-22T10:25:14.595" v="6" actId="2696"/>
        <pc:sldMkLst>
          <pc:docMk/>
          <pc:sldMk cId="988611522" sldId="362"/>
        </pc:sldMkLst>
      </pc:sldChg>
      <pc:sldChg chg="del">
        <pc:chgData name="Yuen Yi LAW" userId="7022f2d7-95f0-4fb1-89f4-e72d0af4d2c8" providerId="ADAL" clId="{C7E1D1AC-36AC-4AE0-A1D7-394F46166BD8}" dt="2024-08-22T10:25:18.475" v="7" actId="2696"/>
        <pc:sldMkLst>
          <pc:docMk/>
          <pc:sldMk cId="566795101" sldId="363"/>
        </pc:sldMkLst>
      </pc:sldChg>
      <pc:sldChg chg="modSp">
        <pc:chgData name="Yuen Yi LAW" userId="7022f2d7-95f0-4fb1-89f4-e72d0af4d2c8" providerId="ADAL" clId="{C7E1D1AC-36AC-4AE0-A1D7-394F46166BD8}" dt="2024-08-22T10:25:56.405" v="13" actId="20577"/>
        <pc:sldMkLst>
          <pc:docMk/>
          <pc:sldMk cId="1383706343" sldId="3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BC092-0C5E-459E-90BA-C24D2935ACF8}" type="datetimeFigureOut">
              <a:rPr lang="en-US" smtClean="0"/>
              <a:t>8/27/2025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F4E5D-7D14-401F-80BC-EF7F76E00CC5}" type="slidenum">
              <a:rPr lang="en-US" smtClean="0"/>
              <a:t>‹#›</a:t>
            </a:fld>
            <a:endParaRPr lang="en-US"/>
          </a:p>
        </p:txBody>
      </p:sp>
    </p:spTree>
    <p:extLst>
      <p:ext uri="{BB962C8B-B14F-4D97-AF65-F5344CB8AC3E}">
        <p14:creationId xmlns:p14="http://schemas.microsoft.com/office/powerpoint/2010/main" val="3915795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050D4A-85ED-4DFB-A4F4-500F91CE3B26}" type="datetime1">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56B073-51F8-4A7F-8B77-D2009A18E1B5}" type="datetime1">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5C29E4-48BB-40D8-9D7B-D28A752C5423}" type="datetime1">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193A82-F9AA-4641-A3C2-6A73DA7A83CB}" type="datetime1">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6D7ADB-C960-42FF-B8F5-1DD6ED98E93A}" type="datetime1">
              <a:rPr lang="en-US" smtClean="0"/>
              <a:t>8/27/2025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99DC2F-56B0-4416-A0AE-70418D961B03}" type="datetime1">
              <a:rPr lang="en-US" smtClean="0"/>
              <a:t>8/27/2025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A15A2A-1568-4A28-95D2-3DF9A43D57E1}" type="datetime1">
              <a:rPr lang="en-US" smtClean="0"/>
              <a:t>8/27/2025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A00FF86-93DA-4929-B70A-6A5DEA2F0360}" type="datetime1">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1E8C85F-3A8D-4808-9A14-75D6CA7487D3}" type="datetime1">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176B4D-98BB-4CDF-BB3E-08ABFB959FBA}" type="datetime1">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0B40A5A-3B01-4DDC-B0BD-97F8F5C6402F}" type="datetime1">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F061FE5-A9DD-4BDA-B6D5-92574CB2743A}" type="datetime1">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809C556-85E5-4DD9-A8ED-601037CC7FF5}" type="datetime1">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90A6CEB1-C910-456C-A48E-568605774303}" type="datetime1">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24E2A-0226-4F2B-B6B1-D0E0D731ECCA}" type="datetime1">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51E20C-A593-4BDC-A19E-FFF702500344}" type="datetime1">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D6EB978-64C0-4FFA-8298-7CD4E4ECA6E0}" type="datetime1">
              <a:rPr lang="en-US" smtClean="0"/>
              <a:t>8/27/2025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phrasebank.manchester.ac.uk/describing-method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phrasebank.manchester.ac.uk/reporting-results/"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eDKIJ7zx_uw" TargetMode="External"/><Relationship Id="rId2" Type="http://schemas.openxmlformats.org/officeDocument/2006/relationships/hyperlink" Target="https://www.youtube.com/watch?v=IkAYXKiWek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youtu.be/8nftcikpzMs" TargetMode="External"/><Relationship Id="rId2" Type="http://schemas.openxmlformats.org/officeDocument/2006/relationships/hyperlink" Target="https://youtu.be/qGILwdSnJlM" TargetMode="External"/><Relationship Id="rId1" Type="http://schemas.openxmlformats.org/officeDocument/2006/relationships/slideLayout" Target="../slideLayouts/slideLayout2.xml"/><Relationship Id="rId4" Type="http://schemas.openxmlformats.org/officeDocument/2006/relationships/hyperlink" Target="https://youtu.be/yOkH87Xph5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0749" y="1244212"/>
            <a:ext cx="8915399" cy="2262781"/>
          </a:xfrm>
        </p:spPr>
        <p:txBody>
          <a:bodyPr>
            <a:normAutofit fontScale="90000"/>
          </a:bodyPr>
          <a:lstStyle/>
          <a:p>
            <a:r>
              <a:rPr lang="en-US" dirty="0"/>
              <a:t>MCCP6020 </a:t>
            </a:r>
            <a:br>
              <a:rPr lang="en-US" dirty="0"/>
            </a:br>
            <a:r>
              <a:rPr lang="en-US" dirty="0"/>
              <a:t>Advanced English for Academic Purposes</a:t>
            </a:r>
          </a:p>
        </p:txBody>
      </p:sp>
      <p:sp>
        <p:nvSpPr>
          <p:cNvPr id="3" name="Subtitle 2"/>
          <p:cNvSpPr>
            <a:spLocks noGrp="1"/>
          </p:cNvSpPr>
          <p:nvPr>
            <p:ph type="subTitle" idx="1"/>
          </p:nvPr>
        </p:nvSpPr>
        <p:spPr>
          <a:xfrm>
            <a:off x="2547332" y="4044463"/>
            <a:ext cx="8915399" cy="1126283"/>
          </a:xfrm>
        </p:spPr>
        <p:txBody>
          <a:bodyPr>
            <a:normAutofit lnSpcReduction="10000"/>
          </a:bodyPr>
          <a:lstStyle/>
          <a:p>
            <a:r>
              <a:rPr lang="en-US" dirty="0"/>
              <a:t>Session 3</a:t>
            </a:r>
          </a:p>
          <a:p>
            <a:r>
              <a:rPr lang="en-GB" altLang="zh-CN" dirty="0"/>
              <a:t>Describing Research Methodology</a:t>
            </a:r>
          </a:p>
          <a:p>
            <a:r>
              <a:rPr lang="en-GB" altLang="zh-CN" dirty="0"/>
              <a:t>Presenting  and Discussing the Research Results (Part 1)</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572139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4036" y="787782"/>
            <a:ext cx="8911687" cy="1280890"/>
          </a:xfrm>
        </p:spPr>
        <p:txBody>
          <a:bodyPr/>
          <a:lstStyle/>
          <a:p>
            <a:r>
              <a:rPr lang="en-US" dirty="0"/>
              <a:t>Learning Outcomes:</a:t>
            </a:r>
          </a:p>
        </p:txBody>
      </p:sp>
      <p:sp>
        <p:nvSpPr>
          <p:cNvPr id="3" name="Content Placeholder 2"/>
          <p:cNvSpPr>
            <a:spLocks noGrp="1"/>
          </p:cNvSpPr>
          <p:nvPr>
            <p:ph idx="1"/>
          </p:nvPr>
        </p:nvSpPr>
        <p:spPr>
          <a:xfrm>
            <a:off x="2213060" y="1793352"/>
            <a:ext cx="8773641" cy="3777622"/>
          </a:xfrm>
        </p:spPr>
        <p:txBody>
          <a:bodyPr>
            <a:normAutofit fontScale="92500" lnSpcReduction="10000"/>
          </a:bodyPr>
          <a:lstStyle/>
          <a:p>
            <a:pPr marL="0" indent="0">
              <a:buNone/>
            </a:pPr>
            <a:r>
              <a:rPr lang="en-US" sz="2000" dirty="0"/>
              <a:t>By the end of this session, students should be able to:</a:t>
            </a:r>
          </a:p>
          <a:p>
            <a:pPr marL="0" indent="0">
              <a:buNone/>
            </a:pPr>
            <a:endParaRPr lang="en-US" sz="2000" dirty="0"/>
          </a:p>
          <a:p>
            <a:pPr lvl="0">
              <a:buClr>
                <a:srgbClr val="E78712"/>
              </a:buClr>
            </a:pPr>
            <a:r>
              <a:rPr lang="en-US" sz="2000" dirty="0">
                <a:solidFill>
                  <a:prstClr val="black">
                    <a:lumMod val="75000"/>
                    <a:lumOff val="25000"/>
                  </a:prstClr>
                </a:solidFill>
              </a:rPr>
              <a:t>identify the key components of the Methods section/chapter of a journal article and a thesis </a:t>
            </a:r>
          </a:p>
          <a:p>
            <a:pPr lvl="0">
              <a:buClr>
                <a:srgbClr val="E78712"/>
              </a:buClr>
            </a:pPr>
            <a:r>
              <a:rPr lang="en-US" sz="2000" dirty="0">
                <a:solidFill>
                  <a:prstClr val="black">
                    <a:lumMod val="75000"/>
                    <a:lumOff val="25000"/>
                  </a:prstClr>
                </a:solidFill>
              </a:rPr>
              <a:t>deploy appropriate linguistic strategies to describe the research methodology</a:t>
            </a:r>
            <a:endParaRPr lang="en-GB" sz="2000" dirty="0"/>
          </a:p>
          <a:p>
            <a:pPr lvl="0"/>
            <a:r>
              <a:rPr lang="en-GB" sz="2000" dirty="0"/>
              <a:t>present and discuss the research results in an organized manner</a:t>
            </a:r>
          </a:p>
          <a:p>
            <a:pPr lvl="0"/>
            <a:r>
              <a:rPr lang="en-GB" sz="2000" dirty="0"/>
              <a:t>deploy appropriate linguistic resources to present and discuss research results</a:t>
            </a:r>
          </a:p>
          <a:p>
            <a:pPr lvl="0"/>
            <a:r>
              <a:rPr lang="en-HK" sz="2000" dirty="0"/>
              <a:t>make reasonable claims in the Discussion section/chapter of a journal article and a thesis</a:t>
            </a:r>
            <a:endParaRPr lang="en-GB" sz="2000" dirty="0"/>
          </a:p>
          <a:p>
            <a:pPr marL="0" indent="0">
              <a:buNone/>
            </a:pP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788102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270" y="329899"/>
            <a:ext cx="8911687" cy="1280890"/>
          </a:xfrm>
        </p:spPr>
        <p:txBody>
          <a:bodyPr/>
          <a:lstStyle/>
          <a:p>
            <a:r>
              <a:rPr lang="en-US" dirty="0"/>
              <a:t>Warm-up Task</a:t>
            </a:r>
          </a:p>
        </p:txBody>
      </p:sp>
      <p:sp>
        <p:nvSpPr>
          <p:cNvPr id="3" name="Content Placeholder 2"/>
          <p:cNvSpPr>
            <a:spLocks noGrp="1"/>
          </p:cNvSpPr>
          <p:nvPr>
            <p:ph idx="1"/>
          </p:nvPr>
        </p:nvSpPr>
        <p:spPr>
          <a:xfrm>
            <a:off x="1508270" y="1220468"/>
            <a:ext cx="10143403" cy="5637531"/>
          </a:xfrm>
        </p:spPr>
        <p:txBody>
          <a:bodyPr>
            <a:normAutofit fontScale="70000" lnSpcReduction="20000"/>
          </a:bodyPr>
          <a:lstStyle/>
          <a:p>
            <a:pPr marL="0" indent="0">
              <a:buNone/>
            </a:pPr>
            <a:r>
              <a:rPr lang="en-US" sz="2700" dirty="0"/>
              <a:t>Find a partner and discuss the following questions:</a:t>
            </a:r>
            <a:endParaRPr lang="en-GB" sz="2700" dirty="0"/>
          </a:p>
          <a:p>
            <a:endParaRPr lang="en-US" sz="2700" dirty="0"/>
          </a:p>
          <a:p>
            <a:pPr algn="just"/>
            <a:r>
              <a:rPr lang="en-US" sz="2700" dirty="0"/>
              <a:t>1. What are the main components of the ‘Methodology’ section/chapter of a journal article and a thesis?</a:t>
            </a:r>
          </a:p>
          <a:p>
            <a:pPr marL="0" indent="0" algn="just">
              <a:buNone/>
            </a:pPr>
            <a:endParaRPr lang="en-GB" sz="2700" dirty="0"/>
          </a:p>
          <a:p>
            <a:pPr marL="0" lvl="0" indent="-720000" algn="just">
              <a:buNone/>
            </a:pPr>
            <a:r>
              <a:rPr lang="en-GB" sz="2700" dirty="0">
                <a:solidFill>
                  <a:srgbClr val="0070C0"/>
                </a:solidFill>
              </a:rPr>
              <a:t>The details included in the methodology section and the order in which they are   presented are not fixed. The following includes several of the conventional components:</a:t>
            </a:r>
          </a:p>
          <a:p>
            <a:pPr marL="0" lvl="0" indent="0" algn="just">
              <a:buNone/>
            </a:pPr>
            <a:r>
              <a:rPr lang="en-GB" sz="2700" dirty="0">
                <a:solidFill>
                  <a:srgbClr val="0070C0"/>
                </a:solidFill>
              </a:rPr>
              <a:t> </a:t>
            </a:r>
          </a:p>
          <a:p>
            <a:pPr marL="0" lvl="0" indent="0" algn="just">
              <a:buNone/>
            </a:pPr>
            <a:r>
              <a:rPr lang="en-GB" sz="2700" dirty="0">
                <a:solidFill>
                  <a:srgbClr val="0070C0"/>
                </a:solidFill>
              </a:rPr>
              <a:t>•   overview of the research/experiment</a:t>
            </a:r>
          </a:p>
          <a:p>
            <a:pPr marL="360000" lvl="0" indent="-1080000">
              <a:buNone/>
            </a:pPr>
            <a:r>
              <a:rPr lang="en-GB" sz="2700" dirty="0">
                <a:solidFill>
                  <a:srgbClr val="0070C0"/>
                </a:solidFill>
              </a:rPr>
              <a:t>•	research strategy (Why you have chosen a particular strategy but not   possible   alternatives)</a:t>
            </a:r>
          </a:p>
          <a:p>
            <a:pPr marL="360000" lvl="0" indent="-1080000" algn="just">
              <a:buNone/>
            </a:pPr>
            <a:r>
              <a:rPr lang="en-GB" sz="2700" dirty="0">
                <a:solidFill>
                  <a:srgbClr val="0070C0"/>
                </a:solidFill>
              </a:rPr>
              <a:t>•	data collection (population/sample e.g. animals, chemicals, location, context,  sampling technique, procedures, materials, variables)</a:t>
            </a:r>
          </a:p>
          <a:p>
            <a:pPr marL="0" lvl="0" indent="0" algn="just">
              <a:buNone/>
            </a:pPr>
            <a:r>
              <a:rPr lang="en-GB" sz="2700" dirty="0">
                <a:solidFill>
                  <a:srgbClr val="0070C0"/>
                </a:solidFill>
              </a:rPr>
              <a:t>•    framework for data analysis (e.g. statistical treatment, data analysis methods)</a:t>
            </a:r>
          </a:p>
          <a:p>
            <a:pPr marL="360000" lvl="0" indent="-1080000" algn="just">
              <a:buNone/>
            </a:pPr>
            <a:r>
              <a:rPr lang="en-GB" sz="2700" dirty="0">
                <a:solidFill>
                  <a:srgbClr val="0070C0"/>
                </a:solidFill>
              </a:rPr>
              <a:t>•   limitations and potential problems (Is your research valid and reliable? How can you  minimize any limitations?)</a:t>
            </a:r>
          </a:p>
          <a:p>
            <a:pPr marL="0" lvl="0" indent="0">
              <a:buNone/>
            </a:pPr>
            <a:endParaRPr lang="en-GB" dirty="0"/>
          </a:p>
          <a:p>
            <a:pPr marL="0" indent="0">
              <a:buNone/>
            </a:pPr>
            <a:endParaRPr lang="en-US" dirty="0"/>
          </a:p>
        </p:txBody>
      </p:sp>
      <p:sp>
        <p:nvSpPr>
          <p:cNvPr id="4" name="Slide Number Placeholder 3">
            <a:extLst>
              <a:ext uri="{FF2B5EF4-FFF2-40B4-BE49-F238E27FC236}">
                <a16:creationId xmlns:a16="http://schemas.microsoft.com/office/drawing/2014/main" id="{2099E930-EA90-7A45-98C8-76BBD38BD945}"/>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99681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0911" y="307303"/>
            <a:ext cx="8911687" cy="1280890"/>
          </a:xfrm>
        </p:spPr>
        <p:txBody>
          <a:bodyPr/>
          <a:lstStyle/>
          <a:p>
            <a:r>
              <a:rPr lang="en-US" dirty="0"/>
              <a:t>Warm-up Task</a:t>
            </a:r>
          </a:p>
        </p:txBody>
      </p:sp>
      <p:graphicFrame>
        <p:nvGraphicFramePr>
          <p:cNvPr id="5" name="Table 5">
            <a:extLst>
              <a:ext uri="{FF2B5EF4-FFF2-40B4-BE49-F238E27FC236}">
                <a16:creationId xmlns:a16="http://schemas.microsoft.com/office/drawing/2014/main" id="{BDE64D9B-C32F-46C5-BC9A-45082E7D4115}"/>
              </a:ext>
            </a:extLst>
          </p:cNvPr>
          <p:cNvGraphicFramePr>
            <a:graphicFrameLocks noGrp="1"/>
          </p:cNvGraphicFramePr>
          <p:nvPr/>
        </p:nvGraphicFramePr>
        <p:xfrm>
          <a:off x="2763982" y="2160675"/>
          <a:ext cx="8178616" cy="4485640"/>
        </p:xfrm>
        <a:graphic>
          <a:graphicData uri="http://schemas.openxmlformats.org/drawingml/2006/table">
            <a:tbl>
              <a:tblPr firstRow="1" bandRow="1">
                <a:tableStyleId>{5C22544A-7EE6-4342-B048-85BDC9FD1C3A}</a:tableStyleId>
              </a:tblPr>
              <a:tblGrid>
                <a:gridCol w="5111635">
                  <a:extLst>
                    <a:ext uri="{9D8B030D-6E8A-4147-A177-3AD203B41FA5}">
                      <a16:colId xmlns:a16="http://schemas.microsoft.com/office/drawing/2014/main" val="2800201365"/>
                    </a:ext>
                  </a:extLst>
                </a:gridCol>
                <a:gridCol w="1579961">
                  <a:extLst>
                    <a:ext uri="{9D8B030D-6E8A-4147-A177-3AD203B41FA5}">
                      <a16:colId xmlns:a16="http://schemas.microsoft.com/office/drawing/2014/main" val="900258597"/>
                    </a:ext>
                  </a:extLst>
                </a:gridCol>
                <a:gridCol w="1487020">
                  <a:extLst>
                    <a:ext uri="{9D8B030D-6E8A-4147-A177-3AD203B41FA5}">
                      <a16:colId xmlns:a16="http://schemas.microsoft.com/office/drawing/2014/main" val="2158417568"/>
                    </a:ext>
                  </a:extLst>
                </a:gridCol>
              </a:tblGrid>
              <a:tr h="370840">
                <a:tc>
                  <a:txBody>
                    <a:bodyPr/>
                    <a:lstStyle/>
                    <a:p>
                      <a:endParaRPr lang="en-GB"/>
                    </a:p>
                  </a:txBody>
                  <a:tcPr/>
                </a:tc>
                <a:tc>
                  <a:txBody>
                    <a:bodyPr/>
                    <a:lstStyle/>
                    <a:p>
                      <a:r>
                        <a:rPr lang="en-US" altLang="zh-CN" dirty="0"/>
                        <a:t>True</a:t>
                      </a:r>
                      <a:endParaRPr lang="en-GB" dirty="0"/>
                    </a:p>
                  </a:txBody>
                  <a:tcPr/>
                </a:tc>
                <a:tc>
                  <a:txBody>
                    <a:bodyPr/>
                    <a:lstStyle/>
                    <a:p>
                      <a:r>
                        <a:rPr lang="en-US" altLang="zh-CN" dirty="0"/>
                        <a:t>False</a:t>
                      </a:r>
                      <a:endParaRPr lang="en-GB" dirty="0"/>
                    </a:p>
                  </a:txBody>
                  <a:tcPr/>
                </a:tc>
                <a:extLst>
                  <a:ext uri="{0D108BD9-81ED-4DB2-BD59-A6C34878D82A}">
                    <a16:rowId xmlns:a16="http://schemas.microsoft.com/office/drawing/2014/main" val="628200408"/>
                  </a:ext>
                </a:extLst>
              </a:tr>
              <a:tr h="370840">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1. The aim of the Methodology section/ chapter is to document every single step the researchers took in the research.</a:t>
                      </a:r>
                      <a:endParaRPr lang="en-GB" sz="1800" b="0" dirty="0">
                        <a:solidFill>
                          <a:schemeClr val="tx1"/>
                        </a:solidFill>
                        <a:effectLst/>
                      </a:endParaRPr>
                    </a:p>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170727895"/>
                  </a:ext>
                </a:extLst>
              </a:tr>
              <a:tr h="370840">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2. Based on the steps detailed in the Methodology section/chapter, other researchers should be able to replicate the research.</a:t>
                      </a:r>
                      <a:endParaRPr lang="en-GB" sz="1800" b="0" dirty="0">
                        <a:solidFill>
                          <a:schemeClr val="tx1"/>
                        </a:solidFill>
                        <a:effectLst/>
                      </a:endParaRPr>
                    </a:p>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624158390"/>
                  </a:ext>
                </a:extLst>
              </a:tr>
              <a:tr h="370840">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3. Other researchers should be able to evaluate the reliability and validity of the research after reading the Methodology section/chapter.</a:t>
                      </a:r>
                      <a:endParaRPr lang="en-GB" sz="18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521911715"/>
                  </a:ext>
                </a:extLst>
              </a:tr>
            </a:tbl>
          </a:graphicData>
        </a:graphic>
      </p:graphicFrame>
      <p:sp>
        <p:nvSpPr>
          <p:cNvPr id="6" name="Content Placeholder 2">
            <a:extLst>
              <a:ext uri="{FF2B5EF4-FFF2-40B4-BE49-F238E27FC236}">
                <a16:creationId xmlns:a16="http://schemas.microsoft.com/office/drawing/2014/main" id="{317D71EA-D273-4A48-9744-E4F80FE1D232}"/>
              </a:ext>
            </a:extLst>
          </p:cNvPr>
          <p:cNvSpPr txBox="1">
            <a:spLocks/>
          </p:cNvSpPr>
          <p:nvPr/>
        </p:nvSpPr>
        <p:spPr>
          <a:xfrm>
            <a:off x="1812175" y="1391945"/>
            <a:ext cx="8915400" cy="1537460"/>
          </a:xfrm>
          <a:prstGeom prst="rect">
            <a:avLst/>
          </a:prstGeom>
        </p:spPr>
        <p:txBody>
          <a:bodyPr vert="horz" lIns="91440" tIns="45720" rIns="91440" bIns="45720" rtlCol="0">
            <a:normAutofit fontScale="70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3800" dirty="0"/>
              <a:t>2. Do you think the following statements about the ‘Methodology’ section/chapter are true or false?</a:t>
            </a:r>
            <a:endParaRPr lang="en-GB" sz="3800" dirty="0"/>
          </a:p>
          <a:p>
            <a:pPr marL="0" indent="0">
              <a:buFont typeface="Wingdings 3" charset="2"/>
              <a:buNone/>
            </a:pPr>
            <a:r>
              <a:rPr lang="en-US" dirty="0"/>
              <a:t> </a:t>
            </a:r>
          </a:p>
          <a:p>
            <a:pPr marL="0" indent="0">
              <a:buFont typeface="Wingdings 3" charset="2"/>
              <a:buNone/>
            </a:pPr>
            <a:r>
              <a:rPr lang="en-US" dirty="0"/>
              <a:t> </a:t>
            </a:r>
          </a:p>
          <a:p>
            <a:pPr marL="0" indent="0">
              <a:buFont typeface="Wingdings 3" charset="2"/>
              <a:buNone/>
            </a:pPr>
            <a:endParaRPr lang="en-US" dirty="0"/>
          </a:p>
        </p:txBody>
      </p:sp>
      <p:sp>
        <p:nvSpPr>
          <p:cNvPr id="9" name="Title 1">
            <a:extLst>
              <a:ext uri="{FF2B5EF4-FFF2-40B4-BE49-F238E27FC236}">
                <a16:creationId xmlns:a16="http://schemas.microsoft.com/office/drawing/2014/main" id="{3FEC39B1-5910-463B-88C9-BFC207FD4EB5}"/>
              </a:ext>
            </a:extLst>
          </p:cNvPr>
          <p:cNvSpPr txBox="1">
            <a:spLocks/>
          </p:cNvSpPr>
          <p:nvPr/>
        </p:nvSpPr>
        <p:spPr>
          <a:xfrm>
            <a:off x="9727478" y="2990750"/>
            <a:ext cx="822037" cy="621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400" dirty="0"/>
              <a:t>X</a:t>
            </a:r>
            <a:endParaRPr lang="en-US" sz="2400" dirty="0"/>
          </a:p>
        </p:txBody>
      </p:sp>
      <p:sp>
        <p:nvSpPr>
          <p:cNvPr id="11" name="Title 1">
            <a:extLst>
              <a:ext uri="{FF2B5EF4-FFF2-40B4-BE49-F238E27FC236}">
                <a16:creationId xmlns:a16="http://schemas.microsoft.com/office/drawing/2014/main" id="{A653F06D-FADE-4DFE-B2EC-8D8FDF374703}"/>
              </a:ext>
            </a:extLst>
          </p:cNvPr>
          <p:cNvSpPr txBox="1">
            <a:spLocks/>
          </p:cNvSpPr>
          <p:nvPr/>
        </p:nvSpPr>
        <p:spPr>
          <a:xfrm>
            <a:off x="8106497" y="4387498"/>
            <a:ext cx="822037" cy="621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400" dirty="0"/>
              <a:t>X</a:t>
            </a:r>
            <a:endParaRPr lang="en-US" sz="2400" dirty="0"/>
          </a:p>
        </p:txBody>
      </p:sp>
      <p:sp>
        <p:nvSpPr>
          <p:cNvPr id="12" name="Title 1">
            <a:extLst>
              <a:ext uri="{FF2B5EF4-FFF2-40B4-BE49-F238E27FC236}">
                <a16:creationId xmlns:a16="http://schemas.microsoft.com/office/drawing/2014/main" id="{7AD3F10E-22C1-417C-A3B2-F44BF76A6452}"/>
              </a:ext>
            </a:extLst>
          </p:cNvPr>
          <p:cNvSpPr txBox="1">
            <a:spLocks/>
          </p:cNvSpPr>
          <p:nvPr/>
        </p:nvSpPr>
        <p:spPr>
          <a:xfrm>
            <a:off x="8106497" y="5693716"/>
            <a:ext cx="822037" cy="621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400" dirty="0"/>
              <a:t>X</a:t>
            </a:r>
            <a:endParaRPr lang="en-US" sz="2400" dirty="0"/>
          </a:p>
        </p:txBody>
      </p:sp>
      <p:sp>
        <p:nvSpPr>
          <p:cNvPr id="3" name="Slide Number Placeholder 2">
            <a:extLst>
              <a:ext uri="{FF2B5EF4-FFF2-40B4-BE49-F238E27FC236}">
                <a16:creationId xmlns:a16="http://schemas.microsoft.com/office/drawing/2014/main" id="{F2C7617C-E718-7246-BF5E-D8B121ADB19D}"/>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98103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7464BB-24A8-4E78-AE6C-20D2E93F6DDF}"/>
              </a:ext>
            </a:extLst>
          </p:cNvPr>
          <p:cNvSpPr/>
          <p:nvPr/>
        </p:nvSpPr>
        <p:spPr>
          <a:xfrm>
            <a:off x="1846217" y="1372732"/>
            <a:ext cx="9683932" cy="2733249"/>
          </a:xfrm>
          <a:prstGeom prst="rect">
            <a:avLst/>
          </a:prstGeom>
        </p:spPr>
        <p:txBody>
          <a:bodyPr wrap="square">
            <a:spAutoFit/>
          </a:bodyPr>
          <a:lstStyle/>
          <a:p>
            <a:pPr>
              <a:lnSpc>
                <a:spcPts val="2600"/>
              </a:lnSpc>
              <a:spcBef>
                <a:spcPts val="1000"/>
              </a:spcBef>
              <a:buClr>
                <a:schemeClr val="accent1"/>
              </a:buClr>
            </a:pPr>
            <a:r>
              <a:rPr lang="en-US" sz="2000" dirty="0">
                <a:solidFill>
                  <a:schemeClr val="tx1">
                    <a:lumMod val="75000"/>
                    <a:lumOff val="25000"/>
                  </a:schemeClr>
                </a:solidFill>
              </a:rPr>
              <a:t>The diagram below shows how a particular view of the world reflects the whole research process. By setting out the interrelationship between what researchers think can be analyzed (ontological position), linking it to what researchers can actually know about it (epistemological position) and how to go about acquiring it, it is possible to comprehend the impact on what or how you decide to study the problem. However, it is important to note that ultimately you need to identify the research strategy that best meets your research objectives. </a:t>
            </a:r>
            <a:endParaRPr lang="en-GB" sz="2000" dirty="0">
              <a:solidFill>
                <a:schemeClr val="tx1">
                  <a:lumMod val="75000"/>
                  <a:lumOff val="25000"/>
                </a:schemeClr>
              </a:solidFill>
            </a:endParaRPr>
          </a:p>
        </p:txBody>
      </p:sp>
      <p:sp>
        <p:nvSpPr>
          <p:cNvPr id="2" name="Slide Number Placeholder 1">
            <a:extLst>
              <a:ext uri="{FF2B5EF4-FFF2-40B4-BE49-F238E27FC236}">
                <a16:creationId xmlns:a16="http://schemas.microsoft.com/office/drawing/2014/main" id="{BA282374-F0DD-2745-8E56-E8E08CCE955F}"/>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3034853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822670C-AD8E-42AA-BA42-ED57C9D2FA54}"/>
              </a:ext>
            </a:extLst>
          </p:cNvPr>
          <p:cNvSpPr>
            <a:spLocks noGrp="1"/>
          </p:cNvSpPr>
          <p:nvPr>
            <p:ph idx="1"/>
          </p:nvPr>
        </p:nvSpPr>
        <p:spPr>
          <a:xfrm>
            <a:off x="1404845" y="226423"/>
            <a:ext cx="10534605" cy="940526"/>
          </a:xfrm>
        </p:spPr>
        <p:txBody>
          <a:bodyPr>
            <a:normAutofit/>
          </a:bodyPr>
          <a:lstStyle/>
          <a:p>
            <a:r>
              <a:rPr lang="en-US" b="1" u="sng" dirty="0"/>
              <a:t>The Directional Relationship between Key Components (the building blocks) of Research</a:t>
            </a:r>
            <a:endParaRPr lang="en-GB" dirty="0"/>
          </a:p>
        </p:txBody>
      </p:sp>
      <p:sp>
        <p:nvSpPr>
          <p:cNvPr id="8" name="Text Box 2">
            <a:extLst>
              <a:ext uri="{FF2B5EF4-FFF2-40B4-BE49-F238E27FC236}">
                <a16:creationId xmlns:a16="http://schemas.microsoft.com/office/drawing/2014/main" id="{7178725F-CE82-4422-910A-1E47FB4CDA7A}"/>
              </a:ext>
            </a:extLst>
          </p:cNvPr>
          <p:cNvSpPr txBox="1">
            <a:spLocks noChangeArrowheads="1"/>
          </p:cNvSpPr>
          <p:nvPr/>
        </p:nvSpPr>
        <p:spPr bwMode="auto">
          <a:xfrm>
            <a:off x="2013077" y="921398"/>
            <a:ext cx="1232492" cy="39787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1000"/>
              </a:spcAft>
            </a:pPr>
            <a:r>
              <a:rPr lang="en-US" dirty="0">
                <a:effectLst/>
                <a:latin typeface="Calibri" panose="020F0502020204030204" pitchFamily="34" charset="0"/>
                <a:ea typeface="DengXian" panose="02010600030101010101" pitchFamily="2" charset="-122"/>
                <a:cs typeface="Times New Roman" panose="02020603050405020304" pitchFamily="18" charset="0"/>
              </a:rPr>
              <a:t>Ontology</a:t>
            </a:r>
            <a:endParaRPr lang="en-GB"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0" name="Text Box 2">
            <a:extLst>
              <a:ext uri="{FF2B5EF4-FFF2-40B4-BE49-F238E27FC236}">
                <a16:creationId xmlns:a16="http://schemas.microsoft.com/office/drawing/2014/main" id="{0E638CBA-E8B7-4176-880F-922D93A7F0D4}"/>
              </a:ext>
            </a:extLst>
          </p:cNvPr>
          <p:cNvSpPr txBox="1">
            <a:spLocks noChangeArrowheads="1"/>
          </p:cNvSpPr>
          <p:nvPr/>
        </p:nvSpPr>
        <p:spPr bwMode="auto">
          <a:xfrm>
            <a:off x="3998007" y="951815"/>
            <a:ext cx="1522095" cy="39787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1000"/>
              </a:spcAft>
            </a:pPr>
            <a:r>
              <a:rPr lang="en-US" dirty="0">
                <a:latin typeface="Calibri" panose="020F0502020204030204" pitchFamily="34" charset="0"/>
                <a:ea typeface="DengXian" panose="02010600030101010101" pitchFamily="2" charset="-122"/>
                <a:cs typeface="Times New Roman" panose="02020603050405020304" pitchFamily="18" charset="0"/>
              </a:rPr>
              <a:t>Epistemology</a:t>
            </a:r>
            <a:endParaRPr lang="en-GB" dirty="0">
              <a:latin typeface="Calibri" panose="020F0502020204030204" pitchFamily="34" charset="0"/>
              <a:ea typeface="DengXian" panose="02010600030101010101" pitchFamily="2" charset="-122"/>
              <a:cs typeface="Times New Roman" panose="02020603050405020304" pitchFamily="18" charset="0"/>
            </a:endParaRPr>
          </a:p>
        </p:txBody>
      </p:sp>
      <p:sp>
        <p:nvSpPr>
          <p:cNvPr id="11" name="Text Box 2">
            <a:extLst>
              <a:ext uri="{FF2B5EF4-FFF2-40B4-BE49-F238E27FC236}">
                <a16:creationId xmlns:a16="http://schemas.microsoft.com/office/drawing/2014/main" id="{F6B7B663-EDCA-4E71-9CE1-30FD33FDE797}"/>
              </a:ext>
            </a:extLst>
          </p:cNvPr>
          <p:cNvSpPr txBox="1">
            <a:spLocks noChangeArrowheads="1"/>
          </p:cNvSpPr>
          <p:nvPr/>
        </p:nvSpPr>
        <p:spPr bwMode="auto">
          <a:xfrm>
            <a:off x="6187960" y="993389"/>
            <a:ext cx="1522095" cy="3954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1000"/>
              </a:spcAft>
            </a:pPr>
            <a:r>
              <a:rPr lang="en-GB" dirty="0">
                <a:effectLst/>
                <a:latin typeface="Calibri" panose="020F0502020204030204" pitchFamily="34" charset="0"/>
                <a:ea typeface="DengXian" panose="02010600030101010101" pitchFamily="2" charset="-122"/>
                <a:cs typeface="Times New Roman" panose="02020603050405020304" pitchFamily="18" charset="0"/>
              </a:rPr>
              <a:t>Methodology</a:t>
            </a:r>
          </a:p>
        </p:txBody>
      </p:sp>
      <p:sp>
        <p:nvSpPr>
          <p:cNvPr id="12" name="Text Box 3">
            <a:extLst>
              <a:ext uri="{FF2B5EF4-FFF2-40B4-BE49-F238E27FC236}">
                <a16:creationId xmlns:a16="http://schemas.microsoft.com/office/drawing/2014/main" id="{B3D7306F-F8FA-486C-9A63-50DCB4705D23}"/>
              </a:ext>
            </a:extLst>
          </p:cNvPr>
          <p:cNvSpPr txBox="1">
            <a:spLocks noChangeArrowheads="1"/>
          </p:cNvSpPr>
          <p:nvPr/>
        </p:nvSpPr>
        <p:spPr bwMode="auto">
          <a:xfrm>
            <a:off x="8465567" y="1014269"/>
            <a:ext cx="1201512" cy="3954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1000"/>
              </a:spcAft>
            </a:pPr>
            <a:r>
              <a:rPr lang="en-GB" dirty="0">
                <a:effectLst/>
                <a:latin typeface="Calibri" panose="020F0502020204030204" pitchFamily="34" charset="0"/>
                <a:ea typeface="DengXian" panose="02010600030101010101" pitchFamily="2" charset="-122"/>
                <a:cs typeface="Times New Roman" panose="02020603050405020304" pitchFamily="18" charset="0"/>
              </a:rPr>
              <a:t>Methods</a:t>
            </a:r>
          </a:p>
        </p:txBody>
      </p:sp>
      <p:sp>
        <p:nvSpPr>
          <p:cNvPr id="13" name="Text Box 4">
            <a:extLst>
              <a:ext uri="{FF2B5EF4-FFF2-40B4-BE49-F238E27FC236}">
                <a16:creationId xmlns:a16="http://schemas.microsoft.com/office/drawing/2014/main" id="{73C2CC32-7ABE-49BF-83F1-446D063C7EDB}"/>
              </a:ext>
            </a:extLst>
          </p:cNvPr>
          <p:cNvSpPr txBox="1">
            <a:spLocks noChangeArrowheads="1"/>
          </p:cNvSpPr>
          <p:nvPr/>
        </p:nvSpPr>
        <p:spPr bwMode="auto">
          <a:xfrm>
            <a:off x="10422591" y="986519"/>
            <a:ext cx="1064078" cy="395423"/>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15000"/>
              </a:lnSpc>
              <a:spcAft>
                <a:spcPts val="1000"/>
              </a:spcAft>
            </a:pPr>
            <a:r>
              <a:rPr lang="en-GB" dirty="0">
                <a:effectLst/>
                <a:latin typeface="Calibri" panose="020F0502020204030204" pitchFamily="34" charset="0"/>
                <a:ea typeface="DengXian" panose="02010600030101010101" pitchFamily="2" charset="-122"/>
                <a:cs typeface="Times New Roman" panose="02020603050405020304" pitchFamily="18" charset="0"/>
              </a:rPr>
              <a:t>Sources</a:t>
            </a:r>
          </a:p>
        </p:txBody>
      </p:sp>
      <p:pic>
        <p:nvPicPr>
          <p:cNvPr id="14" name="Picture 13">
            <a:extLst>
              <a:ext uri="{FF2B5EF4-FFF2-40B4-BE49-F238E27FC236}">
                <a16:creationId xmlns:a16="http://schemas.microsoft.com/office/drawing/2014/main" id="{247FAFC3-E5AC-4709-8CEC-7241619D9C61}"/>
              </a:ext>
            </a:extLst>
          </p:cNvPr>
          <p:cNvPicPr>
            <a:picLocks noChangeAspect="1"/>
          </p:cNvPicPr>
          <p:nvPr/>
        </p:nvPicPr>
        <p:blipFill>
          <a:blip r:embed="rId2"/>
          <a:stretch>
            <a:fillRect/>
          </a:stretch>
        </p:blipFill>
        <p:spPr>
          <a:xfrm>
            <a:off x="2574688" y="1379352"/>
            <a:ext cx="6097" cy="804742"/>
          </a:xfrm>
          <a:prstGeom prst="rect">
            <a:avLst/>
          </a:prstGeom>
        </p:spPr>
      </p:pic>
      <p:sp>
        <p:nvSpPr>
          <p:cNvPr id="15" name="Text Box 2">
            <a:extLst>
              <a:ext uri="{FF2B5EF4-FFF2-40B4-BE49-F238E27FC236}">
                <a16:creationId xmlns:a16="http://schemas.microsoft.com/office/drawing/2014/main" id="{8137B2DC-8931-4869-80D0-440D8135D28F}"/>
              </a:ext>
            </a:extLst>
          </p:cNvPr>
          <p:cNvSpPr txBox="1">
            <a:spLocks noChangeArrowheads="1"/>
          </p:cNvSpPr>
          <p:nvPr/>
        </p:nvSpPr>
        <p:spPr bwMode="auto">
          <a:xfrm>
            <a:off x="1694623" y="2267508"/>
            <a:ext cx="1836289" cy="675717"/>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GB" dirty="0">
                <a:effectLst/>
                <a:latin typeface="Calibri" panose="020F0502020204030204" pitchFamily="34" charset="0"/>
                <a:ea typeface="DengXian" panose="02010600030101010101" pitchFamily="2" charset="-122"/>
                <a:cs typeface="Times New Roman" panose="02020603050405020304" pitchFamily="18" charset="0"/>
              </a:rPr>
              <a:t>What is out there to know?</a:t>
            </a:r>
          </a:p>
        </p:txBody>
      </p:sp>
      <p:cxnSp>
        <p:nvCxnSpPr>
          <p:cNvPr id="18" name="Straight Connector 17">
            <a:extLst>
              <a:ext uri="{FF2B5EF4-FFF2-40B4-BE49-F238E27FC236}">
                <a16:creationId xmlns:a16="http://schemas.microsoft.com/office/drawing/2014/main" id="{DD2676A0-6C38-48BF-B181-9FCE8AE79DE9}"/>
              </a:ext>
            </a:extLst>
          </p:cNvPr>
          <p:cNvCxnSpPr>
            <a:cxnSpLocks/>
          </p:cNvCxnSpPr>
          <p:nvPr/>
        </p:nvCxnSpPr>
        <p:spPr>
          <a:xfrm>
            <a:off x="4749529" y="1437590"/>
            <a:ext cx="9525" cy="1394335"/>
          </a:xfrm>
          <a:prstGeom prst="line">
            <a:avLst/>
          </a:prstGeom>
          <a:noFill/>
          <a:ln w="6350" cap="flat" cmpd="sng" algn="ctr">
            <a:solidFill>
              <a:sysClr val="windowText" lastClr="000000"/>
            </a:solidFill>
            <a:prstDash val="solid"/>
            <a:miter lim="800000"/>
          </a:ln>
          <a:effectLst/>
        </p:spPr>
      </p:cxnSp>
      <p:sp>
        <p:nvSpPr>
          <p:cNvPr id="19" name="Text Box 2">
            <a:extLst>
              <a:ext uri="{FF2B5EF4-FFF2-40B4-BE49-F238E27FC236}">
                <a16:creationId xmlns:a16="http://schemas.microsoft.com/office/drawing/2014/main" id="{9C302CBB-1FE3-4E31-A13B-83B7526F6253}"/>
              </a:ext>
            </a:extLst>
          </p:cNvPr>
          <p:cNvSpPr txBox="1">
            <a:spLocks noChangeArrowheads="1"/>
          </p:cNvSpPr>
          <p:nvPr/>
        </p:nvSpPr>
        <p:spPr bwMode="auto">
          <a:xfrm>
            <a:off x="3922667" y="2831925"/>
            <a:ext cx="1597435" cy="92958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GB" dirty="0">
                <a:latin typeface="Calibri" panose="020F0502020204030204" pitchFamily="34" charset="0"/>
                <a:ea typeface="DengXian" panose="02010600030101010101" pitchFamily="2" charset="-122"/>
                <a:cs typeface="Times New Roman" panose="02020603050405020304" pitchFamily="18" charset="0"/>
              </a:rPr>
              <a:t>What and how can we know about</a:t>
            </a:r>
            <a:r>
              <a:rPr lang="en-GB" sz="1100" dirty="0">
                <a:effectLst/>
                <a:latin typeface="Calibri" panose="020F0502020204030204" pitchFamily="34" charset="0"/>
                <a:ea typeface="DengXian" panose="02010600030101010101" pitchFamily="2" charset="-122"/>
                <a:cs typeface="Times New Roman" panose="02020603050405020304" pitchFamily="18" charset="0"/>
              </a:rPr>
              <a:t> </a:t>
            </a:r>
            <a:r>
              <a:rPr lang="en-GB" dirty="0">
                <a:latin typeface="Calibri" panose="020F0502020204030204" pitchFamily="34" charset="0"/>
                <a:ea typeface="DengXian" panose="02010600030101010101" pitchFamily="2" charset="-122"/>
                <a:cs typeface="Times New Roman" panose="02020603050405020304" pitchFamily="18" charset="0"/>
              </a:rPr>
              <a:t>it?</a:t>
            </a:r>
          </a:p>
        </p:txBody>
      </p:sp>
      <p:cxnSp>
        <p:nvCxnSpPr>
          <p:cNvPr id="20" name="Straight Connector 19">
            <a:extLst>
              <a:ext uri="{FF2B5EF4-FFF2-40B4-BE49-F238E27FC236}">
                <a16:creationId xmlns:a16="http://schemas.microsoft.com/office/drawing/2014/main" id="{ABE88B8B-830D-4F11-AE7D-7214AA88221D}"/>
              </a:ext>
            </a:extLst>
          </p:cNvPr>
          <p:cNvCxnSpPr>
            <a:cxnSpLocks/>
          </p:cNvCxnSpPr>
          <p:nvPr/>
        </p:nvCxnSpPr>
        <p:spPr>
          <a:xfrm>
            <a:off x="6895815" y="1519439"/>
            <a:ext cx="0" cy="1798261"/>
          </a:xfrm>
          <a:prstGeom prst="line">
            <a:avLst/>
          </a:prstGeom>
          <a:noFill/>
          <a:ln w="6350" cap="flat" cmpd="sng" algn="ctr">
            <a:solidFill>
              <a:sysClr val="windowText" lastClr="000000"/>
            </a:solidFill>
            <a:prstDash val="solid"/>
            <a:miter lim="800000"/>
          </a:ln>
          <a:effectLst/>
        </p:spPr>
      </p:cxnSp>
      <p:sp>
        <p:nvSpPr>
          <p:cNvPr id="21" name="Text Box 2">
            <a:extLst>
              <a:ext uri="{FF2B5EF4-FFF2-40B4-BE49-F238E27FC236}">
                <a16:creationId xmlns:a16="http://schemas.microsoft.com/office/drawing/2014/main" id="{C08A9E21-5D06-4FEE-BC18-50546B2877E4}"/>
              </a:ext>
            </a:extLst>
          </p:cNvPr>
          <p:cNvSpPr txBox="1">
            <a:spLocks noChangeArrowheads="1"/>
          </p:cNvSpPr>
          <p:nvPr/>
        </p:nvSpPr>
        <p:spPr bwMode="auto">
          <a:xfrm>
            <a:off x="6096000" y="3429000"/>
            <a:ext cx="1979274" cy="101720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GB" dirty="0">
                <a:latin typeface="Calibri" panose="020F0502020204030204" pitchFamily="34" charset="0"/>
                <a:ea typeface="DengXian" panose="02010600030101010101" pitchFamily="2" charset="-122"/>
                <a:cs typeface="Times New Roman" panose="02020603050405020304" pitchFamily="18" charset="0"/>
              </a:rPr>
              <a:t>How can we go about acquiring that knowledge?</a:t>
            </a:r>
          </a:p>
        </p:txBody>
      </p:sp>
      <p:cxnSp>
        <p:nvCxnSpPr>
          <p:cNvPr id="24" name="Straight Connector 23">
            <a:extLst>
              <a:ext uri="{FF2B5EF4-FFF2-40B4-BE49-F238E27FC236}">
                <a16:creationId xmlns:a16="http://schemas.microsoft.com/office/drawing/2014/main" id="{DBB62A41-E4B5-40CC-A46D-00EC48138448}"/>
              </a:ext>
            </a:extLst>
          </p:cNvPr>
          <p:cNvCxnSpPr/>
          <p:nvPr/>
        </p:nvCxnSpPr>
        <p:spPr>
          <a:xfrm>
            <a:off x="8923084" y="1533525"/>
            <a:ext cx="28575" cy="2819400"/>
          </a:xfrm>
          <a:prstGeom prst="line">
            <a:avLst/>
          </a:prstGeom>
          <a:noFill/>
          <a:ln w="6350" cap="flat" cmpd="sng" algn="ctr">
            <a:solidFill>
              <a:sysClr val="windowText" lastClr="000000"/>
            </a:solidFill>
            <a:prstDash val="solid"/>
            <a:miter lim="800000"/>
          </a:ln>
          <a:effectLst/>
        </p:spPr>
      </p:cxnSp>
      <p:sp>
        <p:nvSpPr>
          <p:cNvPr id="25" name="Text Box 2">
            <a:extLst>
              <a:ext uri="{FF2B5EF4-FFF2-40B4-BE49-F238E27FC236}">
                <a16:creationId xmlns:a16="http://schemas.microsoft.com/office/drawing/2014/main" id="{8D35554A-9277-4901-95A4-33E41FEDAF9E}"/>
              </a:ext>
            </a:extLst>
          </p:cNvPr>
          <p:cNvSpPr txBox="1">
            <a:spLocks noChangeArrowheads="1"/>
          </p:cNvSpPr>
          <p:nvPr/>
        </p:nvSpPr>
        <p:spPr bwMode="auto">
          <a:xfrm>
            <a:off x="7921598" y="4496888"/>
            <a:ext cx="2031546" cy="94052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US" dirty="0">
                <a:latin typeface="Calibri" panose="020F0502020204030204" pitchFamily="34" charset="0"/>
                <a:ea typeface="DengXian" panose="02010600030101010101" pitchFamily="2" charset="-122"/>
                <a:cs typeface="Times New Roman" panose="02020603050405020304" pitchFamily="18" charset="0"/>
              </a:rPr>
              <a:t>What </a:t>
            </a:r>
            <a:r>
              <a:rPr lang="en-GB" dirty="0">
                <a:effectLst/>
                <a:latin typeface="Calibri" panose="020F0502020204030204" pitchFamily="34" charset="0"/>
                <a:ea typeface="DengXian" panose="02010600030101010101" pitchFamily="2" charset="-122"/>
                <a:cs typeface="Times New Roman" panose="02020603050405020304" pitchFamily="18" charset="0"/>
              </a:rPr>
              <a:t>precise procedures can we use to acquire </a:t>
            </a:r>
            <a:r>
              <a:rPr lang="en-GB" dirty="0">
                <a:latin typeface="Calibri" panose="020F0502020204030204" pitchFamily="34" charset="0"/>
                <a:ea typeface="DengXian" panose="02010600030101010101" pitchFamily="2" charset="-122"/>
                <a:cs typeface="Times New Roman" panose="02020603050405020304" pitchFamily="18" charset="0"/>
              </a:rPr>
              <a:t>it</a:t>
            </a:r>
            <a:r>
              <a:rPr lang="en-GB" dirty="0">
                <a:effectLst/>
                <a:latin typeface="Calibri" panose="020F0502020204030204" pitchFamily="34" charset="0"/>
                <a:ea typeface="DengXian" panose="02010600030101010101" pitchFamily="2" charset="-122"/>
                <a:cs typeface="Times New Roman" panose="02020603050405020304" pitchFamily="18" charset="0"/>
              </a:rPr>
              <a:t>?</a:t>
            </a:r>
          </a:p>
        </p:txBody>
      </p:sp>
      <p:cxnSp>
        <p:nvCxnSpPr>
          <p:cNvPr id="27" name="Straight Connector 26">
            <a:extLst>
              <a:ext uri="{FF2B5EF4-FFF2-40B4-BE49-F238E27FC236}">
                <a16:creationId xmlns:a16="http://schemas.microsoft.com/office/drawing/2014/main" id="{D6C45F73-4F79-4600-8A57-4AE28F47A5ED}"/>
              </a:ext>
            </a:extLst>
          </p:cNvPr>
          <p:cNvCxnSpPr>
            <a:cxnSpLocks/>
          </p:cNvCxnSpPr>
          <p:nvPr/>
        </p:nvCxnSpPr>
        <p:spPr>
          <a:xfrm>
            <a:off x="10902553" y="1533525"/>
            <a:ext cx="52077" cy="3977925"/>
          </a:xfrm>
          <a:prstGeom prst="line">
            <a:avLst/>
          </a:prstGeom>
          <a:noFill/>
          <a:ln w="6350" cap="flat" cmpd="sng" algn="ctr">
            <a:solidFill>
              <a:sysClr val="windowText" lastClr="000000"/>
            </a:solidFill>
            <a:prstDash val="solid"/>
            <a:miter lim="800000"/>
          </a:ln>
          <a:effectLst/>
        </p:spPr>
      </p:cxnSp>
      <p:sp>
        <p:nvSpPr>
          <p:cNvPr id="29" name="Text Box 2">
            <a:extLst>
              <a:ext uri="{FF2B5EF4-FFF2-40B4-BE49-F238E27FC236}">
                <a16:creationId xmlns:a16="http://schemas.microsoft.com/office/drawing/2014/main" id="{B3D6347A-8863-49D2-9747-862051974861}"/>
              </a:ext>
            </a:extLst>
          </p:cNvPr>
          <p:cNvSpPr txBox="1">
            <a:spLocks noChangeArrowheads="1"/>
          </p:cNvSpPr>
          <p:nvPr/>
        </p:nvSpPr>
        <p:spPr bwMode="auto">
          <a:xfrm>
            <a:off x="10255116" y="5667993"/>
            <a:ext cx="1684334" cy="689264"/>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GB" dirty="0">
                <a:effectLst/>
                <a:latin typeface="Calibri" panose="020F0502020204030204" pitchFamily="34" charset="0"/>
                <a:ea typeface="DengXian" panose="02010600030101010101" pitchFamily="2" charset="-122"/>
                <a:cs typeface="Times New Roman" panose="02020603050405020304" pitchFamily="18" charset="0"/>
              </a:rPr>
              <a:t>What data can we collect?</a:t>
            </a:r>
          </a:p>
        </p:txBody>
      </p:sp>
      <p:cxnSp>
        <p:nvCxnSpPr>
          <p:cNvPr id="31" name="Straight Arrow Connector 30">
            <a:extLst>
              <a:ext uri="{FF2B5EF4-FFF2-40B4-BE49-F238E27FC236}">
                <a16:creationId xmlns:a16="http://schemas.microsoft.com/office/drawing/2014/main" id="{D0D2B042-C5CB-4B9C-8CBC-A5EE5FA00945}"/>
              </a:ext>
            </a:extLst>
          </p:cNvPr>
          <p:cNvCxnSpPr>
            <a:cxnSpLocks/>
          </p:cNvCxnSpPr>
          <p:nvPr/>
        </p:nvCxnSpPr>
        <p:spPr>
          <a:xfrm>
            <a:off x="3517751" y="2487522"/>
            <a:ext cx="533236" cy="3444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4D214D7-25DE-41E5-BBF0-9EE29E69EDC0}"/>
              </a:ext>
            </a:extLst>
          </p:cNvPr>
          <p:cNvCxnSpPr>
            <a:cxnSpLocks/>
          </p:cNvCxnSpPr>
          <p:nvPr/>
        </p:nvCxnSpPr>
        <p:spPr>
          <a:xfrm>
            <a:off x="5498233" y="3265312"/>
            <a:ext cx="485888" cy="274989"/>
          </a:xfrm>
          <a:prstGeom prst="straightConnector1">
            <a:avLst/>
          </a:prstGeom>
          <a:noFill/>
          <a:ln w="6350" cap="flat" cmpd="sng" algn="ctr">
            <a:solidFill>
              <a:sysClr val="windowText" lastClr="000000"/>
            </a:solidFill>
            <a:prstDash val="solid"/>
            <a:miter lim="800000"/>
            <a:tailEnd type="triangle"/>
          </a:ln>
          <a:effectLst/>
        </p:spPr>
      </p:cxnSp>
      <p:cxnSp>
        <p:nvCxnSpPr>
          <p:cNvPr id="35" name="Straight Arrow Connector 34">
            <a:extLst>
              <a:ext uri="{FF2B5EF4-FFF2-40B4-BE49-F238E27FC236}">
                <a16:creationId xmlns:a16="http://schemas.microsoft.com/office/drawing/2014/main" id="{6DFCC268-00BF-4F7F-8E8A-FF663A9FF6DF}"/>
              </a:ext>
            </a:extLst>
          </p:cNvPr>
          <p:cNvCxnSpPr/>
          <p:nvPr/>
        </p:nvCxnSpPr>
        <p:spPr>
          <a:xfrm>
            <a:off x="7851436" y="4224337"/>
            <a:ext cx="447675" cy="257175"/>
          </a:xfrm>
          <a:prstGeom prst="straightConnector1">
            <a:avLst/>
          </a:prstGeom>
          <a:noFill/>
          <a:ln w="6350" cap="flat" cmpd="sng" algn="ctr">
            <a:solidFill>
              <a:sysClr val="windowText" lastClr="000000"/>
            </a:solidFill>
            <a:prstDash val="solid"/>
            <a:miter lim="800000"/>
            <a:tailEnd type="triangle"/>
          </a:ln>
          <a:effectLst/>
        </p:spPr>
      </p:cxnSp>
      <p:cxnSp>
        <p:nvCxnSpPr>
          <p:cNvPr id="36" name="Straight Arrow Connector 35">
            <a:extLst>
              <a:ext uri="{FF2B5EF4-FFF2-40B4-BE49-F238E27FC236}">
                <a16:creationId xmlns:a16="http://schemas.microsoft.com/office/drawing/2014/main" id="{D1B8771B-394E-4C35-90A9-4141469BC799}"/>
              </a:ext>
            </a:extLst>
          </p:cNvPr>
          <p:cNvCxnSpPr/>
          <p:nvPr/>
        </p:nvCxnSpPr>
        <p:spPr>
          <a:xfrm>
            <a:off x="10031278" y="5254275"/>
            <a:ext cx="447675" cy="257175"/>
          </a:xfrm>
          <a:prstGeom prst="straightConnector1">
            <a:avLst/>
          </a:prstGeom>
          <a:noFill/>
          <a:ln w="6350" cap="flat" cmpd="sng" algn="ctr">
            <a:solidFill>
              <a:sysClr val="windowText" lastClr="000000"/>
            </a:solidFill>
            <a:prstDash val="solid"/>
            <a:miter lim="800000"/>
            <a:tailEnd type="triangle"/>
          </a:ln>
          <a:effectLst/>
        </p:spPr>
      </p:cxnSp>
      <p:sp>
        <p:nvSpPr>
          <p:cNvPr id="2" name="Slide Number Placeholder 1">
            <a:extLst>
              <a:ext uri="{FF2B5EF4-FFF2-40B4-BE49-F238E27FC236}">
                <a16:creationId xmlns:a16="http://schemas.microsoft.com/office/drawing/2014/main" id="{0B46E1A6-FB36-A749-992C-32A4F46FAB69}"/>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61809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21" grpId="0" animBg="1"/>
      <p:bldP spid="25" grpId="0" animBg="1"/>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0735" y="872520"/>
            <a:ext cx="9234489" cy="5479420"/>
          </a:xfrm>
        </p:spPr>
        <p:txBody>
          <a:bodyPr>
            <a:normAutofit/>
          </a:bodyPr>
          <a:lstStyle/>
          <a:p>
            <a:pPr marL="0" indent="0">
              <a:buNone/>
            </a:pPr>
            <a:r>
              <a:rPr lang="en-US" sz="2000" b="1" u="sng" dirty="0">
                <a:solidFill>
                  <a:schemeClr val="tx1"/>
                </a:solidFill>
              </a:rPr>
              <a:t>Methodology vs. Methods</a:t>
            </a:r>
          </a:p>
          <a:p>
            <a:pPr marL="0" indent="0">
              <a:buNone/>
            </a:pPr>
            <a:endParaRPr lang="en-GB" sz="2000" b="1" u="sng" dirty="0">
              <a:solidFill>
                <a:schemeClr val="tx1"/>
              </a:solidFill>
            </a:endParaRPr>
          </a:p>
          <a:p>
            <a:pPr marL="0" indent="0">
              <a:buNone/>
            </a:pPr>
            <a:r>
              <a:rPr lang="en-US" sz="2000" b="1" dirty="0"/>
              <a:t>Methodology </a:t>
            </a:r>
            <a:r>
              <a:rPr lang="en-US" sz="2000" dirty="0"/>
              <a:t>refers to a theory or framework in which the researcher is taking (e.g. quantitative or qualitative), and the argument that is given to justify choices made in the theory as well as the specific method(s) selected. It requires a clear explanation and rationale. Some parts are quite theoretical or academic (making reference to other studies or books/articles on research methods), while other parts are more practical (how to).</a:t>
            </a:r>
            <a:endParaRPr lang="en-GB" sz="2000" dirty="0"/>
          </a:p>
          <a:p>
            <a:pPr marL="0" indent="0">
              <a:buNone/>
            </a:pPr>
            <a:endParaRPr lang="en-US" sz="2000" dirty="0"/>
          </a:p>
          <a:p>
            <a:pPr marL="0" indent="0">
              <a:buNone/>
            </a:pPr>
            <a:r>
              <a:rPr lang="en-US" sz="2000" b="1" dirty="0"/>
              <a:t>Method(s)</a:t>
            </a:r>
            <a:r>
              <a:rPr lang="en-US" sz="2000" dirty="0"/>
              <a:t> refers to actual research instruments and participants/materials used (e.g. interviews or discourse analysis, lab equipment, statistics, etc.). Writers need to justify why each method was chosen, and not others (justify choices by using the literature). </a:t>
            </a:r>
            <a:endParaRPr lang="en-GB" sz="2000" dirty="0"/>
          </a:p>
          <a:p>
            <a:pPr marL="0" indent="0">
              <a:buNone/>
            </a:pPr>
            <a:endParaRPr lang="en-US" dirty="0"/>
          </a:p>
        </p:txBody>
      </p:sp>
      <p:sp>
        <p:nvSpPr>
          <p:cNvPr id="2" name="Slide Number Placeholder 1">
            <a:extLst>
              <a:ext uri="{FF2B5EF4-FFF2-40B4-BE49-F238E27FC236}">
                <a16:creationId xmlns:a16="http://schemas.microsoft.com/office/drawing/2014/main" id="{ADA3DCA7-6621-8F43-A714-7F507E2F5C0B}"/>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445227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5CA9A6-9E00-944B-A3DF-3FD5457DA07A}"/>
              </a:ext>
            </a:extLst>
          </p:cNvPr>
          <p:cNvSpPr>
            <a:spLocks noGrp="1"/>
          </p:cNvSpPr>
          <p:nvPr>
            <p:ph idx="1"/>
          </p:nvPr>
        </p:nvSpPr>
        <p:spPr>
          <a:xfrm>
            <a:off x="1743120" y="1287002"/>
            <a:ext cx="9672956" cy="4283996"/>
          </a:xfrm>
        </p:spPr>
        <p:txBody>
          <a:bodyPr>
            <a:normAutofit fontScale="92500" lnSpcReduction="10000"/>
          </a:bodyPr>
          <a:lstStyle/>
          <a:p>
            <a:pPr algn="just">
              <a:lnSpc>
                <a:spcPct val="150000"/>
              </a:lnSpc>
            </a:pPr>
            <a:r>
              <a:rPr lang="en-US" sz="2000" dirty="0"/>
              <a:t>Researchers who examined the moves of the Methods sections in various disciplines have proposed the </a:t>
            </a:r>
            <a:r>
              <a:rPr lang="en-US" sz="2000" b="1" dirty="0"/>
              <a:t>Demonstrating </a:t>
            </a:r>
            <a:r>
              <a:rPr lang="en-US" sz="2000" b="1" dirty="0" err="1"/>
              <a:t>Rigour</a:t>
            </a:r>
            <a:r>
              <a:rPr lang="en-US" sz="2000" b="1" dirty="0"/>
              <a:t> and Credibility (</a:t>
            </a:r>
            <a:r>
              <a:rPr lang="en-US" sz="2000" b="1" dirty="0" err="1"/>
              <a:t>DRaC</a:t>
            </a:r>
            <a:r>
              <a:rPr lang="en-US" sz="2000" b="1" dirty="0"/>
              <a:t>) move/step model to explicate the general roles of the Methods section</a:t>
            </a:r>
            <a:r>
              <a:rPr lang="en-US" sz="2000" dirty="0"/>
              <a:t>: </a:t>
            </a:r>
            <a:r>
              <a:rPr lang="en-US" sz="2000" b="1" dirty="0"/>
              <a:t>Orientation </a:t>
            </a:r>
            <a:r>
              <a:rPr lang="en-US" sz="2000" dirty="0"/>
              <a:t>(referencing previous works, providing general information), </a:t>
            </a:r>
            <a:r>
              <a:rPr lang="en-US" sz="2000" b="1" dirty="0"/>
              <a:t>description</a:t>
            </a:r>
            <a:r>
              <a:rPr lang="en-US" sz="2000" dirty="0"/>
              <a:t> (of setting, subjects, data, tools, variables); </a:t>
            </a:r>
            <a:r>
              <a:rPr lang="en-US" sz="2000" b="1" dirty="0"/>
              <a:t>demonstration</a:t>
            </a:r>
            <a:r>
              <a:rPr lang="en-US" sz="2000" dirty="0"/>
              <a:t> (of experimental procedures and data analysis); </a:t>
            </a:r>
            <a:r>
              <a:rPr lang="en-US" sz="2000" b="1" dirty="0"/>
              <a:t>argumentation</a:t>
            </a:r>
            <a:r>
              <a:rPr lang="en-US" sz="2000" dirty="0"/>
              <a:t> (when rationalizing decisions); and </a:t>
            </a:r>
            <a:r>
              <a:rPr lang="en-US" sz="2000" b="1" dirty="0"/>
              <a:t>persuasion </a:t>
            </a:r>
            <a:r>
              <a:rPr lang="en-US" sz="2000" dirty="0"/>
              <a:t>(when rationalizing data processing/analysis). They argue that, in fact, it is the </a:t>
            </a:r>
            <a:r>
              <a:rPr lang="en-US" sz="2000" dirty="0">
                <a:solidFill>
                  <a:srgbClr val="7030A0"/>
                </a:solidFill>
              </a:rPr>
              <a:t>nature of research, </a:t>
            </a:r>
            <a:r>
              <a:rPr lang="en-US" sz="2000" dirty="0"/>
              <a:t>not the rhetorical conventions, that </a:t>
            </a:r>
            <a:r>
              <a:rPr lang="en-US" sz="2000" dirty="0">
                <a:solidFill>
                  <a:srgbClr val="7030A0"/>
                </a:solidFill>
              </a:rPr>
              <a:t>determines how you should describe and explain your research methodology</a:t>
            </a:r>
            <a:r>
              <a:rPr lang="en-US" sz="2000" dirty="0"/>
              <a:t>. </a:t>
            </a:r>
            <a:endParaRPr lang="en-HK" sz="2000" dirty="0"/>
          </a:p>
          <a:p>
            <a:endParaRPr lang="en-US" dirty="0"/>
          </a:p>
        </p:txBody>
      </p:sp>
      <p:sp>
        <p:nvSpPr>
          <p:cNvPr id="4" name="Slide Number Placeholder 3">
            <a:extLst>
              <a:ext uri="{FF2B5EF4-FFF2-40B4-BE49-F238E27FC236}">
                <a16:creationId xmlns:a16="http://schemas.microsoft.com/office/drawing/2014/main" id="{CA88790B-E6FB-AF4B-85F8-ECFD85641307}"/>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404844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3E78CA-29DF-214D-B274-0D0204ECCCEC}"/>
              </a:ext>
            </a:extLst>
          </p:cNvPr>
          <p:cNvSpPr>
            <a:spLocks noGrp="1"/>
          </p:cNvSpPr>
          <p:nvPr>
            <p:ph idx="1"/>
          </p:nvPr>
        </p:nvSpPr>
        <p:spPr>
          <a:xfrm>
            <a:off x="337674" y="1392033"/>
            <a:ext cx="5122652" cy="3759253"/>
          </a:xfrm>
        </p:spPr>
        <p:txBody>
          <a:bodyPr>
            <a:normAutofit/>
          </a:bodyPr>
          <a:lstStyle/>
          <a:p>
            <a:r>
              <a:rPr lang="en-US" dirty="0"/>
              <a:t>The following table summarizes the common rhetorical moves in the Methods section. </a:t>
            </a:r>
            <a:endParaRPr lang="en-HK" dirty="0"/>
          </a:p>
          <a:p>
            <a:endParaRPr lang="en-US" dirty="0"/>
          </a:p>
        </p:txBody>
      </p:sp>
      <p:sp>
        <p:nvSpPr>
          <p:cNvPr id="4" name="Slide Number Placeholder 3">
            <a:extLst>
              <a:ext uri="{FF2B5EF4-FFF2-40B4-BE49-F238E27FC236}">
                <a16:creationId xmlns:a16="http://schemas.microsoft.com/office/drawing/2014/main" id="{C8515726-2AA1-954B-8D7B-6C14727ED34A}"/>
              </a:ext>
            </a:extLst>
          </p:cNvPr>
          <p:cNvSpPr>
            <a:spLocks noGrp="1"/>
          </p:cNvSpPr>
          <p:nvPr>
            <p:ph type="sldNum" sz="quarter" idx="12"/>
          </p:nvPr>
        </p:nvSpPr>
        <p:spPr>
          <a:xfrm>
            <a:off x="121514" y="6133610"/>
            <a:ext cx="779767"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9</a:t>
            </a:fld>
            <a:endParaRPr lang="en-US" sz="1900"/>
          </a:p>
        </p:txBody>
      </p:sp>
      <p:graphicFrame>
        <p:nvGraphicFramePr>
          <p:cNvPr id="5" name="Table 4">
            <a:extLst>
              <a:ext uri="{FF2B5EF4-FFF2-40B4-BE49-F238E27FC236}">
                <a16:creationId xmlns:a16="http://schemas.microsoft.com/office/drawing/2014/main" id="{E9C73D47-EA7B-4F46-98E9-FADFC20EF0F0}"/>
              </a:ext>
            </a:extLst>
          </p:cNvPr>
          <p:cNvGraphicFramePr>
            <a:graphicFrameLocks noGrp="1"/>
          </p:cNvGraphicFramePr>
          <p:nvPr/>
        </p:nvGraphicFramePr>
        <p:xfrm>
          <a:off x="4759036" y="83576"/>
          <a:ext cx="7095290" cy="6769675"/>
        </p:xfrm>
        <a:graphic>
          <a:graphicData uri="http://schemas.openxmlformats.org/drawingml/2006/table">
            <a:tbl>
              <a:tblPr firstRow="1" firstCol="1" bandRow="1">
                <a:tableStyleId>{3B4B98B0-60AC-42C2-AFA5-B58CD77FA1E5}</a:tableStyleId>
              </a:tblPr>
              <a:tblGrid>
                <a:gridCol w="2258895">
                  <a:extLst>
                    <a:ext uri="{9D8B030D-6E8A-4147-A177-3AD203B41FA5}">
                      <a16:colId xmlns:a16="http://schemas.microsoft.com/office/drawing/2014/main" val="3576591102"/>
                    </a:ext>
                  </a:extLst>
                </a:gridCol>
                <a:gridCol w="4836395">
                  <a:extLst>
                    <a:ext uri="{9D8B030D-6E8A-4147-A177-3AD203B41FA5}">
                      <a16:colId xmlns:a16="http://schemas.microsoft.com/office/drawing/2014/main" val="3850746863"/>
                    </a:ext>
                  </a:extLst>
                </a:gridCol>
              </a:tblGrid>
              <a:tr h="247254">
                <a:tc>
                  <a:txBody>
                    <a:bodyPr/>
                    <a:lstStyle/>
                    <a:p>
                      <a:pPr>
                        <a:lnSpc>
                          <a:spcPct val="115000"/>
                        </a:lnSpc>
                        <a:spcAft>
                          <a:spcPts val="1000"/>
                        </a:spcAft>
                        <a:tabLst>
                          <a:tab pos="1943100" algn="l"/>
                        </a:tabLst>
                      </a:pPr>
                      <a:r>
                        <a:rPr lang="en-US" sz="1300">
                          <a:effectLst/>
                        </a:rPr>
                        <a:t>Rhetorical Moves</a:t>
                      </a:r>
                      <a:endParaRPr lang="en-HK" sz="130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tc>
                  <a:txBody>
                    <a:bodyPr/>
                    <a:lstStyle/>
                    <a:p>
                      <a:pPr algn="just">
                        <a:lnSpc>
                          <a:spcPct val="115000"/>
                        </a:lnSpc>
                        <a:spcAft>
                          <a:spcPts val="1000"/>
                        </a:spcAft>
                        <a:tabLst>
                          <a:tab pos="1943100" algn="l"/>
                        </a:tabLst>
                      </a:pPr>
                      <a:r>
                        <a:rPr lang="en-US" sz="1300" dirty="0">
                          <a:effectLst/>
                        </a:rPr>
                        <a:t>Writing Actions</a:t>
                      </a:r>
                      <a:endParaRPr lang="en-HK" sz="1300" dirty="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extLst>
                  <a:ext uri="{0D108BD9-81ED-4DB2-BD59-A6C34878D82A}">
                    <a16:rowId xmlns:a16="http://schemas.microsoft.com/office/drawing/2014/main" val="3609389130"/>
                  </a:ext>
                </a:extLst>
              </a:tr>
              <a:tr h="892012">
                <a:tc>
                  <a:txBody>
                    <a:bodyPr/>
                    <a:lstStyle/>
                    <a:p>
                      <a:pPr>
                        <a:lnSpc>
                          <a:spcPct val="115000"/>
                        </a:lnSpc>
                        <a:spcAft>
                          <a:spcPts val="1000"/>
                        </a:spcAft>
                        <a:tabLst>
                          <a:tab pos="1943100" algn="l"/>
                        </a:tabLst>
                      </a:pPr>
                      <a:r>
                        <a:rPr lang="en-US" sz="1300" dirty="0">
                          <a:effectLst/>
                        </a:rPr>
                        <a:t>Move 1: Research aims / questions / hypotheses (Optional)</a:t>
                      </a:r>
                      <a:endParaRPr lang="en-HK" sz="1300" dirty="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tc>
                  <a:txBody>
                    <a:bodyPr/>
                    <a:lstStyle/>
                    <a:p>
                      <a:pPr marL="342900" lvl="0" indent="-342900" algn="l">
                        <a:lnSpc>
                          <a:spcPct val="115000"/>
                        </a:lnSpc>
                        <a:spcAft>
                          <a:spcPts val="1000"/>
                        </a:spcAft>
                        <a:buFont typeface="+mj-lt"/>
                        <a:buAutoNum type="arabicPeriod"/>
                        <a:tabLst>
                          <a:tab pos="1943100" algn="l"/>
                        </a:tabLst>
                      </a:pPr>
                      <a:r>
                        <a:rPr lang="en-US" sz="1350" dirty="0">
                          <a:effectLst/>
                        </a:rPr>
                        <a:t>Stating the research aims / questions/ hypotheses (optional)</a:t>
                      </a:r>
                      <a:endParaRPr lang="en-HK" sz="1350" dirty="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extLst>
                  <a:ext uri="{0D108BD9-81ED-4DB2-BD59-A6C34878D82A}">
                    <a16:rowId xmlns:a16="http://schemas.microsoft.com/office/drawing/2014/main" val="1192331333"/>
                  </a:ext>
                </a:extLst>
              </a:tr>
              <a:tr h="686621">
                <a:tc>
                  <a:txBody>
                    <a:bodyPr/>
                    <a:lstStyle/>
                    <a:p>
                      <a:pPr>
                        <a:lnSpc>
                          <a:spcPct val="115000"/>
                        </a:lnSpc>
                        <a:spcAft>
                          <a:spcPts val="1000"/>
                        </a:spcAft>
                        <a:tabLst>
                          <a:tab pos="1943100" algn="l"/>
                        </a:tabLst>
                      </a:pPr>
                      <a:r>
                        <a:rPr lang="en-US" sz="1300">
                          <a:effectLst/>
                        </a:rPr>
                        <a:t>Move 2: Describing research design (Optional)</a:t>
                      </a:r>
                      <a:endParaRPr lang="en-HK" sz="130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tc>
                  <a:txBody>
                    <a:bodyPr/>
                    <a:lstStyle/>
                    <a:p>
                      <a:pPr marL="342900" lvl="0" indent="-342900" algn="l">
                        <a:lnSpc>
                          <a:spcPct val="115000"/>
                        </a:lnSpc>
                        <a:spcAft>
                          <a:spcPts val="1000"/>
                        </a:spcAft>
                        <a:buFont typeface="+mj-lt"/>
                        <a:buAutoNum type="arabicPeriod"/>
                        <a:tabLst>
                          <a:tab pos="1943100" algn="l"/>
                        </a:tabLst>
                      </a:pPr>
                      <a:r>
                        <a:rPr lang="en-US" sz="1350" dirty="0">
                          <a:effectLst/>
                        </a:rPr>
                        <a:t>Outlining the vital aspects of the research design</a:t>
                      </a:r>
                      <a:endParaRPr lang="en-HK" sz="1350" dirty="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extLst>
                  <a:ext uri="{0D108BD9-81ED-4DB2-BD59-A6C34878D82A}">
                    <a16:rowId xmlns:a16="http://schemas.microsoft.com/office/drawing/2014/main" val="3691962963"/>
                  </a:ext>
                </a:extLst>
              </a:tr>
              <a:tr h="2479288">
                <a:tc>
                  <a:txBody>
                    <a:bodyPr/>
                    <a:lstStyle/>
                    <a:p>
                      <a:pPr>
                        <a:lnSpc>
                          <a:spcPct val="115000"/>
                        </a:lnSpc>
                        <a:spcAft>
                          <a:spcPts val="1000"/>
                        </a:spcAft>
                        <a:tabLst>
                          <a:tab pos="1943100" algn="l"/>
                        </a:tabLst>
                      </a:pPr>
                      <a:r>
                        <a:rPr lang="en-US" sz="1300">
                          <a:effectLst/>
                        </a:rPr>
                        <a:t>Move 3: Describing data collection or experimental procedures (Obligatory)</a:t>
                      </a:r>
                      <a:endParaRPr lang="en-HK" sz="130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tc>
                  <a:txBody>
                    <a:bodyPr/>
                    <a:lstStyle/>
                    <a:p>
                      <a:pPr marL="342900" lvl="0" indent="-342900" algn="l">
                        <a:lnSpc>
                          <a:spcPct val="115000"/>
                        </a:lnSpc>
                        <a:buFont typeface="+mj-lt"/>
                        <a:buAutoNum type="arabicPeriod"/>
                        <a:tabLst>
                          <a:tab pos="1943100" algn="l"/>
                        </a:tabLst>
                      </a:pPr>
                      <a:r>
                        <a:rPr lang="en-US" sz="1350" dirty="0">
                          <a:effectLst/>
                        </a:rPr>
                        <a:t>Describing research context (optional)</a:t>
                      </a:r>
                      <a:endParaRPr lang="en-HK" sz="1350" dirty="0">
                        <a:effectLst/>
                      </a:endParaRPr>
                    </a:p>
                    <a:p>
                      <a:pPr marL="342900" lvl="0" indent="-342900" algn="l">
                        <a:lnSpc>
                          <a:spcPct val="115000"/>
                        </a:lnSpc>
                        <a:buFont typeface="+mj-lt"/>
                        <a:buAutoNum type="arabicPeriod"/>
                        <a:tabLst>
                          <a:tab pos="1943100" algn="l"/>
                        </a:tabLst>
                      </a:pPr>
                      <a:r>
                        <a:rPr lang="en-US" sz="1350" dirty="0">
                          <a:effectLst/>
                        </a:rPr>
                        <a:t>Describing the sample (conventional)</a:t>
                      </a:r>
                      <a:endParaRPr lang="en-HK" sz="1350" dirty="0">
                        <a:effectLst/>
                      </a:endParaRPr>
                    </a:p>
                    <a:p>
                      <a:pPr marL="342900" lvl="0" indent="-342900" algn="l">
                        <a:lnSpc>
                          <a:spcPct val="115000"/>
                        </a:lnSpc>
                        <a:buFont typeface="+mj-lt"/>
                        <a:buAutoNum type="arabicPeriod"/>
                        <a:tabLst>
                          <a:tab pos="1943100" algn="l"/>
                        </a:tabLst>
                      </a:pPr>
                      <a:r>
                        <a:rPr lang="en-US" sz="1350" dirty="0">
                          <a:effectLst/>
                        </a:rPr>
                        <a:t>Describing instruments (optional but conventional)</a:t>
                      </a:r>
                      <a:endParaRPr lang="en-HK" sz="1350" dirty="0">
                        <a:effectLst/>
                      </a:endParaRPr>
                    </a:p>
                    <a:p>
                      <a:pPr marL="342900" lvl="0" indent="-342900" algn="l">
                        <a:lnSpc>
                          <a:spcPct val="115000"/>
                        </a:lnSpc>
                        <a:buFont typeface="+mj-lt"/>
                        <a:buAutoNum type="arabicPeriod"/>
                        <a:tabLst>
                          <a:tab pos="1943100" algn="l"/>
                        </a:tabLst>
                      </a:pPr>
                      <a:r>
                        <a:rPr lang="en-US" sz="1350" dirty="0">
                          <a:effectLst/>
                        </a:rPr>
                        <a:t>Elaborating on data collection/experimental procedures (obligatory)</a:t>
                      </a:r>
                      <a:endParaRPr lang="en-HK" sz="1350" dirty="0">
                        <a:effectLst/>
                      </a:endParaRPr>
                    </a:p>
                    <a:p>
                      <a:pPr marL="342900" lvl="0" indent="-342900" algn="l">
                        <a:lnSpc>
                          <a:spcPct val="115000"/>
                        </a:lnSpc>
                        <a:buFont typeface="+mj-lt"/>
                        <a:buAutoNum type="arabicPeriod"/>
                        <a:tabLst>
                          <a:tab pos="1943100" algn="l"/>
                        </a:tabLst>
                      </a:pPr>
                      <a:r>
                        <a:rPr lang="en-US" sz="1350" dirty="0">
                          <a:effectLst/>
                        </a:rPr>
                        <a:t>Justifying data collection procedures (optional)</a:t>
                      </a:r>
                      <a:endParaRPr lang="en-HK" sz="1350" dirty="0">
                        <a:effectLst/>
                      </a:endParaRPr>
                    </a:p>
                    <a:p>
                      <a:pPr marL="342900" lvl="0" indent="-342900" algn="l">
                        <a:lnSpc>
                          <a:spcPct val="115000"/>
                        </a:lnSpc>
                        <a:spcAft>
                          <a:spcPts val="1000"/>
                        </a:spcAft>
                        <a:buFont typeface="+mj-lt"/>
                        <a:buAutoNum type="arabicPeriod"/>
                        <a:tabLst>
                          <a:tab pos="1943100" algn="l"/>
                        </a:tabLst>
                      </a:pPr>
                      <a:r>
                        <a:rPr lang="en-US" sz="1350" dirty="0">
                          <a:effectLst/>
                        </a:rPr>
                        <a:t>Verifying compliance with ethical standards (optional)</a:t>
                      </a:r>
                      <a:endParaRPr lang="en-HK" sz="1350" dirty="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extLst>
                  <a:ext uri="{0D108BD9-81ED-4DB2-BD59-A6C34878D82A}">
                    <a16:rowId xmlns:a16="http://schemas.microsoft.com/office/drawing/2014/main" val="3665441197"/>
                  </a:ext>
                </a:extLst>
              </a:tr>
              <a:tr h="1345617">
                <a:tc>
                  <a:txBody>
                    <a:bodyPr/>
                    <a:lstStyle/>
                    <a:p>
                      <a:pPr>
                        <a:lnSpc>
                          <a:spcPct val="115000"/>
                        </a:lnSpc>
                        <a:spcAft>
                          <a:spcPts val="1000"/>
                        </a:spcAft>
                        <a:tabLst>
                          <a:tab pos="1943100" algn="l"/>
                        </a:tabLst>
                      </a:pPr>
                      <a:r>
                        <a:rPr lang="en-US" sz="1300">
                          <a:effectLst/>
                        </a:rPr>
                        <a:t>Move 4: Describing data analysis procedures (Conventional)</a:t>
                      </a:r>
                      <a:endParaRPr lang="en-HK" sz="130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tc>
                  <a:txBody>
                    <a:bodyPr/>
                    <a:lstStyle/>
                    <a:p>
                      <a:pPr marL="342900" lvl="0" indent="-342900" algn="l">
                        <a:lnSpc>
                          <a:spcPct val="115000"/>
                        </a:lnSpc>
                        <a:buFont typeface="+mj-lt"/>
                        <a:buAutoNum type="arabicPeriod"/>
                        <a:tabLst>
                          <a:tab pos="1943100" algn="l"/>
                        </a:tabLst>
                      </a:pPr>
                      <a:r>
                        <a:rPr lang="en-US" sz="1350" dirty="0">
                          <a:effectLst/>
                        </a:rPr>
                        <a:t>Recounting data analysis procedures (conventional)</a:t>
                      </a:r>
                      <a:endParaRPr lang="en-HK" sz="1350" dirty="0">
                        <a:effectLst/>
                      </a:endParaRPr>
                    </a:p>
                    <a:p>
                      <a:pPr marL="342900" lvl="0" indent="-342900" algn="l">
                        <a:lnSpc>
                          <a:spcPct val="115000"/>
                        </a:lnSpc>
                        <a:buFont typeface="+mj-lt"/>
                        <a:buAutoNum type="arabicPeriod"/>
                        <a:tabLst>
                          <a:tab pos="1943100" algn="l"/>
                        </a:tabLst>
                      </a:pPr>
                      <a:r>
                        <a:rPr lang="en-US" sz="1350" dirty="0">
                          <a:effectLst/>
                        </a:rPr>
                        <a:t>Justifying data analysis procedures (optional)</a:t>
                      </a:r>
                      <a:endParaRPr lang="en-HK" sz="1350" dirty="0">
                        <a:effectLst/>
                      </a:endParaRPr>
                    </a:p>
                    <a:p>
                      <a:pPr marL="342900" lvl="0" indent="-342900" algn="l">
                        <a:lnSpc>
                          <a:spcPct val="115000"/>
                        </a:lnSpc>
                        <a:spcAft>
                          <a:spcPts val="1000"/>
                        </a:spcAft>
                        <a:buFont typeface="+mj-lt"/>
                        <a:buAutoNum type="arabicPeriod"/>
                        <a:tabLst>
                          <a:tab pos="1943100" algn="l"/>
                        </a:tabLst>
                      </a:pPr>
                      <a:r>
                        <a:rPr lang="en-US" sz="1350" dirty="0">
                          <a:effectLst/>
                        </a:rPr>
                        <a:t>Demonstrating accuracy of data analysis (optional)</a:t>
                      </a:r>
                      <a:endParaRPr lang="en-HK" sz="1350" dirty="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extLst>
                  <a:ext uri="{0D108BD9-81ED-4DB2-BD59-A6C34878D82A}">
                    <a16:rowId xmlns:a16="http://schemas.microsoft.com/office/drawing/2014/main" val="894500769"/>
                  </a:ext>
                </a:extLst>
              </a:tr>
              <a:tr h="1118883">
                <a:tc>
                  <a:txBody>
                    <a:bodyPr/>
                    <a:lstStyle/>
                    <a:p>
                      <a:pPr>
                        <a:lnSpc>
                          <a:spcPct val="115000"/>
                        </a:lnSpc>
                        <a:spcAft>
                          <a:spcPts val="1000"/>
                        </a:spcAft>
                        <a:tabLst>
                          <a:tab pos="1943100" algn="l"/>
                        </a:tabLst>
                      </a:pPr>
                      <a:r>
                        <a:rPr lang="en-US" sz="1300">
                          <a:effectLst/>
                        </a:rPr>
                        <a:t>Move 5: Describing limitations (Optional)</a:t>
                      </a:r>
                      <a:endParaRPr lang="en-HK" sz="130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tc>
                  <a:txBody>
                    <a:bodyPr/>
                    <a:lstStyle/>
                    <a:p>
                      <a:pPr marL="342900" lvl="0" indent="-342900" algn="l">
                        <a:lnSpc>
                          <a:spcPct val="115000"/>
                        </a:lnSpc>
                        <a:spcAft>
                          <a:spcPts val="1000"/>
                        </a:spcAft>
                        <a:buFont typeface="+mj-lt"/>
                        <a:buAutoNum type="arabicPeriod"/>
                        <a:tabLst>
                          <a:tab pos="1943100" algn="l"/>
                        </a:tabLst>
                      </a:pPr>
                      <a:r>
                        <a:rPr lang="en-US" sz="1350" dirty="0">
                          <a:effectLst/>
                        </a:rPr>
                        <a:t>Explaining possible limitations of the research design (e.g. research context, sample size, data collection instruments, data collection procedures, data analysis methods) (optional)</a:t>
                      </a:r>
                      <a:endParaRPr lang="en-HK" sz="1350" dirty="0">
                        <a:effectLst/>
                        <a:latin typeface="Calibri" panose="020F0502020204030204" pitchFamily="34" charset="0"/>
                        <a:ea typeface="DengXian" panose="02010600030101010101" pitchFamily="2" charset="-122"/>
                        <a:cs typeface="Times New Roman" panose="02020603050405020304" pitchFamily="18" charset="0"/>
                      </a:endParaRPr>
                    </a:p>
                  </a:txBody>
                  <a:tcPr marL="72488" marR="72488" marT="0" marB="0"/>
                </a:tc>
                <a:extLst>
                  <a:ext uri="{0D108BD9-81ED-4DB2-BD59-A6C34878D82A}">
                    <a16:rowId xmlns:a16="http://schemas.microsoft.com/office/drawing/2014/main" val="2234550455"/>
                  </a:ext>
                </a:extLst>
              </a:tr>
            </a:tbl>
          </a:graphicData>
        </a:graphic>
      </p:graphicFrame>
    </p:spTree>
    <p:extLst>
      <p:ext uri="{BB962C8B-B14F-4D97-AF65-F5344CB8AC3E}">
        <p14:creationId xmlns:p14="http://schemas.microsoft.com/office/powerpoint/2010/main" val="384511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B6455D-DBE1-1840-BAB8-9BD91102D101}"/>
              </a:ext>
            </a:extLst>
          </p:cNvPr>
          <p:cNvSpPr>
            <a:spLocks noGrp="1"/>
          </p:cNvSpPr>
          <p:nvPr>
            <p:ph idx="1"/>
          </p:nvPr>
        </p:nvSpPr>
        <p:spPr>
          <a:xfrm>
            <a:off x="286565" y="1603718"/>
            <a:ext cx="4012938" cy="4289136"/>
          </a:xfrm>
        </p:spPr>
        <p:txBody>
          <a:bodyPr>
            <a:normAutofit/>
          </a:bodyPr>
          <a:lstStyle/>
          <a:p>
            <a:r>
              <a:rPr lang="en-US" dirty="0"/>
              <a:t>Peacock (2011) studied the structure of the Methods section in 288 research articles across eight disciplines.  The table below summarizes his findings:</a:t>
            </a:r>
            <a:endParaRPr lang="en-HK" dirty="0"/>
          </a:p>
          <a:p>
            <a:endParaRPr lang="en-US" dirty="0"/>
          </a:p>
        </p:txBody>
      </p:sp>
      <p:pic>
        <p:nvPicPr>
          <p:cNvPr id="5" name="Picture 4" descr="A close up of a piece of paper&#10;&#10;Description automatically generated">
            <a:extLst>
              <a:ext uri="{FF2B5EF4-FFF2-40B4-BE49-F238E27FC236}">
                <a16:creationId xmlns:a16="http://schemas.microsoft.com/office/drawing/2014/main" id="{4F610EEA-C1C6-6F4C-9C6A-6E649AD8224C}"/>
              </a:ext>
            </a:extLst>
          </p:cNvPr>
          <p:cNvPicPr/>
          <p:nvPr/>
        </p:nvPicPr>
        <p:blipFill>
          <a:blip r:embed="rId2"/>
          <a:stretch>
            <a:fillRect/>
          </a:stretch>
        </p:blipFill>
        <p:spPr>
          <a:xfrm>
            <a:off x="4164037" y="182880"/>
            <a:ext cx="7906449" cy="6670372"/>
          </a:xfrm>
          <a:prstGeom prst="rect">
            <a:avLst/>
          </a:prstGeom>
        </p:spPr>
      </p:pic>
      <p:sp>
        <p:nvSpPr>
          <p:cNvPr id="4" name="Slide Number Placeholder 3">
            <a:extLst>
              <a:ext uri="{FF2B5EF4-FFF2-40B4-BE49-F238E27FC236}">
                <a16:creationId xmlns:a16="http://schemas.microsoft.com/office/drawing/2014/main" id="{2825117E-67DE-6C49-BD15-2130FDDC95A7}"/>
              </a:ext>
            </a:extLst>
          </p:cNvPr>
          <p:cNvSpPr>
            <a:spLocks noGrp="1"/>
          </p:cNvSpPr>
          <p:nvPr>
            <p:ph type="sldNum" sz="quarter" idx="12"/>
          </p:nvPr>
        </p:nvSpPr>
        <p:spPr>
          <a:xfrm>
            <a:off x="121514" y="6133610"/>
            <a:ext cx="779767"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10</a:t>
            </a:fld>
            <a:endParaRPr lang="en-US" sz="1900"/>
          </a:p>
        </p:txBody>
      </p:sp>
    </p:spTree>
    <p:extLst>
      <p:ext uri="{BB962C8B-B14F-4D97-AF65-F5344CB8AC3E}">
        <p14:creationId xmlns:p14="http://schemas.microsoft.com/office/powerpoint/2010/main" val="1997313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8300" y="1250046"/>
            <a:ext cx="8915400" cy="1788718"/>
          </a:xfrm>
        </p:spPr>
        <p:txBody>
          <a:bodyPr/>
          <a:lstStyle/>
          <a:p>
            <a:r>
              <a:rPr lang="en-US" sz="2000" dirty="0"/>
              <a:t>Now refer to a journal article in your discipline you have recently read and identify the key components and the moves in the Methods section. Share your findings with a partner and discuss why there might be some differences in the components and the order of information in the Methods section of different research. </a:t>
            </a:r>
          </a:p>
          <a:p>
            <a:endParaRPr lang="en-GB" dirty="0"/>
          </a:p>
        </p:txBody>
      </p:sp>
      <p:sp>
        <p:nvSpPr>
          <p:cNvPr id="4" name="Slide Number Placeholder 3">
            <a:extLst>
              <a:ext uri="{FF2B5EF4-FFF2-40B4-BE49-F238E27FC236}">
                <a16:creationId xmlns:a16="http://schemas.microsoft.com/office/drawing/2014/main" id="{015D2C0E-F90C-9144-BB0B-67B4449FFB96}"/>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7" name="TextBox 6">
            <a:extLst>
              <a:ext uri="{FF2B5EF4-FFF2-40B4-BE49-F238E27FC236}">
                <a16:creationId xmlns:a16="http://schemas.microsoft.com/office/drawing/2014/main" id="{43A1918C-3314-4103-8045-9D6E99705CAB}"/>
              </a:ext>
            </a:extLst>
          </p:cNvPr>
          <p:cNvSpPr txBox="1"/>
          <p:nvPr/>
        </p:nvSpPr>
        <p:spPr>
          <a:xfrm>
            <a:off x="2089748" y="3429000"/>
            <a:ext cx="8141180" cy="2666564"/>
          </a:xfrm>
          <a:prstGeom prst="rect">
            <a:avLst/>
          </a:prstGeom>
          <a:noFill/>
        </p:spPr>
        <p:txBody>
          <a:bodyPr wrap="square">
            <a:spAutoFit/>
          </a:bodyPr>
          <a:lstStyle/>
          <a:p>
            <a:pPr algn="just">
              <a:lnSpc>
                <a:spcPct val="115000"/>
              </a:lnSpc>
              <a:spcAft>
                <a:spcPts val="1000"/>
              </a:spcAft>
            </a:pPr>
            <a:r>
              <a:rPr lang="en-US" sz="2000" dirty="0">
                <a:solidFill>
                  <a:srgbClr val="0070C0"/>
                </a:solidFill>
              </a:rPr>
              <a:t>The general rules for the Methods section are that: </a:t>
            </a:r>
            <a:endParaRPr lang="en-GB" sz="2000" dirty="0">
              <a:solidFill>
                <a:srgbClr val="0070C0"/>
              </a:solidFill>
            </a:endParaRPr>
          </a:p>
          <a:p>
            <a:pPr marL="342900" lvl="0" indent="-342900" algn="just">
              <a:lnSpc>
                <a:spcPct val="115000"/>
              </a:lnSpc>
              <a:buFont typeface="Symbol" panose="05050102010706020507" pitchFamily="18" charset="2"/>
              <a:buChar char=""/>
            </a:pPr>
            <a:r>
              <a:rPr lang="en-US" sz="2000" dirty="0">
                <a:solidFill>
                  <a:srgbClr val="0070C0"/>
                </a:solidFill>
              </a:rPr>
              <a:t>the text should be organized in a highly logical manner; </a:t>
            </a:r>
            <a:endParaRPr lang="en-GB" sz="2000" dirty="0">
              <a:solidFill>
                <a:srgbClr val="0070C0"/>
              </a:solidFill>
            </a:endParaRPr>
          </a:p>
          <a:p>
            <a:pPr marL="342900" lvl="0" indent="-342900" algn="just">
              <a:lnSpc>
                <a:spcPct val="115000"/>
              </a:lnSpc>
              <a:buFont typeface="Symbol" panose="05050102010706020507" pitchFamily="18" charset="2"/>
              <a:buChar char=""/>
            </a:pPr>
            <a:r>
              <a:rPr lang="en-US" sz="2000" dirty="0">
                <a:solidFill>
                  <a:srgbClr val="0070C0"/>
                </a:solidFill>
              </a:rPr>
              <a:t>the information provided should allow researchers to repeat the research described; </a:t>
            </a:r>
            <a:endParaRPr lang="en-GB" sz="2000" dirty="0">
              <a:solidFill>
                <a:srgbClr val="0070C0"/>
              </a:solidFill>
            </a:endParaRPr>
          </a:p>
          <a:p>
            <a:pPr marL="342900" lvl="0" indent="-342900" algn="just">
              <a:lnSpc>
                <a:spcPct val="115000"/>
              </a:lnSpc>
              <a:buFont typeface="Symbol" panose="05050102010706020507" pitchFamily="18" charset="2"/>
              <a:buChar char=""/>
            </a:pPr>
            <a:r>
              <a:rPr lang="en-US" sz="2000" dirty="0">
                <a:solidFill>
                  <a:srgbClr val="0070C0"/>
                </a:solidFill>
              </a:rPr>
              <a:t>an appropriate amount of details should be included; and</a:t>
            </a:r>
            <a:endParaRPr lang="en-GB" sz="2000" dirty="0">
              <a:solidFill>
                <a:srgbClr val="0070C0"/>
              </a:solidFill>
            </a:endParaRPr>
          </a:p>
          <a:p>
            <a:pPr marL="342900" lvl="0" indent="-342900" algn="just">
              <a:lnSpc>
                <a:spcPct val="115000"/>
              </a:lnSpc>
              <a:spcAft>
                <a:spcPts val="1000"/>
              </a:spcAft>
              <a:buFont typeface="Symbol" panose="05050102010706020507" pitchFamily="18" charset="2"/>
              <a:buChar char=""/>
            </a:pPr>
            <a:r>
              <a:rPr lang="en-US" sz="2000" dirty="0">
                <a:solidFill>
                  <a:srgbClr val="0070C0"/>
                </a:solidFill>
              </a:rPr>
              <a:t>clear justifications for the choices of methods should be provided. </a:t>
            </a:r>
            <a:endParaRPr lang="en-GB" sz="2000" dirty="0">
              <a:solidFill>
                <a:srgbClr val="0070C0"/>
              </a:solidFill>
            </a:endParaRPr>
          </a:p>
        </p:txBody>
      </p:sp>
      <p:sp>
        <p:nvSpPr>
          <p:cNvPr id="2" name="Title 1">
            <a:extLst>
              <a:ext uri="{FF2B5EF4-FFF2-40B4-BE49-F238E27FC236}">
                <a16:creationId xmlns:a16="http://schemas.microsoft.com/office/drawing/2014/main" id="{88D32BE3-E15F-08F1-D16F-D99AF36728AD}"/>
              </a:ext>
            </a:extLst>
          </p:cNvPr>
          <p:cNvSpPr>
            <a:spLocks noGrp="1"/>
          </p:cNvSpPr>
          <p:nvPr>
            <p:ph type="title"/>
          </p:nvPr>
        </p:nvSpPr>
        <p:spPr>
          <a:xfrm>
            <a:off x="1704494" y="380786"/>
            <a:ext cx="8911687" cy="813992"/>
          </a:xfrm>
        </p:spPr>
        <p:txBody>
          <a:bodyPr/>
          <a:lstStyle/>
          <a:p>
            <a:r>
              <a:rPr lang="en-US" dirty="0"/>
              <a:t>Task 1</a:t>
            </a:r>
          </a:p>
        </p:txBody>
      </p:sp>
    </p:spTree>
    <p:extLst>
      <p:ext uri="{BB962C8B-B14F-4D97-AF65-F5344CB8AC3E}">
        <p14:creationId xmlns:p14="http://schemas.microsoft.com/office/powerpoint/2010/main" val="2897047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0994" y="172977"/>
            <a:ext cx="8911687" cy="813992"/>
          </a:xfrm>
        </p:spPr>
        <p:txBody>
          <a:bodyPr/>
          <a:lstStyle/>
          <a:p>
            <a:r>
              <a:rPr lang="en-US" dirty="0"/>
              <a:t>Task 2</a:t>
            </a:r>
          </a:p>
        </p:txBody>
      </p:sp>
      <p:sp>
        <p:nvSpPr>
          <p:cNvPr id="3" name="Content Placeholder 2"/>
          <p:cNvSpPr>
            <a:spLocks noGrp="1"/>
          </p:cNvSpPr>
          <p:nvPr>
            <p:ph idx="1"/>
          </p:nvPr>
        </p:nvSpPr>
        <p:spPr>
          <a:xfrm>
            <a:off x="1910994" y="970344"/>
            <a:ext cx="9763767" cy="2111302"/>
          </a:xfrm>
        </p:spPr>
        <p:txBody>
          <a:bodyPr>
            <a:normAutofit fontScale="92500" lnSpcReduction="20000"/>
          </a:bodyPr>
          <a:lstStyle/>
          <a:p>
            <a:pPr marL="0" indent="0" algn="just">
              <a:buNone/>
            </a:pPr>
            <a:r>
              <a:rPr lang="en-GB" sz="1900" dirty="0"/>
              <a:t>Read the following example of the Methods section from a journal article in the Journal of Neurochemistry. In groups of 3-4, </a:t>
            </a:r>
            <a:r>
              <a:rPr lang="en-GB" sz="1900" dirty="0" err="1"/>
              <a:t>analyze</a:t>
            </a:r>
            <a:r>
              <a:rPr lang="en-GB" sz="1900" dirty="0"/>
              <a:t> the language features (e.g. tenses, active/passive voices, sequencers, and sentence structure). Based on your group’s analysis, summarize the common language features in the Methods section.</a:t>
            </a:r>
            <a:endParaRPr lang="en-US" sz="1900" dirty="0">
              <a:solidFill>
                <a:srgbClr val="0070C0"/>
              </a:solidFill>
            </a:endParaRPr>
          </a:p>
          <a:p>
            <a:pPr marL="0" indent="0">
              <a:buNone/>
            </a:pPr>
            <a:endParaRPr lang="en-US" sz="1900" dirty="0"/>
          </a:p>
          <a:p>
            <a:pPr marL="0" indent="0" algn="just">
              <a:buNone/>
            </a:pPr>
            <a:r>
              <a:rPr lang="en-US" sz="1900" dirty="0"/>
              <a:t>What are some common language features in the Methods section? </a:t>
            </a:r>
            <a:r>
              <a:rPr lang="en-US" dirty="0"/>
              <a:t>Ask </a:t>
            </a:r>
            <a:r>
              <a:rPr lang="en-US" dirty="0" err="1"/>
              <a:t>ChatGPT</a:t>
            </a:r>
            <a:r>
              <a:rPr lang="en-US" dirty="0"/>
              <a:t> to </a:t>
            </a:r>
            <a:r>
              <a:rPr lang="en-US" dirty="0" err="1"/>
              <a:t>analyse</a:t>
            </a:r>
            <a:r>
              <a:rPr lang="en-US" dirty="0"/>
              <a:t> the structure and language features of the ‘Method’ section of a journal article of your discipline.</a:t>
            </a:r>
            <a:endParaRPr lang="en-US" sz="1900" dirty="0"/>
          </a:p>
          <a:p>
            <a:pPr marL="0" indent="0">
              <a:buNone/>
            </a:pPr>
            <a:endParaRPr lang="en-GB" dirty="0"/>
          </a:p>
          <a:p>
            <a:pPr marL="0" indent="0">
              <a:buNone/>
            </a:pPr>
            <a:endParaRPr lang="en-US" dirty="0"/>
          </a:p>
        </p:txBody>
      </p:sp>
      <p:sp>
        <p:nvSpPr>
          <p:cNvPr id="4" name="Rectangle 3">
            <a:extLst>
              <a:ext uri="{FF2B5EF4-FFF2-40B4-BE49-F238E27FC236}">
                <a16:creationId xmlns:a16="http://schemas.microsoft.com/office/drawing/2014/main" id="{D64C7741-532B-4E62-8DE7-1E0910D4933E}"/>
              </a:ext>
            </a:extLst>
          </p:cNvPr>
          <p:cNvSpPr/>
          <p:nvPr/>
        </p:nvSpPr>
        <p:spPr>
          <a:xfrm>
            <a:off x="1910994" y="3238487"/>
            <a:ext cx="9763767" cy="3172343"/>
          </a:xfrm>
          <a:prstGeom prst="rect">
            <a:avLst/>
          </a:prstGeom>
        </p:spPr>
        <p:txBody>
          <a:bodyPr wrap="square">
            <a:spAutoFit/>
          </a:bodyPr>
          <a:lstStyle/>
          <a:p>
            <a:pPr algn="just">
              <a:lnSpc>
                <a:spcPct val="115000"/>
              </a:lnSpc>
              <a:spcAft>
                <a:spcPts val="1000"/>
              </a:spcAft>
            </a:pPr>
            <a:r>
              <a:rPr lang="en-US" b="1" dirty="0">
                <a:solidFill>
                  <a:srgbClr val="0070C0"/>
                </a:solidFill>
              </a:rPr>
              <a:t>Feature 1: </a:t>
            </a:r>
            <a:r>
              <a:rPr lang="en-US" dirty="0">
                <a:solidFill>
                  <a:srgbClr val="0070C0"/>
                </a:solidFill>
              </a:rPr>
              <a:t>In the methods section, it is customary to use the </a:t>
            </a:r>
            <a:r>
              <a:rPr lang="en-US" b="1" dirty="0">
                <a:solidFill>
                  <a:srgbClr val="0070C0"/>
                </a:solidFill>
              </a:rPr>
              <a:t>simple past tense </a:t>
            </a:r>
            <a:r>
              <a:rPr lang="en-US" dirty="0">
                <a:solidFill>
                  <a:srgbClr val="0070C0"/>
                </a:solidFill>
              </a:rPr>
              <a:t>to describe what you did in your study. </a:t>
            </a:r>
            <a:endParaRPr lang="en-GB" dirty="0">
              <a:solidFill>
                <a:srgbClr val="0070C0"/>
              </a:solidFill>
            </a:endParaRPr>
          </a:p>
          <a:p>
            <a:pPr algn="just">
              <a:lnSpc>
                <a:spcPct val="115000"/>
              </a:lnSpc>
              <a:spcAft>
                <a:spcPts val="1000"/>
              </a:spcAft>
            </a:pPr>
            <a:r>
              <a:rPr lang="en-US" dirty="0">
                <a:solidFill>
                  <a:srgbClr val="0070C0"/>
                </a:solidFill>
              </a:rPr>
              <a:t>Although the past tense is predominately used in the Methods section to describe the actions done by the researchers, </a:t>
            </a:r>
            <a:r>
              <a:rPr lang="en-US" b="1" dirty="0">
                <a:solidFill>
                  <a:srgbClr val="0070C0"/>
                </a:solidFill>
              </a:rPr>
              <a:t>the present tense </a:t>
            </a:r>
            <a:r>
              <a:rPr lang="en-US" dirty="0">
                <a:solidFill>
                  <a:srgbClr val="0070C0"/>
                </a:solidFill>
              </a:rPr>
              <a:t>is also used in this section to describe facts and to refer to figures or diagrams. For example: </a:t>
            </a:r>
          </a:p>
          <a:p>
            <a:pPr marL="285750" lvl="0" indent="-285750">
              <a:buFont typeface="Arial" panose="020B0604020202020204" pitchFamily="34" charset="0"/>
              <a:buChar char="•"/>
            </a:pPr>
            <a:r>
              <a:rPr lang="en-US" dirty="0">
                <a:solidFill>
                  <a:srgbClr val="0070C0"/>
                </a:solidFill>
              </a:rPr>
              <a:t>Addition of a bright field image allowed separation between neurons and glia, that </a:t>
            </a:r>
            <a:r>
              <a:rPr lang="en-US" b="1" i="1" u="sng" dirty="0">
                <a:solidFill>
                  <a:srgbClr val="0070C0"/>
                </a:solidFill>
              </a:rPr>
              <a:t>are</a:t>
            </a:r>
            <a:r>
              <a:rPr lang="en-US" dirty="0">
                <a:solidFill>
                  <a:srgbClr val="0070C0"/>
                </a:solidFill>
              </a:rPr>
              <a:t> visibly different and </a:t>
            </a:r>
            <a:r>
              <a:rPr lang="en-US" b="1" i="1" u="sng" dirty="0">
                <a:solidFill>
                  <a:srgbClr val="0070C0"/>
                </a:solidFill>
              </a:rPr>
              <a:t>are situated </a:t>
            </a:r>
            <a:r>
              <a:rPr lang="en-US" dirty="0">
                <a:solidFill>
                  <a:srgbClr val="0070C0"/>
                </a:solidFill>
              </a:rPr>
              <a:t>on different focal planes.</a:t>
            </a:r>
            <a:endParaRPr lang="en-GB" dirty="0">
              <a:solidFill>
                <a:srgbClr val="0070C0"/>
              </a:solidFill>
            </a:endParaRPr>
          </a:p>
          <a:p>
            <a:pPr marL="285750" lvl="0" indent="-285750">
              <a:buFont typeface="Arial" panose="020B0604020202020204" pitchFamily="34" charset="0"/>
              <a:buChar char="•"/>
            </a:pPr>
            <a:r>
              <a:rPr lang="en-US" dirty="0">
                <a:solidFill>
                  <a:srgbClr val="0070C0"/>
                </a:solidFill>
              </a:rPr>
              <a:t>Figure 1 </a:t>
            </a:r>
            <a:r>
              <a:rPr lang="en-US" b="1" i="1" u="sng" dirty="0">
                <a:solidFill>
                  <a:srgbClr val="0070C0"/>
                </a:solidFill>
              </a:rPr>
              <a:t>shows</a:t>
            </a:r>
            <a:r>
              <a:rPr lang="en-US" dirty="0">
                <a:solidFill>
                  <a:srgbClr val="0070C0"/>
                </a:solidFill>
              </a:rPr>
              <a:t>…</a:t>
            </a:r>
            <a:endParaRPr lang="en-GB" dirty="0">
              <a:solidFill>
                <a:srgbClr val="0070C0"/>
              </a:solidFill>
            </a:endParaRPr>
          </a:p>
          <a:p>
            <a:pPr algn="just">
              <a:lnSpc>
                <a:spcPct val="115000"/>
              </a:lnSpc>
              <a:spcAft>
                <a:spcPts val="1000"/>
              </a:spcAft>
            </a:pPr>
            <a:endParaRPr lang="en-GB" sz="2400" dirty="0">
              <a:latin typeface="Calibri" panose="020F0502020204030204" pitchFamily="34" charset="0"/>
              <a:ea typeface="DengXian" panose="02010600030101010101" pitchFamily="2" charset="-122"/>
              <a:cs typeface="Times New Roman" panose="02020603050405020304" pitchFamily="18" charset="0"/>
            </a:endParaRPr>
          </a:p>
        </p:txBody>
      </p:sp>
      <p:sp>
        <p:nvSpPr>
          <p:cNvPr id="5" name="Slide Number Placeholder 4">
            <a:extLst>
              <a:ext uri="{FF2B5EF4-FFF2-40B4-BE49-F238E27FC236}">
                <a16:creationId xmlns:a16="http://schemas.microsoft.com/office/drawing/2014/main" id="{82D0DBA6-6FDD-0448-A760-BC7FF4D4F6EC}"/>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6" name="Freeform 2">
            <a:extLst>
              <a:ext uri="{FF2B5EF4-FFF2-40B4-BE49-F238E27FC236}">
                <a16:creationId xmlns:a16="http://schemas.microsoft.com/office/drawing/2014/main" id="{0319E98E-0865-4C58-9D3D-502A79D3A79F}"/>
              </a:ext>
            </a:extLst>
          </p:cNvPr>
          <p:cNvSpPr/>
          <p:nvPr/>
        </p:nvSpPr>
        <p:spPr>
          <a:xfrm>
            <a:off x="1278852" y="2267654"/>
            <a:ext cx="632142" cy="813992"/>
          </a:xfrm>
          <a:custGeom>
            <a:avLst/>
            <a:gdLst/>
            <a:ahLst/>
            <a:cxnLst/>
            <a:rect l="l" t="t" r="r" b="b"/>
            <a:pathLst>
              <a:path w="6964299" h="8229600">
                <a:moveTo>
                  <a:pt x="0" y="0"/>
                </a:moveTo>
                <a:lnTo>
                  <a:pt x="6964299" y="0"/>
                </a:lnTo>
                <a:lnTo>
                  <a:pt x="6964299" y="8229600"/>
                </a:lnTo>
                <a:lnTo>
                  <a:pt x="0" y="8229600"/>
                </a:lnTo>
                <a:lnTo>
                  <a:pt x="0" y="0"/>
                </a:lnTo>
                <a:close/>
              </a:path>
            </a:pathLst>
          </a:custGeom>
          <a:blipFill>
            <a:blip r:embed="rId2"/>
            <a:stretch>
              <a:fillRect/>
            </a:stretch>
          </a:blipFill>
        </p:spPr>
        <p:txBody>
          <a:bodyPr/>
          <a:lstStyle/>
          <a:p>
            <a:endParaRPr lang="en-HK"/>
          </a:p>
        </p:txBody>
      </p:sp>
    </p:spTree>
    <p:extLst>
      <p:ext uri="{BB962C8B-B14F-4D97-AF65-F5344CB8AC3E}">
        <p14:creationId xmlns:p14="http://schemas.microsoft.com/office/powerpoint/2010/main" val="109336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5162" y="364316"/>
            <a:ext cx="9371012" cy="5123440"/>
          </a:xfrm>
        </p:spPr>
        <p:txBody>
          <a:bodyPr/>
          <a:lstStyle/>
          <a:p>
            <a:pPr algn="just">
              <a:lnSpc>
                <a:spcPct val="115000"/>
              </a:lnSpc>
              <a:spcAft>
                <a:spcPts val="1000"/>
              </a:spcAft>
            </a:pPr>
            <a:r>
              <a:rPr lang="en-US" dirty="0">
                <a:solidFill>
                  <a:srgbClr val="0070C0"/>
                </a:solidFill>
              </a:rPr>
              <a:t>Note that </a:t>
            </a:r>
            <a:r>
              <a:rPr lang="en-US" b="1" dirty="0">
                <a:solidFill>
                  <a:srgbClr val="0070C0"/>
                </a:solidFill>
              </a:rPr>
              <a:t>the present tense </a:t>
            </a:r>
            <a:r>
              <a:rPr lang="en-US" dirty="0">
                <a:solidFill>
                  <a:srgbClr val="0070C0"/>
                </a:solidFill>
              </a:rPr>
              <a:t>is also used when one follows a fixed/standard set of procedures of doing experiments. This is often seen in publications of science and technology. The choice and use of the simple present is to show that the author’s data is obtained strictly through the accredited scientific procedures and therefore, the reliability should be unquestionable. This situation may be particularly applicable to science students, computer students and students of traditional Chinese medicine. See the example below:</a:t>
            </a:r>
          </a:p>
          <a:p>
            <a:pPr algn="just">
              <a:lnSpc>
                <a:spcPct val="115000"/>
              </a:lnSpc>
              <a:spcAft>
                <a:spcPts val="1000"/>
              </a:spcAft>
            </a:pPr>
            <a:endParaRPr lang="en-US" dirty="0">
              <a:solidFill>
                <a:srgbClr val="0070C0"/>
              </a:solidFill>
            </a:endParaRPr>
          </a:p>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13</a:t>
            </a:fld>
            <a:endParaRPr lang="en-US" dirty="0"/>
          </a:p>
        </p:txBody>
      </p:sp>
      <p:graphicFrame>
        <p:nvGraphicFramePr>
          <p:cNvPr id="5" name="Table 4"/>
          <p:cNvGraphicFramePr>
            <a:graphicFrameLocks noGrp="1"/>
          </p:cNvGraphicFramePr>
          <p:nvPr/>
        </p:nvGraphicFramePr>
        <p:xfrm>
          <a:off x="1876927" y="2823411"/>
          <a:ext cx="9292830" cy="3769894"/>
        </p:xfrm>
        <a:graphic>
          <a:graphicData uri="http://schemas.openxmlformats.org/drawingml/2006/table">
            <a:tbl>
              <a:tblPr firstRow="1" firstCol="1" bandRow="1"/>
              <a:tblGrid>
                <a:gridCol w="9292830">
                  <a:extLst>
                    <a:ext uri="{9D8B030D-6E8A-4147-A177-3AD203B41FA5}">
                      <a16:colId xmlns:a16="http://schemas.microsoft.com/office/drawing/2014/main" val="3990046102"/>
                    </a:ext>
                  </a:extLst>
                </a:gridCol>
              </a:tblGrid>
              <a:tr h="3769894">
                <a:tc>
                  <a:txBody>
                    <a:bodyPr/>
                    <a:lstStyle/>
                    <a:p>
                      <a:pPr marL="342900" lvl="0" indent="-342900" algn="just">
                        <a:lnSpc>
                          <a:spcPct val="115000"/>
                        </a:lnSpc>
                        <a:spcAft>
                          <a:spcPts val="0"/>
                        </a:spcAft>
                        <a:buFont typeface="+mj-lt"/>
                        <a:buAutoNum type="arabicPeriod"/>
                      </a:pPr>
                      <a:r>
                        <a:rPr lang="en-US" sz="1800" b="1" dirty="0">
                          <a:solidFill>
                            <a:srgbClr val="0070C0"/>
                          </a:solidFill>
                          <a:effectLst/>
                          <a:latin typeface="Calibri" panose="020F0502020204030204" pitchFamily="34" charset="0"/>
                          <a:ea typeface="DengXian"/>
                          <a:cs typeface="Times New Roman" panose="02020603050405020304" pitchFamily="18" charset="0"/>
                        </a:rPr>
                        <a:t>Methods</a:t>
                      </a:r>
                      <a:endParaRPr lang="en-US" sz="1800" dirty="0">
                        <a:effectLst/>
                        <a:latin typeface="Calibri" panose="020F0502020204030204" pitchFamily="34" charset="0"/>
                        <a:ea typeface="DengXian"/>
                        <a:cs typeface="Times New Roman" panose="02020603050405020304" pitchFamily="18" charset="0"/>
                      </a:endParaRPr>
                    </a:p>
                    <a:p>
                      <a:pPr marL="742950" lvl="1" indent="-285750" algn="just">
                        <a:lnSpc>
                          <a:spcPct val="115000"/>
                        </a:lnSpc>
                        <a:spcAft>
                          <a:spcPts val="1000"/>
                        </a:spcAft>
                        <a:buFont typeface="+mj-lt"/>
                        <a:buAutoNum type="arabicPeriod"/>
                      </a:pPr>
                      <a:r>
                        <a:rPr lang="en-US" sz="1800" dirty="0">
                          <a:solidFill>
                            <a:srgbClr val="0070C0"/>
                          </a:solidFill>
                          <a:effectLst/>
                          <a:latin typeface="Calibri" panose="020F0502020204030204" pitchFamily="34" charset="0"/>
                          <a:ea typeface="DengXian"/>
                          <a:cs typeface="Times New Roman" panose="02020603050405020304" pitchFamily="18" charset="0"/>
                        </a:rPr>
                        <a:t>Regression and decomposition methods</a:t>
                      </a:r>
                      <a:endParaRPr lang="en-US" sz="1800" dirty="0">
                        <a:effectLst/>
                        <a:latin typeface="Calibri" panose="020F0502020204030204" pitchFamily="34" charset="0"/>
                        <a:ea typeface="DengXian"/>
                        <a:cs typeface="Times New Roman" panose="02020603050405020304" pitchFamily="18" charset="0"/>
                      </a:endParaRPr>
                    </a:p>
                    <a:p>
                      <a:pPr algn="just">
                        <a:lnSpc>
                          <a:spcPct val="115000"/>
                        </a:lnSpc>
                        <a:spcAft>
                          <a:spcPts val="1000"/>
                        </a:spcAft>
                      </a:pPr>
                      <a:r>
                        <a:rPr lang="en-US" sz="1800" dirty="0">
                          <a:solidFill>
                            <a:srgbClr val="0070C0"/>
                          </a:solidFill>
                          <a:effectLst/>
                          <a:latin typeface="Calibri" panose="020F0502020204030204" pitchFamily="34" charset="0"/>
                          <a:ea typeface="DengXian"/>
                          <a:cs typeface="Times New Roman" panose="02020603050405020304" pitchFamily="18" charset="0"/>
                        </a:rPr>
                        <a:t>Our adiposity measures are initially modelled by linear regression, estimated using ordinary least squares (OLS). Regression models are first estimated using age, gender and regional dummies (Specification 1). We then enhance this specification by adding obesogenic small-area level characteristics (Specification 2). Our full specification is further augmented by individual-level socio-economic position (SEP) and lifestyle covariates (Specification 3). We also estimate unconditional quantile regression models (UQR) that allow us to consider…</a:t>
                      </a:r>
                      <a:endParaRPr lang="en-US" sz="1800" dirty="0">
                        <a:effectLst/>
                        <a:latin typeface="Calibri" panose="020F0502020204030204" pitchFamily="34" charset="0"/>
                        <a:ea typeface="DengXian"/>
                        <a:cs typeface="Times New Roman" panose="02020603050405020304" pitchFamily="18" charset="0"/>
                      </a:endParaRPr>
                    </a:p>
                    <a:p>
                      <a:pPr algn="just">
                        <a:lnSpc>
                          <a:spcPct val="115000"/>
                        </a:lnSpc>
                        <a:spcAft>
                          <a:spcPts val="1000"/>
                        </a:spcAft>
                      </a:pPr>
                      <a:r>
                        <a:rPr lang="en-US" sz="1400" dirty="0">
                          <a:solidFill>
                            <a:srgbClr val="0070C0"/>
                          </a:solidFill>
                          <a:effectLst/>
                          <a:latin typeface="Calibri" panose="020F0502020204030204" pitchFamily="34" charset="0"/>
                          <a:ea typeface="DengXian"/>
                          <a:cs typeface="Times New Roman" panose="02020603050405020304" pitchFamily="18" charset="0"/>
                        </a:rPr>
                        <a:t>Source: </a:t>
                      </a:r>
                      <a:r>
                        <a:rPr lang="en-US" sz="1400" dirty="0" err="1">
                          <a:solidFill>
                            <a:srgbClr val="0070C0"/>
                          </a:solidFill>
                          <a:effectLst/>
                          <a:latin typeface="Calibri" panose="020F0502020204030204" pitchFamily="34" charset="0"/>
                          <a:ea typeface="DengXian"/>
                          <a:cs typeface="Times New Roman" panose="02020603050405020304" pitchFamily="18" charset="0"/>
                        </a:rPr>
                        <a:t>Davillas</a:t>
                      </a:r>
                      <a:r>
                        <a:rPr lang="en-US" sz="1400" dirty="0">
                          <a:solidFill>
                            <a:srgbClr val="0070C0"/>
                          </a:solidFill>
                          <a:effectLst/>
                          <a:latin typeface="Calibri" panose="020F0502020204030204" pitchFamily="34" charset="0"/>
                          <a:ea typeface="DengXian"/>
                          <a:cs typeface="Times New Roman" panose="02020603050405020304" pitchFamily="18" charset="0"/>
                        </a:rPr>
                        <a:t>, A., &amp; Jones, A.M. (2020). Regional inequalities in adiposity in England: distributional analysis of the contribution of individual-level characteristics and the small area obesogenic environment. </a:t>
                      </a:r>
                      <a:r>
                        <a:rPr lang="en-US" sz="1400" i="1" dirty="0">
                          <a:solidFill>
                            <a:srgbClr val="0070C0"/>
                          </a:solidFill>
                          <a:effectLst/>
                          <a:latin typeface="Calibri" panose="020F0502020204030204" pitchFamily="34" charset="0"/>
                          <a:ea typeface="DengXian"/>
                          <a:cs typeface="Times New Roman" panose="02020603050405020304" pitchFamily="18" charset="0"/>
                        </a:rPr>
                        <a:t>Economics and Human Biology, 38</a:t>
                      </a:r>
                      <a:r>
                        <a:rPr lang="en-US" sz="1400" dirty="0">
                          <a:solidFill>
                            <a:srgbClr val="0070C0"/>
                          </a:solidFill>
                          <a:effectLst/>
                          <a:latin typeface="Calibri" panose="020F0502020204030204" pitchFamily="34" charset="0"/>
                          <a:ea typeface="DengXian"/>
                          <a:cs typeface="Times New Roman" panose="02020603050405020304" pitchFamily="18" charset="0"/>
                        </a:rPr>
                        <a:t>, 1-13.</a:t>
                      </a:r>
                      <a:endParaRPr lang="en-US" sz="1400" dirty="0">
                        <a:effectLst/>
                        <a:latin typeface="Calibri" panose="020F0502020204030204" pitchFamily="34" charset="0"/>
                        <a:ea typeface="DengXian"/>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078179"/>
                  </a:ext>
                </a:extLst>
              </a:tr>
            </a:tbl>
          </a:graphicData>
        </a:graphic>
      </p:graphicFrame>
    </p:spTree>
    <p:extLst>
      <p:ext uri="{BB962C8B-B14F-4D97-AF65-F5344CB8AC3E}">
        <p14:creationId xmlns:p14="http://schemas.microsoft.com/office/powerpoint/2010/main" val="765507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DBA57B-0913-4C05-AFD6-B69CF26FC2F6}"/>
              </a:ext>
            </a:extLst>
          </p:cNvPr>
          <p:cNvSpPr/>
          <p:nvPr/>
        </p:nvSpPr>
        <p:spPr>
          <a:xfrm>
            <a:off x="1784273" y="3756721"/>
            <a:ext cx="9633528" cy="3350661"/>
          </a:xfrm>
          <a:prstGeom prst="rect">
            <a:avLst/>
          </a:prstGeom>
        </p:spPr>
        <p:txBody>
          <a:bodyPr wrap="square">
            <a:spAutoFit/>
          </a:bodyPr>
          <a:lstStyle/>
          <a:p>
            <a:pPr algn="just">
              <a:lnSpc>
                <a:spcPct val="115000"/>
              </a:lnSpc>
              <a:spcAft>
                <a:spcPts val="1000"/>
              </a:spcAft>
            </a:pPr>
            <a:r>
              <a:rPr lang="en-US" b="1" dirty="0">
                <a:solidFill>
                  <a:srgbClr val="0070C0"/>
                </a:solidFill>
              </a:rPr>
              <a:t>Feature 3: Sequencers</a:t>
            </a:r>
            <a:r>
              <a:rPr lang="en-US" dirty="0">
                <a:solidFill>
                  <a:srgbClr val="0070C0"/>
                </a:solidFill>
              </a:rPr>
              <a:t> are used to describe the steps of actions in the experimental procedure. For example:</a:t>
            </a:r>
            <a:endParaRPr lang="en-GB" dirty="0">
              <a:solidFill>
                <a:srgbClr val="0070C0"/>
              </a:solidFill>
            </a:endParaRPr>
          </a:p>
          <a:p>
            <a:pPr marL="285750" indent="-285750" algn="just">
              <a:buFont typeface="Arial" panose="020B0604020202020204" pitchFamily="34" charset="0"/>
              <a:buChar char="•"/>
            </a:pPr>
            <a:r>
              <a:rPr lang="en-US" b="1" i="1" u="sng" dirty="0">
                <a:solidFill>
                  <a:srgbClr val="0070C0"/>
                </a:solidFill>
              </a:rPr>
              <a:t>First, </a:t>
            </a:r>
            <a:r>
              <a:rPr lang="en-US" dirty="0">
                <a:solidFill>
                  <a:srgbClr val="0070C0"/>
                </a:solidFill>
              </a:rPr>
              <a:t>rat brains were quickly removed and macerated in chilled Ca2+‐free HBSS (Invitrogen). </a:t>
            </a:r>
            <a:r>
              <a:rPr lang="en-US" b="1" i="1" u="sng" dirty="0">
                <a:solidFill>
                  <a:srgbClr val="0070C0"/>
                </a:solidFill>
              </a:rPr>
              <a:t>Then, </a:t>
            </a:r>
            <a:r>
              <a:rPr lang="en-US" dirty="0">
                <a:solidFill>
                  <a:srgbClr val="0070C0"/>
                </a:solidFill>
              </a:rPr>
              <a:t>the tissue was minced and </a:t>
            </a:r>
            <a:r>
              <a:rPr lang="en-US" dirty="0" err="1">
                <a:solidFill>
                  <a:srgbClr val="0070C0"/>
                </a:solidFill>
              </a:rPr>
              <a:t>trypsinized</a:t>
            </a:r>
            <a:r>
              <a:rPr lang="en-US" dirty="0">
                <a:solidFill>
                  <a:srgbClr val="0070C0"/>
                </a:solidFill>
              </a:rPr>
              <a:t> (0.1% for 15 min at 37°C), triturated and plated on poly‐d‐lysine‐coated coverslips and cultured in Neurobasal A medium (Gibco‐Invitrogen, Paisley, UK) supplemented with B‐27 (Gibco‐Invitrogen), 2 mM l‐glutamine and 1% Penicillin/Streptomycin</a:t>
            </a:r>
            <a:r>
              <a:rPr lang="en-GB" dirty="0">
                <a:solidFill>
                  <a:srgbClr val="0070C0"/>
                </a:solidFill>
              </a:rPr>
              <a:t>.</a:t>
            </a:r>
          </a:p>
          <a:p>
            <a:pPr algn="just"/>
            <a:endParaRPr lang="en-GB" dirty="0">
              <a:solidFill>
                <a:srgbClr val="0070C0"/>
              </a:solidFill>
            </a:endParaRPr>
          </a:p>
          <a:p>
            <a:pPr marL="285750" indent="-285750" algn="just">
              <a:buFont typeface="Arial" panose="020B0604020202020204" pitchFamily="34" charset="0"/>
              <a:buChar char="•"/>
            </a:pPr>
            <a:r>
              <a:rPr lang="en-US" b="1" i="1" u="sng" dirty="0">
                <a:solidFill>
                  <a:srgbClr val="0070C0"/>
                </a:solidFill>
              </a:rPr>
              <a:t>After the above procedure, </a:t>
            </a:r>
            <a:r>
              <a:rPr lang="en-US" dirty="0">
                <a:solidFill>
                  <a:srgbClr val="0070C0"/>
                </a:solidFill>
              </a:rPr>
              <a:t>data were </a:t>
            </a:r>
            <a:r>
              <a:rPr lang="en-US" dirty="0" err="1">
                <a:solidFill>
                  <a:srgbClr val="0070C0"/>
                </a:solidFill>
              </a:rPr>
              <a:t>analysed</a:t>
            </a:r>
            <a:r>
              <a:rPr lang="en-US" dirty="0">
                <a:solidFill>
                  <a:srgbClr val="0070C0"/>
                </a:solidFill>
              </a:rPr>
              <a:t> using software from </a:t>
            </a:r>
            <a:r>
              <a:rPr lang="en-US" dirty="0" err="1">
                <a:solidFill>
                  <a:srgbClr val="0070C0"/>
                </a:solidFill>
              </a:rPr>
              <a:t>Andor</a:t>
            </a:r>
            <a:r>
              <a:rPr lang="en-US" dirty="0">
                <a:solidFill>
                  <a:srgbClr val="0070C0"/>
                </a:solidFill>
              </a:rPr>
              <a:t> IQ (Belfast, UK).</a:t>
            </a:r>
            <a:endParaRPr lang="en-GB" dirty="0">
              <a:solidFill>
                <a:srgbClr val="0070C0"/>
              </a:solidFill>
            </a:endParaRPr>
          </a:p>
          <a:p>
            <a:pPr algn="just"/>
            <a:endParaRPr lang="en-GB" dirty="0">
              <a:solidFill>
                <a:srgbClr val="0070C0"/>
              </a:solidFill>
            </a:endParaRPr>
          </a:p>
        </p:txBody>
      </p:sp>
      <p:sp>
        <p:nvSpPr>
          <p:cNvPr id="2" name="Slide Number Placeholder 1">
            <a:extLst>
              <a:ext uri="{FF2B5EF4-FFF2-40B4-BE49-F238E27FC236}">
                <a16:creationId xmlns:a16="http://schemas.microsoft.com/office/drawing/2014/main" id="{E5FB82B4-1A9D-6544-A7BE-95AF0C8CC820}"/>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4" name="Rectangle 3">
            <a:extLst>
              <a:ext uri="{FF2B5EF4-FFF2-40B4-BE49-F238E27FC236}">
                <a16:creationId xmlns:a16="http://schemas.microsoft.com/office/drawing/2014/main" id="{52B8E792-4A59-426D-BF0E-E4E894F21AE1}"/>
              </a:ext>
            </a:extLst>
          </p:cNvPr>
          <p:cNvSpPr/>
          <p:nvPr/>
        </p:nvSpPr>
        <p:spPr>
          <a:xfrm>
            <a:off x="1830455" y="71823"/>
            <a:ext cx="9541163" cy="3443828"/>
          </a:xfrm>
          <a:prstGeom prst="rect">
            <a:avLst/>
          </a:prstGeom>
        </p:spPr>
        <p:txBody>
          <a:bodyPr wrap="square">
            <a:spAutoFit/>
          </a:bodyPr>
          <a:lstStyle/>
          <a:p>
            <a:pPr algn="just">
              <a:lnSpc>
                <a:spcPct val="115000"/>
              </a:lnSpc>
              <a:spcBef>
                <a:spcPts val="1000"/>
              </a:spcBef>
              <a:spcAft>
                <a:spcPts val="1000"/>
              </a:spcAft>
              <a:buClr>
                <a:schemeClr val="accent1"/>
              </a:buClr>
            </a:pPr>
            <a:r>
              <a:rPr lang="en-US" b="1" dirty="0">
                <a:solidFill>
                  <a:srgbClr val="0070C0"/>
                </a:solidFill>
              </a:rPr>
              <a:t>Feature 2: </a:t>
            </a:r>
            <a:r>
              <a:rPr lang="en-US" dirty="0">
                <a:solidFill>
                  <a:srgbClr val="0070C0"/>
                </a:solidFill>
              </a:rPr>
              <a:t>The </a:t>
            </a:r>
            <a:r>
              <a:rPr lang="en-US" b="1" dirty="0">
                <a:solidFill>
                  <a:srgbClr val="0070C0"/>
                </a:solidFill>
              </a:rPr>
              <a:t>passive voice </a:t>
            </a:r>
            <a:r>
              <a:rPr lang="en-US" dirty="0">
                <a:solidFill>
                  <a:srgbClr val="0070C0"/>
                </a:solidFill>
              </a:rPr>
              <a:t>is often used in the Methods section. For example:</a:t>
            </a:r>
            <a:endParaRPr lang="en-GB" dirty="0">
              <a:solidFill>
                <a:srgbClr val="0070C0"/>
              </a:solidFill>
            </a:endParaRPr>
          </a:p>
          <a:p>
            <a:pPr marL="285750" lvl="0" indent="-285750" algn="just">
              <a:lnSpc>
                <a:spcPct val="115000"/>
              </a:lnSpc>
              <a:spcBef>
                <a:spcPts val="1000"/>
              </a:spcBef>
              <a:spcAft>
                <a:spcPts val="1000"/>
              </a:spcAft>
              <a:buClr>
                <a:srgbClr val="0070C0"/>
              </a:buClr>
              <a:buFont typeface="Arial" panose="020B0604020202020204" pitchFamily="34" charset="0"/>
              <a:buChar char="•"/>
            </a:pPr>
            <a:r>
              <a:rPr lang="en-GB" dirty="0">
                <a:solidFill>
                  <a:srgbClr val="0070C0"/>
                </a:solidFill>
              </a:rPr>
              <a:t>Fluorescent images </a:t>
            </a:r>
            <a:r>
              <a:rPr lang="en-GB" b="1" i="1" u="sng" dirty="0">
                <a:solidFill>
                  <a:srgbClr val="0070C0"/>
                </a:solidFill>
              </a:rPr>
              <a:t>were acquired </a:t>
            </a:r>
            <a:r>
              <a:rPr lang="en-GB" dirty="0">
                <a:solidFill>
                  <a:srgbClr val="0070C0"/>
                </a:solidFill>
              </a:rPr>
              <a:t>with a frame interval of 10s. After the above procedure, data </a:t>
            </a:r>
            <a:r>
              <a:rPr lang="en-GB" b="1" i="1" u="sng" dirty="0">
                <a:solidFill>
                  <a:srgbClr val="0070C0"/>
                </a:solidFill>
              </a:rPr>
              <a:t>were analysed </a:t>
            </a:r>
            <a:r>
              <a:rPr lang="en-GB" dirty="0">
                <a:solidFill>
                  <a:srgbClr val="0070C0"/>
                </a:solidFill>
              </a:rPr>
              <a:t>using software from </a:t>
            </a:r>
            <a:r>
              <a:rPr lang="en-GB" dirty="0" err="1">
                <a:solidFill>
                  <a:srgbClr val="0070C0"/>
                </a:solidFill>
              </a:rPr>
              <a:t>Andor</a:t>
            </a:r>
            <a:r>
              <a:rPr lang="en-GB" dirty="0">
                <a:solidFill>
                  <a:srgbClr val="0070C0"/>
                </a:solidFill>
              </a:rPr>
              <a:t> IQ (Belfast, UK).</a:t>
            </a:r>
          </a:p>
          <a:p>
            <a:pPr algn="just">
              <a:lnSpc>
                <a:spcPct val="115000"/>
              </a:lnSpc>
              <a:spcBef>
                <a:spcPts val="1000"/>
              </a:spcBef>
              <a:spcAft>
                <a:spcPts val="1000"/>
              </a:spcAft>
              <a:buClr>
                <a:schemeClr val="accent1"/>
              </a:buClr>
            </a:pPr>
            <a:r>
              <a:rPr lang="en-US" dirty="0">
                <a:solidFill>
                  <a:srgbClr val="0070C0"/>
                </a:solidFill>
              </a:rPr>
              <a:t>However, the passive voice should not be the default in the Methods section. It always depends on whether you would like to emphasize what was done (passive) or who did it (active). Sometimes active voice can make the writing more concise and flow more smoothly. Also, some influential journals (e.g. Science, Nature, British Medical Journal) prefer writers to use the active voice. Read the Instructions to Authors for the journal you intend to submit your paper to. </a:t>
            </a:r>
            <a:endParaRPr lang="en-GB" dirty="0">
              <a:solidFill>
                <a:srgbClr val="0070C0"/>
              </a:solidFill>
            </a:endParaRPr>
          </a:p>
        </p:txBody>
      </p:sp>
    </p:spTree>
    <p:extLst>
      <p:ext uri="{BB962C8B-B14F-4D97-AF65-F5344CB8AC3E}">
        <p14:creationId xmlns:p14="http://schemas.microsoft.com/office/powerpoint/2010/main" val="219872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A5419D-013D-4A3B-A73D-41B773B238D3}"/>
              </a:ext>
            </a:extLst>
          </p:cNvPr>
          <p:cNvSpPr/>
          <p:nvPr/>
        </p:nvSpPr>
        <p:spPr>
          <a:xfrm>
            <a:off x="1473200" y="1411585"/>
            <a:ext cx="9245600" cy="2740558"/>
          </a:xfrm>
          <a:prstGeom prst="rect">
            <a:avLst/>
          </a:prstGeom>
        </p:spPr>
        <p:txBody>
          <a:bodyPr wrap="square">
            <a:spAutoFit/>
          </a:bodyPr>
          <a:lstStyle/>
          <a:p>
            <a:pPr algn="just">
              <a:lnSpc>
                <a:spcPct val="115000"/>
              </a:lnSpc>
              <a:spcAft>
                <a:spcPts val="1000"/>
              </a:spcAft>
            </a:pPr>
            <a:r>
              <a:rPr lang="en-US" b="1" dirty="0">
                <a:solidFill>
                  <a:srgbClr val="0070C0"/>
                </a:solidFill>
              </a:rPr>
              <a:t>Feature 4: </a:t>
            </a:r>
            <a:r>
              <a:rPr lang="en-HK" dirty="0">
                <a:solidFill>
                  <a:srgbClr val="0070C0"/>
                </a:solidFill>
              </a:rPr>
              <a:t>The ‘</a:t>
            </a:r>
            <a:r>
              <a:rPr lang="en-HK" b="1" dirty="0" err="1">
                <a:solidFill>
                  <a:srgbClr val="0070C0"/>
                </a:solidFill>
              </a:rPr>
              <a:t>To+infinitive</a:t>
            </a:r>
            <a:r>
              <a:rPr lang="en-HK" b="1" dirty="0">
                <a:solidFill>
                  <a:srgbClr val="0070C0"/>
                </a:solidFill>
              </a:rPr>
              <a:t>’ construction </a:t>
            </a:r>
            <a:r>
              <a:rPr lang="en-HK" dirty="0">
                <a:solidFill>
                  <a:srgbClr val="0070C0"/>
                </a:solidFill>
              </a:rPr>
              <a:t>is used to express purposes or provide justifications. For example:</a:t>
            </a:r>
            <a:endParaRPr lang="en-GB" dirty="0">
              <a:solidFill>
                <a:srgbClr val="0070C0"/>
              </a:solidFill>
            </a:endParaRPr>
          </a:p>
          <a:p>
            <a:pPr marL="342900" lvl="0" indent="-342900" algn="just">
              <a:lnSpc>
                <a:spcPct val="115000"/>
              </a:lnSpc>
              <a:spcAft>
                <a:spcPts val="0"/>
              </a:spcAft>
              <a:buFont typeface="Symbol" panose="05050102010706020507" pitchFamily="18" charset="2"/>
              <a:buChar char=""/>
            </a:pPr>
            <a:r>
              <a:rPr lang="en-GB" b="1" i="1" u="sng" dirty="0">
                <a:solidFill>
                  <a:srgbClr val="0070C0"/>
                </a:solidFill>
              </a:rPr>
              <a:t>To avoid accumulation of oxidized products, </a:t>
            </a:r>
            <a:r>
              <a:rPr lang="en-GB" b="1" i="1" u="sng" dirty="0" err="1">
                <a:solidFill>
                  <a:srgbClr val="0070C0"/>
                </a:solidFill>
              </a:rPr>
              <a:t>HEt</a:t>
            </a:r>
            <a:r>
              <a:rPr lang="en-GB" b="1" i="1" u="sng" dirty="0">
                <a:solidFill>
                  <a:srgbClr val="0070C0"/>
                </a:solidFill>
              </a:rPr>
              <a:t> was not preloaded to the cells, but was added to the solutions in the beginning of the experiments in primary co‐cultures.</a:t>
            </a:r>
          </a:p>
          <a:p>
            <a:pPr marL="342900" lvl="0" indent="-342900" algn="just">
              <a:lnSpc>
                <a:spcPct val="115000"/>
              </a:lnSpc>
              <a:spcAft>
                <a:spcPts val="1000"/>
              </a:spcAft>
              <a:buFont typeface="Symbol" panose="05050102010706020507" pitchFamily="18" charset="2"/>
              <a:buChar char=""/>
            </a:pPr>
            <a:r>
              <a:rPr lang="en-US" b="1" i="1" u="sng" dirty="0">
                <a:solidFill>
                  <a:srgbClr val="0070C0"/>
                </a:solidFill>
              </a:rPr>
              <a:t>To assess lipid peroxidation, C11‐BODIPY (581/591, 2 </a:t>
            </a:r>
            <a:r>
              <a:rPr lang="en-US" b="1" i="1" u="sng" dirty="0" err="1">
                <a:solidFill>
                  <a:srgbClr val="0070C0"/>
                </a:solidFill>
              </a:rPr>
              <a:t>μM</a:t>
            </a:r>
            <a:r>
              <a:rPr lang="en-US" b="1" i="1" u="sng" dirty="0">
                <a:solidFill>
                  <a:srgbClr val="0070C0"/>
                </a:solidFill>
              </a:rPr>
              <a:t>, Molecular Probes) was excited using the 488 and 565 nm laser and fluorescence measured from 505 to 550 nm and above 580 nm (40× objective).</a:t>
            </a:r>
            <a:endParaRPr lang="en-GB" b="1" i="1" u="sng" dirty="0">
              <a:solidFill>
                <a:srgbClr val="0070C0"/>
              </a:solidFill>
            </a:endParaRPr>
          </a:p>
        </p:txBody>
      </p:sp>
      <p:sp>
        <p:nvSpPr>
          <p:cNvPr id="2" name="Slide Number Placeholder 1">
            <a:extLst>
              <a:ext uri="{FF2B5EF4-FFF2-40B4-BE49-F238E27FC236}">
                <a16:creationId xmlns:a16="http://schemas.microsoft.com/office/drawing/2014/main" id="{DC42BC7F-1C55-5343-BA6A-B155BD224452}"/>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4072045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A5419D-013D-4A3B-A73D-41B773B238D3}"/>
              </a:ext>
            </a:extLst>
          </p:cNvPr>
          <p:cNvSpPr/>
          <p:nvPr/>
        </p:nvSpPr>
        <p:spPr>
          <a:xfrm>
            <a:off x="620231" y="1559209"/>
            <a:ext cx="3965623" cy="1338123"/>
          </a:xfrm>
          <a:prstGeom prst="rect">
            <a:avLst/>
          </a:prstGeom>
        </p:spPr>
        <p:txBody>
          <a:bodyPr wrap="square">
            <a:spAutoFit/>
          </a:bodyPr>
          <a:lstStyle/>
          <a:p>
            <a:pPr algn="just">
              <a:lnSpc>
                <a:spcPct val="115000"/>
              </a:lnSpc>
              <a:spcAft>
                <a:spcPts val="1000"/>
              </a:spcAft>
            </a:pPr>
            <a:r>
              <a:rPr lang="en-GB" dirty="0"/>
              <a:t>Here are more linking phrases that operate to tie ideas together in the Methods section and to add some stylistic variety</a:t>
            </a:r>
            <a:r>
              <a:rPr lang="en-GB" dirty="0">
                <a:solidFill>
                  <a:srgbClr val="0070C0"/>
                </a:solidFill>
              </a:rPr>
              <a:t>.</a:t>
            </a:r>
          </a:p>
        </p:txBody>
      </p:sp>
      <p:sp>
        <p:nvSpPr>
          <p:cNvPr id="2" name="Slide Number Placeholder 1">
            <a:extLst>
              <a:ext uri="{FF2B5EF4-FFF2-40B4-BE49-F238E27FC236}">
                <a16:creationId xmlns:a16="http://schemas.microsoft.com/office/drawing/2014/main" id="{DC42BC7F-1C55-5343-BA6A-B155BD224452}"/>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6" name="TextBox 5">
            <a:extLst>
              <a:ext uri="{FF2B5EF4-FFF2-40B4-BE49-F238E27FC236}">
                <a16:creationId xmlns:a16="http://schemas.microsoft.com/office/drawing/2014/main" id="{51C9DBA9-8E63-493C-84BD-4954164FD166}"/>
              </a:ext>
            </a:extLst>
          </p:cNvPr>
          <p:cNvSpPr txBox="1"/>
          <p:nvPr/>
        </p:nvSpPr>
        <p:spPr>
          <a:xfrm>
            <a:off x="4989458" y="77637"/>
            <a:ext cx="9323154" cy="6889065"/>
          </a:xfrm>
          <a:prstGeom prst="rect">
            <a:avLst/>
          </a:prstGeom>
          <a:noFill/>
        </p:spPr>
        <p:txBody>
          <a:bodyPr wrap="square">
            <a:spAutoFit/>
          </a:bodyPr>
          <a:lstStyle/>
          <a:p>
            <a:pPr lvl="0" indent="-342900" algn="just">
              <a:lnSpc>
                <a:spcPts val="1700"/>
              </a:lnSpc>
              <a:spcAft>
                <a:spcPts val="1000"/>
              </a:spcAft>
              <a:buFont typeface="+mj-lt"/>
              <a:buAutoNum type="alphaUcPeriod"/>
            </a:pPr>
            <a:r>
              <a:rPr lang="en-HK" sz="1600" b="1" dirty="0"/>
              <a:t>Initial Purpose Clauses or Phrases</a:t>
            </a:r>
            <a:endParaRPr lang="en-GB" sz="1600" b="1" dirty="0"/>
          </a:p>
          <a:p>
            <a:pPr lvl="0" indent="-342900" algn="just">
              <a:lnSpc>
                <a:spcPts val="1700"/>
              </a:lnSpc>
              <a:spcAft>
                <a:spcPts val="1000"/>
              </a:spcAft>
              <a:buFont typeface="Symbol" panose="05050102010706020507" pitchFamily="18" charset="2"/>
              <a:buChar char=""/>
            </a:pPr>
            <a:r>
              <a:rPr lang="en-HK" sz="1600" dirty="0"/>
              <a:t>In an effort to evaluate…</a:t>
            </a:r>
            <a:endParaRPr lang="en-GB" sz="1600" dirty="0"/>
          </a:p>
          <a:p>
            <a:pPr lvl="0" indent="-342900" algn="just">
              <a:lnSpc>
                <a:spcPts val="1700"/>
              </a:lnSpc>
              <a:spcAft>
                <a:spcPts val="1000"/>
              </a:spcAft>
              <a:buFont typeface="Symbol" panose="05050102010706020507" pitchFamily="18" charset="2"/>
              <a:buChar char=""/>
            </a:pPr>
            <a:r>
              <a:rPr lang="en-HK" sz="1600" dirty="0"/>
              <a:t>In order to establish…</a:t>
            </a:r>
            <a:endParaRPr lang="en-GB" sz="1600" dirty="0"/>
          </a:p>
          <a:p>
            <a:pPr lvl="0" indent="-342900" algn="just">
              <a:lnSpc>
                <a:spcPts val="1700"/>
              </a:lnSpc>
              <a:spcAft>
                <a:spcPts val="1000"/>
              </a:spcAft>
              <a:buFont typeface="Symbol" panose="05050102010706020507" pitchFamily="18" charset="2"/>
              <a:buChar char=""/>
            </a:pPr>
            <a:r>
              <a:rPr lang="en-HK" sz="1600" dirty="0"/>
              <a:t>To further test this hypothesis, …</a:t>
            </a:r>
            <a:endParaRPr lang="en-GB" sz="1600" dirty="0"/>
          </a:p>
          <a:p>
            <a:pPr lvl="0" indent="-342900" algn="just">
              <a:lnSpc>
                <a:spcPts val="1700"/>
              </a:lnSpc>
              <a:spcAft>
                <a:spcPts val="1000"/>
              </a:spcAft>
              <a:buFont typeface="Symbol" panose="05050102010706020507" pitchFamily="18" charset="2"/>
              <a:buChar char=""/>
            </a:pPr>
            <a:r>
              <a:rPr lang="en-HK" sz="1600" dirty="0"/>
              <a:t>To determine the cost, …</a:t>
            </a:r>
            <a:endParaRPr lang="en-GB" sz="1600" dirty="0"/>
          </a:p>
          <a:p>
            <a:pPr lvl="0" indent="-342900" algn="just">
              <a:lnSpc>
                <a:spcPts val="1700"/>
              </a:lnSpc>
              <a:spcAft>
                <a:spcPts val="1000"/>
              </a:spcAft>
              <a:buFont typeface="Symbol" panose="05050102010706020507" pitchFamily="18" charset="2"/>
              <a:buChar char=""/>
            </a:pPr>
            <a:r>
              <a:rPr lang="en-HK" sz="1600" dirty="0"/>
              <a:t>In the interest of obtaining useful data, …</a:t>
            </a:r>
            <a:endParaRPr lang="en-GB" sz="1600" dirty="0"/>
          </a:p>
          <a:p>
            <a:pPr algn="just">
              <a:lnSpc>
                <a:spcPts val="1700"/>
              </a:lnSpc>
              <a:spcAft>
                <a:spcPts val="1000"/>
              </a:spcAft>
            </a:pPr>
            <a:r>
              <a:rPr lang="en-HK" sz="1600" dirty="0"/>
              <a:t> </a:t>
            </a:r>
            <a:endParaRPr lang="en-GB" sz="1600" dirty="0"/>
          </a:p>
          <a:p>
            <a:pPr lvl="0" indent="-342900" algn="just">
              <a:lnSpc>
                <a:spcPts val="1700"/>
              </a:lnSpc>
              <a:spcAft>
                <a:spcPts val="1000"/>
              </a:spcAft>
              <a:buFont typeface="+mj-lt"/>
              <a:buAutoNum type="alphaUcPeriod" startAt="2"/>
            </a:pPr>
            <a:r>
              <a:rPr lang="en-HK" sz="1600" b="1" dirty="0"/>
              <a:t>Phrases Making Temporal Links</a:t>
            </a:r>
            <a:endParaRPr lang="en-GB" sz="1600" b="1" dirty="0"/>
          </a:p>
          <a:p>
            <a:pPr lvl="0" indent="-342900" algn="just">
              <a:lnSpc>
                <a:spcPts val="1700"/>
              </a:lnSpc>
              <a:spcAft>
                <a:spcPts val="1000"/>
              </a:spcAft>
              <a:buFont typeface="Symbol" panose="05050102010706020507" pitchFamily="18" charset="2"/>
              <a:buChar char=""/>
            </a:pPr>
            <a:r>
              <a:rPr lang="en-HK" sz="1600" dirty="0"/>
              <a:t>During the data collection, …</a:t>
            </a:r>
            <a:endParaRPr lang="en-GB" sz="1600" dirty="0"/>
          </a:p>
          <a:p>
            <a:pPr lvl="0" indent="-342900" algn="just">
              <a:lnSpc>
                <a:spcPts val="1700"/>
              </a:lnSpc>
              <a:spcAft>
                <a:spcPts val="1000"/>
              </a:spcAft>
              <a:buFont typeface="Symbol" panose="05050102010706020507" pitchFamily="18" charset="2"/>
              <a:buChar char=""/>
            </a:pPr>
            <a:r>
              <a:rPr lang="en-HK" sz="1600" dirty="0"/>
              <a:t>Prior to collecting this information, …</a:t>
            </a:r>
            <a:endParaRPr lang="en-GB" sz="1600" dirty="0"/>
          </a:p>
          <a:p>
            <a:pPr lvl="0" indent="-342900" algn="just">
              <a:lnSpc>
                <a:spcPts val="1700"/>
              </a:lnSpc>
              <a:spcAft>
                <a:spcPts val="1000"/>
              </a:spcAft>
              <a:buFont typeface="Symbol" panose="05050102010706020507" pitchFamily="18" charset="2"/>
              <a:buChar char=""/>
            </a:pPr>
            <a:r>
              <a:rPr lang="en-HK" sz="1600" dirty="0"/>
              <a:t>On arrival on campus, the participants…</a:t>
            </a:r>
            <a:endParaRPr lang="en-GB" sz="1600" dirty="0"/>
          </a:p>
          <a:p>
            <a:pPr lvl="0" indent="-342900" algn="just">
              <a:lnSpc>
                <a:spcPts val="1700"/>
              </a:lnSpc>
              <a:spcAft>
                <a:spcPts val="1000"/>
              </a:spcAft>
              <a:buFont typeface="Symbol" panose="05050102010706020507" pitchFamily="18" charset="2"/>
              <a:buChar char=""/>
            </a:pPr>
            <a:r>
              <a:rPr lang="en-HK" sz="1600" dirty="0"/>
              <a:t>In the follow-up phase of the study, we…</a:t>
            </a:r>
            <a:endParaRPr lang="en-GB" sz="1600" dirty="0"/>
          </a:p>
          <a:p>
            <a:pPr lvl="0" indent="-342900" algn="just">
              <a:lnSpc>
                <a:spcPts val="1700"/>
              </a:lnSpc>
              <a:spcAft>
                <a:spcPts val="1000"/>
              </a:spcAft>
              <a:buFont typeface="Symbol" panose="05050102010706020507" pitchFamily="18" charset="2"/>
              <a:buChar char=""/>
            </a:pPr>
            <a:r>
              <a:rPr lang="en-HK" sz="1600" dirty="0"/>
              <a:t>After the interview, subjects were…</a:t>
            </a:r>
            <a:endParaRPr lang="en-GB" sz="1600" dirty="0"/>
          </a:p>
          <a:p>
            <a:pPr algn="just">
              <a:lnSpc>
                <a:spcPts val="1700"/>
              </a:lnSpc>
              <a:spcAft>
                <a:spcPts val="1000"/>
              </a:spcAft>
            </a:pPr>
            <a:r>
              <a:rPr lang="en-HK" sz="1600" dirty="0"/>
              <a:t> </a:t>
            </a:r>
            <a:endParaRPr lang="en-GB" sz="1600" dirty="0"/>
          </a:p>
          <a:p>
            <a:pPr lvl="0" indent="-342900" algn="just">
              <a:lnSpc>
                <a:spcPts val="1700"/>
              </a:lnSpc>
              <a:spcAft>
                <a:spcPts val="1000"/>
              </a:spcAft>
              <a:buFont typeface="+mj-lt"/>
              <a:buAutoNum type="alphaUcPeriod" startAt="3"/>
            </a:pPr>
            <a:r>
              <a:rPr lang="en-HK" sz="1600" b="1" dirty="0"/>
              <a:t>Causal or Connective Phrases</a:t>
            </a:r>
            <a:endParaRPr lang="en-GB" sz="1600" b="1" dirty="0"/>
          </a:p>
          <a:p>
            <a:pPr lvl="0" indent="-342900" algn="just">
              <a:lnSpc>
                <a:spcPts val="1700"/>
              </a:lnSpc>
              <a:spcAft>
                <a:spcPts val="1000"/>
              </a:spcAft>
              <a:buFont typeface="Symbol" panose="05050102010706020507" pitchFamily="18" charset="2"/>
              <a:buChar char=""/>
            </a:pPr>
            <a:r>
              <a:rPr lang="en-HK" sz="1600" dirty="0"/>
              <a:t>Based on the feedback from the pilot study, …</a:t>
            </a:r>
            <a:endParaRPr lang="en-GB" sz="1600" dirty="0"/>
          </a:p>
          <a:p>
            <a:pPr lvl="0" indent="-342900" algn="just">
              <a:lnSpc>
                <a:spcPts val="1700"/>
              </a:lnSpc>
              <a:spcAft>
                <a:spcPts val="1000"/>
              </a:spcAft>
              <a:buFont typeface="Symbol" panose="05050102010706020507" pitchFamily="18" charset="2"/>
              <a:buChar char=""/>
            </a:pPr>
            <a:r>
              <a:rPr lang="en-HK" sz="1600" dirty="0"/>
              <a:t>On the basis of the literature review, …</a:t>
            </a:r>
            <a:endParaRPr lang="en-GB" sz="1600" dirty="0"/>
          </a:p>
          <a:p>
            <a:pPr lvl="0" indent="-342900" algn="just">
              <a:lnSpc>
                <a:spcPts val="1700"/>
              </a:lnSpc>
              <a:spcAft>
                <a:spcPts val="1000"/>
              </a:spcAft>
              <a:buFont typeface="Symbol" panose="05050102010706020507" pitchFamily="18" charset="2"/>
              <a:buChar char=""/>
            </a:pPr>
            <a:r>
              <a:rPr lang="en-HK" sz="1600" dirty="0"/>
              <a:t>Because of privacy issues, we…</a:t>
            </a:r>
            <a:endParaRPr lang="en-GB" sz="1600" dirty="0"/>
          </a:p>
          <a:p>
            <a:pPr lvl="0" indent="-342900" algn="just">
              <a:lnSpc>
                <a:spcPts val="1700"/>
              </a:lnSpc>
              <a:spcAft>
                <a:spcPts val="1000"/>
              </a:spcAft>
              <a:buFont typeface="Symbol" panose="05050102010706020507" pitchFamily="18" charset="2"/>
              <a:buChar char=""/>
            </a:pPr>
            <a:r>
              <a:rPr lang="en-HK" sz="1600" dirty="0"/>
              <a:t>In spite of these issues, we…</a:t>
            </a:r>
            <a:endParaRPr lang="en-GB" sz="1600" dirty="0"/>
          </a:p>
          <a:p>
            <a:pPr lvl="0" indent="-342900" algn="just">
              <a:lnSpc>
                <a:spcPts val="1700"/>
              </a:lnSpc>
              <a:spcAft>
                <a:spcPts val="1000"/>
              </a:spcAft>
              <a:buFont typeface="Symbol" panose="05050102010706020507" pitchFamily="18" charset="2"/>
              <a:buChar char=""/>
            </a:pPr>
            <a:r>
              <a:rPr lang="en-HK" sz="1600" dirty="0"/>
              <a:t>In light of these unexpected findings, …</a:t>
            </a:r>
            <a:endParaRPr lang="en-GB" sz="1600" dirty="0"/>
          </a:p>
        </p:txBody>
      </p:sp>
    </p:spTree>
    <p:extLst>
      <p:ext uri="{BB962C8B-B14F-4D97-AF65-F5344CB8AC3E}">
        <p14:creationId xmlns:p14="http://schemas.microsoft.com/office/powerpoint/2010/main" val="3688768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0487" y="539050"/>
            <a:ext cx="8911687" cy="821917"/>
          </a:xfrm>
        </p:spPr>
        <p:txBody>
          <a:bodyPr/>
          <a:lstStyle/>
          <a:p>
            <a:r>
              <a:rPr lang="en-US" dirty="0"/>
              <a:t>Task 3</a:t>
            </a:r>
          </a:p>
        </p:txBody>
      </p:sp>
      <p:sp>
        <p:nvSpPr>
          <p:cNvPr id="3" name="Content Placeholder 2"/>
          <p:cNvSpPr>
            <a:spLocks noGrp="1"/>
          </p:cNvSpPr>
          <p:nvPr>
            <p:ph idx="1"/>
          </p:nvPr>
        </p:nvSpPr>
        <p:spPr>
          <a:xfrm>
            <a:off x="1820488" y="1360966"/>
            <a:ext cx="9492554" cy="5188690"/>
          </a:xfrm>
        </p:spPr>
        <p:txBody>
          <a:bodyPr>
            <a:normAutofit/>
          </a:bodyPr>
          <a:lstStyle/>
          <a:p>
            <a:pPr marL="0" indent="0">
              <a:buNone/>
            </a:pPr>
            <a:r>
              <a:rPr lang="en-US" dirty="0"/>
              <a:t>Fill in the blanks in the following Methods section from a journal article in the </a:t>
            </a:r>
            <a:r>
              <a:rPr lang="en-US" i="1" dirty="0"/>
              <a:t>Journal of Social Sciences</a:t>
            </a:r>
            <a:r>
              <a:rPr lang="en-US" dirty="0"/>
              <a:t> using the correct tenses and voices. </a:t>
            </a:r>
            <a:endParaRPr lang="en-HK" dirty="0"/>
          </a:p>
          <a:p>
            <a:pPr marL="0" indent="0">
              <a:buNone/>
            </a:pPr>
            <a:endParaRPr lang="en-US" dirty="0"/>
          </a:p>
          <a:p>
            <a:pPr marL="0" indent="0" algn="just">
              <a:buNone/>
            </a:pPr>
            <a:r>
              <a:rPr lang="en-US" b="1" dirty="0"/>
              <a:t>2. Methods</a:t>
            </a:r>
            <a:endParaRPr lang="en-HK" dirty="0"/>
          </a:p>
          <a:p>
            <a:pPr marL="0" indent="0" algn="just">
              <a:buNone/>
            </a:pPr>
            <a:r>
              <a:rPr lang="en-US" i="1" dirty="0"/>
              <a:t>2.1. Design and Procedure</a:t>
            </a:r>
            <a:endParaRPr lang="en-HK" dirty="0"/>
          </a:p>
          <a:p>
            <a:pPr marL="0" indent="0" algn="just">
              <a:buNone/>
            </a:pPr>
            <a:r>
              <a:rPr lang="en-US" dirty="0"/>
              <a:t>We _____________ (make) an initial panel of 113 items, based on literature of social work practice with families, including aspects such as collaborative and narrative models, common factors that explain changes in psychosocial interventions, and the interprofessional collaboration with larger systems. A two-step process revision of the initial panel __________________ (carry out), and eventually, 67 items were chosen. The first stage _______________ (complete) by two social workers with more than 15 years’ experience in community basic social services. The second stage of the revision _________________ (implement) by four full time professors at the University of </a:t>
            </a:r>
            <a:r>
              <a:rPr lang="en-US" dirty="0" err="1"/>
              <a:t>Illes</a:t>
            </a:r>
            <a:r>
              <a:rPr lang="en-US" dirty="0"/>
              <a:t> </a:t>
            </a:r>
            <a:r>
              <a:rPr lang="en-US" dirty="0" err="1"/>
              <a:t>Balears</a:t>
            </a:r>
            <a:r>
              <a:rPr lang="en-US" dirty="0"/>
              <a:t> (Spain), all with previous experience in social work with FED.</a:t>
            </a:r>
            <a:endParaRPr lang="en-HK" dirty="0"/>
          </a:p>
          <a:p>
            <a:pPr marL="0" indent="0" algn="just">
              <a:buNone/>
            </a:pPr>
            <a:endParaRPr lang="en-HK" dirty="0"/>
          </a:p>
          <a:p>
            <a:pPr marL="0" indent="0">
              <a:buNone/>
            </a:pPr>
            <a:endParaRPr lang="en-US" dirty="0"/>
          </a:p>
        </p:txBody>
      </p:sp>
      <p:sp>
        <p:nvSpPr>
          <p:cNvPr id="4" name="Rectangle 3">
            <a:extLst>
              <a:ext uri="{FF2B5EF4-FFF2-40B4-BE49-F238E27FC236}">
                <a16:creationId xmlns:a16="http://schemas.microsoft.com/office/drawing/2014/main" id="{460CE1FD-A41C-D64E-B41A-58812CAEA25E}"/>
              </a:ext>
            </a:extLst>
          </p:cNvPr>
          <p:cNvSpPr/>
          <p:nvPr/>
        </p:nvSpPr>
        <p:spPr>
          <a:xfrm>
            <a:off x="1820486" y="2360428"/>
            <a:ext cx="9726471" cy="39585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95CFA3D-AA0C-9949-AA42-15497C694CA1}"/>
              </a:ext>
            </a:extLst>
          </p:cNvPr>
          <p:cNvSpPr/>
          <p:nvPr/>
        </p:nvSpPr>
        <p:spPr>
          <a:xfrm>
            <a:off x="2664597" y="3244334"/>
            <a:ext cx="931665" cy="369332"/>
          </a:xfrm>
          <a:prstGeom prst="rect">
            <a:avLst/>
          </a:prstGeom>
        </p:spPr>
        <p:txBody>
          <a:bodyPr wrap="none">
            <a:spAutoFit/>
          </a:bodyPr>
          <a:lstStyle/>
          <a:p>
            <a:r>
              <a:rPr lang="en-US" dirty="0">
                <a:solidFill>
                  <a:srgbClr val="0070C0"/>
                </a:solidFill>
              </a:rPr>
              <a:t>made</a:t>
            </a:r>
            <a:r>
              <a:rPr lang="en-HK" dirty="0">
                <a:solidFill>
                  <a:srgbClr val="0070C0"/>
                </a:solidFill>
              </a:rPr>
              <a:t> </a:t>
            </a:r>
            <a:endParaRPr lang="en-US" dirty="0">
              <a:solidFill>
                <a:srgbClr val="0070C0"/>
              </a:solidFill>
            </a:endParaRPr>
          </a:p>
        </p:txBody>
      </p:sp>
      <p:sp>
        <p:nvSpPr>
          <p:cNvPr id="7" name="Rectangle 6">
            <a:extLst>
              <a:ext uri="{FF2B5EF4-FFF2-40B4-BE49-F238E27FC236}">
                <a16:creationId xmlns:a16="http://schemas.microsoft.com/office/drawing/2014/main" id="{F7BBA149-9A00-4442-B418-CA9249585F8F}"/>
              </a:ext>
            </a:extLst>
          </p:cNvPr>
          <p:cNvSpPr/>
          <p:nvPr/>
        </p:nvSpPr>
        <p:spPr>
          <a:xfrm>
            <a:off x="3846273" y="4339689"/>
            <a:ext cx="1986441" cy="369332"/>
          </a:xfrm>
          <a:prstGeom prst="rect">
            <a:avLst/>
          </a:prstGeom>
        </p:spPr>
        <p:txBody>
          <a:bodyPr wrap="none">
            <a:spAutoFit/>
          </a:bodyPr>
          <a:lstStyle/>
          <a:p>
            <a:r>
              <a:rPr lang="en-US" dirty="0">
                <a:solidFill>
                  <a:srgbClr val="0070C0"/>
                </a:solidFill>
              </a:rPr>
              <a:t>was carried out</a:t>
            </a:r>
            <a:r>
              <a:rPr lang="en-HK" dirty="0">
                <a:solidFill>
                  <a:srgbClr val="0070C0"/>
                </a:solidFill>
              </a:rPr>
              <a:t> </a:t>
            </a:r>
            <a:endParaRPr lang="en-US" dirty="0">
              <a:solidFill>
                <a:srgbClr val="0070C0"/>
              </a:solidFill>
            </a:endParaRPr>
          </a:p>
        </p:txBody>
      </p:sp>
      <p:sp>
        <p:nvSpPr>
          <p:cNvPr id="8" name="Rectangle 7">
            <a:extLst>
              <a:ext uri="{FF2B5EF4-FFF2-40B4-BE49-F238E27FC236}">
                <a16:creationId xmlns:a16="http://schemas.microsoft.com/office/drawing/2014/main" id="{18C59FD8-33C9-4D4D-BD96-628CD97ED40E}"/>
              </a:ext>
            </a:extLst>
          </p:cNvPr>
          <p:cNvSpPr/>
          <p:nvPr/>
        </p:nvSpPr>
        <p:spPr>
          <a:xfrm>
            <a:off x="4462373" y="4574833"/>
            <a:ext cx="2010487" cy="369332"/>
          </a:xfrm>
          <a:prstGeom prst="rect">
            <a:avLst/>
          </a:prstGeom>
        </p:spPr>
        <p:txBody>
          <a:bodyPr wrap="none">
            <a:spAutoFit/>
          </a:bodyPr>
          <a:lstStyle/>
          <a:p>
            <a:r>
              <a:rPr lang="en-US" dirty="0">
                <a:solidFill>
                  <a:srgbClr val="0070C0"/>
                </a:solidFill>
              </a:rPr>
              <a:t>was completed</a:t>
            </a:r>
            <a:r>
              <a:rPr lang="en-HK" dirty="0">
                <a:solidFill>
                  <a:srgbClr val="0070C0"/>
                </a:solidFill>
              </a:rPr>
              <a:t> </a:t>
            </a:r>
            <a:endParaRPr lang="en-US" dirty="0">
              <a:solidFill>
                <a:srgbClr val="0070C0"/>
              </a:solidFill>
            </a:endParaRPr>
          </a:p>
        </p:txBody>
      </p:sp>
      <p:sp>
        <p:nvSpPr>
          <p:cNvPr id="9" name="Rectangle 8">
            <a:extLst>
              <a:ext uri="{FF2B5EF4-FFF2-40B4-BE49-F238E27FC236}">
                <a16:creationId xmlns:a16="http://schemas.microsoft.com/office/drawing/2014/main" id="{14FA995A-19D1-2B44-A57B-0E9B328A6A1C}"/>
              </a:ext>
            </a:extLst>
          </p:cNvPr>
          <p:cNvSpPr/>
          <p:nvPr/>
        </p:nvSpPr>
        <p:spPr>
          <a:xfrm>
            <a:off x="3421013" y="5127702"/>
            <a:ext cx="2265364" cy="369332"/>
          </a:xfrm>
          <a:prstGeom prst="rect">
            <a:avLst/>
          </a:prstGeom>
        </p:spPr>
        <p:txBody>
          <a:bodyPr wrap="none">
            <a:spAutoFit/>
          </a:bodyPr>
          <a:lstStyle/>
          <a:p>
            <a:r>
              <a:rPr lang="en-US" dirty="0">
                <a:solidFill>
                  <a:srgbClr val="0070C0"/>
                </a:solidFill>
              </a:rPr>
              <a:t>was implemented</a:t>
            </a:r>
            <a:r>
              <a:rPr lang="en-HK" dirty="0">
                <a:solidFill>
                  <a:srgbClr val="0070C0"/>
                </a:solidFill>
              </a:rPr>
              <a:t> </a:t>
            </a:r>
            <a:endParaRPr lang="en-US" dirty="0">
              <a:solidFill>
                <a:srgbClr val="0070C0"/>
              </a:solidFill>
            </a:endParaRPr>
          </a:p>
        </p:txBody>
      </p:sp>
      <p:sp>
        <p:nvSpPr>
          <p:cNvPr id="5" name="Slide Number Placeholder 4">
            <a:extLst>
              <a:ext uri="{FF2B5EF4-FFF2-40B4-BE49-F238E27FC236}">
                <a16:creationId xmlns:a16="http://schemas.microsoft.com/office/drawing/2014/main" id="{588020CC-B0A9-6E4B-ABD9-9BE0EE4150F2}"/>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392100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46ED33-9B1E-D545-9C2F-D5B61AE5C928}"/>
              </a:ext>
            </a:extLst>
          </p:cNvPr>
          <p:cNvSpPr>
            <a:spLocks noGrp="1"/>
          </p:cNvSpPr>
          <p:nvPr>
            <p:ph idx="1"/>
          </p:nvPr>
        </p:nvSpPr>
        <p:spPr>
          <a:xfrm>
            <a:off x="1786270" y="1488558"/>
            <a:ext cx="9718342" cy="4997302"/>
          </a:xfrm>
        </p:spPr>
        <p:txBody>
          <a:bodyPr>
            <a:normAutofit/>
          </a:bodyPr>
          <a:lstStyle/>
          <a:p>
            <a:pPr marL="0" indent="0" algn="just">
              <a:buNone/>
            </a:pPr>
            <a:r>
              <a:rPr lang="en-US" i="1" dirty="0"/>
              <a:t>2.2. Instruments</a:t>
            </a:r>
            <a:endParaRPr lang="en-HK" dirty="0"/>
          </a:p>
          <a:p>
            <a:pPr marL="0" indent="0" algn="just">
              <a:buNone/>
            </a:pPr>
            <a:r>
              <a:rPr lang="en-US" dirty="0"/>
              <a:t>Two instruments were applied: an Inventory of Collaborative Practices in Social Work with FED, and a sociodemographic questionnaire specifically designed for this study. The 67 intervention criteria of this Inventory _____________ (refer) to the different skills, attitudes, and relational stances that the literature conveys as fundamental for carrying out collaborative practices in social work (basic social services), not only with families in special distress but also with larger systems involved with them. Thus, among others, there are items related to the construction of a helping relationship, the importance of a relational stance as an appreciative ally, reflection with the family about the intervention of different professionals at the same time, or the co-construction of objectives and tasks with the clients. Participants ________________ (ask) to assess the level of importance of each item and the level of implementation in their current practice. A five-point frequency scale was used (5 = extremely important/always, 4 = very important/very often, 3 = important/often, 2 = not very important/sometimes, and 1 = not important/hardly ever).</a:t>
            </a:r>
            <a:endParaRPr lang="en-HK" dirty="0"/>
          </a:p>
          <a:p>
            <a:endParaRPr lang="en-US" dirty="0"/>
          </a:p>
        </p:txBody>
      </p:sp>
      <p:sp>
        <p:nvSpPr>
          <p:cNvPr id="4" name="Rectangle 3">
            <a:extLst>
              <a:ext uri="{FF2B5EF4-FFF2-40B4-BE49-F238E27FC236}">
                <a16:creationId xmlns:a16="http://schemas.microsoft.com/office/drawing/2014/main" id="{063E345E-3425-D548-8A58-FC1E78E87846}"/>
              </a:ext>
            </a:extLst>
          </p:cNvPr>
          <p:cNvSpPr/>
          <p:nvPr/>
        </p:nvSpPr>
        <p:spPr>
          <a:xfrm>
            <a:off x="6974955" y="2430643"/>
            <a:ext cx="760144" cy="369332"/>
          </a:xfrm>
          <a:prstGeom prst="rect">
            <a:avLst/>
          </a:prstGeom>
        </p:spPr>
        <p:txBody>
          <a:bodyPr wrap="none">
            <a:spAutoFit/>
          </a:bodyPr>
          <a:lstStyle/>
          <a:p>
            <a:r>
              <a:rPr lang="en-US" dirty="0">
                <a:solidFill>
                  <a:srgbClr val="0070C0"/>
                </a:solidFill>
              </a:rPr>
              <a:t>refer</a:t>
            </a:r>
            <a:r>
              <a:rPr lang="en-HK" dirty="0">
                <a:solidFill>
                  <a:srgbClr val="0070C0"/>
                </a:solidFill>
              </a:rPr>
              <a:t> </a:t>
            </a:r>
            <a:endParaRPr lang="en-US" dirty="0">
              <a:solidFill>
                <a:srgbClr val="0070C0"/>
              </a:solidFill>
            </a:endParaRPr>
          </a:p>
        </p:txBody>
      </p:sp>
      <p:sp>
        <p:nvSpPr>
          <p:cNvPr id="5" name="Rectangle 4">
            <a:extLst>
              <a:ext uri="{FF2B5EF4-FFF2-40B4-BE49-F238E27FC236}">
                <a16:creationId xmlns:a16="http://schemas.microsoft.com/office/drawing/2014/main" id="{53EAF5E1-DDAA-1745-A505-16C65CA67E36}"/>
              </a:ext>
            </a:extLst>
          </p:cNvPr>
          <p:cNvSpPr/>
          <p:nvPr/>
        </p:nvSpPr>
        <p:spPr>
          <a:xfrm>
            <a:off x="9752185" y="4350120"/>
            <a:ext cx="1547218" cy="369332"/>
          </a:xfrm>
          <a:prstGeom prst="rect">
            <a:avLst/>
          </a:prstGeom>
        </p:spPr>
        <p:txBody>
          <a:bodyPr wrap="none">
            <a:spAutoFit/>
          </a:bodyPr>
          <a:lstStyle/>
          <a:p>
            <a:r>
              <a:rPr lang="en-US" dirty="0">
                <a:solidFill>
                  <a:srgbClr val="0070C0"/>
                </a:solidFill>
              </a:rPr>
              <a:t>were asked</a:t>
            </a:r>
            <a:r>
              <a:rPr lang="en-HK" dirty="0">
                <a:solidFill>
                  <a:srgbClr val="0070C0"/>
                </a:solidFill>
              </a:rPr>
              <a:t> </a:t>
            </a:r>
            <a:endParaRPr lang="en-US" dirty="0">
              <a:solidFill>
                <a:srgbClr val="0070C0"/>
              </a:solidFill>
            </a:endParaRPr>
          </a:p>
        </p:txBody>
      </p:sp>
      <p:sp>
        <p:nvSpPr>
          <p:cNvPr id="6" name="Rectangle 5">
            <a:extLst>
              <a:ext uri="{FF2B5EF4-FFF2-40B4-BE49-F238E27FC236}">
                <a16:creationId xmlns:a16="http://schemas.microsoft.com/office/drawing/2014/main" id="{2783414D-FEE4-1A4C-BC0C-F8EDB425850E}"/>
              </a:ext>
            </a:extLst>
          </p:cNvPr>
          <p:cNvSpPr/>
          <p:nvPr/>
        </p:nvSpPr>
        <p:spPr>
          <a:xfrm>
            <a:off x="1481658" y="1488558"/>
            <a:ext cx="10448071" cy="46071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28B68F28-B902-454D-83C5-8D1745142135}"/>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189681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789E6-786D-544A-AAB8-FCD15A33D2C6}"/>
              </a:ext>
            </a:extLst>
          </p:cNvPr>
          <p:cNvSpPr>
            <a:spLocks noGrp="1"/>
          </p:cNvSpPr>
          <p:nvPr>
            <p:ph idx="1"/>
          </p:nvPr>
        </p:nvSpPr>
        <p:spPr>
          <a:xfrm>
            <a:off x="1743740" y="1382233"/>
            <a:ext cx="10037134" cy="5273748"/>
          </a:xfrm>
        </p:spPr>
        <p:txBody>
          <a:bodyPr>
            <a:normAutofit/>
          </a:bodyPr>
          <a:lstStyle/>
          <a:p>
            <a:pPr marL="0" indent="0" algn="just">
              <a:buNone/>
            </a:pPr>
            <a:r>
              <a:rPr lang="en-US" dirty="0"/>
              <a:t>Participants also ______________ (fill out) a socio-demographic questionnaire, including questions on gender, age, and issues related to their specific workplace (such as supervision or spaces for interprofessional coordination). This survey _</a:t>
            </a:r>
            <a:r>
              <a:rPr lang="en-US" dirty="0">
                <a:solidFill>
                  <a:srgbClr val="0070C0"/>
                </a:solidFill>
              </a:rPr>
              <a:t>_____________</a:t>
            </a:r>
            <a:r>
              <a:rPr lang="en-US" dirty="0"/>
              <a:t>____ (conduct) between June and October 2018. A list of 146 social workers in public basic social services in Mallorca (Spain) provided the sampling frame for this study. The participants worked in different municipalities across Mallorca. Public basic social services provide a range of services for individuals, families, and groups. Act 4/2009 (</a:t>
            </a:r>
            <a:r>
              <a:rPr lang="en-US" dirty="0" err="1"/>
              <a:t>Illes</a:t>
            </a:r>
            <a:r>
              <a:rPr lang="en-US" dirty="0"/>
              <a:t> </a:t>
            </a:r>
            <a:r>
              <a:rPr lang="en-US" dirty="0" err="1"/>
              <a:t>Balears</a:t>
            </a:r>
            <a:r>
              <a:rPr lang="en-US" dirty="0"/>
              <a:t>, Spain) _</a:t>
            </a:r>
            <a:r>
              <a:rPr lang="en-US" dirty="0">
                <a:solidFill>
                  <a:srgbClr val="0070C0"/>
                </a:solidFill>
              </a:rPr>
              <a:t>__________</a:t>
            </a:r>
            <a:r>
              <a:rPr lang="en-US" dirty="0"/>
              <a:t>_ (establish) the basic social services to be offered by the regional administration. Thus, social workers attend to different kinds of requests, and they provide information, counseling, and support, together with resource management guidance. These professionals attend FED and work with them at different levels: (a) individual, including with economic difficulties, social isolation, and professional insertion; (b) family-relational, including with the management of the household economy, parenting abilities, the improvement of relationships, relationships with larger systems involved in their lives, and coordination to ensure an integral intervention; and (c) socio-cultural, including with their community connections, their values, and culture.</a:t>
            </a:r>
            <a:endParaRPr lang="en-HK" dirty="0"/>
          </a:p>
          <a:p>
            <a:pPr marL="0" indent="0" algn="just">
              <a:buNone/>
            </a:pPr>
            <a:endParaRPr lang="en-US" dirty="0"/>
          </a:p>
        </p:txBody>
      </p:sp>
      <p:sp>
        <p:nvSpPr>
          <p:cNvPr id="4" name="Rectangle 3">
            <a:extLst>
              <a:ext uri="{FF2B5EF4-FFF2-40B4-BE49-F238E27FC236}">
                <a16:creationId xmlns:a16="http://schemas.microsoft.com/office/drawing/2014/main" id="{1357F28B-2D59-AB42-9952-1EBEF5EE9E21}"/>
              </a:ext>
            </a:extLst>
          </p:cNvPr>
          <p:cNvSpPr/>
          <p:nvPr/>
        </p:nvSpPr>
        <p:spPr>
          <a:xfrm>
            <a:off x="1743740" y="1227156"/>
            <a:ext cx="10037134" cy="48516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A1FCD9B-1478-AA40-9BC3-69F5981D93C2}"/>
              </a:ext>
            </a:extLst>
          </p:cNvPr>
          <p:cNvSpPr/>
          <p:nvPr/>
        </p:nvSpPr>
        <p:spPr>
          <a:xfrm>
            <a:off x="4003279" y="1382233"/>
            <a:ext cx="1204176" cy="369332"/>
          </a:xfrm>
          <a:prstGeom prst="rect">
            <a:avLst/>
          </a:prstGeom>
        </p:spPr>
        <p:txBody>
          <a:bodyPr wrap="none">
            <a:spAutoFit/>
          </a:bodyPr>
          <a:lstStyle/>
          <a:p>
            <a:r>
              <a:rPr lang="en-US" dirty="0">
                <a:solidFill>
                  <a:srgbClr val="0070C0"/>
                </a:solidFill>
              </a:rPr>
              <a:t>filled out</a:t>
            </a:r>
            <a:r>
              <a:rPr lang="en-HK" dirty="0">
                <a:solidFill>
                  <a:srgbClr val="0070C0"/>
                </a:solidFill>
              </a:rPr>
              <a:t> </a:t>
            </a:r>
            <a:endParaRPr lang="en-US" dirty="0">
              <a:solidFill>
                <a:srgbClr val="0070C0"/>
              </a:solidFill>
            </a:endParaRPr>
          </a:p>
        </p:txBody>
      </p:sp>
      <p:sp>
        <p:nvSpPr>
          <p:cNvPr id="6" name="Rectangle 5">
            <a:extLst>
              <a:ext uri="{FF2B5EF4-FFF2-40B4-BE49-F238E27FC236}">
                <a16:creationId xmlns:a16="http://schemas.microsoft.com/office/drawing/2014/main" id="{B7E59267-41C6-404F-8E5E-10A168CAA5F8}"/>
              </a:ext>
            </a:extLst>
          </p:cNvPr>
          <p:cNvSpPr/>
          <p:nvPr/>
        </p:nvSpPr>
        <p:spPr>
          <a:xfrm>
            <a:off x="9619635" y="1955690"/>
            <a:ext cx="2029723" cy="369332"/>
          </a:xfrm>
          <a:prstGeom prst="rect">
            <a:avLst/>
          </a:prstGeom>
        </p:spPr>
        <p:txBody>
          <a:bodyPr wrap="none">
            <a:spAutoFit/>
          </a:bodyPr>
          <a:lstStyle/>
          <a:p>
            <a:r>
              <a:rPr lang="en-US" dirty="0">
                <a:solidFill>
                  <a:srgbClr val="0070C0"/>
                </a:solidFill>
              </a:rPr>
              <a:t>was conducted</a:t>
            </a:r>
            <a:r>
              <a:rPr lang="en-HK" dirty="0">
                <a:solidFill>
                  <a:srgbClr val="0070C0"/>
                </a:solidFill>
              </a:rPr>
              <a:t> </a:t>
            </a:r>
            <a:endParaRPr lang="en-US" dirty="0">
              <a:solidFill>
                <a:srgbClr val="0070C0"/>
              </a:solidFill>
            </a:endParaRPr>
          </a:p>
        </p:txBody>
      </p:sp>
      <p:sp>
        <p:nvSpPr>
          <p:cNvPr id="7" name="Rectangle 6">
            <a:extLst>
              <a:ext uri="{FF2B5EF4-FFF2-40B4-BE49-F238E27FC236}">
                <a16:creationId xmlns:a16="http://schemas.microsoft.com/office/drawing/2014/main" id="{FC482EFC-422F-1849-8D2C-C2CAAB76D62D}"/>
              </a:ext>
            </a:extLst>
          </p:cNvPr>
          <p:cNvSpPr/>
          <p:nvPr/>
        </p:nvSpPr>
        <p:spPr>
          <a:xfrm>
            <a:off x="3713332" y="3283653"/>
            <a:ext cx="1382110" cy="369332"/>
          </a:xfrm>
          <a:prstGeom prst="rect">
            <a:avLst/>
          </a:prstGeom>
        </p:spPr>
        <p:txBody>
          <a:bodyPr wrap="none">
            <a:spAutoFit/>
          </a:bodyPr>
          <a:lstStyle/>
          <a:p>
            <a:r>
              <a:rPr lang="en-US" dirty="0">
                <a:solidFill>
                  <a:srgbClr val="0070C0"/>
                </a:solidFill>
              </a:rPr>
              <a:t>establishes</a:t>
            </a:r>
          </a:p>
        </p:txBody>
      </p:sp>
      <p:sp>
        <p:nvSpPr>
          <p:cNvPr id="8" name="Slide Number Placeholder 7">
            <a:extLst>
              <a:ext uri="{FF2B5EF4-FFF2-40B4-BE49-F238E27FC236}">
                <a16:creationId xmlns:a16="http://schemas.microsoft.com/office/drawing/2014/main" id="{5A8C03A8-4627-A247-8DE5-6E2CD8C59CB2}"/>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2899191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FCBDA7-0DEC-E942-9B89-C74B42C4CE42}"/>
              </a:ext>
            </a:extLst>
          </p:cNvPr>
          <p:cNvSpPr>
            <a:spLocks noGrp="1"/>
          </p:cNvSpPr>
          <p:nvPr>
            <p:ph idx="1"/>
          </p:nvPr>
        </p:nvSpPr>
        <p:spPr>
          <a:xfrm>
            <a:off x="1765005" y="1424763"/>
            <a:ext cx="9739607" cy="4486459"/>
          </a:xfrm>
        </p:spPr>
        <p:txBody>
          <a:bodyPr/>
          <a:lstStyle/>
          <a:p>
            <a:pPr marL="0" indent="0" algn="just">
              <a:buNone/>
            </a:pPr>
            <a:r>
              <a:rPr lang="en-US" dirty="0"/>
              <a:t>The principal investigator PI of the study (T.C.) personally ______________ (contact) each manager of the different services, in order to explain the aim of the present research and to ask for their collaboration in the recruitment of participants. Regarding data collection, participants _______________ (complete) the self-administered questionnaire in their workplaces (during working hours) by prior appointment. The PI was always in the same room, in order to respond any inquiries and to guarantee that there were no interruptions while the questionnaire was being completed. The Ethics Committee of the University of </a:t>
            </a:r>
            <a:r>
              <a:rPr lang="en-US" dirty="0" err="1"/>
              <a:t>Illes</a:t>
            </a:r>
            <a:r>
              <a:rPr lang="en-US" dirty="0"/>
              <a:t> </a:t>
            </a:r>
            <a:r>
              <a:rPr lang="en-US" dirty="0" err="1"/>
              <a:t>Balears</a:t>
            </a:r>
            <a:r>
              <a:rPr lang="en-US" dirty="0"/>
              <a:t> approved the study (70-CER-18).</a:t>
            </a:r>
            <a:endParaRPr lang="en-HK" dirty="0"/>
          </a:p>
          <a:p>
            <a:endParaRPr lang="en-US" dirty="0"/>
          </a:p>
        </p:txBody>
      </p:sp>
      <p:sp>
        <p:nvSpPr>
          <p:cNvPr id="4" name="Rectangle 3">
            <a:extLst>
              <a:ext uri="{FF2B5EF4-FFF2-40B4-BE49-F238E27FC236}">
                <a16:creationId xmlns:a16="http://schemas.microsoft.com/office/drawing/2014/main" id="{2E522447-EBF7-0849-9A95-DF3A65061491}"/>
              </a:ext>
            </a:extLst>
          </p:cNvPr>
          <p:cNvSpPr/>
          <p:nvPr/>
        </p:nvSpPr>
        <p:spPr>
          <a:xfrm>
            <a:off x="8886959" y="1424763"/>
            <a:ext cx="1462260" cy="369332"/>
          </a:xfrm>
          <a:prstGeom prst="rect">
            <a:avLst/>
          </a:prstGeom>
        </p:spPr>
        <p:txBody>
          <a:bodyPr wrap="none">
            <a:spAutoFit/>
          </a:bodyPr>
          <a:lstStyle/>
          <a:p>
            <a:r>
              <a:rPr lang="en-US" dirty="0">
                <a:solidFill>
                  <a:srgbClr val="0070C0"/>
                </a:solidFill>
              </a:rPr>
              <a:t>contacted</a:t>
            </a:r>
            <a:r>
              <a:rPr lang="en-HK" dirty="0">
                <a:solidFill>
                  <a:srgbClr val="0070C0"/>
                </a:solidFill>
              </a:rPr>
              <a:t> </a:t>
            </a:r>
            <a:endParaRPr lang="en-US" dirty="0">
              <a:solidFill>
                <a:srgbClr val="0070C0"/>
              </a:solidFill>
            </a:endParaRPr>
          </a:p>
        </p:txBody>
      </p:sp>
      <p:sp>
        <p:nvSpPr>
          <p:cNvPr id="5" name="Rectangle 4">
            <a:extLst>
              <a:ext uri="{FF2B5EF4-FFF2-40B4-BE49-F238E27FC236}">
                <a16:creationId xmlns:a16="http://schemas.microsoft.com/office/drawing/2014/main" id="{D76E94BB-0940-044C-84A0-259850E91AEF}"/>
              </a:ext>
            </a:extLst>
          </p:cNvPr>
          <p:cNvSpPr/>
          <p:nvPr/>
        </p:nvSpPr>
        <p:spPr>
          <a:xfrm>
            <a:off x="6953877" y="2225416"/>
            <a:ext cx="1507144" cy="369332"/>
          </a:xfrm>
          <a:prstGeom prst="rect">
            <a:avLst/>
          </a:prstGeom>
        </p:spPr>
        <p:txBody>
          <a:bodyPr wrap="none">
            <a:spAutoFit/>
          </a:bodyPr>
          <a:lstStyle/>
          <a:p>
            <a:r>
              <a:rPr lang="en-US" dirty="0">
                <a:solidFill>
                  <a:srgbClr val="0070C0"/>
                </a:solidFill>
              </a:rPr>
              <a:t>completed</a:t>
            </a:r>
            <a:r>
              <a:rPr lang="en-HK" dirty="0">
                <a:solidFill>
                  <a:srgbClr val="0070C0"/>
                </a:solidFill>
              </a:rPr>
              <a:t> </a:t>
            </a:r>
            <a:endParaRPr lang="en-US" dirty="0">
              <a:solidFill>
                <a:srgbClr val="0070C0"/>
              </a:solidFill>
            </a:endParaRPr>
          </a:p>
        </p:txBody>
      </p:sp>
      <p:sp>
        <p:nvSpPr>
          <p:cNvPr id="6" name="Slide Number Placeholder 5">
            <a:extLst>
              <a:ext uri="{FF2B5EF4-FFF2-40B4-BE49-F238E27FC236}">
                <a16:creationId xmlns:a16="http://schemas.microsoft.com/office/drawing/2014/main" id="{4B62EC2D-4667-D749-B20D-972727DCF7A9}"/>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2" name="Rectangle 1">
            <a:extLst>
              <a:ext uri="{FF2B5EF4-FFF2-40B4-BE49-F238E27FC236}">
                <a16:creationId xmlns:a16="http://schemas.microsoft.com/office/drawing/2014/main" id="{742609F0-6AA6-B2EB-4B25-F233220348C9}"/>
              </a:ext>
            </a:extLst>
          </p:cNvPr>
          <p:cNvSpPr/>
          <p:nvPr/>
        </p:nvSpPr>
        <p:spPr>
          <a:xfrm>
            <a:off x="1616241" y="1242163"/>
            <a:ext cx="10037134" cy="48516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481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DC5C72-239E-AA41-8ADD-C33E2C3B01B4}"/>
              </a:ext>
            </a:extLst>
          </p:cNvPr>
          <p:cNvSpPr>
            <a:spLocks noGrp="1"/>
          </p:cNvSpPr>
          <p:nvPr>
            <p:ph idx="1"/>
          </p:nvPr>
        </p:nvSpPr>
        <p:spPr>
          <a:xfrm>
            <a:off x="1807535" y="1616149"/>
            <a:ext cx="9994605" cy="5082363"/>
          </a:xfrm>
        </p:spPr>
        <p:txBody>
          <a:bodyPr>
            <a:normAutofit/>
          </a:bodyPr>
          <a:lstStyle/>
          <a:p>
            <a:pPr marL="0" indent="0">
              <a:buNone/>
            </a:pPr>
            <a:r>
              <a:rPr lang="en-US" i="1" dirty="0"/>
              <a:t>2.3. Sample</a:t>
            </a:r>
            <a:endParaRPr lang="en-HK" dirty="0"/>
          </a:p>
          <a:p>
            <a:pPr marL="0" indent="0" algn="just">
              <a:buNone/>
            </a:pPr>
            <a:r>
              <a:rPr lang="en-US" dirty="0"/>
              <a:t>The sample _____________ (make up) of 121 social workers (mean age = 42 years old; SD = 8.30, range = 23–64; 92.6% females), who carried out their work in public basic social services in Mallorca (Spain). The sample universe was made up of 146 social workers; therefore, the sample ___</a:t>
            </a:r>
            <a:r>
              <a:rPr lang="en-US" dirty="0">
                <a:solidFill>
                  <a:srgbClr val="0070C0"/>
                </a:solidFill>
              </a:rPr>
              <a:t>__________</a:t>
            </a:r>
            <a:r>
              <a:rPr lang="en-US" dirty="0"/>
              <a:t>___ (constitute) 82.88% of the total population under study. The sample was significant, with a 95% confidence level and a 4% margin of error. The inclusion criteria were: (1) having a degree in Social Work; (2) developing their work in basic social services in (location), with at least 2 months in the current service; and (3) currently conducting practice with families in special distress (known as “multi-problem” families).</a:t>
            </a:r>
            <a:r>
              <a:rPr lang="en-US" i="1" dirty="0"/>
              <a:t> </a:t>
            </a:r>
            <a:endParaRPr lang="en-HK" dirty="0"/>
          </a:p>
        </p:txBody>
      </p:sp>
      <p:sp>
        <p:nvSpPr>
          <p:cNvPr id="4" name="Rectangle 3">
            <a:extLst>
              <a:ext uri="{FF2B5EF4-FFF2-40B4-BE49-F238E27FC236}">
                <a16:creationId xmlns:a16="http://schemas.microsoft.com/office/drawing/2014/main" id="{479C7B72-D041-944A-ABD7-C85E158BA62B}"/>
              </a:ext>
            </a:extLst>
          </p:cNvPr>
          <p:cNvSpPr/>
          <p:nvPr/>
        </p:nvSpPr>
        <p:spPr>
          <a:xfrm>
            <a:off x="3158836" y="2028305"/>
            <a:ext cx="1895302" cy="369332"/>
          </a:xfrm>
          <a:prstGeom prst="rect">
            <a:avLst/>
          </a:prstGeom>
        </p:spPr>
        <p:txBody>
          <a:bodyPr wrap="square">
            <a:spAutoFit/>
          </a:bodyPr>
          <a:lstStyle/>
          <a:p>
            <a:r>
              <a:rPr lang="en-US" dirty="0">
                <a:solidFill>
                  <a:srgbClr val="0070C0"/>
                </a:solidFill>
              </a:rPr>
              <a:t>was made up</a:t>
            </a:r>
            <a:r>
              <a:rPr lang="en-HK" dirty="0">
                <a:solidFill>
                  <a:srgbClr val="0070C0"/>
                </a:solidFill>
              </a:rPr>
              <a:t> </a:t>
            </a:r>
            <a:endParaRPr lang="en-US" dirty="0">
              <a:solidFill>
                <a:srgbClr val="0070C0"/>
              </a:solidFill>
            </a:endParaRPr>
          </a:p>
        </p:txBody>
      </p:sp>
      <p:sp>
        <p:nvSpPr>
          <p:cNvPr id="5" name="Rectangle 4">
            <a:extLst>
              <a:ext uri="{FF2B5EF4-FFF2-40B4-BE49-F238E27FC236}">
                <a16:creationId xmlns:a16="http://schemas.microsoft.com/office/drawing/2014/main" id="{BEC91BD3-8E3A-794D-95D7-67E5688D35BD}"/>
              </a:ext>
            </a:extLst>
          </p:cNvPr>
          <p:cNvSpPr/>
          <p:nvPr/>
        </p:nvSpPr>
        <p:spPr>
          <a:xfrm>
            <a:off x="4584048" y="2852737"/>
            <a:ext cx="1511952" cy="369332"/>
          </a:xfrm>
          <a:prstGeom prst="rect">
            <a:avLst/>
          </a:prstGeom>
        </p:spPr>
        <p:txBody>
          <a:bodyPr wrap="none">
            <a:spAutoFit/>
          </a:bodyPr>
          <a:lstStyle/>
          <a:p>
            <a:r>
              <a:rPr lang="en-US" dirty="0">
                <a:solidFill>
                  <a:srgbClr val="0070C0"/>
                </a:solidFill>
              </a:rPr>
              <a:t>constituted</a:t>
            </a:r>
            <a:r>
              <a:rPr lang="en-HK" dirty="0">
                <a:solidFill>
                  <a:srgbClr val="0070C0"/>
                </a:solidFill>
              </a:rPr>
              <a:t> </a:t>
            </a:r>
            <a:endParaRPr lang="en-US" dirty="0">
              <a:solidFill>
                <a:srgbClr val="0070C0"/>
              </a:solidFill>
            </a:endParaRPr>
          </a:p>
        </p:txBody>
      </p:sp>
      <p:sp>
        <p:nvSpPr>
          <p:cNvPr id="6" name="Slide Number Placeholder 5">
            <a:extLst>
              <a:ext uri="{FF2B5EF4-FFF2-40B4-BE49-F238E27FC236}">
                <a16:creationId xmlns:a16="http://schemas.microsoft.com/office/drawing/2014/main" id="{0E37B0C3-4C9B-CE4F-B970-79E851EA0319}"/>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
        <p:nvSpPr>
          <p:cNvPr id="2" name="Rectangle 1">
            <a:extLst>
              <a:ext uri="{FF2B5EF4-FFF2-40B4-BE49-F238E27FC236}">
                <a16:creationId xmlns:a16="http://schemas.microsoft.com/office/drawing/2014/main" id="{5018038B-075C-A5DB-6BCE-72CD0B127767}"/>
              </a:ext>
            </a:extLst>
          </p:cNvPr>
          <p:cNvSpPr/>
          <p:nvPr/>
        </p:nvSpPr>
        <p:spPr>
          <a:xfrm>
            <a:off x="1616240" y="1242163"/>
            <a:ext cx="10185899" cy="48516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719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43897E-5784-A34F-ABA4-534B8584343C}"/>
              </a:ext>
            </a:extLst>
          </p:cNvPr>
          <p:cNvSpPr>
            <a:spLocks noGrp="1"/>
          </p:cNvSpPr>
          <p:nvPr>
            <p:ph idx="1"/>
          </p:nvPr>
        </p:nvSpPr>
        <p:spPr>
          <a:xfrm>
            <a:off x="1662380" y="465568"/>
            <a:ext cx="9888279" cy="4654754"/>
          </a:xfrm>
        </p:spPr>
        <p:txBody>
          <a:bodyPr>
            <a:normAutofit lnSpcReduction="10000"/>
          </a:bodyPr>
          <a:lstStyle/>
          <a:p>
            <a:pPr marL="0" indent="0" algn="just">
              <a:buNone/>
            </a:pPr>
            <a:r>
              <a:rPr lang="en-US" i="1" dirty="0"/>
              <a:t>2.4. Data Analysis</a:t>
            </a:r>
            <a:endParaRPr lang="en-HK" dirty="0"/>
          </a:p>
          <a:p>
            <a:pPr marL="0" indent="0" algn="just">
              <a:buNone/>
            </a:pPr>
            <a:r>
              <a:rPr lang="en-US" dirty="0"/>
              <a:t>The Z Kolmogorov–Smirnov normality test _______________ (conduct) to decide whether parametric or non-parametric tests should be run. This test was conducted for each item of the questionnaire (using as variables the result of subtracting the levels of implementation from the levels of importance). The scores were 0.000 for all the items. This test was also conducted regarding the sociodemographic questionnaire, and as the scores did not exceed 0.05, non-parametric tests were conducted. Univariate descriptive analysis, frequency tables, and the Wilcoxon signed-rank test _____________ (apply) to the answers of participants regarding the Inventory items (both the levels of importance and implementation). Bivariate analyses (Kruskal–Wallis and Mann–Whitney U tests) were applied to analyze the relationships between the questions and answers in the Inventory related to the workplace organization. Statistical analyses __________________ (carry out) using SPSS 20.0.</a:t>
            </a:r>
            <a:endParaRPr lang="en-HK" dirty="0"/>
          </a:p>
          <a:p>
            <a:pPr marL="0" indent="0" algn="just">
              <a:buNone/>
            </a:pPr>
            <a:endParaRPr lang="en-US" dirty="0"/>
          </a:p>
          <a:p>
            <a:pPr marL="0" indent="0" algn="just">
              <a:buNone/>
            </a:pPr>
            <a:r>
              <a:rPr lang="en-US" dirty="0"/>
              <a:t>Adapted from: Casado, T., Riera, J.A., &amp; Cardona, J. (2020). Social work with families in special distress: Collaborative practices. </a:t>
            </a:r>
            <a:r>
              <a:rPr lang="en-US" i="1" dirty="0"/>
              <a:t>Journal of Social Sciences, 9</a:t>
            </a:r>
            <a:r>
              <a:rPr lang="en-US" dirty="0"/>
              <a:t>(7), 121-140.</a:t>
            </a:r>
            <a:r>
              <a:rPr lang="en-HK" dirty="0"/>
              <a:t> </a:t>
            </a:r>
            <a:endParaRPr lang="en-US" dirty="0"/>
          </a:p>
        </p:txBody>
      </p:sp>
      <p:sp>
        <p:nvSpPr>
          <p:cNvPr id="4" name="Rectangle 3">
            <a:extLst>
              <a:ext uri="{FF2B5EF4-FFF2-40B4-BE49-F238E27FC236}">
                <a16:creationId xmlns:a16="http://schemas.microsoft.com/office/drawing/2014/main" id="{60BB3BA5-4DA5-724D-8FB2-1171A57306D3}"/>
              </a:ext>
            </a:extLst>
          </p:cNvPr>
          <p:cNvSpPr/>
          <p:nvPr/>
        </p:nvSpPr>
        <p:spPr>
          <a:xfrm>
            <a:off x="6297243" y="783575"/>
            <a:ext cx="2029723" cy="369332"/>
          </a:xfrm>
          <a:prstGeom prst="rect">
            <a:avLst/>
          </a:prstGeom>
        </p:spPr>
        <p:txBody>
          <a:bodyPr wrap="none">
            <a:spAutoFit/>
          </a:bodyPr>
          <a:lstStyle/>
          <a:p>
            <a:r>
              <a:rPr lang="en-US" dirty="0">
                <a:solidFill>
                  <a:srgbClr val="0070C0"/>
                </a:solidFill>
              </a:rPr>
              <a:t>was conducted</a:t>
            </a:r>
            <a:r>
              <a:rPr lang="en-HK" dirty="0">
                <a:solidFill>
                  <a:srgbClr val="0070C0"/>
                </a:solidFill>
              </a:rPr>
              <a:t> </a:t>
            </a:r>
            <a:endParaRPr lang="en-US" dirty="0">
              <a:solidFill>
                <a:srgbClr val="0070C0"/>
              </a:solidFill>
            </a:endParaRPr>
          </a:p>
        </p:txBody>
      </p:sp>
      <p:sp>
        <p:nvSpPr>
          <p:cNvPr id="5" name="Rectangle 4">
            <a:extLst>
              <a:ext uri="{FF2B5EF4-FFF2-40B4-BE49-F238E27FC236}">
                <a16:creationId xmlns:a16="http://schemas.microsoft.com/office/drawing/2014/main" id="{A6A07942-7185-944D-B417-3DF9AFD3FC1D}"/>
              </a:ext>
            </a:extLst>
          </p:cNvPr>
          <p:cNvSpPr/>
          <p:nvPr/>
        </p:nvSpPr>
        <p:spPr>
          <a:xfrm>
            <a:off x="9962107" y="2249688"/>
            <a:ext cx="1625766" cy="305233"/>
          </a:xfrm>
          <a:prstGeom prst="rect">
            <a:avLst/>
          </a:prstGeom>
        </p:spPr>
        <p:txBody>
          <a:bodyPr wrap="none">
            <a:spAutoFit/>
          </a:bodyPr>
          <a:lstStyle/>
          <a:p>
            <a:r>
              <a:rPr lang="en-US" dirty="0">
                <a:solidFill>
                  <a:srgbClr val="0070C0"/>
                </a:solidFill>
              </a:rPr>
              <a:t>was applied</a:t>
            </a:r>
            <a:r>
              <a:rPr lang="en-HK" dirty="0">
                <a:solidFill>
                  <a:srgbClr val="0070C0"/>
                </a:solidFill>
              </a:rPr>
              <a:t> </a:t>
            </a:r>
            <a:endParaRPr lang="en-US" dirty="0">
              <a:solidFill>
                <a:srgbClr val="0070C0"/>
              </a:solidFill>
            </a:endParaRPr>
          </a:p>
        </p:txBody>
      </p:sp>
      <p:sp>
        <p:nvSpPr>
          <p:cNvPr id="6" name="Rectangle 5">
            <a:extLst>
              <a:ext uri="{FF2B5EF4-FFF2-40B4-BE49-F238E27FC236}">
                <a16:creationId xmlns:a16="http://schemas.microsoft.com/office/drawing/2014/main" id="{E304BB23-41EE-584C-8C0C-0B2B8F5F8637}"/>
              </a:ext>
            </a:extLst>
          </p:cNvPr>
          <p:cNvSpPr/>
          <p:nvPr/>
        </p:nvSpPr>
        <p:spPr>
          <a:xfrm>
            <a:off x="1796500" y="3441032"/>
            <a:ext cx="2109873" cy="305233"/>
          </a:xfrm>
          <a:prstGeom prst="rect">
            <a:avLst/>
          </a:prstGeom>
        </p:spPr>
        <p:txBody>
          <a:bodyPr wrap="none">
            <a:spAutoFit/>
          </a:bodyPr>
          <a:lstStyle/>
          <a:p>
            <a:r>
              <a:rPr lang="en-US" dirty="0">
                <a:solidFill>
                  <a:srgbClr val="0070C0"/>
                </a:solidFill>
              </a:rPr>
              <a:t>were carried out</a:t>
            </a:r>
            <a:r>
              <a:rPr lang="en-HK" dirty="0">
                <a:solidFill>
                  <a:srgbClr val="0070C0"/>
                </a:solidFill>
              </a:rPr>
              <a:t> </a:t>
            </a:r>
            <a:endParaRPr lang="en-US" dirty="0">
              <a:solidFill>
                <a:srgbClr val="0070C0"/>
              </a:solidFill>
            </a:endParaRPr>
          </a:p>
        </p:txBody>
      </p:sp>
      <p:sp>
        <p:nvSpPr>
          <p:cNvPr id="7" name="Slide Number Placeholder 6">
            <a:extLst>
              <a:ext uri="{FF2B5EF4-FFF2-40B4-BE49-F238E27FC236}">
                <a16:creationId xmlns:a16="http://schemas.microsoft.com/office/drawing/2014/main" id="{F53895E5-3AD4-1F45-B653-FF266AA6F9E8}"/>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
        <p:nvSpPr>
          <p:cNvPr id="2" name="Rectangle 1">
            <a:extLst>
              <a:ext uri="{FF2B5EF4-FFF2-40B4-BE49-F238E27FC236}">
                <a16:creationId xmlns:a16="http://schemas.microsoft.com/office/drawing/2014/main" id="{F286644D-432A-6BFD-510C-3181A1EECAF5}"/>
              </a:ext>
            </a:extLst>
          </p:cNvPr>
          <p:cNvSpPr/>
          <p:nvPr/>
        </p:nvSpPr>
        <p:spPr>
          <a:xfrm>
            <a:off x="1587953" y="367117"/>
            <a:ext cx="10037134" cy="48516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90B80BF-DAF9-CE64-AD8B-F35B3290C4CB}"/>
              </a:ext>
            </a:extLst>
          </p:cNvPr>
          <p:cNvSpPr txBox="1"/>
          <p:nvPr/>
        </p:nvSpPr>
        <p:spPr>
          <a:xfrm>
            <a:off x="1587953" y="5438329"/>
            <a:ext cx="9962706" cy="923330"/>
          </a:xfrm>
          <a:prstGeom prst="rect">
            <a:avLst/>
          </a:prstGeom>
          <a:noFill/>
        </p:spPr>
        <p:txBody>
          <a:bodyPr wrap="square">
            <a:spAutoFit/>
          </a:bodyPr>
          <a:lstStyle/>
          <a:p>
            <a:r>
              <a:rPr lang="en-HK" dirty="0"/>
              <a:t>Visit the Academic </a:t>
            </a:r>
            <a:r>
              <a:rPr lang="en-HK" dirty="0" err="1"/>
              <a:t>Phrasebank</a:t>
            </a:r>
            <a:r>
              <a:rPr lang="en-HK" dirty="0"/>
              <a:t> prepared by University of Manchester for more expressions used in describing Methods in a dissertation and a research article: </a:t>
            </a:r>
            <a:r>
              <a:rPr lang="en-HK" dirty="0">
                <a:hlinkClick r:id="rId2"/>
              </a:rPr>
              <a:t>http://www.phrasebank.manchester.ac.uk/describing-methods/</a:t>
            </a:r>
            <a:r>
              <a:rPr lang="en-HK" dirty="0"/>
              <a:t>  </a:t>
            </a:r>
          </a:p>
        </p:txBody>
      </p:sp>
    </p:spTree>
    <p:extLst>
      <p:ext uri="{BB962C8B-B14F-4D97-AF65-F5344CB8AC3E}">
        <p14:creationId xmlns:p14="http://schemas.microsoft.com/office/powerpoint/2010/main" val="3805262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780" y="512462"/>
            <a:ext cx="8911687" cy="1280890"/>
          </a:xfrm>
        </p:spPr>
        <p:txBody>
          <a:bodyPr/>
          <a:lstStyle/>
          <a:p>
            <a:r>
              <a:rPr lang="en-US" dirty="0"/>
              <a:t>Task 4</a:t>
            </a:r>
          </a:p>
        </p:txBody>
      </p:sp>
      <p:sp>
        <p:nvSpPr>
          <p:cNvPr id="3" name="Content Placeholder 2"/>
          <p:cNvSpPr>
            <a:spLocks noGrp="1"/>
          </p:cNvSpPr>
          <p:nvPr>
            <p:ph idx="1"/>
          </p:nvPr>
        </p:nvSpPr>
        <p:spPr>
          <a:xfrm>
            <a:off x="1647318" y="1386724"/>
            <a:ext cx="10052846" cy="5284240"/>
          </a:xfrm>
        </p:spPr>
        <p:txBody>
          <a:bodyPr>
            <a:normAutofit fontScale="85000" lnSpcReduction="10000"/>
          </a:bodyPr>
          <a:lstStyle/>
          <a:p>
            <a:pPr marL="514350" indent="-514350">
              <a:buFont typeface="+mj-lt"/>
              <a:buAutoNum type="arabicPeriod"/>
            </a:pPr>
            <a:r>
              <a:rPr lang="en-GB" sz="2600" dirty="0"/>
              <a:t>Find a partner and discuss how “presenting” and “discussing” the research results are different. You may comment on the content, structure and language features in these two sections.</a:t>
            </a:r>
          </a:p>
          <a:p>
            <a:pPr marL="0" indent="0">
              <a:buNone/>
            </a:pPr>
            <a:endParaRPr lang="en-US" sz="2600" dirty="0"/>
          </a:p>
          <a:p>
            <a:pPr algn="just">
              <a:buFont typeface="Arial" panose="020B0604020202020204" pitchFamily="34" charset="0"/>
              <a:buChar char="•"/>
            </a:pPr>
            <a:r>
              <a:rPr lang="en-GB" sz="2600" dirty="0">
                <a:solidFill>
                  <a:srgbClr val="7030A0"/>
                </a:solidFill>
              </a:rPr>
              <a:t>“Results” deal with </a:t>
            </a:r>
            <a:r>
              <a:rPr lang="en-GB" sz="2600" b="1" dirty="0">
                <a:solidFill>
                  <a:srgbClr val="7030A0"/>
                </a:solidFill>
              </a:rPr>
              <a:t>description</a:t>
            </a:r>
            <a:r>
              <a:rPr lang="en-GB" sz="2600" dirty="0">
                <a:solidFill>
                  <a:srgbClr val="7030A0"/>
                </a:solidFill>
              </a:rPr>
              <a:t> of the research findings</a:t>
            </a:r>
            <a:r>
              <a:rPr lang="en-GB" sz="2600" dirty="0">
                <a:solidFill>
                  <a:srgbClr val="0070C0"/>
                </a:solidFill>
              </a:rPr>
              <a:t>, but  </a:t>
            </a:r>
            <a:r>
              <a:rPr lang="en-GB" sz="2600" dirty="0">
                <a:solidFill>
                  <a:srgbClr val="00B050"/>
                </a:solidFill>
              </a:rPr>
              <a:t>“Discussion” deals with </a:t>
            </a:r>
            <a:r>
              <a:rPr lang="en-GB" sz="2600" b="1" dirty="0">
                <a:solidFill>
                  <a:srgbClr val="00B050"/>
                </a:solidFill>
              </a:rPr>
              <a:t>interpretations</a:t>
            </a:r>
            <a:r>
              <a:rPr lang="en-GB" sz="2600" dirty="0">
                <a:solidFill>
                  <a:srgbClr val="00B050"/>
                </a:solidFill>
              </a:rPr>
              <a:t> of significant points arising from the findings</a:t>
            </a:r>
            <a:r>
              <a:rPr lang="en-GB" sz="2600" dirty="0">
                <a:solidFill>
                  <a:srgbClr val="0070C0"/>
                </a:solidFill>
              </a:rPr>
              <a:t>. </a:t>
            </a:r>
            <a:r>
              <a:rPr lang="en-GB" sz="2600" dirty="0">
                <a:solidFill>
                  <a:srgbClr val="00B050"/>
                </a:solidFill>
              </a:rPr>
              <a:t>The “Discussion” may state the </a:t>
            </a:r>
            <a:r>
              <a:rPr lang="en-GB" sz="2600" b="1" dirty="0">
                <a:solidFill>
                  <a:srgbClr val="00B050"/>
                </a:solidFill>
              </a:rPr>
              <a:t>causes </a:t>
            </a:r>
            <a:r>
              <a:rPr lang="en-GB" sz="2600" dirty="0">
                <a:solidFill>
                  <a:srgbClr val="00B050"/>
                </a:solidFill>
              </a:rPr>
              <a:t>for particular results and </a:t>
            </a:r>
            <a:r>
              <a:rPr lang="en-GB" sz="2600" b="1" dirty="0">
                <a:solidFill>
                  <a:srgbClr val="00B050"/>
                </a:solidFill>
              </a:rPr>
              <a:t>compare</a:t>
            </a:r>
            <a:r>
              <a:rPr lang="en-GB" sz="2600" dirty="0">
                <a:solidFill>
                  <a:srgbClr val="00B050"/>
                </a:solidFill>
              </a:rPr>
              <a:t> the results with theoretical expectations.</a:t>
            </a:r>
          </a:p>
          <a:p>
            <a:pPr algn="just">
              <a:buFont typeface="Arial" panose="020B0604020202020204" pitchFamily="34" charset="0"/>
              <a:buChar char="•"/>
            </a:pPr>
            <a:r>
              <a:rPr lang="en-GB" sz="2600" dirty="0">
                <a:solidFill>
                  <a:srgbClr val="7030A0"/>
                </a:solidFill>
              </a:rPr>
              <a:t>“Results” </a:t>
            </a:r>
            <a:r>
              <a:rPr lang="en-GB" sz="2600" dirty="0">
                <a:solidFill>
                  <a:srgbClr val="0070C0"/>
                </a:solidFill>
              </a:rPr>
              <a:t>sections usually include </a:t>
            </a:r>
            <a:r>
              <a:rPr lang="en-GB" sz="2600" dirty="0">
                <a:solidFill>
                  <a:srgbClr val="7030A0"/>
                </a:solidFill>
              </a:rPr>
              <a:t>texts, figures, illustrations and tables</a:t>
            </a:r>
            <a:r>
              <a:rPr lang="en-GB" sz="2600" dirty="0">
                <a:solidFill>
                  <a:srgbClr val="0070C0"/>
                </a:solidFill>
              </a:rPr>
              <a:t>.</a:t>
            </a:r>
          </a:p>
          <a:p>
            <a:pPr algn="just">
              <a:buFont typeface="Arial" panose="020B0604020202020204" pitchFamily="34" charset="0"/>
              <a:buChar char="•"/>
            </a:pPr>
            <a:r>
              <a:rPr lang="en-GB" sz="2600" dirty="0">
                <a:solidFill>
                  <a:srgbClr val="7030A0"/>
                </a:solidFill>
              </a:rPr>
              <a:t>“Results” </a:t>
            </a:r>
            <a:r>
              <a:rPr lang="en-GB" sz="2600" dirty="0">
                <a:solidFill>
                  <a:srgbClr val="0070C0"/>
                </a:solidFill>
              </a:rPr>
              <a:t>are usually presented with </a:t>
            </a:r>
            <a:r>
              <a:rPr lang="en-GB" sz="2600" dirty="0">
                <a:solidFill>
                  <a:srgbClr val="7030A0"/>
                </a:solidFill>
              </a:rPr>
              <a:t>objective language </a:t>
            </a:r>
            <a:r>
              <a:rPr lang="en-GB" sz="2600" dirty="0">
                <a:solidFill>
                  <a:srgbClr val="0070C0"/>
                </a:solidFill>
              </a:rPr>
              <a:t>while </a:t>
            </a:r>
            <a:r>
              <a:rPr lang="en-GB" sz="2600" dirty="0">
                <a:solidFill>
                  <a:srgbClr val="00B050"/>
                </a:solidFill>
              </a:rPr>
              <a:t>“Discussion” </a:t>
            </a:r>
            <a:r>
              <a:rPr lang="en-GB" sz="2600" dirty="0">
                <a:solidFill>
                  <a:srgbClr val="0070C0"/>
                </a:solidFill>
              </a:rPr>
              <a:t>is written with more </a:t>
            </a:r>
            <a:r>
              <a:rPr lang="en-GB" sz="2600" dirty="0">
                <a:solidFill>
                  <a:srgbClr val="00B050"/>
                </a:solidFill>
              </a:rPr>
              <a:t>cautious (hedging), and evaluative language. </a:t>
            </a:r>
          </a:p>
          <a:p>
            <a:pPr algn="just">
              <a:buFont typeface="Arial" panose="020B0604020202020204" pitchFamily="34" charset="0"/>
              <a:buChar char="•"/>
            </a:pPr>
            <a:r>
              <a:rPr lang="en-GB" sz="2600" dirty="0">
                <a:solidFill>
                  <a:srgbClr val="0070C0"/>
                </a:solidFill>
              </a:rPr>
              <a:t>The </a:t>
            </a:r>
            <a:r>
              <a:rPr lang="en-GB" sz="2600" dirty="0">
                <a:solidFill>
                  <a:srgbClr val="7030A0"/>
                </a:solidFill>
              </a:rPr>
              <a:t>past tense </a:t>
            </a:r>
            <a:r>
              <a:rPr lang="en-GB" sz="2600" dirty="0">
                <a:solidFill>
                  <a:srgbClr val="0070C0"/>
                </a:solidFill>
              </a:rPr>
              <a:t>predominates in the </a:t>
            </a:r>
            <a:r>
              <a:rPr lang="en-GB" sz="2600" dirty="0">
                <a:solidFill>
                  <a:srgbClr val="7030A0"/>
                </a:solidFill>
              </a:rPr>
              <a:t>“Results” </a:t>
            </a:r>
            <a:r>
              <a:rPr lang="en-GB" sz="2600" dirty="0">
                <a:solidFill>
                  <a:srgbClr val="0070C0"/>
                </a:solidFill>
              </a:rPr>
              <a:t>section while the </a:t>
            </a:r>
            <a:r>
              <a:rPr lang="en-GB" sz="2600" dirty="0">
                <a:solidFill>
                  <a:srgbClr val="00B050"/>
                </a:solidFill>
              </a:rPr>
              <a:t>present tense</a:t>
            </a:r>
            <a:r>
              <a:rPr lang="en-GB" sz="2600" dirty="0">
                <a:solidFill>
                  <a:srgbClr val="0070C0"/>
                </a:solidFill>
              </a:rPr>
              <a:t> is likely to be used in the </a:t>
            </a:r>
            <a:r>
              <a:rPr lang="en-GB" sz="2600" dirty="0">
                <a:solidFill>
                  <a:srgbClr val="00B050"/>
                </a:solidFill>
              </a:rPr>
              <a:t>“Discussion” </a:t>
            </a:r>
            <a:r>
              <a:rPr lang="en-GB" sz="2600" dirty="0">
                <a:solidFill>
                  <a:srgbClr val="0070C0"/>
                </a:solidFill>
              </a:rPr>
              <a:t>section.</a:t>
            </a:r>
          </a:p>
          <a:p>
            <a:pPr marL="0" indent="0" algn="just">
              <a:buNone/>
            </a:pPr>
            <a:endParaRPr lang="en-GB" sz="2600" dirty="0"/>
          </a:p>
          <a:p>
            <a:pPr marL="0" lvl="0" indent="0">
              <a:buNone/>
            </a:pPr>
            <a:endParaRPr lang="en-GB" dirty="0"/>
          </a:p>
          <a:p>
            <a:pPr marL="0" indent="0">
              <a:buNone/>
            </a:pP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371811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0505" y="107770"/>
            <a:ext cx="9932937" cy="1280890"/>
          </a:xfrm>
        </p:spPr>
        <p:txBody>
          <a:bodyPr>
            <a:normAutofit/>
          </a:bodyPr>
          <a:lstStyle/>
          <a:p>
            <a:r>
              <a:rPr lang="en-US" sz="4000" dirty="0"/>
              <a:t>Task 4</a:t>
            </a:r>
            <a:br>
              <a:rPr lang="en-US" b="1" dirty="0"/>
            </a:br>
            <a:endParaRPr lang="en-US" dirty="0"/>
          </a:p>
        </p:txBody>
      </p:sp>
      <p:sp>
        <p:nvSpPr>
          <p:cNvPr id="3" name="Content Placeholder 2"/>
          <p:cNvSpPr>
            <a:spLocks noGrp="1"/>
          </p:cNvSpPr>
          <p:nvPr>
            <p:ph idx="1"/>
          </p:nvPr>
        </p:nvSpPr>
        <p:spPr>
          <a:xfrm>
            <a:off x="1510505" y="891794"/>
            <a:ext cx="9699570" cy="1885022"/>
          </a:xfrm>
        </p:spPr>
        <p:txBody>
          <a:bodyPr>
            <a:normAutofit/>
          </a:bodyPr>
          <a:lstStyle/>
          <a:p>
            <a:pPr marL="457200" indent="-457200" algn="just">
              <a:buFont typeface="+mj-lt"/>
              <a:buAutoNum type="arabicPeriod" startAt="2"/>
            </a:pPr>
            <a:r>
              <a:rPr lang="en-HK" sz="2100" dirty="0"/>
              <a:t>Study the statements below and decide which are from the results (R) or discussion (D) part of a medical journal article on skin cancer in children.</a:t>
            </a:r>
            <a:endParaRPr lang="en-GB" sz="2100" dirty="0"/>
          </a:p>
          <a:p>
            <a:pPr marL="0" indent="0">
              <a:buNone/>
            </a:pPr>
            <a:endParaRPr lang="en-US" dirty="0"/>
          </a:p>
          <a:p>
            <a:pPr marL="0" indent="0">
              <a:buNone/>
            </a:pPr>
            <a:r>
              <a:rPr lang="en-US" dirty="0"/>
              <a:t>     </a:t>
            </a:r>
          </a:p>
          <a:p>
            <a:endParaRPr lang="en-US" dirty="0"/>
          </a:p>
        </p:txBody>
      </p:sp>
      <p:graphicFrame>
        <p:nvGraphicFramePr>
          <p:cNvPr id="4" name="Table 3">
            <a:extLst>
              <a:ext uri="{FF2B5EF4-FFF2-40B4-BE49-F238E27FC236}">
                <a16:creationId xmlns:a16="http://schemas.microsoft.com/office/drawing/2014/main" id="{80AE97EB-E618-4DC4-8927-5CDD89D139C6}"/>
              </a:ext>
            </a:extLst>
          </p:cNvPr>
          <p:cNvGraphicFramePr>
            <a:graphicFrameLocks noGrp="1"/>
          </p:cNvGraphicFramePr>
          <p:nvPr>
            <p:extLst>
              <p:ext uri="{D42A27DB-BD31-4B8C-83A1-F6EECF244321}">
                <p14:modId xmlns:p14="http://schemas.microsoft.com/office/powerpoint/2010/main" val="1592901149"/>
              </p:ext>
            </p:extLst>
          </p:nvPr>
        </p:nvGraphicFramePr>
        <p:xfrm>
          <a:off x="1719810" y="1957617"/>
          <a:ext cx="8961685" cy="4823625"/>
        </p:xfrm>
        <a:graphic>
          <a:graphicData uri="http://schemas.openxmlformats.org/drawingml/2006/table">
            <a:tbl>
              <a:tblPr firstRow="1" firstCol="1" bandRow="1">
                <a:tableStyleId>{5C22544A-7EE6-4342-B048-85BDC9FD1C3A}</a:tableStyleId>
              </a:tblPr>
              <a:tblGrid>
                <a:gridCol w="7201453">
                  <a:extLst>
                    <a:ext uri="{9D8B030D-6E8A-4147-A177-3AD203B41FA5}">
                      <a16:colId xmlns:a16="http://schemas.microsoft.com/office/drawing/2014/main" val="3095231508"/>
                    </a:ext>
                  </a:extLst>
                </a:gridCol>
                <a:gridCol w="1760232">
                  <a:extLst>
                    <a:ext uri="{9D8B030D-6E8A-4147-A177-3AD203B41FA5}">
                      <a16:colId xmlns:a16="http://schemas.microsoft.com/office/drawing/2014/main" val="1774185837"/>
                    </a:ext>
                  </a:extLst>
                </a:gridCol>
              </a:tblGrid>
              <a:tr h="590522">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defTabSz="457200" rtl="0" eaLnBrk="1" latinLnBrk="0" hangingPunct="1">
                        <a:lnSpc>
                          <a:spcPct val="115000"/>
                        </a:lnSpc>
                        <a:spcBef>
                          <a:spcPts val="1000"/>
                        </a:spcBef>
                        <a:spcAft>
                          <a:spcPts val="0"/>
                        </a:spcAft>
                        <a:buClr>
                          <a:schemeClr val="accent1"/>
                        </a:buClr>
                        <a:buFont typeface="Wingdings 3" charset="2"/>
                        <a:buNone/>
                      </a:pPr>
                      <a:r>
                        <a:rPr lang="en-US" sz="1800" b="0" kern="1200" dirty="0">
                          <a:solidFill>
                            <a:schemeClr val="tx1">
                              <a:lumMod val="75000"/>
                              <a:lumOff val="25000"/>
                            </a:schemeClr>
                          </a:solidFill>
                          <a:latin typeface="+mn-lt"/>
                          <a:ea typeface="+mn-ea"/>
                          <a:cs typeface="+mn-cs"/>
                        </a:rPr>
                        <a:t>Results or Discussion?</a:t>
                      </a:r>
                      <a:endParaRPr lang="en-GB" sz="1800" b="0" kern="1200" dirty="0">
                        <a:solidFill>
                          <a:schemeClr val="tx1">
                            <a:lumMod val="75000"/>
                            <a:lumOff val="25000"/>
                          </a:schemeClr>
                        </a:solidFill>
                        <a:latin typeface="+mn-lt"/>
                        <a:ea typeface="+mn-ea"/>
                        <a:cs typeface="+mn-cs"/>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0097961"/>
                  </a:ext>
                </a:extLst>
              </a:tr>
              <a:tr h="694528">
                <a:tc>
                  <a:txBody>
                    <a:bodyPr/>
                    <a:lstStyle/>
                    <a:p>
                      <a:pPr marL="288000" lvl="0" indent="-468000" algn="just" defTabSz="457200" rtl="0" eaLnBrk="1" latinLnBrk="0" hangingPunct="1">
                        <a:lnSpc>
                          <a:spcPct val="115000"/>
                        </a:lnSpc>
                        <a:spcBef>
                          <a:spcPts val="1000"/>
                        </a:spcBef>
                        <a:spcAft>
                          <a:spcPts val="0"/>
                        </a:spcAft>
                        <a:buClr>
                          <a:schemeClr val="accent1"/>
                        </a:buClr>
                        <a:buFont typeface="Wingdings 3" charset="2"/>
                        <a:buNone/>
                      </a:pPr>
                      <a:r>
                        <a:rPr lang="en-US" sz="1800" b="0" kern="1200" dirty="0">
                          <a:solidFill>
                            <a:schemeClr val="tx1">
                              <a:lumMod val="75000"/>
                              <a:lumOff val="25000"/>
                            </a:schemeClr>
                          </a:solidFill>
                          <a:latin typeface="+mn-lt"/>
                          <a:ea typeface="+mn-ea"/>
                          <a:cs typeface="+mn-cs"/>
                        </a:rPr>
                        <a:t>1. Our finding of a low skin cancer rate in redheads is </a:t>
                      </a:r>
                      <a:r>
                        <a:rPr lang="en-US" sz="1800" b="0" u="sng" kern="1200" dirty="0">
                          <a:solidFill>
                            <a:schemeClr val="tx1">
                              <a:lumMod val="75000"/>
                              <a:lumOff val="25000"/>
                            </a:schemeClr>
                          </a:solidFill>
                          <a:latin typeface="+mn-lt"/>
                          <a:ea typeface="+mn-ea"/>
                          <a:cs typeface="+mn-cs"/>
                        </a:rPr>
                        <a:t>unlikely to be due to</a:t>
                      </a:r>
                      <a:r>
                        <a:rPr lang="en-US" sz="1800" b="0" kern="1200" dirty="0">
                          <a:solidFill>
                            <a:schemeClr val="tx1">
                              <a:lumMod val="75000"/>
                              <a:lumOff val="25000"/>
                            </a:schemeClr>
                          </a:solidFill>
                          <a:latin typeface="+mn-lt"/>
                          <a:ea typeface="+mn-ea"/>
                          <a:cs typeface="+mn-cs"/>
                        </a:rPr>
                        <a:t> small sample size.</a:t>
                      </a: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4603114"/>
                  </a:ext>
                </a:extLst>
              </a:tr>
              <a:tr h="1309271">
                <a:tc>
                  <a:txBody>
                    <a:bodyPr/>
                    <a:lstStyle/>
                    <a:p>
                      <a:pPr marL="288000" lvl="0" indent="-468000" algn="just" defTabSz="457200" rtl="0" eaLnBrk="1" latinLnBrk="0" hangingPunct="1">
                        <a:lnSpc>
                          <a:spcPct val="115000"/>
                        </a:lnSpc>
                        <a:spcBef>
                          <a:spcPts val="1000"/>
                        </a:spcBef>
                        <a:spcAft>
                          <a:spcPts val="0"/>
                        </a:spcAft>
                        <a:buClr>
                          <a:schemeClr val="accent1"/>
                        </a:buClr>
                        <a:buFont typeface="Wingdings 3" charset="2"/>
                        <a:buNone/>
                      </a:pPr>
                      <a:r>
                        <a:rPr lang="en-US" sz="1800" b="0" kern="1200" dirty="0">
                          <a:solidFill>
                            <a:schemeClr val="tx1">
                              <a:lumMod val="75000"/>
                              <a:lumOff val="25000"/>
                            </a:schemeClr>
                          </a:solidFill>
                          <a:latin typeface="+mn-lt"/>
                          <a:ea typeface="+mn-ea"/>
                          <a:cs typeface="+mn-cs"/>
                        </a:rPr>
                        <a:t>2. If the relation between melanocytic mole frequency and melanoma risk is the same for children as for adults, then the pattern of risk </a:t>
                      </a:r>
                      <a:r>
                        <a:rPr lang="en-US" sz="1800" b="0" u="sng" kern="1200" dirty="0">
                          <a:solidFill>
                            <a:schemeClr val="tx1">
                              <a:lumMod val="75000"/>
                              <a:lumOff val="25000"/>
                            </a:schemeClr>
                          </a:solidFill>
                          <a:latin typeface="+mn-lt"/>
                          <a:ea typeface="+mn-ea"/>
                          <a:cs typeface="+mn-cs"/>
                        </a:rPr>
                        <a:t>seems to be </a:t>
                      </a:r>
                      <a:r>
                        <a:rPr lang="en-US" sz="1800" b="0" kern="1200" dirty="0">
                          <a:solidFill>
                            <a:schemeClr val="tx1">
                              <a:lumMod val="75000"/>
                              <a:lumOff val="25000"/>
                            </a:schemeClr>
                          </a:solidFill>
                          <a:latin typeface="+mn-lt"/>
                          <a:ea typeface="+mn-ea"/>
                          <a:cs typeface="+mn-cs"/>
                        </a:rPr>
                        <a:t>established very early in life in Queensland children in the tropics.</a:t>
                      </a:r>
                      <a:endParaRPr lang="en-GB" sz="1800" b="0" kern="1200" dirty="0">
                        <a:solidFill>
                          <a:schemeClr val="tx1">
                            <a:lumMod val="75000"/>
                            <a:lumOff val="25000"/>
                          </a:schemeClr>
                        </a:solidFill>
                        <a:latin typeface="+mn-lt"/>
                        <a:ea typeface="+mn-ea"/>
                        <a:cs typeface="+mn-cs"/>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499051"/>
                  </a:ext>
                </a:extLst>
              </a:tr>
              <a:tr h="1208601">
                <a:tc>
                  <a:txBody>
                    <a:bodyPr/>
                    <a:lstStyle/>
                    <a:p>
                      <a:pPr marL="288000" lvl="0" indent="-468000" algn="just">
                        <a:lnSpc>
                          <a:spcPct val="115000"/>
                        </a:lnSpc>
                        <a:spcAft>
                          <a:spcPts val="1000"/>
                        </a:spcAft>
                        <a:buFont typeface="+mj-lt"/>
                        <a:buNone/>
                      </a:pPr>
                      <a:r>
                        <a:rPr lang="en-US" sz="1800" b="0" kern="1200" dirty="0">
                          <a:solidFill>
                            <a:schemeClr val="tx1">
                              <a:lumMod val="75000"/>
                              <a:lumOff val="25000"/>
                            </a:schemeClr>
                          </a:solidFill>
                          <a:latin typeface="+mn-lt"/>
                          <a:ea typeface="+mn-ea"/>
                          <a:cs typeface="+mn-cs"/>
                        </a:rPr>
                        <a:t>3. Children who averaged more than 4 hours per day in the sun were three times as likely to have high numbers of melanocytic moles than were children who spent 1 hour or less per day.</a:t>
                      </a:r>
                      <a:endParaRPr lang="en-GB" sz="1800" b="0" kern="1200" dirty="0">
                        <a:solidFill>
                          <a:schemeClr val="tx1">
                            <a:lumMod val="75000"/>
                            <a:lumOff val="25000"/>
                          </a:schemeClr>
                        </a:solidFill>
                        <a:latin typeface="+mn-lt"/>
                        <a:ea typeface="+mn-ea"/>
                        <a:cs typeface="+mn-cs"/>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00840"/>
                  </a:ext>
                </a:extLst>
              </a:tr>
              <a:tr h="983278">
                <a:tc>
                  <a:txBody>
                    <a:bodyPr/>
                    <a:lstStyle/>
                    <a:p>
                      <a:pPr marL="288000" lvl="0" indent="-468000" algn="just">
                        <a:lnSpc>
                          <a:spcPct val="115000"/>
                        </a:lnSpc>
                        <a:spcAft>
                          <a:spcPts val="1000"/>
                        </a:spcAft>
                        <a:buFont typeface="+mj-lt"/>
                        <a:buNone/>
                      </a:pPr>
                      <a:r>
                        <a:rPr lang="en-US" sz="1800" b="0" kern="1200" dirty="0">
                          <a:solidFill>
                            <a:schemeClr val="tx1">
                              <a:lumMod val="75000"/>
                              <a:lumOff val="25000"/>
                            </a:schemeClr>
                          </a:solidFill>
                          <a:latin typeface="+mn-lt"/>
                          <a:ea typeface="+mn-ea"/>
                          <a:cs typeface="+mn-cs"/>
                        </a:rPr>
                        <a:t>4. </a:t>
                      </a:r>
                      <a:r>
                        <a:rPr lang="en-US" sz="1800" b="0" u="sng" kern="1200" dirty="0">
                          <a:solidFill>
                            <a:schemeClr val="tx1">
                              <a:lumMod val="75000"/>
                              <a:lumOff val="25000"/>
                            </a:schemeClr>
                          </a:solidFill>
                          <a:latin typeface="+mn-lt"/>
                          <a:ea typeface="+mn-ea"/>
                          <a:cs typeface="+mn-cs"/>
                        </a:rPr>
                        <a:t>It seems that </a:t>
                      </a:r>
                      <a:r>
                        <a:rPr lang="en-US" sz="1800" b="0" kern="1200" dirty="0">
                          <a:solidFill>
                            <a:schemeClr val="tx1">
                              <a:lumMod val="75000"/>
                              <a:lumOff val="25000"/>
                            </a:schemeClr>
                          </a:solidFill>
                          <a:latin typeface="+mn-lt"/>
                          <a:ea typeface="+mn-ea"/>
                          <a:cs typeface="+mn-cs"/>
                        </a:rPr>
                        <a:t>living in Townsville is, in itself, sufficient for children to acquire large numbers of melanocytic moles early in life.</a:t>
                      </a:r>
                      <a:endParaRPr lang="en-GB" sz="1800" b="0" kern="1200" dirty="0">
                        <a:solidFill>
                          <a:schemeClr val="tx1">
                            <a:lumMod val="75000"/>
                            <a:lumOff val="25000"/>
                          </a:schemeClr>
                        </a:solidFill>
                        <a:latin typeface="+mn-lt"/>
                        <a:ea typeface="+mn-ea"/>
                        <a:cs typeface="+mn-cs"/>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501" marR="5650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1644979"/>
                  </a:ext>
                </a:extLst>
              </a:tr>
            </a:tbl>
          </a:graphicData>
        </a:graphic>
      </p:graphicFrame>
      <p:sp>
        <p:nvSpPr>
          <p:cNvPr id="6" name="Content Placeholder 2">
            <a:extLst>
              <a:ext uri="{FF2B5EF4-FFF2-40B4-BE49-F238E27FC236}">
                <a16:creationId xmlns:a16="http://schemas.microsoft.com/office/drawing/2014/main" id="{B00371C8-5866-4356-B818-BDC09AA435F1}"/>
              </a:ext>
            </a:extLst>
          </p:cNvPr>
          <p:cNvSpPr txBox="1">
            <a:spLocks/>
          </p:cNvSpPr>
          <p:nvPr/>
        </p:nvSpPr>
        <p:spPr>
          <a:xfrm>
            <a:off x="9031364" y="2920395"/>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Discussion</a:t>
            </a:r>
            <a:endParaRPr lang="en-US" dirty="0"/>
          </a:p>
          <a:p>
            <a:endParaRPr lang="en-US" dirty="0"/>
          </a:p>
        </p:txBody>
      </p:sp>
      <p:sp>
        <p:nvSpPr>
          <p:cNvPr id="7" name="Content Placeholder 2">
            <a:extLst>
              <a:ext uri="{FF2B5EF4-FFF2-40B4-BE49-F238E27FC236}">
                <a16:creationId xmlns:a16="http://schemas.microsoft.com/office/drawing/2014/main" id="{2A2A93D6-5C6B-4F8C-A477-79EC2BCE0556}"/>
              </a:ext>
            </a:extLst>
          </p:cNvPr>
          <p:cNvSpPr txBox="1">
            <a:spLocks/>
          </p:cNvSpPr>
          <p:nvPr/>
        </p:nvSpPr>
        <p:spPr>
          <a:xfrm>
            <a:off x="9031364" y="3828455"/>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Discussion</a:t>
            </a:r>
            <a:endParaRPr lang="en-US" dirty="0"/>
          </a:p>
          <a:p>
            <a:endParaRPr lang="en-US" dirty="0"/>
          </a:p>
        </p:txBody>
      </p:sp>
      <p:sp>
        <p:nvSpPr>
          <p:cNvPr id="8" name="Content Placeholder 2">
            <a:extLst>
              <a:ext uri="{FF2B5EF4-FFF2-40B4-BE49-F238E27FC236}">
                <a16:creationId xmlns:a16="http://schemas.microsoft.com/office/drawing/2014/main" id="{05AC30F1-16A1-4005-A886-550AC9A6E147}"/>
              </a:ext>
            </a:extLst>
          </p:cNvPr>
          <p:cNvSpPr txBox="1">
            <a:spLocks/>
          </p:cNvSpPr>
          <p:nvPr/>
        </p:nvSpPr>
        <p:spPr>
          <a:xfrm>
            <a:off x="9031364" y="5049097"/>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Results</a:t>
            </a:r>
            <a:endParaRPr lang="en-US" dirty="0"/>
          </a:p>
          <a:p>
            <a:endParaRPr lang="en-US" dirty="0"/>
          </a:p>
        </p:txBody>
      </p:sp>
      <p:sp>
        <p:nvSpPr>
          <p:cNvPr id="9" name="Content Placeholder 2">
            <a:extLst>
              <a:ext uri="{FF2B5EF4-FFF2-40B4-BE49-F238E27FC236}">
                <a16:creationId xmlns:a16="http://schemas.microsoft.com/office/drawing/2014/main" id="{827C4E4C-FC11-4B70-AE72-E0522C0B24EE}"/>
              </a:ext>
            </a:extLst>
          </p:cNvPr>
          <p:cNvSpPr txBox="1">
            <a:spLocks/>
          </p:cNvSpPr>
          <p:nvPr/>
        </p:nvSpPr>
        <p:spPr>
          <a:xfrm>
            <a:off x="9031364" y="6107802"/>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Discussion</a:t>
            </a:r>
            <a:endParaRPr lang="en-US" dirty="0"/>
          </a:p>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243793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41498FD-E6E5-4EC4-9030-E234F2085818}"/>
              </a:ext>
            </a:extLst>
          </p:cNvPr>
          <p:cNvGraphicFramePr>
            <a:graphicFrameLocks noGrp="1"/>
          </p:cNvGraphicFramePr>
          <p:nvPr>
            <p:ph idx="1"/>
            <p:extLst>
              <p:ext uri="{D42A27DB-BD31-4B8C-83A1-F6EECF244321}">
                <p14:modId xmlns:p14="http://schemas.microsoft.com/office/powerpoint/2010/main" val="551765155"/>
              </p:ext>
            </p:extLst>
          </p:nvPr>
        </p:nvGraphicFramePr>
        <p:xfrm>
          <a:off x="2216537" y="239552"/>
          <a:ext cx="7379361" cy="6378896"/>
        </p:xfrm>
        <a:graphic>
          <a:graphicData uri="http://schemas.openxmlformats.org/drawingml/2006/table">
            <a:tbl>
              <a:tblPr firstRow="1" firstCol="1" bandRow="1">
                <a:tableStyleId>{5C22544A-7EE6-4342-B048-85BDC9FD1C3A}</a:tableStyleId>
              </a:tblPr>
              <a:tblGrid>
                <a:gridCol w="5220428">
                  <a:extLst>
                    <a:ext uri="{9D8B030D-6E8A-4147-A177-3AD203B41FA5}">
                      <a16:colId xmlns:a16="http://schemas.microsoft.com/office/drawing/2014/main" val="3610709092"/>
                    </a:ext>
                  </a:extLst>
                </a:gridCol>
                <a:gridCol w="2158933">
                  <a:extLst>
                    <a:ext uri="{9D8B030D-6E8A-4147-A177-3AD203B41FA5}">
                      <a16:colId xmlns:a16="http://schemas.microsoft.com/office/drawing/2014/main" val="1989562619"/>
                    </a:ext>
                  </a:extLst>
                </a:gridCol>
              </a:tblGrid>
              <a:tr h="633666">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15000"/>
                        </a:lnSpc>
                        <a:spcAft>
                          <a:spcPts val="1000"/>
                        </a:spcAft>
                      </a:pPr>
                      <a:r>
                        <a:rPr lang="en-US" sz="1800" b="0" dirty="0">
                          <a:solidFill>
                            <a:schemeClr val="tx1"/>
                          </a:solidFill>
                          <a:effectLst/>
                        </a:rPr>
                        <a:t>Results or Discussion?</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5683979"/>
                  </a:ext>
                </a:extLst>
              </a:tr>
              <a:tr h="1538266">
                <a:tc>
                  <a:txBody>
                    <a:bodyPr/>
                    <a:lstStyle/>
                    <a:p>
                      <a:pPr marL="288000" lvl="0" indent="-4680000" algn="just">
                        <a:lnSpc>
                          <a:spcPct val="115000"/>
                        </a:lnSpc>
                        <a:spcAft>
                          <a:spcPts val="1000"/>
                        </a:spcAft>
                        <a:buFont typeface="+mj-lt"/>
                        <a:buNone/>
                      </a:pPr>
                      <a:r>
                        <a:rPr lang="en-US" sz="1800" b="0" dirty="0">
                          <a:solidFill>
                            <a:schemeClr val="tx1"/>
                          </a:solidFill>
                          <a:effectLst/>
                        </a:rPr>
                        <a:t>5. Children who had at least one episode of sunburn had more than twice as many melanocytic moles compared with children who had never been sunburnt.</a:t>
                      </a:r>
                      <a:endParaRPr lang="en-GB" sz="1800" b="0" dirty="0">
                        <a:solidFill>
                          <a:schemeClr val="tx1"/>
                        </a:solidFill>
                        <a:effectLst/>
                        <a:latin typeface="Calibri" panose="020F0502020204030204" pitchFamily="34" charset="0"/>
                        <a:ea typeface="PMingLiU" panose="02020500000000000000" pitchFamily="18" charset="-12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5940623"/>
                  </a:ext>
                </a:extLst>
              </a:tr>
              <a:tr h="1136294">
                <a:tc>
                  <a:txBody>
                    <a:bodyPr/>
                    <a:lstStyle/>
                    <a:p>
                      <a:pPr marL="288000" lvl="0" indent="-468000" algn="just">
                        <a:lnSpc>
                          <a:spcPct val="115000"/>
                        </a:lnSpc>
                        <a:spcAft>
                          <a:spcPts val="1000"/>
                        </a:spcAft>
                        <a:buFont typeface="+mj-lt"/>
                        <a:buNone/>
                      </a:pPr>
                      <a:r>
                        <a:rPr lang="en-US" sz="1800" b="0" dirty="0">
                          <a:solidFill>
                            <a:schemeClr val="tx1"/>
                          </a:solidFill>
                          <a:effectLst/>
                        </a:rPr>
                        <a:t>6. Melanocytic moles also increased with the total number of hours spent in the sun in the year before examination.</a:t>
                      </a:r>
                      <a:endParaRPr lang="en-GB" sz="1800" b="0" dirty="0">
                        <a:solidFill>
                          <a:schemeClr val="tx1"/>
                        </a:solidFill>
                        <a:effectLst/>
                        <a:latin typeface="Calibri" panose="020F0502020204030204" pitchFamily="34" charset="0"/>
                        <a:ea typeface="PMingLiU" panose="02020500000000000000" pitchFamily="18" charset="-12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27967"/>
                  </a:ext>
                </a:extLst>
              </a:tr>
              <a:tr h="1110024">
                <a:tc>
                  <a:txBody>
                    <a:bodyPr/>
                    <a:lstStyle/>
                    <a:p>
                      <a:pPr marL="288000" lvl="0" indent="-468000" algn="just">
                        <a:lnSpc>
                          <a:spcPct val="115000"/>
                        </a:lnSpc>
                        <a:spcAft>
                          <a:spcPts val="1000"/>
                        </a:spcAft>
                        <a:buFont typeface="+mj-lt"/>
                        <a:buNone/>
                      </a:pPr>
                      <a:r>
                        <a:rPr lang="en-US" sz="1800" b="0" u="none" dirty="0">
                          <a:solidFill>
                            <a:schemeClr val="tx1"/>
                          </a:solidFill>
                          <a:effectLst/>
                        </a:rPr>
                        <a:t>7. </a:t>
                      </a:r>
                      <a:r>
                        <a:rPr lang="en-US" sz="1800" b="0" u="sng" dirty="0">
                          <a:solidFill>
                            <a:schemeClr val="tx1"/>
                          </a:solidFill>
                          <a:effectLst/>
                        </a:rPr>
                        <a:t>Our results suggest that</a:t>
                      </a:r>
                      <a:r>
                        <a:rPr lang="en-US" sz="1800" b="0" dirty="0">
                          <a:solidFill>
                            <a:schemeClr val="tx1"/>
                          </a:solidFill>
                          <a:effectLst/>
                        </a:rPr>
                        <a:t> this may be explained by sun-avoidance in the most sun-sensitive group.</a:t>
                      </a:r>
                      <a:endParaRPr lang="en-GB" sz="1800" b="0" dirty="0">
                        <a:solidFill>
                          <a:schemeClr val="tx1"/>
                        </a:solidFill>
                        <a:effectLst/>
                        <a:latin typeface="Calibri" panose="020F0502020204030204" pitchFamily="34" charset="0"/>
                        <a:ea typeface="PMingLiU" panose="02020500000000000000" pitchFamily="18" charset="-12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8318171"/>
                  </a:ext>
                </a:extLst>
              </a:tr>
              <a:tr h="1960646">
                <a:tc>
                  <a:txBody>
                    <a:bodyPr/>
                    <a:lstStyle/>
                    <a:p>
                      <a:pPr marL="288000" lvl="0" indent="-468000" algn="just">
                        <a:lnSpc>
                          <a:spcPct val="115000"/>
                        </a:lnSpc>
                        <a:spcAft>
                          <a:spcPts val="1000"/>
                        </a:spcAft>
                        <a:buFont typeface="+mj-lt"/>
                        <a:buNone/>
                      </a:pPr>
                      <a:r>
                        <a:rPr lang="en-US" sz="1800" b="0" dirty="0">
                          <a:solidFill>
                            <a:schemeClr val="tx1"/>
                          </a:solidFill>
                          <a:effectLst/>
                        </a:rPr>
                        <a:t>8. Significantly more melanocytic moles were associated with light neutral skin </a:t>
                      </a:r>
                      <a:r>
                        <a:rPr lang="en-US" sz="1800" b="0" dirty="0" err="1">
                          <a:solidFill>
                            <a:schemeClr val="tx1"/>
                          </a:solidFill>
                          <a:effectLst/>
                        </a:rPr>
                        <a:t>colour</a:t>
                      </a:r>
                      <a:r>
                        <a:rPr lang="en-US" sz="1800" b="0" dirty="0">
                          <a:solidFill>
                            <a:schemeClr val="tx1"/>
                          </a:solidFill>
                          <a:effectLst/>
                        </a:rPr>
                        <a:t> compared with other skin types ... and with darker hair </a:t>
                      </a:r>
                      <a:r>
                        <a:rPr lang="en-US" sz="1800" b="0" dirty="0" err="1">
                          <a:solidFill>
                            <a:schemeClr val="tx1"/>
                          </a:solidFill>
                          <a:effectLst/>
                        </a:rPr>
                        <a:t>colour</a:t>
                      </a:r>
                      <a:r>
                        <a:rPr lang="en-US" sz="1800" b="0" dirty="0">
                          <a:solidFill>
                            <a:schemeClr val="tx1"/>
                          </a:solidFill>
                          <a:effectLst/>
                        </a:rPr>
                        <a:t> - 28 for red/auburn hair, 30.5 for blonde/fair hair, and 43 for dark hair (p=0.0001).</a:t>
                      </a:r>
                      <a:endParaRPr lang="en-GB" sz="1800" b="0" dirty="0">
                        <a:solidFill>
                          <a:schemeClr val="tx1"/>
                        </a:solidFill>
                        <a:effectLst/>
                        <a:latin typeface="Calibri" panose="020F0502020204030204" pitchFamily="34" charset="0"/>
                        <a:ea typeface="PMingLiU" panose="02020500000000000000" pitchFamily="18" charset="-12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b="0" dirty="0">
                          <a:solidFill>
                            <a:schemeClr val="tx1"/>
                          </a:solidFill>
                          <a:effectLst/>
                        </a:rPr>
                        <a:t> </a:t>
                      </a:r>
                      <a:endParaRPr lang="en-GB"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931" marR="5493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762925"/>
                  </a:ext>
                </a:extLst>
              </a:tr>
            </a:tbl>
          </a:graphicData>
        </a:graphic>
      </p:graphicFrame>
      <p:sp>
        <p:nvSpPr>
          <p:cNvPr id="3" name="Content Placeholder 2">
            <a:extLst>
              <a:ext uri="{FF2B5EF4-FFF2-40B4-BE49-F238E27FC236}">
                <a16:creationId xmlns:a16="http://schemas.microsoft.com/office/drawing/2014/main" id="{2FE0A406-2B47-4397-B74B-08BC959A5776}"/>
              </a:ext>
            </a:extLst>
          </p:cNvPr>
          <p:cNvSpPr txBox="1">
            <a:spLocks/>
          </p:cNvSpPr>
          <p:nvPr/>
        </p:nvSpPr>
        <p:spPr>
          <a:xfrm>
            <a:off x="7895338" y="1514249"/>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Results</a:t>
            </a:r>
            <a:endParaRPr lang="en-US" dirty="0"/>
          </a:p>
        </p:txBody>
      </p:sp>
      <p:sp>
        <p:nvSpPr>
          <p:cNvPr id="4" name="Content Placeholder 2">
            <a:extLst>
              <a:ext uri="{FF2B5EF4-FFF2-40B4-BE49-F238E27FC236}">
                <a16:creationId xmlns:a16="http://schemas.microsoft.com/office/drawing/2014/main" id="{92EB0D35-56E0-4A84-A980-1A080E2566B2}"/>
              </a:ext>
            </a:extLst>
          </p:cNvPr>
          <p:cNvSpPr txBox="1">
            <a:spLocks/>
          </p:cNvSpPr>
          <p:nvPr/>
        </p:nvSpPr>
        <p:spPr>
          <a:xfrm>
            <a:off x="7895338" y="5039074"/>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Results</a:t>
            </a:r>
            <a:endParaRPr lang="en-US" dirty="0"/>
          </a:p>
        </p:txBody>
      </p:sp>
      <p:sp>
        <p:nvSpPr>
          <p:cNvPr id="6" name="Content Placeholder 2">
            <a:extLst>
              <a:ext uri="{FF2B5EF4-FFF2-40B4-BE49-F238E27FC236}">
                <a16:creationId xmlns:a16="http://schemas.microsoft.com/office/drawing/2014/main" id="{B613FC92-501E-40B2-B6FA-6ECA2325CFA2}"/>
              </a:ext>
            </a:extLst>
          </p:cNvPr>
          <p:cNvSpPr txBox="1">
            <a:spLocks/>
          </p:cNvSpPr>
          <p:nvPr/>
        </p:nvSpPr>
        <p:spPr>
          <a:xfrm>
            <a:off x="7895338" y="2763390"/>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Results</a:t>
            </a:r>
            <a:endParaRPr lang="en-US" dirty="0"/>
          </a:p>
        </p:txBody>
      </p:sp>
      <p:sp>
        <p:nvSpPr>
          <p:cNvPr id="7" name="Content Placeholder 2">
            <a:extLst>
              <a:ext uri="{FF2B5EF4-FFF2-40B4-BE49-F238E27FC236}">
                <a16:creationId xmlns:a16="http://schemas.microsoft.com/office/drawing/2014/main" id="{17A3E696-A766-4843-BBFF-91E5A1B598B9}"/>
              </a:ext>
            </a:extLst>
          </p:cNvPr>
          <p:cNvSpPr txBox="1">
            <a:spLocks/>
          </p:cNvSpPr>
          <p:nvPr/>
        </p:nvSpPr>
        <p:spPr>
          <a:xfrm>
            <a:off x="7895338" y="3687210"/>
            <a:ext cx="1440826" cy="3096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altLang="zh-CN" dirty="0"/>
              <a:t>Discussion</a:t>
            </a:r>
            <a:endParaRPr lang="en-US" dirty="0"/>
          </a:p>
          <a:p>
            <a:endParaRPr lang="en-US" dirty="0"/>
          </a:p>
        </p:txBody>
      </p:sp>
      <p:sp>
        <p:nvSpPr>
          <p:cNvPr id="2" name="Slide Number Placeholder 1"/>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72339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0831" y="620713"/>
            <a:ext cx="9763767" cy="1173451"/>
          </a:xfrm>
        </p:spPr>
        <p:txBody>
          <a:bodyPr>
            <a:normAutofit/>
          </a:bodyPr>
          <a:lstStyle/>
          <a:p>
            <a:pPr marL="0" indent="0" algn="just">
              <a:buNone/>
            </a:pPr>
            <a:r>
              <a:rPr lang="en-GB" sz="1900" dirty="0"/>
              <a:t>Although there is greater variability when presenting the results in comparison to the Methodology section, the following guidelines may help secure the communication of sufficient information.</a:t>
            </a:r>
            <a:endParaRPr lang="en-US" sz="1900" dirty="0"/>
          </a:p>
          <a:p>
            <a:pPr marL="0" indent="0">
              <a:buNone/>
            </a:pPr>
            <a:endParaRPr lang="en-GB" dirty="0"/>
          </a:p>
          <a:p>
            <a:pPr marL="0" indent="0">
              <a:buNone/>
            </a:pPr>
            <a:endParaRPr lang="en-US" dirty="0"/>
          </a:p>
        </p:txBody>
      </p:sp>
      <p:sp>
        <p:nvSpPr>
          <p:cNvPr id="6" name="Title 5">
            <a:extLst>
              <a:ext uri="{FF2B5EF4-FFF2-40B4-BE49-F238E27FC236}">
                <a16:creationId xmlns:a16="http://schemas.microsoft.com/office/drawing/2014/main" id="{0C960D5C-EFB9-404D-91BE-CE15E9A4E23B}"/>
              </a:ext>
            </a:extLst>
          </p:cNvPr>
          <p:cNvSpPr>
            <a:spLocks noGrp="1"/>
          </p:cNvSpPr>
          <p:nvPr>
            <p:ph type="title"/>
          </p:nvPr>
        </p:nvSpPr>
        <p:spPr>
          <a:xfrm>
            <a:off x="1392382" y="152400"/>
            <a:ext cx="10453254" cy="696552"/>
          </a:xfrm>
        </p:spPr>
        <p:txBody>
          <a:bodyPr>
            <a:noAutofit/>
          </a:bodyPr>
          <a:lstStyle/>
          <a:p>
            <a:r>
              <a:rPr lang="en-GB" sz="2000" b="1" dirty="0"/>
              <a:t>Guidelines for Writing the Results Section of a Thesis and a Journal Article</a:t>
            </a:r>
          </a:p>
        </p:txBody>
      </p:sp>
      <p:sp>
        <p:nvSpPr>
          <p:cNvPr id="7" name="Rectangle 6">
            <a:extLst>
              <a:ext uri="{FF2B5EF4-FFF2-40B4-BE49-F238E27FC236}">
                <a16:creationId xmlns:a16="http://schemas.microsoft.com/office/drawing/2014/main" id="{3E5D1E20-D400-45F9-A92B-CFCC6A1C680A}"/>
              </a:ext>
            </a:extLst>
          </p:cNvPr>
          <p:cNvSpPr/>
          <p:nvPr/>
        </p:nvSpPr>
        <p:spPr>
          <a:xfrm>
            <a:off x="1572491" y="1669028"/>
            <a:ext cx="10273145" cy="5036572"/>
          </a:xfrm>
          <a:prstGeom prst="rect">
            <a:avLst/>
          </a:prstGeom>
        </p:spPr>
        <p:txBody>
          <a:bodyPr wrap="square">
            <a:spAutoFit/>
          </a:bodyPr>
          <a:lstStyle/>
          <a:p>
            <a:pPr marL="285750" lvl="0" indent="-285750" algn="just">
              <a:lnSpc>
                <a:spcPct val="115000"/>
              </a:lnSpc>
              <a:spcBef>
                <a:spcPts val="1000"/>
              </a:spcBef>
              <a:buClr>
                <a:schemeClr val="accent1"/>
              </a:buClr>
              <a:buFont typeface="Arial" panose="020B0604020202020204" pitchFamily="34" charset="0"/>
              <a:buChar char="•"/>
            </a:pPr>
            <a:r>
              <a:rPr lang="en-HK" dirty="0">
                <a:solidFill>
                  <a:schemeClr val="tx1">
                    <a:lumMod val="75000"/>
                    <a:lumOff val="25000"/>
                  </a:schemeClr>
                </a:solidFill>
              </a:rPr>
              <a:t>Create an appropriate section/chapter title e.g. “Empirical Researching Findings”, “Data Description, Analysis and Synthesis”, “Experimental Results”, if your results are handled in an explicitly separate section or chapter. If you use a thematic approach in presenting your research results, the “themes” may be used as the section/chapter title. Use headings and subheadings to indicate the progression of content within the section/chapter.</a:t>
            </a:r>
            <a:endParaRPr lang="en-GB" dirty="0">
              <a:solidFill>
                <a:schemeClr val="tx1">
                  <a:lumMod val="75000"/>
                  <a:lumOff val="25000"/>
                </a:schemeClr>
              </a:solidFill>
            </a:endParaRPr>
          </a:p>
          <a:p>
            <a:pPr marL="285750" lvl="0" indent="-285750" algn="just">
              <a:lnSpc>
                <a:spcPct val="115000"/>
              </a:lnSpc>
              <a:spcBef>
                <a:spcPts val="1000"/>
              </a:spcBef>
              <a:buClr>
                <a:schemeClr val="accent1"/>
              </a:buClr>
              <a:buFont typeface="Arial" panose="020B0604020202020204" pitchFamily="34" charset="0"/>
              <a:buChar char="•"/>
            </a:pPr>
            <a:r>
              <a:rPr lang="en-HK" dirty="0">
                <a:solidFill>
                  <a:schemeClr val="tx1">
                    <a:lumMod val="75000"/>
                    <a:lumOff val="25000"/>
                  </a:schemeClr>
                </a:solidFill>
              </a:rPr>
              <a:t>Write a brief introduction to your results/discussion chapter including a) the data you set out to collect; b) the framework for your data analysis and c) the context of your (empirical) research.</a:t>
            </a:r>
            <a:endParaRPr lang="en-GB" dirty="0">
              <a:solidFill>
                <a:schemeClr val="tx1">
                  <a:lumMod val="75000"/>
                  <a:lumOff val="25000"/>
                </a:schemeClr>
              </a:solidFill>
            </a:endParaRPr>
          </a:p>
          <a:p>
            <a:pPr marL="285750" lvl="0" indent="-285750" algn="just">
              <a:lnSpc>
                <a:spcPct val="115000"/>
              </a:lnSpc>
              <a:spcBef>
                <a:spcPts val="1000"/>
              </a:spcBef>
              <a:buClr>
                <a:schemeClr val="accent1"/>
              </a:buClr>
              <a:buFont typeface="Arial" panose="020B0604020202020204" pitchFamily="34" charset="0"/>
              <a:buChar char="•"/>
            </a:pPr>
            <a:r>
              <a:rPr lang="en-HK" dirty="0">
                <a:solidFill>
                  <a:schemeClr val="tx1">
                    <a:lumMod val="75000"/>
                    <a:lumOff val="25000"/>
                  </a:schemeClr>
                </a:solidFill>
              </a:rPr>
              <a:t>Present the main findings concisely, objectively and accurately. The past tense is likely to dominate.</a:t>
            </a:r>
            <a:endParaRPr lang="en-GB" dirty="0">
              <a:solidFill>
                <a:schemeClr val="tx1">
                  <a:lumMod val="75000"/>
                  <a:lumOff val="25000"/>
                </a:schemeClr>
              </a:solidFill>
            </a:endParaRPr>
          </a:p>
          <a:p>
            <a:pPr marL="285750" lvl="0" indent="-285750" algn="just">
              <a:lnSpc>
                <a:spcPct val="115000"/>
              </a:lnSpc>
              <a:spcBef>
                <a:spcPts val="1000"/>
              </a:spcBef>
              <a:buClr>
                <a:schemeClr val="accent1"/>
              </a:buClr>
              <a:buFont typeface="Arial" panose="020B0604020202020204" pitchFamily="34" charset="0"/>
              <a:buChar char="•"/>
            </a:pPr>
            <a:r>
              <a:rPr lang="en-HK" dirty="0">
                <a:solidFill>
                  <a:schemeClr val="tx1">
                    <a:lumMod val="75000"/>
                    <a:lumOff val="25000"/>
                  </a:schemeClr>
                </a:solidFill>
              </a:rPr>
              <a:t>Report your results so as to provide as much information as possible about the nature of the differences or relationships.</a:t>
            </a:r>
            <a:endParaRPr lang="en-GB" dirty="0">
              <a:solidFill>
                <a:schemeClr val="tx1">
                  <a:lumMod val="75000"/>
                  <a:lumOff val="25000"/>
                </a:schemeClr>
              </a:solidFill>
            </a:endParaRPr>
          </a:p>
          <a:p>
            <a:pPr marL="285750" lvl="0" indent="-285750" algn="just">
              <a:lnSpc>
                <a:spcPct val="115000"/>
              </a:lnSpc>
              <a:spcBef>
                <a:spcPts val="1000"/>
              </a:spcBef>
              <a:buClr>
                <a:schemeClr val="accent1"/>
              </a:buClr>
              <a:buFont typeface="Arial" panose="020B0604020202020204" pitchFamily="34" charset="0"/>
              <a:buChar char="•"/>
            </a:pPr>
            <a:r>
              <a:rPr lang="en-HK" dirty="0">
                <a:solidFill>
                  <a:schemeClr val="tx1">
                    <a:lumMod val="75000"/>
                    <a:lumOff val="25000"/>
                  </a:schemeClr>
                </a:solidFill>
              </a:rPr>
              <a:t>Conclude with a statement about the implications.</a:t>
            </a:r>
            <a:endParaRPr lang="en-GB" dirty="0">
              <a:solidFill>
                <a:schemeClr val="tx1">
                  <a:lumMod val="75000"/>
                  <a:lumOff val="25000"/>
                </a:schemeClr>
              </a:solidFill>
            </a:endParaRPr>
          </a:p>
        </p:txBody>
      </p:sp>
      <p:sp>
        <p:nvSpPr>
          <p:cNvPr id="2" name="Slide Number Placeholder 1"/>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128760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CCD381-B252-4B03-9753-A85B98F2B51B}"/>
              </a:ext>
            </a:extLst>
          </p:cNvPr>
          <p:cNvSpPr/>
          <p:nvPr/>
        </p:nvSpPr>
        <p:spPr>
          <a:xfrm>
            <a:off x="1535502" y="216666"/>
            <a:ext cx="9903125" cy="709233"/>
          </a:xfrm>
          <a:prstGeom prst="rect">
            <a:avLst/>
          </a:prstGeom>
        </p:spPr>
        <p:txBody>
          <a:bodyPr wrap="square">
            <a:spAutoFit/>
          </a:bodyPr>
          <a:lstStyle/>
          <a:p>
            <a:pPr algn="just">
              <a:lnSpc>
                <a:spcPct val="115000"/>
              </a:lnSpc>
              <a:spcAft>
                <a:spcPts val="1000"/>
              </a:spcAft>
            </a:pPr>
            <a:r>
              <a:rPr lang="en-HK" dirty="0">
                <a:ea typeface="Times New Roman" panose="02020603050405020304" pitchFamily="18" charset="0"/>
              </a:rPr>
              <a:t>There are three main moves when writing about research results. The table below shows the typical elements included in the three moves.</a:t>
            </a:r>
            <a:endParaRPr lang="en-GB" sz="2000" dirty="0">
              <a:effectLst/>
              <a:ea typeface="Times New Roman" panose="02020603050405020304" pitchFamily="18" charset="0"/>
            </a:endParaRPr>
          </a:p>
        </p:txBody>
      </p:sp>
      <p:graphicFrame>
        <p:nvGraphicFramePr>
          <p:cNvPr id="4" name="Table 3">
            <a:extLst>
              <a:ext uri="{FF2B5EF4-FFF2-40B4-BE49-F238E27FC236}">
                <a16:creationId xmlns:a16="http://schemas.microsoft.com/office/drawing/2014/main" id="{6CCE3AA4-5E4A-4D76-B70E-6F7C32D4F6DB}"/>
              </a:ext>
            </a:extLst>
          </p:cNvPr>
          <p:cNvGraphicFramePr>
            <a:graphicFrameLocks noGrp="1"/>
          </p:cNvGraphicFramePr>
          <p:nvPr>
            <p:extLst>
              <p:ext uri="{D42A27DB-BD31-4B8C-83A1-F6EECF244321}">
                <p14:modId xmlns:p14="http://schemas.microsoft.com/office/powerpoint/2010/main" val="1127605225"/>
              </p:ext>
            </p:extLst>
          </p:nvPr>
        </p:nvGraphicFramePr>
        <p:xfrm>
          <a:off x="1647645" y="1083733"/>
          <a:ext cx="10136038" cy="5616709"/>
        </p:xfrm>
        <a:graphic>
          <a:graphicData uri="http://schemas.openxmlformats.org/drawingml/2006/table">
            <a:tbl>
              <a:tblPr firstRow="1" firstCol="1" bandRow="1">
                <a:tableStyleId>{5C22544A-7EE6-4342-B048-85BDC9FD1C3A}</a:tableStyleId>
              </a:tblPr>
              <a:tblGrid>
                <a:gridCol w="3004388">
                  <a:extLst>
                    <a:ext uri="{9D8B030D-6E8A-4147-A177-3AD203B41FA5}">
                      <a16:colId xmlns:a16="http://schemas.microsoft.com/office/drawing/2014/main" val="2560462640"/>
                    </a:ext>
                  </a:extLst>
                </a:gridCol>
                <a:gridCol w="7131650">
                  <a:extLst>
                    <a:ext uri="{9D8B030D-6E8A-4147-A177-3AD203B41FA5}">
                      <a16:colId xmlns:a16="http://schemas.microsoft.com/office/drawing/2014/main" val="4260590079"/>
                    </a:ext>
                  </a:extLst>
                </a:gridCol>
              </a:tblGrid>
              <a:tr h="297031">
                <a:tc>
                  <a:txBody>
                    <a:bodyPr/>
                    <a:lstStyle/>
                    <a:p>
                      <a:pPr algn="just">
                        <a:lnSpc>
                          <a:spcPct val="115000"/>
                        </a:lnSpc>
                        <a:spcAft>
                          <a:spcPts val="1000"/>
                        </a:spcAft>
                      </a:pPr>
                      <a:r>
                        <a:rPr lang="en-US" sz="1800">
                          <a:solidFill>
                            <a:schemeClr val="tx1"/>
                          </a:solidFill>
                          <a:effectLst/>
                        </a:rPr>
                        <a:t>Move</a:t>
                      </a:r>
                      <a:endParaRPr lang="en-GB"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dirty="0">
                          <a:solidFill>
                            <a:schemeClr val="tx1"/>
                          </a:solidFill>
                          <a:effectLst/>
                        </a:rPr>
                        <a:t>Purpose</a:t>
                      </a:r>
                      <a:endParaRPr lang="en-GB"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032331"/>
                  </a:ext>
                </a:extLst>
              </a:tr>
              <a:tr h="1181281">
                <a:tc>
                  <a:txBody>
                    <a:bodyPr/>
                    <a:lstStyle/>
                    <a:p>
                      <a:pPr marL="342900" lvl="0" indent="-342900" algn="just">
                        <a:lnSpc>
                          <a:spcPct val="115000"/>
                        </a:lnSpc>
                        <a:spcAft>
                          <a:spcPts val="1000"/>
                        </a:spcAft>
                        <a:buFont typeface="+mj-lt"/>
                        <a:buAutoNum type="arabicPeriod"/>
                      </a:pPr>
                      <a:r>
                        <a:rPr lang="en-US" sz="1800" dirty="0">
                          <a:solidFill>
                            <a:schemeClr val="tx1"/>
                          </a:solidFill>
                          <a:effectLst/>
                        </a:rPr>
                        <a:t>Presenting metatextual information</a:t>
                      </a:r>
                      <a:endParaRPr lang="en-GB" sz="1800" dirty="0">
                        <a:solidFill>
                          <a:schemeClr val="tx1"/>
                        </a:solidFill>
                        <a:effectLst/>
                        <a:latin typeface="Calibri" panose="020F0502020204030204" pitchFamily="34" charset="0"/>
                        <a:ea typeface="PMingLiU" panose="02020500000000000000" pitchFamily="18" charset="-12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dirty="0">
                          <a:solidFill>
                            <a:schemeClr val="tx1"/>
                          </a:solidFill>
                          <a:effectLst/>
                        </a:rPr>
                        <a:t>Presents preparatory information by: previewing, linking, providing background information, referring back to methodology, pointing to location of tables, figures and graphs</a:t>
                      </a:r>
                      <a:endParaRPr lang="en-GB"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1342870"/>
                  </a:ext>
                </a:extLst>
              </a:tr>
              <a:tr h="1774218">
                <a:tc>
                  <a:txBody>
                    <a:bodyPr/>
                    <a:lstStyle/>
                    <a:p>
                      <a:pPr marL="0" lvl="0" indent="0" algn="just">
                        <a:lnSpc>
                          <a:spcPct val="115000"/>
                        </a:lnSpc>
                        <a:spcAft>
                          <a:spcPts val="1000"/>
                        </a:spcAft>
                        <a:buFont typeface="+mj-lt"/>
                        <a:buNone/>
                      </a:pPr>
                      <a:r>
                        <a:rPr lang="en-US" sz="1800" dirty="0">
                          <a:solidFill>
                            <a:schemeClr val="tx1"/>
                          </a:solidFill>
                          <a:effectLst/>
                        </a:rPr>
                        <a:t>2.  Presenting results</a:t>
                      </a:r>
                      <a:endParaRPr lang="en-GB" sz="1800" dirty="0">
                        <a:solidFill>
                          <a:schemeClr val="tx1"/>
                        </a:solidFill>
                        <a:effectLst/>
                        <a:latin typeface="Calibri" panose="020F0502020204030204" pitchFamily="34" charset="0"/>
                        <a:ea typeface="PMingLiU" panose="02020500000000000000" pitchFamily="18" charset="-12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dirty="0">
                          <a:solidFill>
                            <a:schemeClr val="tx1"/>
                          </a:solidFill>
                          <a:effectLst/>
                        </a:rPr>
                        <a:t>Presents results (findings); presents procedures; restates hypotheses or research questions; states what the data are and highlights data for reader’s attention; provides evidence e.g. statistics, examples, frequently presents information visually (e.g. graphs, tables, figures, photographs).</a:t>
                      </a:r>
                      <a:endParaRPr lang="en-GB"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2096970"/>
                  </a:ext>
                </a:extLst>
              </a:tr>
              <a:tr h="2210207">
                <a:tc>
                  <a:txBody>
                    <a:bodyPr/>
                    <a:lstStyle/>
                    <a:p>
                      <a:pPr marL="0" lvl="0" indent="0" algn="just">
                        <a:lnSpc>
                          <a:spcPct val="115000"/>
                        </a:lnSpc>
                        <a:spcAft>
                          <a:spcPts val="1000"/>
                        </a:spcAft>
                        <a:buFont typeface="+mj-lt"/>
                        <a:buNone/>
                      </a:pPr>
                      <a:r>
                        <a:rPr lang="en-US" sz="1800" dirty="0">
                          <a:solidFill>
                            <a:schemeClr val="tx1"/>
                          </a:solidFill>
                          <a:effectLst/>
                        </a:rPr>
                        <a:t>3. Commenting on results</a:t>
                      </a:r>
                      <a:endParaRPr lang="en-GB" sz="1800" dirty="0">
                        <a:solidFill>
                          <a:schemeClr val="tx1"/>
                        </a:solidFill>
                        <a:effectLst/>
                        <a:latin typeface="Calibri" panose="020F0502020204030204" pitchFamily="34" charset="0"/>
                        <a:ea typeface="PMingLiU" panose="02020500000000000000" pitchFamily="18" charset="-12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15000"/>
                        </a:lnSpc>
                        <a:spcAft>
                          <a:spcPts val="1000"/>
                        </a:spcAft>
                      </a:pPr>
                      <a:r>
                        <a:rPr lang="en-US" sz="1800" dirty="0">
                          <a:solidFill>
                            <a:schemeClr val="tx1"/>
                          </a:solidFill>
                          <a:effectLst/>
                        </a:rPr>
                        <a:t>Begins to interpret results and make claims; looks for meaning and significance; may point to contribution to field; makes comparison with previous studies (often for justification of method or procedure); may comment on strength, limitations or generalizability of results.  </a:t>
                      </a:r>
                      <a:endParaRPr lang="en-GB" sz="1800" dirty="0">
                        <a:solidFill>
                          <a:schemeClr val="tx1"/>
                        </a:solidFill>
                        <a:effectLst/>
                      </a:endParaRPr>
                    </a:p>
                    <a:p>
                      <a:pPr algn="just">
                        <a:lnSpc>
                          <a:spcPct val="115000"/>
                        </a:lnSpc>
                        <a:spcAft>
                          <a:spcPts val="1000"/>
                        </a:spcAft>
                      </a:pPr>
                      <a:r>
                        <a:rPr lang="en-US" sz="1800" b="1" dirty="0">
                          <a:solidFill>
                            <a:schemeClr val="tx1"/>
                          </a:solidFill>
                          <a:effectLst/>
                        </a:rPr>
                        <a:t>Note: </a:t>
                      </a:r>
                      <a:r>
                        <a:rPr lang="en-US" sz="1800" dirty="0">
                          <a:solidFill>
                            <a:schemeClr val="tx1"/>
                          </a:solidFill>
                          <a:effectLst/>
                        </a:rPr>
                        <a:t>The commentary may be made in a separate ‘Discussion’ section.</a:t>
                      </a:r>
                      <a:endParaRPr lang="en-GB"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446" marR="594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8025604"/>
                  </a:ext>
                </a:extLst>
              </a:tr>
            </a:tbl>
          </a:graphicData>
        </a:graphic>
      </p:graphicFrame>
      <p:sp>
        <p:nvSpPr>
          <p:cNvPr id="2" name="Slide Number Placeholder 1"/>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684391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1905" y="603850"/>
            <a:ext cx="8911687" cy="813992"/>
          </a:xfrm>
        </p:spPr>
        <p:txBody>
          <a:bodyPr/>
          <a:lstStyle/>
          <a:p>
            <a:r>
              <a:rPr lang="en-US" dirty="0"/>
              <a:t>Task 5</a:t>
            </a:r>
          </a:p>
        </p:txBody>
      </p:sp>
      <p:sp>
        <p:nvSpPr>
          <p:cNvPr id="3" name="Content Placeholder 2"/>
          <p:cNvSpPr>
            <a:spLocks noGrp="1"/>
          </p:cNvSpPr>
          <p:nvPr>
            <p:ph idx="1"/>
          </p:nvPr>
        </p:nvSpPr>
        <p:spPr>
          <a:xfrm>
            <a:off x="1771905" y="1717672"/>
            <a:ext cx="9827696" cy="4009360"/>
          </a:xfrm>
        </p:spPr>
        <p:txBody>
          <a:bodyPr>
            <a:normAutofit fontScale="77500" lnSpcReduction="20000"/>
          </a:bodyPr>
          <a:lstStyle/>
          <a:p>
            <a:pPr marL="0" indent="0" algn="just">
              <a:lnSpc>
                <a:spcPct val="160000"/>
              </a:lnSpc>
              <a:buNone/>
            </a:pPr>
            <a:r>
              <a:rPr lang="en-GB" sz="2900" dirty="0"/>
              <a:t>Read the following extracts of the “Results” section. The first extract presents </a:t>
            </a:r>
            <a:r>
              <a:rPr lang="en-GB" sz="2900" b="1" dirty="0"/>
              <a:t>quantitative data </a:t>
            </a:r>
            <a:r>
              <a:rPr lang="en-GB" sz="2900" dirty="0"/>
              <a:t>while the second extract presents </a:t>
            </a:r>
            <a:r>
              <a:rPr lang="en-GB" sz="2900" b="1" dirty="0"/>
              <a:t>qualitative data</a:t>
            </a:r>
            <a:r>
              <a:rPr lang="en-GB" sz="2900" dirty="0"/>
              <a:t>. Discuss with a partner:</a:t>
            </a:r>
          </a:p>
          <a:p>
            <a:pPr marL="457200" indent="-457200" algn="just">
              <a:lnSpc>
                <a:spcPct val="160000"/>
              </a:lnSpc>
              <a:buAutoNum type="arabicPeriod"/>
            </a:pPr>
            <a:r>
              <a:rPr lang="en-GB" sz="2900" dirty="0"/>
              <a:t>How do the two extracts below differ in their approach to presenting quantitative and qualitative results?</a:t>
            </a:r>
          </a:p>
          <a:p>
            <a:pPr marL="457200" indent="-457200" algn="just">
              <a:lnSpc>
                <a:spcPct val="160000"/>
              </a:lnSpc>
              <a:buAutoNum type="arabicPeriod"/>
            </a:pPr>
            <a:r>
              <a:rPr lang="en-GB" sz="2900" dirty="0"/>
              <a:t>What language features are used to present quantitative and qualitative data in the two extracts?</a:t>
            </a:r>
          </a:p>
          <a:p>
            <a:pPr marL="0" indent="0">
              <a:buNone/>
            </a:pP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2302673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E064CB-594C-46EC-886F-3BF79D2F18DA}"/>
              </a:ext>
            </a:extLst>
          </p:cNvPr>
          <p:cNvSpPr/>
          <p:nvPr/>
        </p:nvSpPr>
        <p:spPr>
          <a:xfrm>
            <a:off x="1699206" y="296796"/>
            <a:ext cx="9960982" cy="6623736"/>
          </a:xfrm>
          <a:prstGeom prst="rect">
            <a:avLst/>
          </a:prstGeom>
        </p:spPr>
        <p:txBody>
          <a:bodyPr wrap="square">
            <a:spAutoFit/>
          </a:bodyPr>
          <a:lstStyle/>
          <a:p>
            <a:pPr algn="just">
              <a:lnSpc>
                <a:spcPct val="115000"/>
              </a:lnSpc>
              <a:spcAft>
                <a:spcPts val="1000"/>
              </a:spcAft>
            </a:pPr>
            <a:r>
              <a:rPr lang="en-HK" sz="2000" b="1" dirty="0">
                <a:solidFill>
                  <a:srgbClr val="000000"/>
                </a:solidFill>
                <a:ea typeface="Times New Roman" panose="02020603050405020304" pitchFamily="18" charset="0"/>
              </a:rPr>
              <a:t>Extract 1</a:t>
            </a:r>
            <a:endParaRPr lang="en-GB" sz="2000" b="1" dirty="0">
              <a:ea typeface="Times New Roman" panose="02020603050405020304" pitchFamily="18" charset="0"/>
            </a:endParaRPr>
          </a:p>
          <a:p>
            <a:pPr algn="just">
              <a:lnSpc>
                <a:spcPct val="115000"/>
              </a:lnSpc>
              <a:spcAft>
                <a:spcPts val="1000"/>
              </a:spcAft>
            </a:pPr>
            <a:r>
              <a:rPr lang="en-HK" sz="1600" dirty="0">
                <a:solidFill>
                  <a:srgbClr val="000000"/>
                </a:solidFill>
                <a:ea typeface="Times New Roman" panose="02020603050405020304" pitchFamily="18" charset="0"/>
              </a:rPr>
              <a:t>The results of the bivariate analysis (see Table 2) </a:t>
            </a:r>
            <a:r>
              <a:rPr lang="en-HK" sz="1600" b="1" dirty="0">
                <a:solidFill>
                  <a:srgbClr val="000000"/>
                </a:solidFill>
                <a:ea typeface="Times New Roman" panose="02020603050405020304" pitchFamily="18" charset="0"/>
              </a:rPr>
              <a:t>indicated significant </a:t>
            </a:r>
            <a:r>
              <a:rPr lang="en-HK" sz="1600" dirty="0">
                <a:solidFill>
                  <a:srgbClr val="000000"/>
                </a:solidFill>
                <a:ea typeface="Times New Roman" panose="02020603050405020304" pitchFamily="18" charset="0"/>
              </a:rPr>
              <a:t>associations between digital media exposure, parasocial relationships, collectivism, general political trust, and COVID-19 political trust (r ranged from 0.28 to 0.68, p &lt; .001). To establish the reliability and validity of the study measures, Confirmatory factor analysis (CFA) was used to assess the measurement model and factor loadings of the scale items, and the values of the loadings of the measurement items </a:t>
            </a:r>
            <a:r>
              <a:rPr lang="en-HK" sz="1600" b="1" dirty="0">
                <a:solidFill>
                  <a:srgbClr val="000000"/>
                </a:solidFill>
                <a:ea typeface="Times New Roman" panose="02020603050405020304" pitchFamily="18" charset="0"/>
              </a:rPr>
              <a:t>were greater than</a:t>
            </a:r>
            <a:r>
              <a:rPr lang="en-HK" sz="1600" dirty="0">
                <a:solidFill>
                  <a:srgbClr val="000000"/>
                </a:solidFill>
                <a:ea typeface="Times New Roman" panose="02020603050405020304" pitchFamily="18" charset="0"/>
              </a:rPr>
              <a:t> the recommended value of 0.50 (see Table 3). We correlated error terms of the same latent variables. The measurement model’s fit was good with the model fit indices locate within an acceptable range:χ2/</a:t>
            </a:r>
            <a:r>
              <a:rPr lang="en-HK" sz="1600" dirty="0" err="1">
                <a:solidFill>
                  <a:srgbClr val="000000"/>
                </a:solidFill>
                <a:ea typeface="Times New Roman" panose="02020603050405020304" pitchFamily="18" charset="0"/>
              </a:rPr>
              <a:t>df</a:t>
            </a:r>
            <a:r>
              <a:rPr lang="en-HK" sz="1600" dirty="0">
                <a:solidFill>
                  <a:srgbClr val="000000"/>
                </a:solidFill>
                <a:ea typeface="Times New Roman" panose="02020603050405020304" pitchFamily="18" charset="0"/>
              </a:rPr>
              <a:t> = 60.6, p &lt; .001, CFI = 0.942, RMSEA = 0.057, SRMR = 0.039, and TLI = 0.920). The </a:t>
            </a:r>
            <a:r>
              <a:rPr lang="en-HK" sz="1600" b="1" dirty="0">
                <a:solidFill>
                  <a:srgbClr val="000000"/>
                </a:solidFill>
                <a:ea typeface="Times New Roman" panose="02020603050405020304" pitchFamily="18" charset="0"/>
              </a:rPr>
              <a:t>value of the average variance </a:t>
            </a:r>
            <a:r>
              <a:rPr lang="en-HK" sz="1600" dirty="0">
                <a:solidFill>
                  <a:srgbClr val="000000"/>
                </a:solidFill>
                <a:ea typeface="Times New Roman" panose="02020603050405020304" pitchFamily="18" charset="0"/>
              </a:rPr>
              <a:t>extracted (AVE) for the study constructs (ranging from 0.51 to 0.63) exceeded the threshold value of 0.50, which </a:t>
            </a:r>
            <a:r>
              <a:rPr lang="en-HK" sz="1600" b="1" dirty="0">
                <a:solidFill>
                  <a:srgbClr val="000000"/>
                </a:solidFill>
                <a:ea typeface="Times New Roman" panose="02020603050405020304" pitchFamily="18" charset="0"/>
              </a:rPr>
              <a:t>suggested </a:t>
            </a:r>
            <a:r>
              <a:rPr lang="en-HK" sz="1600" dirty="0">
                <a:solidFill>
                  <a:srgbClr val="000000"/>
                </a:solidFill>
                <a:ea typeface="Times New Roman" panose="02020603050405020304" pitchFamily="18" charset="0"/>
              </a:rPr>
              <a:t>that the study measures </a:t>
            </a:r>
            <a:r>
              <a:rPr lang="en-HK" sz="1600" b="1" dirty="0">
                <a:solidFill>
                  <a:srgbClr val="000000"/>
                </a:solidFill>
                <a:ea typeface="Times New Roman" panose="02020603050405020304" pitchFamily="18" charset="0"/>
              </a:rPr>
              <a:t>had sufficient convergent validity</a:t>
            </a:r>
            <a:r>
              <a:rPr lang="en-HK" sz="1600" dirty="0">
                <a:solidFill>
                  <a:srgbClr val="000000"/>
                </a:solidFill>
                <a:ea typeface="Times New Roman" panose="02020603050405020304" pitchFamily="18" charset="0"/>
              </a:rPr>
              <a:t> (Ab Hamid, Sami, &amp; Sidek, 2017). The composite reliability (CR) value of the study constructs (ranging from 0.88 to 0.92) also </a:t>
            </a:r>
            <a:r>
              <a:rPr lang="en-HK" sz="1600" b="1" dirty="0">
                <a:solidFill>
                  <a:srgbClr val="000000"/>
                </a:solidFill>
                <a:ea typeface="Times New Roman" panose="02020603050405020304" pitchFamily="18" charset="0"/>
              </a:rPr>
              <a:t>exceeded the recommended value </a:t>
            </a:r>
            <a:r>
              <a:rPr lang="en-HK" sz="1600" dirty="0">
                <a:solidFill>
                  <a:srgbClr val="000000"/>
                </a:solidFill>
                <a:ea typeface="Times New Roman" panose="02020603050405020304" pitchFamily="18" charset="0"/>
              </a:rPr>
              <a:t>of 0.70 (Kline, 2016). Besides, the research constructs possessed </a:t>
            </a:r>
            <a:r>
              <a:rPr lang="en-HK" sz="1600" b="1" dirty="0">
                <a:solidFill>
                  <a:srgbClr val="000000"/>
                </a:solidFill>
                <a:ea typeface="Times New Roman" panose="02020603050405020304" pitchFamily="18" charset="0"/>
              </a:rPr>
              <a:t>sufficient discriminant validity </a:t>
            </a:r>
            <a:r>
              <a:rPr lang="en-HK" sz="1600" dirty="0">
                <a:solidFill>
                  <a:srgbClr val="000000"/>
                </a:solidFill>
                <a:ea typeface="Times New Roman" panose="02020603050405020304" pitchFamily="18" charset="0"/>
              </a:rPr>
              <a:t>with the Pearson correlation between each pair of constructs being </a:t>
            </a:r>
            <a:r>
              <a:rPr lang="en-HK" sz="1600" b="1" dirty="0">
                <a:solidFill>
                  <a:srgbClr val="000000"/>
                </a:solidFill>
                <a:ea typeface="Times New Roman" panose="02020603050405020304" pitchFamily="18" charset="0"/>
              </a:rPr>
              <a:t>smaller than </a:t>
            </a:r>
            <a:r>
              <a:rPr lang="en-HK" sz="1600" dirty="0">
                <a:solidFill>
                  <a:srgbClr val="000000"/>
                </a:solidFill>
                <a:ea typeface="Times New Roman" panose="02020603050405020304" pitchFamily="18" charset="0"/>
              </a:rPr>
              <a:t>the square root of the AVE estimates (see Table 4). </a:t>
            </a:r>
            <a:r>
              <a:rPr lang="en-HK" sz="1600" dirty="0" err="1">
                <a:solidFill>
                  <a:srgbClr val="000000"/>
                </a:solidFill>
                <a:ea typeface="Times New Roman" panose="02020603050405020304" pitchFamily="18" charset="0"/>
              </a:rPr>
              <a:t>Heterotrait-monotrait</a:t>
            </a:r>
            <a:r>
              <a:rPr lang="en-HK" sz="1600" dirty="0">
                <a:solidFill>
                  <a:srgbClr val="000000"/>
                </a:solidFill>
                <a:ea typeface="Times New Roman" panose="02020603050405020304" pitchFamily="18" charset="0"/>
              </a:rPr>
              <a:t> (HTMT) analysis was also conducted to </a:t>
            </a:r>
            <a:r>
              <a:rPr lang="en-HK" sz="1600" b="1" dirty="0">
                <a:solidFill>
                  <a:srgbClr val="000000"/>
                </a:solidFill>
                <a:ea typeface="Times New Roman" panose="02020603050405020304" pitchFamily="18" charset="0"/>
              </a:rPr>
              <a:t>assess discriminant validity</a:t>
            </a:r>
            <a:r>
              <a:rPr lang="en-HK" sz="1600" dirty="0">
                <a:solidFill>
                  <a:srgbClr val="000000"/>
                </a:solidFill>
                <a:ea typeface="Times New Roman" panose="02020603050405020304" pitchFamily="18" charset="0"/>
              </a:rPr>
              <a:t>. The results in Table 5 further </a:t>
            </a:r>
            <a:r>
              <a:rPr lang="en-HK" sz="1600" b="1" dirty="0">
                <a:solidFill>
                  <a:srgbClr val="000000"/>
                </a:solidFill>
                <a:ea typeface="Times New Roman" panose="02020603050405020304" pitchFamily="18" charset="0"/>
              </a:rPr>
              <a:t>confirmed that the discriminant validity </a:t>
            </a:r>
            <a:r>
              <a:rPr lang="en-HK" sz="1600" dirty="0">
                <a:solidFill>
                  <a:srgbClr val="000000"/>
                </a:solidFill>
                <a:ea typeface="Times New Roman" panose="02020603050405020304" pitchFamily="18" charset="0"/>
              </a:rPr>
              <a:t>of the study constructs was good because the HTMT values were below 0.90 (Gold, Malhotra, &amp; Segars, 2001).</a:t>
            </a:r>
          </a:p>
          <a:p>
            <a:pPr algn="just">
              <a:lnSpc>
                <a:spcPct val="115000"/>
              </a:lnSpc>
              <a:spcAft>
                <a:spcPts val="1000"/>
              </a:spcAft>
            </a:pPr>
            <a:r>
              <a:rPr lang="en-HK" sz="1600" dirty="0">
                <a:solidFill>
                  <a:srgbClr val="000000"/>
                </a:solidFill>
                <a:ea typeface="Times New Roman" panose="02020603050405020304" pitchFamily="18" charset="0"/>
              </a:rPr>
              <a:t>Liu, P. L. (2023). Parasocial relationship in the context of the COVID-19 pandemic: A moderated mediation model of digital media exposure on political trust among Chinese young people. Computers in Human Behaviour, 141, 107639. https://doi.org/10.1016/j.chb.2022.107639 </a:t>
            </a:r>
          </a:p>
        </p:txBody>
      </p:sp>
      <p:sp>
        <p:nvSpPr>
          <p:cNvPr id="3" name="Slide Number Placeholder 2"/>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2472275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5085D2-1B45-40BC-8667-EF7631BCE922}"/>
              </a:ext>
            </a:extLst>
          </p:cNvPr>
          <p:cNvSpPr/>
          <p:nvPr/>
        </p:nvSpPr>
        <p:spPr>
          <a:xfrm>
            <a:off x="1547004" y="382541"/>
            <a:ext cx="9848491" cy="5774273"/>
          </a:xfrm>
          <a:prstGeom prst="rect">
            <a:avLst/>
          </a:prstGeom>
        </p:spPr>
        <p:txBody>
          <a:bodyPr wrap="square">
            <a:spAutoFit/>
          </a:bodyPr>
          <a:lstStyle/>
          <a:p>
            <a:pPr algn="just">
              <a:lnSpc>
                <a:spcPct val="115000"/>
              </a:lnSpc>
              <a:spcAft>
                <a:spcPts val="1000"/>
              </a:spcAft>
            </a:pPr>
            <a:r>
              <a:rPr lang="en-HK" sz="2000" b="1" dirty="0">
                <a:solidFill>
                  <a:srgbClr val="000000"/>
                </a:solidFill>
                <a:ea typeface="Times New Roman" panose="02020603050405020304" pitchFamily="18" charset="0"/>
              </a:rPr>
              <a:t>Extract 2</a:t>
            </a:r>
          </a:p>
          <a:p>
            <a:pPr algn="just">
              <a:lnSpc>
                <a:spcPct val="115000"/>
              </a:lnSpc>
              <a:spcAft>
                <a:spcPts val="1000"/>
              </a:spcAft>
            </a:pPr>
            <a:r>
              <a:rPr lang="en-HK" sz="1600" b="1" dirty="0">
                <a:solidFill>
                  <a:srgbClr val="000000"/>
                </a:solidFill>
                <a:ea typeface="Times New Roman" panose="02020603050405020304" pitchFamily="18" charset="0"/>
              </a:rPr>
              <a:t>Migrant men doing desire in between native home and destination community</a:t>
            </a:r>
          </a:p>
          <a:p>
            <a:pPr algn="just">
              <a:lnSpc>
                <a:spcPct val="115000"/>
              </a:lnSpc>
              <a:spcAft>
                <a:spcPts val="1000"/>
              </a:spcAft>
            </a:pPr>
            <a:r>
              <a:rPr lang="en-HK" sz="1600" dirty="0">
                <a:solidFill>
                  <a:srgbClr val="000000"/>
                </a:solidFill>
                <a:ea typeface="Times New Roman" panose="02020603050405020304" pitchFamily="18" charset="0"/>
              </a:rPr>
              <a:t>For the young and single migrant men we interviewed, leaving home and migrating to cities meant much more than merely finding employment. </a:t>
            </a:r>
            <a:r>
              <a:rPr lang="en-HK" sz="1600" b="1" dirty="0">
                <a:solidFill>
                  <a:srgbClr val="000000"/>
                </a:solidFill>
                <a:ea typeface="Times New Roman" panose="02020603050405020304" pitchFamily="18" charset="0"/>
              </a:rPr>
              <a:t>They saw </a:t>
            </a:r>
            <a:r>
              <a:rPr lang="en-HK" sz="1600" dirty="0">
                <a:solidFill>
                  <a:srgbClr val="000000"/>
                </a:solidFill>
                <a:ea typeface="Times New Roman" panose="02020603050405020304" pitchFamily="18" charset="0"/>
              </a:rPr>
              <a:t>migration as a journey and an opportunity to open the doors to affluent urban life; and its increasingly Westernised values of love, romance, and sex (Ma and Cheng 2005). </a:t>
            </a:r>
            <a:r>
              <a:rPr lang="en-HK" sz="1600" b="1" dirty="0">
                <a:solidFill>
                  <a:srgbClr val="000000"/>
                </a:solidFill>
                <a:ea typeface="Times New Roman" panose="02020603050405020304" pitchFamily="18" charset="0"/>
              </a:rPr>
              <a:t>It also meant </a:t>
            </a:r>
            <a:r>
              <a:rPr lang="en-HK" sz="1600" dirty="0">
                <a:solidFill>
                  <a:srgbClr val="000000"/>
                </a:solidFill>
                <a:ea typeface="Times New Roman" panose="02020603050405020304" pitchFamily="18" charset="0"/>
              </a:rPr>
              <a:t>new-found freedom and the opportunity to pursue individual intimate desires in a manly and appropriate urban manner. </a:t>
            </a:r>
            <a:r>
              <a:rPr lang="en-HK" sz="1600" b="1" dirty="0">
                <a:solidFill>
                  <a:srgbClr val="000000"/>
                </a:solidFill>
                <a:ea typeface="Times New Roman" panose="02020603050405020304" pitchFamily="18" charset="0"/>
              </a:rPr>
              <a:t>For these migrant men, migration entailed being away from home and escaping parental scrutiny, as well as gaining control in their choice of intimate partners.</a:t>
            </a:r>
            <a:r>
              <a:rPr lang="en-HK" sz="1600" dirty="0">
                <a:solidFill>
                  <a:srgbClr val="000000"/>
                </a:solidFill>
                <a:ea typeface="Times New Roman" panose="02020603050405020304" pitchFamily="18" charset="0"/>
              </a:rPr>
              <a:t> The factories in which they worked provided abundant opportunities for them to meet intimate partners of the same age. The wide range of entertainment and leisure venues in urban areas gave them space for dating. </a:t>
            </a:r>
            <a:r>
              <a:rPr lang="en-HK" sz="1600" b="1" dirty="0">
                <a:solidFill>
                  <a:srgbClr val="000000"/>
                </a:solidFill>
                <a:ea typeface="Times New Roman" panose="02020603050405020304" pitchFamily="18" charset="0"/>
              </a:rPr>
              <a:t>However</a:t>
            </a:r>
            <a:r>
              <a:rPr lang="en-HK" sz="1600" dirty="0">
                <a:solidFill>
                  <a:srgbClr val="000000"/>
                </a:solidFill>
                <a:ea typeface="Times New Roman" panose="02020603050405020304" pitchFamily="18" charset="0"/>
              </a:rPr>
              <a:t>, dating was a gendered activity to meet the urban normative ideal of manhood, young migrant men were expected to take an active role and foot the bill in the dating process. They were forced to compete with rich urban men who often enjoyed a higher social status and more financial resources. </a:t>
            </a:r>
            <a:r>
              <a:rPr lang="en-HK" sz="1600" b="1" dirty="0">
                <a:solidFill>
                  <a:srgbClr val="000000"/>
                </a:solidFill>
                <a:ea typeface="Times New Roman" panose="02020603050405020304" pitchFamily="18" charset="0"/>
              </a:rPr>
              <a:t>The close association between </a:t>
            </a:r>
            <a:r>
              <a:rPr lang="en-HK" sz="1600" dirty="0">
                <a:solidFill>
                  <a:srgbClr val="000000"/>
                </a:solidFill>
                <a:ea typeface="Times New Roman" panose="02020603050405020304" pitchFamily="18" charset="0"/>
              </a:rPr>
              <a:t>dating, consumption, and economic power in urban areas forced young migrant men, who were often economically insecure, to confront their class disadvantages as compared with local men. Mak, a 30-year-old migrant security guard, argued that he ‘lost’ his girlfriend to a rich urban man </a:t>
            </a:r>
            <a:r>
              <a:rPr lang="en-HK" sz="1600" b="1" dirty="0">
                <a:solidFill>
                  <a:srgbClr val="000000"/>
                </a:solidFill>
                <a:ea typeface="Times New Roman" panose="02020603050405020304" pitchFamily="18" charset="0"/>
              </a:rPr>
              <a:t>because of </a:t>
            </a:r>
            <a:r>
              <a:rPr lang="en-HK" sz="1600" dirty="0">
                <a:solidFill>
                  <a:srgbClr val="000000"/>
                </a:solidFill>
                <a:ea typeface="Times New Roman" panose="02020603050405020304" pitchFamily="18" charset="0"/>
              </a:rPr>
              <a:t>his disadvantaged socio-economic status:</a:t>
            </a:r>
          </a:p>
        </p:txBody>
      </p:sp>
      <p:sp>
        <p:nvSpPr>
          <p:cNvPr id="3" name="Slide Number Placeholder 2"/>
          <p:cNvSpPr>
            <a:spLocks noGrp="1"/>
          </p:cNvSpPr>
          <p:nvPr>
            <p:ph type="sldNum" sz="quarter" idx="12"/>
          </p:nvPr>
        </p:nvSpPr>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3865877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FDC43-5743-8145-9AF8-7F04CDC5D868}"/>
              </a:ext>
            </a:extLst>
          </p:cNvPr>
          <p:cNvSpPr>
            <a:spLocks noGrp="1"/>
          </p:cNvSpPr>
          <p:nvPr>
            <p:ph idx="1"/>
          </p:nvPr>
        </p:nvSpPr>
        <p:spPr>
          <a:xfrm>
            <a:off x="1899401" y="609599"/>
            <a:ext cx="9586746" cy="5678905"/>
          </a:xfrm>
        </p:spPr>
        <p:txBody>
          <a:bodyPr>
            <a:normAutofit/>
          </a:bodyPr>
          <a:lstStyle/>
          <a:p>
            <a:pPr marL="400050" lvl="1" indent="0" algn="just">
              <a:lnSpc>
                <a:spcPct val="115000"/>
              </a:lnSpc>
              <a:spcAft>
                <a:spcPts val="1000"/>
              </a:spcAft>
              <a:buNone/>
            </a:pPr>
            <a:r>
              <a:rPr lang="en-HK" i="1" dirty="0">
                <a:solidFill>
                  <a:srgbClr val="000000"/>
                </a:solidFill>
                <a:ea typeface="Times New Roman" panose="02020603050405020304" pitchFamily="18" charset="0"/>
              </a:rPr>
              <a:t>Girls like you when you have money and they dump you when you don’t have money ... I used to have a girlfriend who swore that she was determined to marry me. She insisted that if we had children she would keep it ... but when she got a job selling beer in a glamorous night club, she met rich men who visited her every night and she changed her heart ... she aborted our baby without informing me ... I have no job prospect, I have no money. Rich men like her ... at the end she went with a Hong Kong man.</a:t>
            </a:r>
          </a:p>
          <a:p>
            <a:pPr marL="0" indent="0" algn="just">
              <a:lnSpc>
                <a:spcPct val="115000"/>
              </a:lnSpc>
              <a:spcAft>
                <a:spcPts val="1000"/>
              </a:spcAft>
              <a:buNone/>
            </a:pPr>
            <a:r>
              <a:rPr lang="en-HK" dirty="0">
                <a:solidFill>
                  <a:srgbClr val="000000"/>
                </a:solidFill>
                <a:ea typeface="Times New Roman" panose="02020603050405020304" pitchFamily="18" charset="0"/>
              </a:rPr>
              <a:t>Young migrant men broke up with their girlfriends when they realised that they could not afford to entertain and support the consumption practices of their female partners. Alternatively, their relationships were terminated </a:t>
            </a:r>
            <a:r>
              <a:rPr lang="en-HK" b="1" dirty="0">
                <a:solidFill>
                  <a:srgbClr val="000000"/>
                </a:solidFill>
                <a:ea typeface="Times New Roman" panose="02020603050405020304" pitchFamily="18" charset="0"/>
              </a:rPr>
              <a:t>because</a:t>
            </a:r>
            <a:r>
              <a:rPr lang="en-HK" dirty="0">
                <a:solidFill>
                  <a:srgbClr val="000000"/>
                </a:solidFill>
                <a:ea typeface="Times New Roman" panose="02020603050405020304" pitchFamily="18" charset="0"/>
              </a:rPr>
              <a:t> their lovers decided that they lacked the material means to qualify as marriageable men. </a:t>
            </a:r>
            <a:r>
              <a:rPr lang="en-HK" b="1" dirty="0">
                <a:solidFill>
                  <a:srgbClr val="000000"/>
                </a:solidFill>
                <a:ea typeface="Times New Roman" panose="02020603050405020304" pitchFamily="18" charset="0"/>
              </a:rPr>
              <a:t>Migration thus exposed </a:t>
            </a:r>
            <a:r>
              <a:rPr lang="en-HK" dirty="0">
                <a:solidFill>
                  <a:srgbClr val="000000"/>
                </a:solidFill>
                <a:ea typeface="Times New Roman" panose="02020603050405020304" pitchFamily="18" charset="0"/>
              </a:rPr>
              <a:t>young migrant men such as Mak to the urban normative ideal of manhood through sexual pursuits buttressed by financial capital </a:t>
            </a:r>
            <a:r>
              <a:rPr lang="en-HK" b="1" dirty="0">
                <a:solidFill>
                  <a:srgbClr val="000000"/>
                </a:solidFill>
                <a:ea typeface="Times New Roman" panose="02020603050405020304" pitchFamily="18" charset="0"/>
              </a:rPr>
              <a:t>but simultaneously precluded these men from gaining access to the wealth and income that was central to its realisation </a:t>
            </a:r>
            <a:r>
              <a:rPr lang="en-HK" dirty="0">
                <a:solidFill>
                  <a:srgbClr val="000000"/>
                </a:solidFill>
                <a:ea typeface="Times New Roman" panose="02020603050405020304" pitchFamily="18" charset="0"/>
              </a:rPr>
              <a:t>(Choi and Peng 2016).</a:t>
            </a:r>
          </a:p>
          <a:p>
            <a:pPr marL="0" indent="0" algn="just">
              <a:lnSpc>
                <a:spcPct val="115000"/>
              </a:lnSpc>
              <a:spcAft>
                <a:spcPts val="1000"/>
              </a:spcAft>
              <a:buNone/>
            </a:pPr>
            <a:r>
              <a:rPr lang="en-HK" dirty="0"/>
              <a:t>Susanne Y. P. Choi (2019) Migration, masculinity, and family. </a:t>
            </a:r>
            <a:r>
              <a:rPr lang="en-HK" i="1" dirty="0"/>
              <a:t>Journal of Ethnic and Migration Studies, 45</a:t>
            </a:r>
            <a:r>
              <a:rPr lang="en-HK" dirty="0"/>
              <a:t>(1), 78-94. DOI: 10.1080/1369183X.2018.1427562 </a:t>
            </a:r>
            <a:endParaRPr lang="en-HK" dirty="0">
              <a:solidFill>
                <a:srgbClr val="000000"/>
              </a:solidFill>
              <a:ea typeface="Times New Roman" panose="02020603050405020304" pitchFamily="18" charset="0"/>
            </a:endParaRPr>
          </a:p>
          <a:p>
            <a:endParaRPr lang="en-HK" dirty="0"/>
          </a:p>
        </p:txBody>
      </p:sp>
      <p:sp>
        <p:nvSpPr>
          <p:cNvPr id="4" name="Slide Number Placeholder 3">
            <a:extLst>
              <a:ext uri="{FF2B5EF4-FFF2-40B4-BE49-F238E27FC236}">
                <a16:creationId xmlns:a16="http://schemas.microsoft.com/office/drawing/2014/main" id="{C934E062-094D-014A-C594-56363FD08FE2}"/>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3098199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D5A40-1C2C-CF7F-765A-9A60CF6CC6CC}"/>
              </a:ext>
            </a:extLst>
          </p:cNvPr>
          <p:cNvSpPr>
            <a:spLocks noGrp="1"/>
          </p:cNvSpPr>
          <p:nvPr>
            <p:ph idx="1"/>
          </p:nvPr>
        </p:nvSpPr>
        <p:spPr>
          <a:xfrm>
            <a:off x="1787107" y="529390"/>
            <a:ext cx="8915400" cy="3777622"/>
          </a:xfrm>
        </p:spPr>
        <p:txBody>
          <a:bodyPr>
            <a:normAutofit/>
          </a:bodyPr>
          <a:lstStyle/>
          <a:p>
            <a:pPr marL="0" indent="0">
              <a:buNone/>
            </a:pPr>
            <a:r>
              <a:rPr lang="en-US" sz="2400" dirty="0"/>
              <a:t>3. Now refer to the ‘Results’ section of a journal article in your own discipline. How are the ‘Results’ presented? What language features do you notice?</a:t>
            </a:r>
            <a:endParaRPr lang="en-HK" sz="2400" dirty="0"/>
          </a:p>
        </p:txBody>
      </p:sp>
      <p:sp>
        <p:nvSpPr>
          <p:cNvPr id="4" name="Slide Number Placeholder 3">
            <a:extLst>
              <a:ext uri="{FF2B5EF4-FFF2-40B4-BE49-F238E27FC236}">
                <a16:creationId xmlns:a16="http://schemas.microsoft.com/office/drawing/2014/main" id="{C12354A4-9919-B833-0CFF-7F60D9CE5A15}"/>
              </a:ext>
            </a:extLst>
          </p:cNvPr>
          <p:cNvSpPr>
            <a:spLocks noGrp="1"/>
          </p:cNvSpPr>
          <p:nvPr>
            <p:ph type="sldNum" sz="quarter" idx="12"/>
          </p:nvPr>
        </p:nvSpPr>
        <p:spPr/>
        <p:txBody>
          <a:bodyPr/>
          <a:lstStyle/>
          <a:p>
            <a:fld id="{D57F1E4F-1CFF-5643-939E-217C01CDF565}" type="slidenum">
              <a:rPr lang="en-US" smtClean="0"/>
              <a:pPr/>
              <a:t>32</a:t>
            </a:fld>
            <a:endParaRPr lang="en-US" dirty="0"/>
          </a:p>
        </p:txBody>
      </p:sp>
      <p:graphicFrame>
        <p:nvGraphicFramePr>
          <p:cNvPr id="5" name="Table 4">
            <a:extLst>
              <a:ext uri="{FF2B5EF4-FFF2-40B4-BE49-F238E27FC236}">
                <a16:creationId xmlns:a16="http://schemas.microsoft.com/office/drawing/2014/main" id="{01A1570D-A81D-A19E-5FAF-60EB0981973E}"/>
              </a:ext>
            </a:extLst>
          </p:cNvPr>
          <p:cNvGraphicFramePr>
            <a:graphicFrameLocks noGrp="1"/>
          </p:cNvGraphicFramePr>
          <p:nvPr>
            <p:extLst>
              <p:ext uri="{D42A27DB-BD31-4B8C-83A1-F6EECF244321}">
                <p14:modId xmlns:p14="http://schemas.microsoft.com/office/powerpoint/2010/main" val="2463118952"/>
              </p:ext>
            </p:extLst>
          </p:nvPr>
        </p:nvGraphicFramePr>
        <p:xfrm>
          <a:off x="1787107" y="2054680"/>
          <a:ext cx="8617786" cy="4286831"/>
        </p:xfrm>
        <a:graphic>
          <a:graphicData uri="http://schemas.openxmlformats.org/drawingml/2006/table">
            <a:tbl>
              <a:tblPr firstRow="1" firstCol="1" bandRow="1"/>
              <a:tblGrid>
                <a:gridCol w="4308893">
                  <a:extLst>
                    <a:ext uri="{9D8B030D-6E8A-4147-A177-3AD203B41FA5}">
                      <a16:colId xmlns:a16="http://schemas.microsoft.com/office/drawing/2014/main" val="2387616510"/>
                    </a:ext>
                  </a:extLst>
                </a:gridCol>
                <a:gridCol w="4308893">
                  <a:extLst>
                    <a:ext uri="{9D8B030D-6E8A-4147-A177-3AD203B41FA5}">
                      <a16:colId xmlns:a16="http://schemas.microsoft.com/office/drawing/2014/main" val="296843805"/>
                    </a:ext>
                  </a:extLst>
                </a:gridCol>
              </a:tblGrid>
              <a:tr h="810567">
                <a:tc>
                  <a:txBody>
                    <a:bodyPr/>
                    <a:lstStyle/>
                    <a:p>
                      <a:pPr algn="just">
                        <a:lnSpc>
                          <a:spcPct val="115000"/>
                        </a:lnSpc>
                        <a:spcAft>
                          <a:spcPts val="1000"/>
                        </a:spcAft>
                        <a:buNone/>
                      </a:pPr>
                      <a:r>
                        <a:rPr lang="en-US" sz="16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How are the ‘Results’ presented?</a:t>
                      </a:r>
                      <a:r>
                        <a:rPr lang="en-US"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(e.g. use of tables and diagrams, structure results around hypotheses or group findings thematically)</a:t>
                      </a:r>
                      <a:endParaRPr lang="en-H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1000"/>
                        </a:spcAft>
                        <a:buNone/>
                      </a:pPr>
                      <a:r>
                        <a:rPr lang="en-US" sz="16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What language features do you notice? </a:t>
                      </a:r>
                      <a:r>
                        <a:rPr lang="en-US"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(e.g. tenses, word choices, hedging phrases, verbs, objective vs evaluative language) </a:t>
                      </a:r>
                      <a:endParaRPr lang="en-H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9057547"/>
                  </a:ext>
                </a:extLst>
              </a:tr>
              <a:tr h="3463363">
                <a:tc>
                  <a:txBody>
                    <a:bodyPr/>
                    <a:lstStyle/>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r>
                        <a:rPr lang="en-HK"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1000"/>
                        </a:spcAft>
                        <a:buNone/>
                      </a:pPr>
                      <a:r>
                        <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HK"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2657589"/>
                  </a:ext>
                </a:extLst>
              </a:tr>
            </a:tbl>
          </a:graphicData>
        </a:graphic>
      </p:graphicFrame>
    </p:spTree>
    <p:extLst>
      <p:ext uri="{BB962C8B-B14F-4D97-AF65-F5344CB8AC3E}">
        <p14:creationId xmlns:p14="http://schemas.microsoft.com/office/powerpoint/2010/main" val="32821123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2945" y="340397"/>
            <a:ext cx="3650279" cy="1259894"/>
          </a:xfrm>
        </p:spPr>
        <p:txBody>
          <a:bodyPr>
            <a:normAutofit/>
          </a:bodyPr>
          <a:lstStyle/>
          <a:p>
            <a:r>
              <a:rPr lang="en-US" dirty="0"/>
              <a:t>Task 6</a:t>
            </a:r>
          </a:p>
        </p:txBody>
      </p:sp>
      <p:sp>
        <p:nvSpPr>
          <p:cNvPr id="3" name="Content Placeholder 2"/>
          <p:cNvSpPr>
            <a:spLocks noGrp="1"/>
          </p:cNvSpPr>
          <p:nvPr>
            <p:ph idx="1"/>
          </p:nvPr>
        </p:nvSpPr>
        <p:spPr>
          <a:xfrm>
            <a:off x="603465" y="1386839"/>
            <a:ext cx="3696038" cy="4669636"/>
          </a:xfrm>
        </p:spPr>
        <p:txBody>
          <a:bodyPr>
            <a:normAutofit/>
          </a:bodyPr>
          <a:lstStyle/>
          <a:p>
            <a:pPr marL="0" indent="0">
              <a:buNone/>
            </a:pPr>
            <a:r>
              <a:rPr lang="en-GB" b="1" dirty="0"/>
              <a:t>Useful Phrases for Reporting Research Results</a:t>
            </a:r>
            <a:endParaRPr lang="en-GB" dirty="0"/>
          </a:p>
          <a:p>
            <a:pPr marL="0" indent="0">
              <a:buNone/>
            </a:pPr>
            <a:r>
              <a:rPr lang="en-GB" dirty="0"/>
              <a:t>Column A below shows some commonly used expressions for reporting research results. Match them with the functions in Column B. Some answers can be repeated.</a:t>
            </a:r>
          </a:p>
          <a:p>
            <a:pPr marL="0" indent="0">
              <a:buNone/>
            </a:pPr>
            <a:endParaRPr lang="en-GB" dirty="0"/>
          </a:p>
          <a:p>
            <a:pPr>
              <a:buFont typeface="Wingdings" pitchFamily="2" charset="2"/>
              <a:buChar char="Ø"/>
            </a:pPr>
            <a:r>
              <a:rPr lang="en-GB" sz="1600" i="1" dirty="0"/>
              <a:t>Please visit the Academic </a:t>
            </a:r>
            <a:r>
              <a:rPr lang="en-GB" sz="1600" i="1" dirty="0" err="1"/>
              <a:t>Phrasebank</a:t>
            </a:r>
            <a:r>
              <a:rPr lang="en-GB" sz="1600" i="1" dirty="0"/>
              <a:t> for more expressions for reporting research results: </a:t>
            </a:r>
            <a:r>
              <a:rPr lang="en-GB" sz="1600" i="1" u="sng" dirty="0">
                <a:hlinkClick r:id="rId2"/>
              </a:rPr>
              <a:t>http://www.phrasebank.manchester.ac.uk/reporting-results/</a:t>
            </a:r>
            <a:r>
              <a:rPr lang="en-GB" sz="1600" i="1" dirty="0"/>
              <a:t>  </a:t>
            </a:r>
          </a:p>
          <a:p>
            <a:pPr marL="0" indent="0">
              <a:buNone/>
            </a:pPr>
            <a:endParaRPr lang="en-GB" sz="1600" i="1" dirty="0"/>
          </a:p>
          <a:p>
            <a:pPr marL="0" indent="0">
              <a:buNone/>
            </a:pPr>
            <a:endParaRPr lang="en-GB" dirty="0"/>
          </a:p>
          <a:p>
            <a:pPr marL="0" indent="0">
              <a:buNone/>
            </a:pPr>
            <a:endParaRPr lang="en-GB" dirty="0"/>
          </a:p>
          <a:p>
            <a:pPr marL="0" indent="0">
              <a:buNone/>
            </a:pPr>
            <a:endParaRPr lang="en-GB" dirty="0"/>
          </a:p>
        </p:txBody>
      </p:sp>
      <p:pic>
        <p:nvPicPr>
          <p:cNvPr id="5" name="Picture 4" descr="A screenshot of a cell phone&#10;&#10;Description automatically generated">
            <a:extLst>
              <a:ext uri="{FF2B5EF4-FFF2-40B4-BE49-F238E27FC236}">
                <a16:creationId xmlns:a16="http://schemas.microsoft.com/office/drawing/2014/main" id="{E7020F76-0389-024B-8609-A152DD8BFB5B}"/>
              </a:ext>
            </a:extLst>
          </p:cNvPr>
          <p:cNvPicPr>
            <a:picLocks noChangeAspect="1"/>
          </p:cNvPicPr>
          <p:nvPr/>
        </p:nvPicPr>
        <p:blipFill>
          <a:blip r:embed="rId3"/>
          <a:stretch>
            <a:fillRect/>
          </a:stretch>
        </p:blipFill>
        <p:spPr>
          <a:xfrm>
            <a:off x="4637835" y="640080"/>
            <a:ext cx="7063380" cy="5421143"/>
          </a:xfrm>
          <a:prstGeom prst="rect">
            <a:avLst/>
          </a:prstGeom>
        </p:spPr>
      </p:pic>
      <p:pic>
        <p:nvPicPr>
          <p:cNvPr id="11" name="Picture 10">
            <a:extLst>
              <a:ext uri="{FF2B5EF4-FFF2-40B4-BE49-F238E27FC236}">
                <a16:creationId xmlns:a16="http://schemas.microsoft.com/office/drawing/2014/main" id="{144F3018-45D1-C141-A4A8-FF66FE2F6D12}"/>
              </a:ext>
            </a:extLst>
          </p:cNvPr>
          <p:cNvPicPr>
            <a:picLocks noChangeAspect="1"/>
          </p:cNvPicPr>
          <p:nvPr/>
        </p:nvPicPr>
        <p:blipFill>
          <a:blip r:embed="rId4"/>
          <a:stretch>
            <a:fillRect/>
          </a:stretch>
        </p:blipFill>
        <p:spPr>
          <a:xfrm>
            <a:off x="4637835" y="645106"/>
            <a:ext cx="7275214" cy="5572814"/>
          </a:xfrm>
          <a:prstGeom prst="rect">
            <a:avLst/>
          </a:prstGeom>
        </p:spPr>
      </p:pic>
      <p:sp>
        <p:nvSpPr>
          <p:cNvPr id="4" name="Slide Number Placeholder 3"/>
          <p:cNvSpPr>
            <a:spLocks noGrp="1"/>
          </p:cNvSpPr>
          <p:nvPr>
            <p:ph type="sldNum" sz="quarter" idx="12"/>
          </p:nvPr>
        </p:nvSpPr>
        <p:spPr/>
        <p:txBody>
          <a:body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63849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C2B22-F25D-8A13-7AAD-95DFD72B7C5D}"/>
              </a:ext>
            </a:extLst>
          </p:cNvPr>
          <p:cNvSpPr>
            <a:spLocks noGrp="1"/>
          </p:cNvSpPr>
          <p:nvPr>
            <p:ph type="title"/>
          </p:nvPr>
        </p:nvSpPr>
        <p:spPr>
          <a:xfrm>
            <a:off x="1854988" y="512462"/>
            <a:ext cx="8911687" cy="1280890"/>
          </a:xfrm>
        </p:spPr>
        <p:txBody>
          <a:bodyPr/>
          <a:lstStyle/>
          <a:p>
            <a:r>
              <a:rPr lang="en-US" dirty="0"/>
              <a:t>Task 7</a:t>
            </a:r>
            <a:endParaRPr lang="en-HK" dirty="0"/>
          </a:p>
        </p:txBody>
      </p:sp>
      <p:sp>
        <p:nvSpPr>
          <p:cNvPr id="3" name="Content Placeholder 2">
            <a:extLst>
              <a:ext uri="{FF2B5EF4-FFF2-40B4-BE49-F238E27FC236}">
                <a16:creationId xmlns:a16="http://schemas.microsoft.com/office/drawing/2014/main" id="{F97C0B82-086E-6866-F863-F61530C3ACD9}"/>
              </a:ext>
            </a:extLst>
          </p:cNvPr>
          <p:cNvSpPr>
            <a:spLocks noGrp="1"/>
          </p:cNvSpPr>
          <p:nvPr>
            <p:ph idx="1"/>
          </p:nvPr>
        </p:nvSpPr>
        <p:spPr>
          <a:xfrm>
            <a:off x="1851275" y="1470186"/>
            <a:ext cx="8915400" cy="4986006"/>
          </a:xfrm>
        </p:spPr>
        <p:txBody>
          <a:bodyPr>
            <a:normAutofit/>
          </a:bodyPr>
          <a:lstStyle/>
          <a:p>
            <a:pPr marL="0" indent="0">
              <a:buNone/>
            </a:pPr>
            <a:r>
              <a:rPr lang="en-HK" dirty="0"/>
              <a:t>You are going to watch a video on “Writing a Discussion Section” produced by the Department of English of City University of Hong Kong. Read the questions below before watching. Take notes while you are watching. Then, use the notes to answer the questions below.</a:t>
            </a:r>
          </a:p>
          <a:p>
            <a:r>
              <a:rPr lang="en-HK" dirty="0"/>
              <a:t>Writing for Sciences </a:t>
            </a:r>
            <a:r>
              <a:rPr lang="en-HK" u="sng" dirty="0">
                <a:hlinkClick r:id="rId2"/>
              </a:rPr>
              <a:t>https://www.youtube.com/watch?v=IkAYXKiWek4</a:t>
            </a:r>
            <a:r>
              <a:rPr lang="en-HK" dirty="0"/>
              <a:t> </a:t>
            </a:r>
          </a:p>
          <a:p>
            <a:r>
              <a:rPr lang="en-HK" dirty="0"/>
              <a:t>Writing in Social Sciences and Humanities </a:t>
            </a:r>
            <a:r>
              <a:rPr lang="en-HK" u="sng" dirty="0">
                <a:hlinkClick r:id="rId3"/>
              </a:rPr>
              <a:t>https://www.youtube.com/watch?v=eDKIJ7zx</a:t>
            </a:r>
            <a:r>
              <a:rPr lang="en-HK" u="sng">
                <a:hlinkClick r:id="rId3"/>
              </a:rPr>
              <a:t>_uw</a:t>
            </a:r>
            <a:endParaRPr lang="en-HK" u="sng"/>
          </a:p>
          <a:p>
            <a:pPr marL="0" indent="0">
              <a:buNone/>
            </a:pPr>
            <a:endParaRPr lang="en-HK" dirty="0"/>
          </a:p>
          <a:p>
            <a:pPr>
              <a:buAutoNum type="arabicPeriod"/>
            </a:pPr>
            <a:r>
              <a:rPr lang="en-HK" dirty="0"/>
              <a:t>What is the function of the “Discussion” section in a research paper and a thesis?</a:t>
            </a:r>
          </a:p>
          <a:p>
            <a:pPr>
              <a:buAutoNum type="arabicPeriod"/>
            </a:pPr>
            <a:endParaRPr lang="en-HK" dirty="0"/>
          </a:p>
          <a:p>
            <a:pPr marL="0" indent="0">
              <a:buNone/>
            </a:pPr>
            <a:endParaRPr lang="en-HK" dirty="0"/>
          </a:p>
          <a:p>
            <a:pPr marL="0" indent="0">
              <a:buNone/>
            </a:pPr>
            <a:endParaRPr lang="en-HK" dirty="0"/>
          </a:p>
          <a:p>
            <a:pPr marL="0" indent="0">
              <a:buNone/>
            </a:pPr>
            <a:endParaRPr lang="en-HK" dirty="0"/>
          </a:p>
        </p:txBody>
      </p:sp>
      <p:sp>
        <p:nvSpPr>
          <p:cNvPr id="4" name="Slide Number Placeholder 3">
            <a:extLst>
              <a:ext uri="{FF2B5EF4-FFF2-40B4-BE49-F238E27FC236}">
                <a16:creationId xmlns:a16="http://schemas.microsoft.com/office/drawing/2014/main" id="{67E3CF03-D54A-B9F8-5A61-D9F003C39AD5}"/>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
        <p:nvSpPr>
          <p:cNvPr id="5" name="TextBox 4">
            <a:extLst>
              <a:ext uri="{FF2B5EF4-FFF2-40B4-BE49-F238E27FC236}">
                <a16:creationId xmlns:a16="http://schemas.microsoft.com/office/drawing/2014/main" id="{9B6F606F-5C2A-9C93-9777-CEF3B15FF1EA}"/>
              </a:ext>
            </a:extLst>
          </p:cNvPr>
          <p:cNvSpPr txBox="1"/>
          <p:nvPr/>
        </p:nvSpPr>
        <p:spPr>
          <a:xfrm>
            <a:off x="2245895" y="4741483"/>
            <a:ext cx="7700210" cy="646331"/>
          </a:xfrm>
          <a:prstGeom prst="rect">
            <a:avLst/>
          </a:prstGeom>
          <a:noFill/>
        </p:spPr>
        <p:txBody>
          <a:bodyPr wrap="square" rtlCol="0">
            <a:spAutoFit/>
          </a:bodyPr>
          <a:lstStyle/>
          <a:p>
            <a:r>
              <a:rPr lang="en-HK" dirty="0">
                <a:solidFill>
                  <a:srgbClr val="6699FF"/>
                </a:solidFill>
              </a:rPr>
              <a:t>Tell the significance of the results, but how to do it depends on the nature of the research and the topic. </a:t>
            </a:r>
          </a:p>
        </p:txBody>
      </p:sp>
    </p:spTree>
    <p:extLst>
      <p:ext uri="{BB962C8B-B14F-4D97-AF65-F5344CB8AC3E}">
        <p14:creationId xmlns:p14="http://schemas.microsoft.com/office/powerpoint/2010/main" val="400744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5151-79DB-2DCA-5571-F00B9BF5465A}"/>
              </a:ext>
            </a:extLst>
          </p:cNvPr>
          <p:cNvSpPr>
            <a:spLocks noGrp="1"/>
          </p:cNvSpPr>
          <p:nvPr>
            <p:ph type="title"/>
          </p:nvPr>
        </p:nvSpPr>
        <p:spPr>
          <a:xfrm>
            <a:off x="1806862" y="628578"/>
            <a:ext cx="8911687" cy="1280890"/>
          </a:xfrm>
        </p:spPr>
        <p:txBody>
          <a:bodyPr/>
          <a:lstStyle/>
          <a:p>
            <a:r>
              <a:rPr lang="en-US" dirty="0"/>
              <a:t>Task 7</a:t>
            </a:r>
            <a:endParaRPr lang="en-HK" dirty="0"/>
          </a:p>
        </p:txBody>
      </p:sp>
      <p:sp>
        <p:nvSpPr>
          <p:cNvPr id="3" name="Content Placeholder 2">
            <a:extLst>
              <a:ext uri="{FF2B5EF4-FFF2-40B4-BE49-F238E27FC236}">
                <a16:creationId xmlns:a16="http://schemas.microsoft.com/office/drawing/2014/main" id="{50289A1C-820F-0E86-8F03-20132CFA86F1}"/>
              </a:ext>
            </a:extLst>
          </p:cNvPr>
          <p:cNvSpPr>
            <a:spLocks noGrp="1"/>
          </p:cNvSpPr>
          <p:nvPr>
            <p:ph idx="1"/>
          </p:nvPr>
        </p:nvSpPr>
        <p:spPr>
          <a:xfrm>
            <a:off x="1806862" y="1821988"/>
            <a:ext cx="8915400" cy="3214024"/>
          </a:xfrm>
        </p:spPr>
        <p:txBody>
          <a:bodyPr/>
          <a:lstStyle/>
          <a:p>
            <a:pPr>
              <a:buFont typeface="+mj-lt"/>
              <a:buAutoNum type="arabicPeriod" startAt="2"/>
            </a:pPr>
            <a:r>
              <a:rPr lang="en-HK" sz="2000" dirty="0"/>
              <a:t>What are the common ways to discuss the research results as suggested in the video?</a:t>
            </a:r>
          </a:p>
          <a:p>
            <a:endParaRPr lang="en-HK" dirty="0"/>
          </a:p>
        </p:txBody>
      </p:sp>
      <p:sp>
        <p:nvSpPr>
          <p:cNvPr id="4" name="Slide Number Placeholder 3">
            <a:extLst>
              <a:ext uri="{FF2B5EF4-FFF2-40B4-BE49-F238E27FC236}">
                <a16:creationId xmlns:a16="http://schemas.microsoft.com/office/drawing/2014/main" id="{9BF8EFA1-C9AF-F97A-413F-767AA766DFDF}"/>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
        <p:nvSpPr>
          <p:cNvPr id="5" name="TextBox 4">
            <a:extLst>
              <a:ext uri="{FF2B5EF4-FFF2-40B4-BE49-F238E27FC236}">
                <a16:creationId xmlns:a16="http://schemas.microsoft.com/office/drawing/2014/main" id="{9C137CF2-31E7-51D5-894A-B8E8BC4C7D78}"/>
              </a:ext>
            </a:extLst>
          </p:cNvPr>
          <p:cNvSpPr txBox="1"/>
          <p:nvPr/>
        </p:nvSpPr>
        <p:spPr>
          <a:xfrm>
            <a:off x="2052200" y="2726655"/>
            <a:ext cx="9165345" cy="4108817"/>
          </a:xfrm>
          <a:prstGeom prst="rect">
            <a:avLst/>
          </a:prstGeom>
          <a:noFill/>
        </p:spPr>
        <p:txBody>
          <a:bodyPr wrap="square" rtlCol="0">
            <a:spAutoFit/>
          </a:bodyPr>
          <a:lstStyle/>
          <a:p>
            <a:pPr marL="400050" lvl="0" indent="-400050">
              <a:lnSpc>
                <a:spcPct val="150000"/>
              </a:lnSpc>
              <a:buFont typeface="+mj-lt"/>
              <a:buAutoNum type="romanLcPeriod"/>
            </a:pPr>
            <a:r>
              <a:rPr lang="en-HK" dirty="0">
                <a:solidFill>
                  <a:srgbClr val="6699FF"/>
                </a:solidFill>
              </a:rPr>
              <a:t>Refer to the research questions, hypotheses or objectives which are initially presented in the introduction. </a:t>
            </a:r>
          </a:p>
          <a:p>
            <a:pPr marL="400050" lvl="0" indent="-400050">
              <a:lnSpc>
                <a:spcPct val="150000"/>
              </a:lnSpc>
              <a:buFont typeface="+mj-lt"/>
              <a:buAutoNum type="romanLcPeriod"/>
            </a:pPr>
            <a:r>
              <a:rPr lang="en-HK" dirty="0">
                <a:solidFill>
                  <a:srgbClr val="6699FF"/>
                </a:solidFill>
              </a:rPr>
              <a:t>Highlight the principal findings </a:t>
            </a:r>
          </a:p>
          <a:p>
            <a:pPr marL="400050" lvl="0" indent="-400050">
              <a:lnSpc>
                <a:spcPct val="150000"/>
              </a:lnSpc>
              <a:buFont typeface="+mj-lt"/>
              <a:buAutoNum type="romanLcPeriod"/>
            </a:pPr>
            <a:r>
              <a:rPr lang="en-HK" dirty="0">
                <a:solidFill>
                  <a:srgbClr val="6699FF"/>
                </a:solidFill>
              </a:rPr>
              <a:t>Explain how your findings relate to earlier research (e.g. your findings confirm existing knowledge on the topic OR your findings challenge earlier research) OR draw readers’ attention to results which are new.</a:t>
            </a:r>
          </a:p>
          <a:p>
            <a:pPr marL="400050" lvl="0" indent="-400050">
              <a:lnSpc>
                <a:spcPct val="150000"/>
              </a:lnSpc>
              <a:buFont typeface="+mj-lt"/>
              <a:buAutoNum type="romanLcPeriod"/>
            </a:pPr>
            <a:r>
              <a:rPr lang="en-HK" dirty="0">
                <a:solidFill>
                  <a:srgbClr val="6699FF"/>
                </a:solidFill>
              </a:rPr>
              <a:t>Suggest explanations for the findings</a:t>
            </a:r>
          </a:p>
          <a:p>
            <a:pPr marL="400050" lvl="0" indent="-400050">
              <a:lnSpc>
                <a:spcPct val="150000"/>
              </a:lnSpc>
              <a:buFont typeface="+mj-lt"/>
              <a:buAutoNum type="romanLcPeriod"/>
            </a:pPr>
            <a:r>
              <a:rPr lang="en-HK" dirty="0">
                <a:solidFill>
                  <a:srgbClr val="6699FF"/>
                </a:solidFill>
              </a:rPr>
              <a:t>Identify questions for future research</a:t>
            </a:r>
          </a:p>
          <a:p>
            <a:pPr marL="400050" lvl="0" indent="-400050">
              <a:lnSpc>
                <a:spcPct val="150000"/>
              </a:lnSpc>
              <a:buFont typeface="+mj-lt"/>
              <a:buAutoNum type="romanLcPeriod"/>
            </a:pPr>
            <a:r>
              <a:rPr lang="en-HK" dirty="0">
                <a:solidFill>
                  <a:srgbClr val="6699FF"/>
                </a:solidFill>
              </a:rPr>
              <a:t>Suggest practical uses for the findings</a:t>
            </a:r>
          </a:p>
          <a:p>
            <a:endParaRPr lang="en-HK" dirty="0"/>
          </a:p>
        </p:txBody>
      </p:sp>
    </p:spTree>
    <p:extLst>
      <p:ext uri="{BB962C8B-B14F-4D97-AF65-F5344CB8AC3E}">
        <p14:creationId xmlns:p14="http://schemas.microsoft.com/office/powerpoint/2010/main" val="25522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16084-3FF5-804B-CFE1-2C126E0D8820}"/>
              </a:ext>
            </a:extLst>
          </p:cNvPr>
          <p:cNvSpPr>
            <a:spLocks noGrp="1"/>
          </p:cNvSpPr>
          <p:nvPr>
            <p:ph type="title"/>
          </p:nvPr>
        </p:nvSpPr>
        <p:spPr>
          <a:xfrm>
            <a:off x="1787106" y="329899"/>
            <a:ext cx="8911687" cy="1280890"/>
          </a:xfrm>
        </p:spPr>
        <p:txBody>
          <a:bodyPr>
            <a:normAutofit fontScale="90000"/>
          </a:bodyPr>
          <a:lstStyle/>
          <a:p>
            <a:r>
              <a:rPr lang="en-HK" b="1" dirty="0"/>
              <a:t>Moderating Claims and Careful Presentation of Claims in the Discussion Section/Chapter</a:t>
            </a:r>
            <a:br>
              <a:rPr lang="en-HK" dirty="0"/>
            </a:br>
            <a:endParaRPr lang="en-HK" dirty="0"/>
          </a:p>
        </p:txBody>
      </p:sp>
      <p:sp>
        <p:nvSpPr>
          <p:cNvPr id="3" name="Content Placeholder 2">
            <a:extLst>
              <a:ext uri="{FF2B5EF4-FFF2-40B4-BE49-F238E27FC236}">
                <a16:creationId xmlns:a16="http://schemas.microsoft.com/office/drawing/2014/main" id="{E47B0249-CA27-8889-AD8E-122D0EDBAAC9}"/>
              </a:ext>
            </a:extLst>
          </p:cNvPr>
          <p:cNvSpPr>
            <a:spLocks noGrp="1"/>
          </p:cNvSpPr>
          <p:nvPr>
            <p:ph idx="1"/>
          </p:nvPr>
        </p:nvSpPr>
        <p:spPr>
          <a:xfrm>
            <a:off x="1787106" y="1684902"/>
            <a:ext cx="9201736" cy="4555477"/>
          </a:xfrm>
        </p:spPr>
        <p:txBody>
          <a:bodyPr>
            <a:normAutofit/>
          </a:bodyPr>
          <a:lstStyle/>
          <a:p>
            <a:pPr marL="0" indent="0">
              <a:lnSpc>
                <a:spcPct val="150000"/>
              </a:lnSpc>
              <a:buNone/>
            </a:pPr>
            <a:r>
              <a:rPr lang="en-HK" dirty="0"/>
              <a:t>In order to make your writing </a:t>
            </a:r>
            <a:r>
              <a:rPr lang="en-HK" b="1" dirty="0"/>
              <a:t>credible and persuasive</a:t>
            </a:r>
            <a:r>
              <a:rPr lang="en-HK" dirty="0"/>
              <a:t>, you need to be aware of how a reader will evaluate its realism, reasonableness and appropriateness. To achieve this, you need to pay attention to </a:t>
            </a:r>
            <a:r>
              <a:rPr lang="en-HK" b="1" dirty="0"/>
              <a:t>linguistic delicacy (or “fine tuning”) of expression</a:t>
            </a:r>
            <a:r>
              <a:rPr lang="en-HK" dirty="0"/>
              <a:t>. The way in which you reveal your stance contributes to author positioning. There are three main types of devices to reveal your stance: </a:t>
            </a:r>
            <a:r>
              <a:rPr lang="en-HK" b="1" dirty="0"/>
              <a:t>Hedges (e.g. it is likely that), attitude markers (e.g. I think) and boosters (e.g. Clearly, there is a need to). Among the three devices, hedging is the most important one.</a:t>
            </a:r>
          </a:p>
        </p:txBody>
      </p:sp>
      <p:sp>
        <p:nvSpPr>
          <p:cNvPr id="4" name="Slide Number Placeholder 3">
            <a:extLst>
              <a:ext uri="{FF2B5EF4-FFF2-40B4-BE49-F238E27FC236}">
                <a16:creationId xmlns:a16="http://schemas.microsoft.com/office/drawing/2014/main" id="{1315C08E-54D7-D84C-F320-0F309FC98D23}"/>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2703005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B2C87E-E503-424F-A223-177065A4A230}"/>
              </a:ext>
            </a:extLst>
          </p:cNvPr>
          <p:cNvSpPr>
            <a:spLocks noGrp="1"/>
          </p:cNvSpPr>
          <p:nvPr>
            <p:ph idx="1"/>
          </p:nvPr>
        </p:nvSpPr>
        <p:spPr>
          <a:xfrm>
            <a:off x="1863969" y="949569"/>
            <a:ext cx="9640643" cy="4961653"/>
          </a:xfrm>
        </p:spPr>
        <p:txBody>
          <a:bodyPr/>
          <a:lstStyle/>
          <a:p>
            <a:pPr marL="0" indent="0">
              <a:buNone/>
            </a:pPr>
            <a:r>
              <a:rPr lang="en-HK" dirty="0"/>
              <a:t>Moderating claims and careful presentation of claims is a characteristic of all fields – even those that are thought to deal with objective facts according to Hyland’s (2004) research:</a:t>
            </a:r>
          </a:p>
          <a:p>
            <a:endParaRPr lang="en-GB" dirty="0"/>
          </a:p>
        </p:txBody>
      </p:sp>
      <p:pic>
        <p:nvPicPr>
          <p:cNvPr id="4" name="Picture 3">
            <a:extLst>
              <a:ext uri="{FF2B5EF4-FFF2-40B4-BE49-F238E27FC236}">
                <a16:creationId xmlns:a16="http://schemas.microsoft.com/office/drawing/2014/main" id="{F1C63A38-A581-0643-8E9F-7F020166985F}"/>
              </a:ext>
            </a:extLst>
          </p:cNvPr>
          <p:cNvPicPr>
            <a:picLocks noChangeAspect="1"/>
          </p:cNvPicPr>
          <p:nvPr/>
        </p:nvPicPr>
        <p:blipFill>
          <a:blip r:embed="rId2"/>
          <a:stretch>
            <a:fillRect/>
          </a:stretch>
        </p:blipFill>
        <p:spPr>
          <a:xfrm>
            <a:off x="1688123" y="2284797"/>
            <a:ext cx="10075661" cy="4151172"/>
          </a:xfrm>
          <a:prstGeom prst="rect">
            <a:avLst/>
          </a:prstGeom>
        </p:spPr>
      </p:pic>
      <p:sp>
        <p:nvSpPr>
          <p:cNvPr id="5" name="Slide Number Placeholder 4"/>
          <p:cNvSpPr>
            <a:spLocks noGrp="1"/>
          </p:cNvSpPr>
          <p:nvPr>
            <p:ph type="sldNum" sz="quarter" idx="12"/>
          </p:nvPr>
        </p:nvSpPr>
        <p:spPr/>
        <p:txBody>
          <a:bodyPr/>
          <a:lstStyle/>
          <a:p>
            <a:fld id="{D57F1E4F-1CFF-5643-939E-217C01CDF565}" type="slidenum">
              <a:rPr lang="en-US" smtClean="0"/>
              <a:pPr/>
              <a:t>37</a:t>
            </a:fld>
            <a:endParaRPr lang="en-US" dirty="0"/>
          </a:p>
        </p:txBody>
      </p:sp>
    </p:spTree>
    <p:extLst>
      <p:ext uri="{BB962C8B-B14F-4D97-AF65-F5344CB8AC3E}">
        <p14:creationId xmlns:p14="http://schemas.microsoft.com/office/powerpoint/2010/main" val="2329463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D64D-2F46-8842-B926-4918260CAB77}"/>
              </a:ext>
            </a:extLst>
          </p:cNvPr>
          <p:cNvSpPr>
            <a:spLocks noGrp="1"/>
          </p:cNvSpPr>
          <p:nvPr>
            <p:ph type="title"/>
          </p:nvPr>
        </p:nvSpPr>
        <p:spPr>
          <a:xfrm>
            <a:off x="1749286" y="394158"/>
            <a:ext cx="9755325" cy="787247"/>
          </a:xfrm>
        </p:spPr>
        <p:txBody>
          <a:bodyPr>
            <a:normAutofit/>
          </a:bodyPr>
          <a:lstStyle/>
          <a:p>
            <a:r>
              <a:rPr lang="en-GB" dirty="0"/>
              <a:t>Task 8</a:t>
            </a:r>
          </a:p>
        </p:txBody>
      </p:sp>
      <p:sp>
        <p:nvSpPr>
          <p:cNvPr id="9" name="Content Placeholder 8">
            <a:extLst>
              <a:ext uri="{FF2B5EF4-FFF2-40B4-BE49-F238E27FC236}">
                <a16:creationId xmlns:a16="http://schemas.microsoft.com/office/drawing/2014/main" id="{2D971ECD-602D-C146-A9F3-CD071766DC53}"/>
              </a:ext>
            </a:extLst>
          </p:cNvPr>
          <p:cNvSpPr>
            <a:spLocks noGrp="1"/>
          </p:cNvSpPr>
          <p:nvPr>
            <p:ph idx="1"/>
          </p:nvPr>
        </p:nvSpPr>
        <p:spPr>
          <a:xfrm>
            <a:off x="1749287" y="1175079"/>
            <a:ext cx="9755325" cy="4499865"/>
          </a:xfrm>
        </p:spPr>
        <p:txBody>
          <a:bodyPr/>
          <a:lstStyle/>
          <a:p>
            <a:pPr marL="0" indent="0">
              <a:buNone/>
            </a:pPr>
            <a:r>
              <a:rPr lang="en-HK" dirty="0"/>
              <a:t>Compare the statements in Columns A and B below. Discuss the impact of hedging devices.</a:t>
            </a:r>
          </a:p>
          <a:p>
            <a:endParaRPr lang="en-GB" dirty="0"/>
          </a:p>
        </p:txBody>
      </p:sp>
      <p:pic>
        <p:nvPicPr>
          <p:cNvPr id="10" name="Picture 9">
            <a:extLst>
              <a:ext uri="{FF2B5EF4-FFF2-40B4-BE49-F238E27FC236}">
                <a16:creationId xmlns:a16="http://schemas.microsoft.com/office/drawing/2014/main" id="{96B886EE-7D00-5241-8016-4F1DB4064428}"/>
              </a:ext>
            </a:extLst>
          </p:cNvPr>
          <p:cNvPicPr>
            <a:picLocks noChangeAspect="1"/>
          </p:cNvPicPr>
          <p:nvPr/>
        </p:nvPicPr>
        <p:blipFill>
          <a:blip r:embed="rId2"/>
          <a:stretch>
            <a:fillRect/>
          </a:stretch>
        </p:blipFill>
        <p:spPr>
          <a:xfrm>
            <a:off x="2444262" y="1883268"/>
            <a:ext cx="7887152" cy="4974731"/>
          </a:xfrm>
          <a:prstGeom prst="rect">
            <a:avLst/>
          </a:prstGeom>
        </p:spPr>
      </p:pic>
      <p:sp>
        <p:nvSpPr>
          <p:cNvPr id="3" name="Slide Number Placeholder 2"/>
          <p:cNvSpPr>
            <a:spLocks noGrp="1"/>
          </p:cNvSpPr>
          <p:nvPr>
            <p:ph type="sldNum" sz="quarter" idx="12"/>
          </p:nvPr>
        </p:nvSpPr>
        <p:spPr/>
        <p:txBody>
          <a:bodyPr/>
          <a:lstStyle/>
          <a:p>
            <a:fld id="{D57F1E4F-1CFF-5643-939E-217C01CDF565}" type="slidenum">
              <a:rPr lang="en-US" smtClean="0"/>
              <a:pPr/>
              <a:t>38</a:t>
            </a:fld>
            <a:endParaRPr lang="en-US" dirty="0"/>
          </a:p>
        </p:txBody>
      </p:sp>
    </p:spTree>
    <p:extLst>
      <p:ext uri="{BB962C8B-B14F-4D97-AF65-F5344CB8AC3E}">
        <p14:creationId xmlns:p14="http://schemas.microsoft.com/office/powerpoint/2010/main" val="3619877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0C1F9F-7F0D-FE44-99DA-00A8FDA0FD9E}"/>
              </a:ext>
            </a:extLst>
          </p:cNvPr>
          <p:cNvSpPr>
            <a:spLocks noGrp="1"/>
          </p:cNvSpPr>
          <p:nvPr>
            <p:ph idx="1"/>
          </p:nvPr>
        </p:nvSpPr>
        <p:spPr>
          <a:xfrm>
            <a:off x="1615943" y="464081"/>
            <a:ext cx="9919566" cy="6077396"/>
          </a:xfrm>
        </p:spPr>
        <p:txBody>
          <a:bodyPr>
            <a:normAutofit/>
          </a:bodyPr>
          <a:lstStyle/>
          <a:p>
            <a:pPr marL="0" indent="0">
              <a:buNone/>
            </a:pPr>
            <a:r>
              <a:rPr lang="en-HK" b="1" dirty="0"/>
              <a:t>Hedging Devices</a:t>
            </a:r>
            <a:endParaRPr lang="en-HK" dirty="0"/>
          </a:p>
          <a:p>
            <a:pPr marL="0" indent="0">
              <a:buNone/>
            </a:pPr>
            <a:r>
              <a:rPr lang="en-HK" dirty="0"/>
              <a:t>There are a number of hedging techniques. They are the use of verbs, modal verbs, adverbs, adjectives, nouns and generalization. </a:t>
            </a:r>
          </a:p>
          <a:p>
            <a:pPr lvl="0"/>
            <a:r>
              <a:rPr lang="en-HK" b="1" dirty="0">
                <a:solidFill>
                  <a:srgbClr val="7030A0"/>
                </a:solidFill>
              </a:rPr>
              <a:t>1. Verbs</a:t>
            </a:r>
          </a:p>
          <a:p>
            <a:pPr marL="400050" lvl="1" indent="0">
              <a:buNone/>
            </a:pPr>
            <a:r>
              <a:rPr lang="en-HK" dirty="0"/>
              <a:t>The following “hedging” verbs are often used in academic writing:</a:t>
            </a:r>
          </a:p>
          <a:p>
            <a:pPr marL="400050" lvl="1" indent="0">
              <a:buNone/>
            </a:pPr>
            <a:r>
              <a:rPr lang="en-HK" b="1" i="1" dirty="0"/>
              <a:t>suggest, indicate, estimate, assume, point to</a:t>
            </a:r>
            <a:endParaRPr lang="en-HK" dirty="0"/>
          </a:p>
          <a:p>
            <a:pPr marL="400050" lvl="1" indent="0">
              <a:buNone/>
            </a:pPr>
            <a:r>
              <a:rPr lang="en-HK" dirty="0"/>
              <a:t>The verbs </a:t>
            </a:r>
            <a:r>
              <a:rPr lang="en-HK" b="1" i="1" dirty="0"/>
              <a:t>appear</a:t>
            </a:r>
            <a:r>
              <a:rPr lang="en-HK" dirty="0"/>
              <a:t> and </a:t>
            </a:r>
            <a:r>
              <a:rPr lang="en-HK" b="1" i="1" dirty="0"/>
              <a:t>seem</a:t>
            </a:r>
            <a:r>
              <a:rPr lang="en-HK" dirty="0"/>
              <a:t> are used when a writer wishes to “distance” himself/herself from the findings (and therefore avoid making a strong claim).</a:t>
            </a:r>
          </a:p>
          <a:p>
            <a:pPr marL="400050" lvl="1" indent="0">
              <a:buNone/>
            </a:pPr>
            <a:r>
              <a:rPr lang="en-HK" dirty="0"/>
              <a:t>Note that the writer also “protects” himself/herself by using the phrase </a:t>
            </a:r>
            <a:r>
              <a:rPr lang="en-HK" b="1" i="1" dirty="0"/>
              <a:t>on the evidence of.</a:t>
            </a:r>
            <a:r>
              <a:rPr lang="en-HK" dirty="0"/>
              <a:t> These expressions are used in a similar way: </a:t>
            </a:r>
            <a:r>
              <a:rPr lang="en-HK" b="1" i="1" dirty="0"/>
              <a:t>according to, on the basis of, based on.</a:t>
            </a:r>
            <a:endParaRPr lang="en-HK" dirty="0"/>
          </a:p>
          <a:p>
            <a:pPr lvl="0"/>
            <a:r>
              <a:rPr lang="en-HK" b="1" dirty="0">
                <a:solidFill>
                  <a:srgbClr val="7030A0"/>
                </a:solidFill>
              </a:rPr>
              <a:t>2. Modal verbs</a:t>
            </a:r>
          </a:p>
          <a:p>
            <a:pPr marL="400050" lvl="1" indent="0">
              <a:buNone/>
            </a:pPr>
            <a:r>
              <a:rPr lang="en-HK" dirty="0"/>
              <a:t>Another way of appearing “confidently uncertain” is to use modal verbs such as </a:t>
            </a:r>
            <a:r>
              <a:rPr lang="en-HK" b="1" i="1" dirty="0"/>
              <a:t>may, might, could</a:t>
            </a:r>
            <a:r>
              <a:rPr lang="en-HK" dirty="0"/>
              <a:t> and </a:t>
            </a:r>
            <a:r>
              <a:rPr lang="en-HK" b="1" i="1" dirty="0"/>
              <a:t>can.</a:t>
            </a:r>
            <a:endParaRPr lang="en-HK" dirty="0"/>
          </a:p>
          <a:p>
            <a:pPr lvl="0"/>
            <a:r>
              <a:rPr lang="en-HK" b="1" dirty="0">
                <a:solidFill>
                  <a:srgbClr val="7030A0"/>
                </a:solidFill>
              </a:rPr>
              <a:t>3. Adverbs</a:t>
            </a:r>
          </a:p>
          <a:p>
            <a:pPr marL="400050" lvl="1" indent="0">
              <a:buNone/>
            </a:pPr>
            <a:r>
              <a:rPr lang="en-HK" dirty="0"/>
              <a:t>The following adverbs are often used when a writer wishes to express caution:</a:t>
            </a:r>
          </a:p>
          <a:p>
            <a:pPr marL="400050" lvl="1" indent="0">
              <a:buNone/>
            </a:pPr>
            <a:r>
              <a:rPr lang="en-HK" b="1" i="1" dirty="0"/>
              <a:t>probably, potentially, possibly, perhaps, maybe, relatively, apparently, arguably, seemingly, presumably, conceivably, comparatively</a:t>
            </a:r>
            <a:endParaRPr lang="en-HK" dirty="0"/>
          </a:p>
          <a:p>
            <a:endParaRPr lang="en-GB"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39</a:t>
            </a:fld>
            <a:endParaRPr lang="en-US" dirty="0"/>
          </a:p>
        </p:txBody>
      </p:sp>
    </p:spTree>
    <p:extLst>
      <p:ext uri="{BB962C8B-B14F-4D97-AF65-F5344CB8AC3E}">
        <p14:creationId xmlns:p14="http://schemas.microsoft.com/office/powerpoint/2010/main" val="1824886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33211D-E859-FC4A-A742-7716E214542E}"/>
              </a:ext>
            </a:extLst>
          </p:cNvPr>
          <p:cNvSpPr>
            <a:spLocks noGrp="1"/>
          </p:cNvSpPr>
          <p:nvPr>
            <p:ph idx="1"/>
          </p:nvPr>
        </p:nvSpPr>
        <p:spPr>
          <a:xfrm>
            <a:off x="1529862" y="1007446"/>
            <a:ext cx="9827797" cy="5847028"/>
          </a:xfrm>
        </p:spPr>
        <p:txBody>
          <a:bodyPr>
            <a:normAutofit/>
          </a:bodyPr>
          <a:lstStyle/>
          <a:p>
            <a:pPr lvl="0"/>
            <a:r>
              <a:rPr lang="en-HK" sz="2000" b="1" dirty="0">
                <a:solidFill>
                  <a:srgbClr val="7030A0"/>
                </a:solidFill>
              </a:rPr>
              <a:t>4. Adjectives</a:t>
            </a:r>
          </a:p>
          <a:p>
            <a:pPr marL="400050" lvl="1" indent="0">
              <a:buNone/>
            </a:pPr>
            <a:r>
              <a:rPr lang="en-HK" sz="2000" dirty="0"/>
              <a:t>Another technique is to use an adjective:</a:t>
            </a:r>
          </a:p>
          <a:p>
            <a:pPr marL="400050" lvl="1" indent="0">
              <a:buNone/>
            </a:pPr>
            <a:r>
              <a:rPr lang="en-HK" sz="2000" b="1" i="1" dirty="0"/>
              <a:t>probable, possible, uncertain, (un)likely, plausible, reasonable</a:t>
            </a:r>
            <a:endParaRPr lang="en-HK" sz="2000" dirty="0"/>
          </a:p>
          <a:p>
            <a:pPr lvl="0"/>
            <a:r>
              <a:rPr lang="en-HK" sz="2000" b="1" dirty="0">
                <a:solidFill>
                  <a:srgbClr val="7030A0"/>
                </a:solidFill>
              </a:rPr>
              <a:t>5. Nouns</a:t>
            </a:r>
          </a:p>
          <a:p>
            <a:pPr marL="400050" lvl="1" indent="0">
              <a:buNone/>
            </a:pPr>
            <a:r>
              <a:rPr lang="en-HK" sz="2000" dirty="0"/>
              <a:t>The following nouns are often used in academic writing:</a:t>
            </a:r>
          </a:p>
          <a:p>
            <a:pPr marL="400050" lvl="1" indent="0">
              <a:buNone/>
            </a:pPr>
            <a:r>
              <a:rPr lang="en-HK" sz="2000" b="1" i="1" dirty="0"/>
              <a:t>probability, possibility, assumption, evidence, likelihood, claim, potential</a:t>
            </a:r>
            <a:endParaRPr lang="en-HK" sz="2000" dirty="0"/>
          </a:p>
          <a:p>
            <a:pPr lvl="0"/>
            <a:r>
              <a:rPr lang="en-HK" sz="2000" b="1" dirty="0">
                <a:solidFill>
                  <a:srgbClr val="7030A0"/>
                </a:solidFill>
              </a:rPr>
              <a:t>6. Generalization</a:t>
            </a:r>
          </a:p>
          <a:p>
            <a:pPr marL="400050" lvl="1" indent="0">
              <a:buNone/>
            </a:pPr>
            <a:r>
              <a:rPr lang="en-HK" sz="2000" dirty="0"/>
              <a:t>There are several ways in which you can qualify a generalization.</a:t>
            </a:r>
          </a:p>
          <a:p>
            <a:pPr marL="400050" lvl="1" indent="0">
              <a:buNone/>
            </a:pPr>
            <a:r>
              <a:rPr lang="en-HK" sz="2000" dirty="0"/>
              <a:t>(</a:t>
            </a:r>
            <a:r>
              <a:rPr lang="en-HK" sz="2000" dirty="0" err="1"/>
              <a:t>i</a:t>
            </a:r>
            <a:r>
              <a:rPr lang="en-HK" sz="2000" dirty="0"/>
              <a:t>). You can use the verb</a:t>
            </a:r>
            <a:r>
              <a:rPr lang="en-HK" sz="2000" b="1" i="1" dirty="0"/>
              <a:t> tend</a:t>
            </a:r>
            <a:r>
              <a:rPr lang="en-HK" sz="2000" dirty="0"/>
              <a:t> or the noun (have/be a) </a:t>
            </a:r>
            <a:r>
              <a:rPr lang="en-HK" sz="2000" b="1" i="1" dirty="0"/>
              <a:t>tendency</a:t>
            </a:r>
            <a:r>
              <a:rPr lang="en-HK" sz="2000" dirty="0"/>
              <a:t> (to).</a:t>
            </a:r>
          </a:p>
          <a:p>
            <a:pPr marL="400050" lvl="1" indent="0">
              <a:buNone/>
            </a:pPr>
            <a:r>
              <a:rPr lang="en-HK" sz="2000" dirty="0"/>
              <a:t>(ii). You can use an adverb such as: </a:t>
            </a:r>
            <a:r>
              <a:rPr lang="en-HK" sz="2000" b="1" i="1" dirty="0"/>
              <a:t>generally, largely, primarily, for the most part, predominantly, mainly, usually, to a greater extent</a:t>
            </a:r>
            <a:endParaRPr lang="en-HK" sz="2000" dirty="0"/>
          </a:p>
          <a:p>
            <a:pPr marL="0" indent="0">
              <a:buNone/>
            </a:pPr>
            <a:r>
              <a:rPr lang="en-HK" sz="2200" b="1" i="1" dirty="0"/>
              <a:t> </a:t>
            </a:r>
            <a:endParaRPr lang="en-HK" sz="2200" dirty="0"/>
          </a:p>
          <a:p>
            <a:endParaRPr lang="en-GB"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40</a:t>
            </a:fld>
            <a:endParaRPr lang="en-US" dirty="0"/>
          </a:p>
        </p:txBody>
      </p:sp>
    </p:spTree>
    <p:extLst>
      <p:ext uri="{BB962C8B-B14F-4D97-AF65-F5344CB8AC3E}">
        <p14:creationId xmlns:p14="http://schemas.microsoft.com/office/powerpoint/2010/main" val="2270247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64796"/>
            <a:ext cx="3650279" cy="1259894"/>
          </a:xfrm>
        </p:spPr>
        <p:txBody>
          <a:bodyPr>
            <a:normAutofit/>
          </a:bodyPr>
          <a:lstStyle/>
          <a:p>
            <a:r>
              <a:rPr lang="en-US" dirty="0"/>
              <a:t>Task 9</a:t>
            </a:r>
          </a:p>
        </p:txBody>
      </p:sp>
      <p:sp>
        <p:nvSpPr>
          <p:cNvPr id="4" name="Rectangle 3">
            <a:extLst>
              <a:ext uri="{FF2B5EF4-FFF2-40B4-BE49-F238E27FC236}">
                <a16:creationId xmlns:a16="http://schemas.microsoft.com/office/drawing/2014/main" id="{9687727D-DD3E-5D42-B59B-FD4C592033B4}"/>
              </a:ext>
            </a:extLst>
          </p:cNvPr>
          <p:cNvSpPr/>
          <p:nvPr/>
        </p:nvSpPr>
        <p:spPr>
          <a:xfrm>
            <a:off x="1711526" y="826387"/>
            <a:ext cx="9823982" cy="5878532"/>
          </a:xfrm>
          <a:prstGeom prst="rect">
            <a:avLst/>
          </a:prstGeom>
        </p:spPr>
        <p:txBody>
          <a:bodyPr wrap="square">
            <a:spAutoFit/>
          </a:bodyPr>
          <a:lstStyle/>
          <a:p>
            <a:pPr>
              <a:lnSpc>
                <a:spcPct val="200000"/>
              </a:lnSpc>
            </a:pPr>
            <a:r>
              <a:rPr lang="en-HK" b="1" dirty="0"/>
              <a:t>Underline the verb that makes the weaker claim.</a:t>
            </a:r>
          </a:p>
          <a:p>
            <a:pPr marL="342900" lvl="0" indent="-342900">
              <a:buFont typeface="+mj-lt"/>
              <a:buAutoNum type="arabicPeriod"/>
            </a:pPr>
            <a:r>
              <a:rPr lang="en-HK" sz="1700" dirty="0"/>
              <a:t>The results (indicate/establish) that there is a link between smoking and lung cancer.</a:t>
            </a:r>
          </a:p>
          <a:p>
            <a:pPr marL="342900" indent="-342900">
              <a:buFont typeface="+mj-lt"/>
              <a:buAutoNum type="arabicPeriod"/>
            </a:pPr>
            <a:endParaRPr lang="en-HK" sz="1700" dirty="0"/>
          </a:p>
          <a:p>
            <a:pPr marL="342900" lvl="0" indent="-342900">
              <a:buFont typeface="+mj-lt"/>
              <a:buAutoNum type="arabicPeriod"/>
            </a:pPr>
            <a:r>
              <a:rPr lang="en-HK" sz="1700" dirty="0"/>
              <a:t>The survey results (suggest/show) that the reuse of sentences on sections from one’s previously published papers is a questionable practice.</a:t>
            </a:r>
          </a:p>
          <a:p>
            <a:pPr marL="342900" indent="-342900">
              <a:buFont typeface="+mj-lt"/>
              <a:buAutoNum type="arabicPeriod"/>
            </a:pPr>
            <a:endParaRPr lang="en-HK" sz="1700" dirty="0"/>
          </a:p>
          <a:p>
            <a:pPr marL="342900" lvl="0" indent="-342900">
              <a:buFont typeface="+mj-lt"/>
              <a:buAutoNum type="arabicPeriod"/>
            </a:pPr>
            <a:r>
              <a:rPr lang="en-HK" sz="1700" dirty="0"/>
              <a:t>The latest series of studies (question/challenge) the value of including consumer expectations in the assessment of service quality.</a:t>
            </a:r>
          </a:p>
          <a:p>
            <a:pPr marL="342900" indent="-342900">
              <a:buFont typeface="+mj-lt"/>
              <a:buAutoNum type="arabicPeriod"/>
            </a:pPr>
            <a:endParaRPr lang="en-HK" sz="1700" dirty="0"/>
          </a:p>
          <a:p>
            <a:pPr marL="342900" lvl="0" indent="-342900">
              <a:buFont typeface="+mj-lt"/>
              <a:buAutoNum type="arabicPeriod"/>
            </a:pPr>
            <a:r>
              <a:rPr lang="en-HK" sz="1700" dirty="0"/>
              <a:t>The results given in Figure 4 (validate/support) the second conclusion that certain bacteria can reduce arsenic (As) levels in groundwater.</a:t>
            </a:r>
          </a:p>
          <a:p>
            <a:pPr marL="342900" indent="-342900">
              <a:buFont typeface="+mj-lt"/>
              <a:buAutoNum type="arabicPeriod"/>
            </a:pPr>
            <a:endParaRPr lang="en-HK" sz="1700" dirty="0"/>
          </a:p>
          <a:p>
            <a:pPr marL="342900" lvl="0" indent="-342900">
              <a:buFont typeface="+mj-lt"/>
              <a:buAutoNum type="arabicPeriod"/>
            </a:pPr>
            <a:r>
              <a:rPr lang="en-HK" sz="1700" dirty="0"/>
              <a:t>Baseline conditions have been (assumed/shown) to be accurate at the time of the surveys.</a:t>
            </a:r>
          </a:p>
          <a:p>
            <a:pPr marL="342900" indent="-342900">
              <a:buFont typeface="+mj-lt"/>
              <a:buAutoNum type="arabicPeriod"/>
            </a:pPr>
            <a:endParaRPr lang="en-HK" sz="1700" dirty="0"/>
          </a:p>
          <a:p>
            <a:pPr marL="342900" lvl="0" indent="-342900">
              <a:buFont typeface="+mj-lt"/>
              <a:buAutoNum type="arabicPeriod"/>
            </a:pPr>
            <a:r>
              <a:rPr lang="en-HK" sz="1700" dirty="0"/>
              <a:t>Several studies have (identified/alluded to) the importance of cultural sensitivity as a precursor to culturally appropriate medical care.</a:t>
            </a:r>
          </a:p>
          <a:p>
            <a:pPr marL="342900" indent="-342900">
              <a:buFont typeface="+mj-lt"/>
              <a:buAutoNum type="arabicPeriod"/>
            </a:pPr>
            <a:endParaRPr lang="en-HK" sz="1700" dirty="0"/>
          </a:p>
          <a:p>
            <a:pPr marL="342900" lvl="0" indent="-342900">
              <a:buFont typeface="+mj-lt"/>
              <a:buAutoNum type="arabicPeriod"/>
            </a:pPr>
            <a:r>
              <a:rPr lang="en-HK" sz="1700" dirty="0"/>
              <a:t>Changes in ambient temperature may have (influenced/distorted) the test results.</a:t>
            </a:r>
          </a:p>
          <a:p>
            <a:pPr marL="342900" indent="-342900">
              <a:buFont typeface="+mj-lt"/>
              <a:buAutoNum type="arabicPeriod"/>
            </a:pPr>
            <a:endParaRPr lang="en-HK" sz="1700" dirty="0"/>
          </a:p>
          <a:p>
            <a:pPr marL="342900" lvl="0" indent="-342900">
              <a:buFont typeface="+mj-lt"/>
              <a:buAutoNum type="arabicPeriod"/>
            </a:pPr>
            <a:r>
              <a:rPr lang="en-HK" sz="1700" dirty="0"/>
              <a:t>Figure 10 (depicts/clarifies) the relationship between these two systems.</a:t>
            </a:r>
          </a:p>
        </p:txBody>
      </p:sp>
      <p:sp>
        <p:nvSpPr>
          <p:cNvPr id="3" name="Slide Number Placeholder 2"/>
          <p:cNvSpPr>
            <a:spLocks noGrp="1"/>
          </p:cNvSpPr>
          <p:nvPr>
            <p:ph type="sldNum" sz="quarter" idx="12"/>
          </p:nvPr>
        </p:nvSpPr>
        <p:spPr/>
        <p:txBody>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3144262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2277" y="522960"/>
            <a:ext cx="3650279" cy="1259894"/>
          </a:xfrm>
        </p:spPr>
        <p:txBody>
          <a:bodyPr>
            <a:normAutofit/>
          </a:bodyPr>
          <a:lstStyle/>
          <a:p>
            <a:r>
              <a:rPr lang="en-US" dirty="0"/>
              <a:t>Task 9</a:t>
            </a:r>
          </a:p>
        </p:txBody>
      </p:sp>
      <p:sp>
        <p:nvSpPr>
          <p:cNvPr id="4" name="Rectangle 3">
            <a:extLst>
              <a:ext uri="{FF2B5EF4-FFF2-40B4-BE49-F238E27FC236}">
                <a16:creationId xmlns:a16="http://schemas.microsoft.com/office/drawing/2014/main" id="{9687727D-DD3E-5D42-B59B-FD4C592033B4}"/>
              </a:ext>
            </a:extLst>
          </p:cNvPr>
          <p:cNvSpPr/>
          <p:nvPr/>
        </p:nvSpPr>
        <p:spPr>
          <a:xfrm>
            <a:off x="1512277" y="1152907"/>
            <a:ext cx="10679723" cy="5324535"/>
          </a:xfrm>
          <a:prstGeom prst="rect">
            <a:avLst/>
          </a:prstGeom>
        </p:spPr>
        <p:txBody>
          <a:bodyPr wrap="square">
            <a:spAutoFit/>
          </a:bodyPr>
          <a:lstStyle/>
          <a:p>
            <a:pPr>
              <a:lnSpc>
                <a:spcPct val="200000"/>
              </a:lnSpc>
            </a:pPr>
            <a:r>
              <a:rPr lang="en-HK" b="1" dirty="0"/>
              <a:t>Underline the verb that makes the weaker claim.</a:t>
            </a:r>
          </a:p>
          <a:p>
            <a:pPr marL="342900" lvl="0" indent="-342900">
              <a:buFont typeface="+mj-lt"/>
              <a:buAutoNum type="arabicPeriod"/>
            </a:pPr>
            <a:r>
              <a:rPr lang="en-HK" sz="1600" dirty="0">
                <a:solidFill>
                  <a:srgbClr val="0070C0"/>
                </a:solidFill>
              </a:rPr>
              <a:t>The results (</a:t>
            </a:r>
            <a:r>
              <a:rPr lang="en-HK" sz="1600" b="1" u="sng" dirty="0">
                <a:solidFill>
                  <a:srgbClr val="0070C0"/>
                </a:solidFill>
              </a:rPr>
              <a:t>indicate</a:t>
            </a:r>
            <a:r>
              <a:rPr lang="en-HK" sz="1600" dirty="0">
                <a:solidFill>
                  <a:srgbClr val="0070C0"/>
                </a:solidFill>
              </a:rPr>
              <a:t>/establish) that there is a link between smoking and lung cancer.</a:t>
            </a:r>
          </a:p>
          <a:p>
            <a:pPr marL="342900" indent="-342900">
              <a:buFont typeface="+mj-lt"/>
              <a:buAutoNum type="arabicPeriod"/>
            </a:pPr>
            <a:endParaRPr lang="en-HK" sz="1600" dirty="0">
              <a:solidFill>
                <a:srgbClr val="0070C0"/>
              </a:solidFill>
            </a:endParaRPr>
          </a:p>
          <a:p>
            <a:pPr marL="342900" lvl="0" indent="-342900">
              <a:buFont typeface="+mj-lt"/>
              <a:buAutoNum type="arabicPeriod"/>
            </a:pPr>
            <a:r>
              <a:rPr lang="en-HK" sz="1600" dirty="0">
                <a:solidFill>
                  <a:srgbClr val="0070C0"/>
                </a:solidFill>
              </a:rPr>
              <a:t>The survey results </a:t>
            </a:r>
            <a:r>
              <a:rPr lang="en-HK" sz="1600" b="1" u="sng" dirty="0">
                <a:solidFill>
                  <a:srgbClr val="0070C0"/>
                </a:solidFill>
              </a:rPr>
              <a:t>(suggest</a:t>
            </a:r>
            <a:r>
              <a:rPr lang="en-HK" sz="1600" dirty="0">
                <a:solidFill>
                  <a:srgbClr val="0070C0"/>
                </a:solidFill>
              </a:rPr>
              <a:t>/show) that the reuse of sentences on sections from one’s previously published papers is a questionable practice.</a:t>
            </a:r>
          </a:p>
          <a:p>
            <a:pPr marL="342900" indent="-342900">
              <a:buFont typeface="+mj-lt"/>
              <a:buAutoNum type="arabicPeriod"/>
            </a:pPr>
            <a:endParaRPr lang="en-HK" sz="1600" dirty="0">
              <a:solidFill>
                <a:srgbClr val="0070C0"/>
              </a:solidFill>
            </a:endParaRPr>
          </a:p>
          <a:p>
            <a:pPr marL="342900" lvl="0" indent="-342900">
              <a:buFont typeface="+mj-lt"/>
              <a:buAutoNum type="arabicPeriod"/>
            </a:pPr>
            <a:r>
              <a:rPr lang="en-HK" sz="1600" dirty="0">
                <a:solidFill>
                  <a:srgbClr val="0070C0"/>
                </a:solidFill>
              </a:rPr>
              <a:t>The latest series of studies (</a:t>
            </a:r>
            <a:r>
              <a:rPr lang="en-HK" sz="1600" b="1" u="sng" dirty="0">
                <a:solidFill>
                  <a:srgbClr val="0070C0"/>
                </a:solidFill>
              </a:rPr>
              <a:t>question</a:t>
            </a:r>
            <a:r>
              <a:rPr lang="en-HK" sz="1600" dirty="0">
                <a:solidFill>
                  <a:srgbClr val="0070C0"/>
                </a:solidFill>
              </a:rPr>
              <a:t>/challenge) the value of including consumer expectations in the assessment of service quality.</a:t>
            </a:r>
          </a:p>
          <a:p>
            <a:pPr marL="342900" indent="-342900">
              <a:buFont typeface="+mj-lt"/>
              <a:buAutoNum type="arabicPeriod"/>
            </a:pPr>
            <a:endParaRPr lang="en-HK" sz="1600" dirty="0">
              <a:solidFill>
                <a:srgbClr val="0070C0"/>
              </a:solidFill>
            </a:endParaRPr>
          </a:p>
          <a:p>
            <a:pPr marL="342900" lvl="0" indent="-342900">
              <a:buFont typeface="+mj-lt"/>
              <a:buAutoNum type="arabicPeriod"/>
            </a:pPr>
            <a:r>
              <a:rPr lang="en-HK" sz="1600" dirty="0">
                <a:solidFill>
                  <a:srgbClr val="0070C0"/>
                </a:solidFill>
              </a:rPr>
              <a:t>The results given in Figure 4 (validate/</a:t>
            </a:r>
            <a:r>
              <a:rPr lang="en-HK" sz="1600" b="1" u="sng" dirty="0">
                <a:solidFill>
                  <a:srgbClr val="0070C0"/>
                </a:solidFill>
              </a:rPr>
              <a:t>support</a:t>
            </a:r>
            <a:r>
              <a:rPr lang="en-HK" sz="1600" dirty="0">
                <a:solidFill>
                  <a:srgbClr val="0070C0"/>
                </a:solidFill>
              </a:rPr>
              <a:t>) the second conclusion that certain bacteria can reduce arsenic (As) levels in groundwater.</a:t>
            </a:r>
          </a:p>
          <a:p>
            <a:pPr marL="342900" indent="-342900">
              <a:buFont typeface="+mj-lt"/>
              <a:buAutoNum type="arabicPeriod"/>
            </a:pPr>
            <a:endParaRPr lang="en-HK" sz="1600" dirty="0">
              <a:solidFill>
                <a:srgbClr val="0070C0"/>
              </a:solidFill>
            </a:endParaRPr>
          </a:p>
          <a:p>
            <a:pPr marL="342900" lvl="0" indent="-342900">
              <a:buFont typeface="+mj-lt"/>
              <a:buAutoNum type="arabicPeriod"/>
            </a:pPr>
            <a:r>
              <a:rPr lang="en-HK" sz="1600" dirty="0">
                <a:solidFill>
                  <a:srgbClr val="0070C0"/>
                </a:solidFill>
              </a:rPr>
              <a:t>Baseline conditions have been (</a:t>
            </a:r>
            <a:r>
              <a:rPr lang="en-HK" sz="1600" b="1" u="sng" dirty="0">
                <a:solidFill>
                  <a:srgbClr val="0070C0"/>
                </a:solidFill>
              </a:rPr>
              <a:t>assumed</a:t>
            </a:r>
            <a:r>
              <a:rPr lang="en-HK" sz="1600" dirty="0">
                <a:solidFill>
                  <a:srgbClr val="0070C0"/>
                </a:solidFill>
              </a:rPr>
              <a:t>/shown) to be accurate at the time of the surveys.</a:t>
            </a:r>
          </a:p>
          <a:p>
            <a:pPr marL="342900" indent="-342900">
              <a:buFont typeface="+mj-lt"/>
              <a:buAutoNum type="arabicPeriod"/>
            </a:pPr>
            <a:endParaRPr lang="en-HK" sz="1600" dirty="0">
              <a:solidFill>
                <a:srgbClr val="0070C0"/>
              </a:solidFill>
            </a:endParaRPr>
          </a:p>
          <a:p>
            <a:pPr marL="342900" lvl="0" indent="-342900">
              <a:buFont typeface="+mj-lt"/>
              <a:buAutoNum type="arabicPeriod"/>
            </a:pPr>
            <a:r>
              <a:rPr lang="en-HK" sz="1600" dirty="0">
                <a:solidFill>
                  <a:srgbClr val="0070C0"/>
                </a:solidFill>
              </a:rPr>
              <a:t>Several studies have (identified/</a:t>
            </a:r>
            <a:r>
              <a:rPr lang="en-HK" sz="1600" b="1" u="sng" dirty="0">
                <a:solidFill>
                  <a:srgbClr val="0070C0"/>
                </a:solidFill>
              </a:rPr>
              <a:t>alluded to</a:t>
            </a:r>
            <a:r>
              <a:rPr lang="en-HK" sz="1600" dirty="0">
                <a:solidFill>
                  <a:srgbClr val="0070C0"/>
                </a:solidFill>
              </a:rPr>
              <a:t>) the importance of cultural sensitivity as a precursor to culturally appropriate medical care.</a:t>
            </a:r>
          </a:p>
          <a:p>
            <a:pPr marL="342900" indent="-342900">
              <a:buFont typeface="+mj-lt"/>
              <a:buAutoNum type="arabicPeriod"/>
            </a:pPr>
            <a:endParaRPr lang="en-HK" sz="1600" dirty="0">
              <a:solidFill>
                <a:srgbClr val="0070C0"/>
              </a:solidFill>
            </a:endParaRPr>
          </a:p>
          <a:p>
            <a:pPr marL="342900" lvl="0" indent="-342900">
              <a:buFont typeface="+mj-lt"/>
              <a:buAutoNum type="arabicPeriod"/>
            </a:pPr>
            <a:r>
              <a:rPr lang="en-HK" sz="1600" dirty="0">
                <a:solidFill>
                  <a:srgbClr val="0070C0"/>
                </a:solidFill>
              </a:rPr>
              <a:t>Changes in ambient temperature may have (</a:t>
            </a:r>
            <a:r>
              <a:rPr lang="en-HK" sz="1600" b="1" u="sng" dirty="0">
                <a:solidFill>
                  <a:srgbClr val="0070C0"/>
                </a:solidFill>
              </a:rPr>
              <a:t>influenced</a:t>
            </a:r>
            <a:r>
              <a:rPr lang="en-HK" sz="1600" dirty="0">
                <a:solidFill>
                  <a:srgbClr val="0070C0"/>
                </a:solidFill>
              </a:rPr>
              <a:t>/distorted) the test results.</a:t>
            </a:r>
          </a:p>
          <a:p>
            <a:pPr marL="342900" indent="-342900">
              <a:buFont typeface="+mj-lt"/>
              <a:buAutoNum type="arabicPeriod"/>
            </a:pPr>
            <a:endParaRPr lang="en-HK" sz="1600" dirty="0">
              <a:solidFill>
                <a:srgbClr val="0070C0"/>
              </a:solidFill>
            </a:endParaRPr>
          </a:p>
          <a:p>
            <a:pPr marL="342900" lvl="0" indent="-342900">
              <a:buFont typeface="+mj-lt"/>
              <a:buAutoNum type="arabicPeriod"/>
            </a:pPr>
            <a:r>
              <a:rPr lang="en-HK" sz="1600" dirty="0">
                <a:solidFill>
                  <a:srgbClr val="0070C0"/>
                </a:solidFill>
              </a:rPr>
              <a:t>Figure 10 (</a:t>
            </a:r>
            <a:r>
              <a:rPr lang="en-HK" sz="1600" b="1" u="sng" dirty="0">
                <a:solidFill>
                  <a:srgbClr val="0070C0"/>
                </a:solidFill>
              </a:rPr>
              <a:t>depicts</a:t>
            </a:r>
            <a:r>
              <a:rPr lang="en-HK" sz="1600" dirty="0">
                <a:solidFill>
                  <a:srgbClr val="0070C0"/>
                </a:solidFill>
              </a:rPr>
              <a:t>/clarifies) the relationship between these two systems.</a:t>
            </a:r>
          </a:p>
        </p:txBody>
      </p:sp>
      <p:sp>
        <p:nvSpPr>
          <p:cNvPr id="3" name="Slide Number Placeholder 2"/>
          <p:cNvSpPr>
            <a:spLocks noGrp="1"/>
          </p:cNvSpPr>
          <p:nvPr>
            <p:ph type="sldNum" sz="quarter" idx="12"/>
          </p:nvPr>
        </p:nvSpPr>
        <p:spPr/>
        <p:txBody>
          <a:bodyPr/>
          <a:lstStyle/>
          <a:p>
            <a:fld id="{D57F1E4F-1CFF-5643-939E-217C01CDF565}" type="slidenum">
              <a:rPr lang="en-US" smtClean="0"/>
              <a:pPr/>
              <a:t>42</a:t>
            </a:fld>
            <a:endParaRPr lang="en-US" dirty="0"/>
          </a:p>
        </p:txBody>
      </p:sp>
    </p:spTree>
    <p:extLst>
      <p:ext uri="{BB962C8B-B14F-4D97-AF65-F5344CB8AC3E}">
        <p14:creationId xmlns:p14="http://schemas.microsoft.com/office/powerpoint/2010/main" val="6240326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B73D3-B337-BE7C-1214-A29F6AA90069}"/>
              </a:ext>
            </a:extLst>
          </p:cNvPr>
          <p:cNvSpPr>
            <a:spLocks noGrp="1"/>
          </p:cNvSpPr>
          <p:nvPr>
            <p:ph type="title"/>
          </p:nvPr>
        </p:nvSpPr>
        <p:spPr>
          <a:xfrm>
            <a:off x="1887072" y="306333"/>
            <a:ext cx="8911687" cy="1280890"/>
          </a:xfrm>
        </p:spPr>
        <p:txBody>
          <a:bodyPr/>
          <a:lstStyle/>
          <a:p>
            <a:r>
              <a:rPr lang="en-US" dirty="0"/>
              <a:t>Task 10</a:t>
            </a:r>
            <a:endParaRPr lang="en-HK" dirty="0"/>
          </a:p>
        </p:txBody>
      </p:sp>
      <p:sp>
        <p:nvSpPr>
          <p:cNvPr id="3" name="Content Placeholder 2">
            <a:extLst>
              <a:ext uri="{FF2B5EF4-FFF2-40B4-BE49-F238E27FC236}">
                <a16:creationId xmlns:a16="http://schemas.microsoft.com/office/drawing/2014/main" id="{21A4BF49-9665-96D8-D6AC-B7077C585F26}"/>
              </a:ext>
            </a:extLst>
          </p:cNvPr>
          <p:cNvSpPr>
            <a:spLocks noGrp="1"/>
          </p:cNvSpPr>
          <p:nvPr>
            <p:ph idx="1"/>
          </p:nvPr>
        </p:nvSpPr>
        <p:spPr>
          <a:xfrm>
            <a:off x="1883359" y="970344"/>
            <a:ext cx="8915400" cy="3777622"/>
          </a:xfrm>
        </p:spPr>
        <p:txBody>
          <a:bodyPr/>
          <a:lstStyle/>
          <a:p>
            <a:pPr marL="0" indent="0">
              <a:buNone/>
            </a:pPr>
            <a:r>
              <a:rPr lang="en-HK" dirty="0"/>
              <a:t>Identify expressions that demonstrate the language features or rhetorical functions listed in Column A, as used in the Discussion section of journal articles from your discipline. Record these expressions in Column B.</a:t>
            </a:r>
          </a:p>
          <a:p>
            <a:pPr marL="0" indent="0">
              <a:buNone/>
            </a:pPr>
            <a:endParaRPr lang="en-HK" dirty="0"/>
          </a:p>
        </p:txBody>
      </p:sp>
      <p:sp>
        <p:nvSpPr>
          <p:cNvPr id="4" name="Slide Number Placeholder 3">
            <a:extLst>
              <a:ext uri="{FF2B5EF4-FFF2-40B4-BE49-F238E27FC236}">
                <a16:creationId xmlns:a16="http://schemas.microsoft.com/office/drawing/2014/main" id="{BD0A1D43-CB24-B9E1-25B5-7DED86C80CB2}"/>
              </a:ext>
            </a:extLst>
          </p:cNvPr>
          <p:cNvSpPr>
            <a:spLocks noGrp="1"/>
          </p:cNvSpPr>
          <p:nvPr>
            <p:ph type="sldNum" sz="quarter" idx="12"/>
          </p:nvPr>
        </p:nvSpPr>
        <p:spPr/>
        <p:txBody>
          <a:bodyPr/>
          <a:lstStyle/>
          <a:p>
            <a:fld id="{D57F1E4F-1CFF-5643-939E-217C01CDF565}" type="slidenum">
              <a:rPr lang="en-US" smtClean="0"/>
              <a:pPr/>
              <a:t>43</a:t>
            </a:fld>
            <a:endParaRPr lang="en-US" dirty="0"/>
          </a:p>
        </p:txBody>
      </p:sp>
      <p:graphicFrame>
        <p:nvGraphicFramePr>
          <p:cNvPr id="5" name="Table 4">
            <a:extLst>
              <a:ext uri="{FF2B5EF4-FFF2-40B4-BE49-F238E27FC236}">
                <a16:creationId xmlns:a16="http://schemas.microsoft.com/office/drawing/2014/main" id="{DC34AF9A-4408-6E8B-3F3D-C0AF6986ABF7}"/>
              </a:ext>
            </a:extLst>
          </p:cNvPr>
          <p:cNvGraphicFramePr>
            <a:graphicFrameLocks noGrp="1"/>
          </p:cNvGraphicFramePr>
          <p:nvPr>
            <p:extLst>
              <p:ext uri="{D42A27DB-BD31-4B8C-83A1-F6EECF244321}">
                <p14:modId xmlns:p14="http://schemas.microsoft.com/office/powerpoint/2010/main" val="4293979331"/>
              </p:ext>
            </p:extLst>
          </p:nvPr>
        </p:nvGraphicFramePr>
        <p:xfrm>
          <a:off x="2011695" y="2000660"/>
          <a:ext cx="5832893" cy="4720981"/>
        </p:xfrm>
        <a:graphic>
          <a:graphicData uri="http://schemas.openxmlformats.org/drawingml/2006/table">
            <a:tbl>
              <a:tblPr firstRow="1" firstCol="1" bandRow="1"/>
              <a:tblGrid>
                <a:gridCol w="2383005">
                  <a:extLst>
                    <a:ext uri="{9D8B030D-6E8A-4147-A177-3AD203B41FA5}">
                      <a16:colId xmlns:a16="http://schemas.microsoft.com/office/drawing/2014/main" val="2738496593"/>
                    </a:ext>
                  </a:extLst>
                </a:gridCol>
                <a:gridCol w="3449888">
                  <a:extLst>
                    <a:ext uri="{9D8B030D-6E8A-4147-A177-3AD203B41FA5}">
                      <a16:colId xmlns:a16="http://schemas.microsoft.com/office/drawing/2014/main" val="241039975"/>
                    </a:ext>
                  </a:extLst>
                </a:gridCol>
              </a:tblGrid>
              <a:tr h="211661">
                <a:tc>
                  <a:txBody>
                    <a:bodyPr/>
                    <a:lstStyle/>
                    <a:p>
                      <a:pPr algn="just">
                        <a:lnSpc>
                          <a:spcPct val="115000"/>
                        </a:lnSpc>
                        <a:spcAft>
                          <a:spcPts val="1000"/>
                        </a:spcAft>
                        <a:buNone/>
                      </a:pPr>
                      <a:r>
                        <a:rPr lang="en-US" sz="1100" b="1">
                          <a:effectLst/>
                          <a:latin typeface="Calibri" panose="020F0502020204030204" pitchFamily="34" charset="0"/>
                          <a:ea typeface="DengXian" panose="02010600030101010101" pitchFamily="2" charset="-122"/>
                          <a:cs typeface="Times New Roman" panose="02020603050405020304" pitchFamily="18" charset="0"/>
                        </a:rPr>
                        <a:t>Column A</a:t>
                      </a:r>
                      <a:endParaRPr lang="en-HK"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pPr>
                      <a:r>
                        <a:rPr lang="en-US" sz="1100" b="1">
                          <a:effectLst/>
                          <a:latin typeface="Calibri" panose="020F0502020204030204" pitchFamily="34" charset="0"/>
                          <a:ea typeface="DengXian" panose="02010600030101010101" pitchFamily="2" charset="-122"/>
                          <a:cs typeface="Times New Roman" panose="02020603050405020304" pitchFamily="18" charset="0"/>
                        </a:rPr>
                        <a:t>Column B</a:t>
                      </a:r>
                      <a:endParaRPr lang="en-HK"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3404329"/>
                  </a:ext>
                </a:extLst>
              </a:tr>
              <a:tr h="901864">
                <a:tc>
                  <a:txBody>
                    <a:bodyPr/>
                    <a:lstStyle/>
                    <a:p>
                      <a:pPr algn="l">
                        <a:lnSpc>
                          <a:spcPct val="115000"/>
                        </a:lnSpc>
                        <a:buNone/>
                      </a:pPr>
                      <a:r>
                        <a:rPr lang="en-US" sz="1400" b="1">
                          <a:effectLst/>
                          <a:latin typeface="Calibri" panose="020F0502020204030204" pitchFamily="34" charset="0"/>
                          <a:ea typeface="DengXian" panose="02010600030101010101" pitchFamily="2" charset="-122"/>
                          <a:cs typeface="Times New Roman" panose="02020603050405020304" pitchFamily="18" charset="0"/>
                        </a:rPr>
                        <a:t>Interpreting the results </a:t>
                      </a:r>
                      <a:endParaRPr lang="en-H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algn="just">
                        <a:lnSpc>
                          <a:spcPct val="115000"/>
                        </a:lnSpc>
                        <a:spcAft>
                          <a:spcPts val="1000"/>
                        </a:spcAft>
                        <a:buNone/>
                      </a:pPr>
                      <a:r>
                        <a:rPr lang="en-US" sz="1000" dirty="0">
                          <a:effectLst/>
                          <a:latin typeface="Calibri" panose="020F0502020204030204" pitchFamily="34" charset="0"/>
                          <a:ea typeface="DengXian" panose="02010600030101010101" pitchFamily="2" charset="-122"/>
                          <a:cs typeface="Calibri" panose="020F0502020204030204" pitchFamily="34" charset="0"/>
                        </a:rPr>
                        <a:t> </a:t>
                      </a:r>
                      <a:endParaRPr lang="en-HK" sz="1100" dirty="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dirty="0">
                          <a:effectLst/>
                          <a:latin typeface="Calibri" panose="020F0502020204030204" pitchFamily="34" charset="0"/>
                          <a:ea typeface="DengXian" panose="02010600030101010101" pitchFamily="2" charset="-122"/>
                          <a:cs typeface="Calibri" panose="020F0502020204030204" pitchFamily="34" charset="0"/>
                        </a:rPr>
                        <a:t> </a:t>
                      </a:r>
                      <a:endParaRPr lang="en-HK" sz="1100" dirty="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dirty="0">
                          <a:effectLst/>
                          <a:latin typeface="Calibri" panose="020F0502020204030204" pitchFamily="34" charset="0"/>
                          <a:ea typeface="DengXian" panose="02010600030101010101" pitchFamily="2" charset="-122"/>
                          <a:cs typeface="Calibri" panose="020F0502020204030204" pitchFamily="34" charset="0"/>
                        </a:rPr>
                        <a:t> </a:t>
                      </a:r>
                      <a:endParaRPr lang="en-HK" sz="1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7953891"/>
                  </a:ext>
                </a:extLst>
              </a:tr>
              <a:tr h="901864">
                <a:tc>
                  <a:txBody>
                    <a:bodyPr/>
                    <a:lstStyle/>
                    <a:p>
                      <a:pPr algn="l">
                        <a:lnSpc>
                          <a:spcPct val="115000"/>
                        </a:lnSpc>
                        <a:buNone/>
                      </a:pPr>
                      <a:r>
                        <a:rPr lang="en-US" sz="1400" b="1">
                          <a:effectLst/>
                          <a:latin typeface="Calibri" panose="020F0502020204030204" pitchFamily="34" charset="0"/>
                          <a:ea typeface="DengXian" panose="02010600030101010101" pitchFamily="2" charset="-122"/>
                          <a:cs typeface="Times New Roman" panose="02020603050405020304" pitchFamily="18" charset="0"/>
                        </a:rPr>
                        <a:t>Comparison with previous studies</a:t>
                      </a:r>
                      <a:endParaRPr lang="en-H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4572639"/>
                  </a:ext>
                </a:extLst>
              </a:tr>
              <a:tr h="901864">
                <a:tc>
                  <a:txBody>
                    <a:bodyPr/>
                    <a:lstStyle/>
                    <a:p>
                      <a:pPr algn="l">
                        <a:lnSpc>
                          <a:spcPct val="115000"/>
                        </a:lnSpc>
                        <a:buNone/>
                      </a:pPr>
                      <a:r>
                        <a:rPr lang="en-US" sz="1400" b="1">
                          <a:effectLst/>
                          <a:latin typeface="Calibri" panose="020F0502020204030204" pitchFamily="34" charset="0"/>
                          <a:ea typeface="DengXian" panose="02010600030101010101" pitchFamily="2" charset="-122"/>
                          <a:cs typeface="Times New Roman" panose="02020603050405020304" pitchFamily="18" charset="0"/>
                        </a:rPr>
                        <a:t>Discussion of real-world applications or theoretical contributions </a:t>
                      </a:r>
                      <a:endParaRPr lang="en-H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62960"/>
                  </a:ext>
                </a:extLst>
              </a:tr>
              <a:tr h="901864">
                <a:tc>
                  <a:txBody>
                    <a:bodyPr/>
                    <a:lstStyle/>
                    <a:p>
                      <a:pPr algn="l">
                        <a:lnSpc>
                          <a:spcPct val="115000"/>
                        </a:lnSpc>
                        <a:buNone/>
                      </a:pPr>
                      <a:r>
                        <a:rPr lang="en-US" sz="1400" b="1">
                          <a:effectLst/>
                          <a:latin typeface="Calibri" panose="020F0502020204030204" pitchFamily="34" charset="0"/>
                          <a:ea typeface="DengXian" panose="02010600030101010101" pitchFamily="2" charset="-122"/>
                          <a:cs typeface="Times New Roman" panose="02020603050405020304" pitchFamily="18" charset="0"/>
                        </a:rPr>
                        <a:t>Stating the limitations and future directions</a:t>
                      </a:r>
                      <a:endParaRPr lang="en-H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a:effectLst/>
                          <a:latin typeface="Calibri" panose="020F0502020204030204" pitchFamily="34" charset="0"/>
                          <a:ea typeface="DengXian" panose="02010600030101010101" pitchFamily="2" charset="-122"/>
                          <a:cs typeface="Calibri" panose="020F0502020204030204" pitchFamily="34" charset="0"/>
                        </a:rPr>
                        <a:t> </a:t>
                      </a:r>
                      <a:endParaRPr lang="en-HK" sz="1100">
                        <a:effectLst/>
                        <a:latin typeface="Calibri" panose="020F0502020204030204" pitchFamily="34" charset="0"/>
                        <a:ea typeface="新細明體" panose="02020500000000000000" pitchFamily="18" charset="-12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3704261"/>
                  </a:ext>
                </a:extLst>
              </a:tr>
              <a:tr h="901864">
                <a:tc>
                  <a:txBody>
                    <a:bodyPr/>
                    <a:lstStyle/>
                    <a:p>
                      <a:pPr algn="l">
                        <a:lnSpc>
                          <a:spcPct val="115000"/>
                        </a:lnSpc>
                        <a:buNone/>
                      </a:pPr>
                      <a:r>
                        <a:rPr lang="en-US" sz="1400" b="1" dirty="0">
                          <a:effectLst/>
                          <a:latin typeface="Calibri" panose="020F0502020204030204" pitchFamily="34" charset="0"/>
                          <a:ea typeface="DengXian" panose="02010600030101010101" pitchFamily="2" charset="-122"/>
                          <a:cs typeface="Times New Roman" panose="02020603050405020304" pitchFamily="18" charset="0"/>
                        </a:rPr>
                        <a:t>Use of hedging language</a:t>
                      </a:r>
                      <a:endParaRPr lang="en-H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algn="just">
                        <a:lnSpc>
                          <a:spcPct val="115000"/>
                        </a:lnSpc>
                        <a:spcAft>
                          <a:spcPts val="1000"/>
                        </a:spcAft>
                        <a:buNone/>
                      </a:pPr>
                      <a:r>
                        <a:rPr lang="en-US" sz="1000" dirty="0">
                          <a:effectLst/>
                          <a:latin typeface="Calibri" panose="020F0502020204030204" pitchFamily="34" charset="0"/>
                          <a:ea typeface="DengXian" panose="02010600030101010101" pitchFamily="2" charset="-122"/>
                          <a:cs typeface="Calibri" panose="020F0502020204030204" pitchFamily="34" charset="0"/>
                        </a:rPr>
                        <a:t> </a:t>
                      </a:r>
                      <a:endParaRPr lang="en-HK" sz="1100" dirty="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dirty="0">
                          <a:effectLst/>
                          <a:latin typeface="Calibri" panose="020F0502020204030204" pitchFamily="34" charset="0"/>
                          <a:ea typeface="DengXian" panose="02010600030101010101" pitchFamily="2" charset="-122"/>
                          <a:cs typeface="Calibri" panose="020F0502020204030204" pitchFamily="34" charset="0"/>
                        </a:rPr>
                        <a:t> </a:t>
                      </a:r>
                      <a:endParaRPr lang="en-HK" sz="1100" dirty="0">
                        <a:effectLst/>
                        <a:latin typeface="Calibri" panose="020F0502020204030204" pitchFamily="34" charset="0"/>
                        <a:ea typeface="新細明體" panose="02020500000000000000" pitchFamily="18" charset="-120"/>
                        <a:cs typeface="Times New Roman" panose="02020603050405020304" pitchFamily="18" charset="0"/>
                      </a:endParaRPr>
                    </a:p>
                    <a:p>
                      <a:pPr marL="228600" algn="just">
                        <a:lnSpc>
                          <a:spcPct val="115000"/>
                        </a:lnSpc>
                        <a:spcAft>
                          <a:spcPts val="1000"/>
                        </a:spcAft>
                        <a:buNone/>
                      </a:pPr>
                      <a:r>
                        <a:rPr lang="en-US" sz="1000" dirty="0">
                          <a:effectLst/>
                          <a:latin typeface="Calibri" panose="020F0502020204030204" pitchFamily="34" charset="0"/>
                          <a:ea typeface="DengXian" panose="02010600030101010101" pitchFamily="2" charset="-122"/>
                          <a:cs typeface="Calibri" panose="020F0502020204030204" pitchFamily="34" charset="0"/>
                        </a:rPr>
                        <a:t> </a:t>
                      </a:r>
                      <a:endParaRPr lang="en-HK" sz="1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1947" marR="619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078271"/>
                  </a:ext>
                </a:extLst>
              </a:tr>
            </a:tbl>
          </a:graphicData>
        </a:graphic>
      </p:graphicFrame>
    </p:spTree>
    <p:extLst>
      <p:ext uri="{BB962C8B-B14F-4D97-AF65-F5344CB8AC3E}">
        <p14:creationId xmlns:p14="http://schemas.microsoft.com/office/powerpoint/2010/main" val="2039220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327B-E6C9-B744-F6DB-02882F712270}"/>
              </a:ext>
            </a:extLst>
          </p:cNvPr>
          <p:cNvSpPr>
            <a:spLocks noGrp="1"/>
          </p:cNvSpPr>
          <p:nvPr>
            <p:ph type="title"/>
          </p:nvPr>
        </p:nvSpPr>
        <p:spPr/>
        <p:txBody>
          <a:bodyPr/>
          <a:lstStyle/>
          <a:p>
            <a:endParaRPr lang="en-HK"/>
          </a:p>
        </p:txBody>
      </p:sp>
      <p:sp>
        <p:nvSpPr>
          <p:cNvPr id="4" name="Slide Number Placeholder 3">
            <a:extLst>
              <a:ext uri="{FF2B5EF4-FFF2-40B4-BE49-F238E27FC236}">
                <a16:creationId xmlns:a16="http://schemas.microsoft.com/office/drawing/2014/main" id="{864BC87B-67C5-D867-1D29-319340B051A6}"/>
              </a:ext>
            </a:extLst>
          </p:cNvPr>
          <p:cNvSpPr>
            <a:spLocks noGrp="1"/>
          </p:cNvSpPr>
          <p:nvPr>
            <p:ph type="sldNum" sz="quarter" idx="12"/>
          </p:nvPr>
        </p:nvSpPr>
        <p:spPr/>
        <p:txBody>
          <a:bodyPr/>
          <a:lstStyle/>
          <a:p>
            <a:fld id="{D57F1E4F-1CFF-5643-939E-217C01CDF565}" type="slidenum">
              <a:rPr lang="en-US" smtClean="0"/>
              <a:pPr/>
              <a:t>44</a:t>
            </a:fld>
            <a:endParaRPr lang="en-US" dirty="0"/>
          </a:p>
        </p:txBody>
      </p:sp>
      <p:grpSp>
        <p:nvGrpSpPr>
          <p:cNvPr id="5" name="Group 4">
            <a:extLst>
              <a:ext uri="{FF2B5EF4-FFF2-40B4-BE49-F238E27FC236}">
                <a16:creationId xmlns:a16="http://schemas.microsoft.com/office/drawing/2014/main" id="{F5B72EB5-40DC-D60C-B032-61CBC817C011}"/>
              </a:ext>
            </a:extLst>
          </p:cNvPr>
          <p:cNvGrpSpPr/>
          <p:nvPr/>
        </p:nvGrpSpPr>
        <p:grpSpPr>
          <a:xfrm>
            <a:off x="2024062" y="1066597"/>
            <a:ext cx="8146633" cy="5167293"/>
            <a:chOff x="0" y="0"/>
            <a:chExt cx="5705475" cy="2924175"/>
          </a:xfrm>
        </p:grpSpPr>
        <p:sp>
          <p:nvSpPr>
            <p:cNvPr id="6" name="Rectangle: Beveled 5">
              <a:extLst>
                <a:ext uri="{FF2B5EF4-FFF2-40B4-BE49-F238E27FC236}">
                  <a16:creationId xmlns:a16="http://schemas.microsoft.com/office/drawing/2014/main" id="{7BE6D3B4-B2EE-155E-CE2C-DABC72088351}"/>
                </a:ext>
              </a:extLst>
            </p:cNvPr>
            <p:cNvSpPr/>
            <p:nvPr/>
          </p:nvSpPr>
          <p:spPr>
            <a:xfrm>
              <a:off x="0" y="0"/>
              <a:ext cx="5705475" cy="2924175"/>
            </a:xfrm>
            <a:prstGeom prst="bevel">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HK"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7" name="Text Box 2">
              <a:extLst>
                <a:ext uri="{FF2B5EF4-FFF2-40B4-BE49-F238E27FC236}">
                  <a16:creationId xmlns:a16="http://schemas.microsoft.com/office/drawing/2014/main" id="{8F9E87FD-894E-4D40-B59B-0D309B66CC70}"/>
                </a:ext>
              </a:extLst>
            </p:cNvPr>
            <p:cNvSpPr txBox="1">
              <a:spLocks noChangeArrowheads="1"/>
            </p:cNvSpPr>
            <p:nvPr/>
          </p:nvSpPr>
          <p:spPr bwMode="auto">
            <a:xfrm>
              <a:off x="495300" y="476250"/>
              <a:ext cx="4714875" cy="2142303"/>
            </a:xfrm>
            <a:prstGeom prst="rect">
              <a:avLst/>
            </a:prstGeom>
            <a:noFill/>
            <a:ln w="9525">
              <a:solidFill>
                <a:srgbClr val="000000"/>
              </a:solidFill>
              <a:miter lim="800000"/>
              <a:headEnd/>
              <a:tailEnd/>
            </a:ln>
          </p:spPr>
          <p:txBody>
            <a:bodyPr rot="0" vert="horz" wrap="square" lIns="91440" tIns="45720" rIns="91440" bIns="4572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HK" sz="2400" b="1"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rPr>
                <a:t>Checklist for a Well-Written Discussion:</a:t>
              </a:r>
              <a:endParaRPr kumimoji="0" lang="en-HK" sz="24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HK" sz="2400" b="1"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rPr>
                <a:t> </a:t>
              </a:r>
              <a:endParaRPr kumimoji="0" lang="en-HK" sz="24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endParaRPr>
            </a:p>
            <a:p>
              <a:pPr marL="5715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HK" sz="2400" b="0" i="0" u="none" strike="noStrike" kern="0" cap="none" spc="0" normalizeH="0" baseline="0" noProof="0" dirty="0">
                  <a:ln>
                    <a:noFill/>
                  </a:ln>
                  <a:solidFill>
                    <a:sysClr val="windowText" lastClr="000000"/>
                  </a:solidFill>
                  <a:effectLst/>
                  <a:uLnTx/>
                  <a:uFillTx/>
                  <a:latin typeface="Calibri" panose="020F0502020204030204" pitchFamily="34" charset="0"/>
                  <a:ea typeface="新細明體" panose="02020500000000000000" pitchFamily="18" charset="-120"/>
                  <a:cs typeface="Times New Roman" panose="02020603050405020304" pitchFamily="18" charset="0"/>
                </a:rPr>
                <a:t>Does it clearly interpret the results in relation to the research questions/hypotheses?</a:t>
              </a:r>
            </a:p>
            <a:p>
              <a:pPr marL="5715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HK" sz="2400" b="0" i="0" u="none" strike="noStrike" kern="0" cap="none" spc="0" normalizeH="0" baseline="0" noProof="0" dirty="0">
                  <a:ln>
                    <a:noFill/>
                  </a:ln>
                  <a:solidFill>
                    <a:sysClr val="windowText" lastClr="000000"/>
                  </a:solidFill>
                  <a:effectLst/>
                  <a:uLnTx/>
                  <a:uFillTx/>
                  <a:latin typeface="Calibri" panose="020F0502020204030204" pitchFamily="34" charset="0"/>
                  <a:ea typeface="新細明體" panose="02020500000000000000" pitchFamily="18" charset="-120"/>
                  <a:cs typeface="Times New Roman" panose="02020603050405020304" pitchFamily="18" charset="0"/>
                </a:rPr>
                <a:t>Are comparisons to existing literature included?</a:t>
              </a:r>
            </a:p>
            <a:p>
              <a:pPr marL="5715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HK" sz="2400" b="0" i="0" u="none" strike="noStrike" kern="0" cap="none" spc="0" normalizeH="0" baseline="0" noProof="0" dirty="0">
                  <a:ln>
                    <a:noFill/>
                  </a:ln>
                  <a:solidFill>
                    <a:sysClr val="windowText" lastClr="000000"/>
                  </a:solidFill>
                  <a:effectLst/>
                  <a:uLnTx/>
                  <a:uFillTx/>
                  <a:latin typeface="Calibri" panose="020F0502020204030204" pitchFamily="34" charset="0"/>
                  <a:ea typeface="新細明體" panose="02020500000000000000" pitchFamily="18" charset="-120"/>
                  <a:cs typeface="Times New Roman" panose="02020603050405020304" pitchFamily="18" charset="0"/>
                </a:rPr>
                <a:t>Are the research limitations acknowledged?</a:t>
              </a:r>
            </a:p>
            <a:p>
              <a:pPr marL="5715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HK" sz="2400" b="0" i="0" u="none" strike="noStrike" kern="0" cap="none" spc="0" normalizeH="0" baseline="0" noProof="0" dirty="0">
                  <a:ln>
                    <a:noFill/>
                  </a:ln>
                  <a:solidFill>
                    <a:sysClr val="windowText" lastClr="000000"/>
                  </a:solidFill>
                  <a:effectLst/>
                  <a:uLnTx/>
                  <a:uFillTx/>
                  <a:latin typeface="Calibri" panose="020F0502020204030204" pitchFamily="34" charset="0"/>
                  <a:ea typeface="新細明體" panose="02020500000000000000" pitchFamily="18" charset="-120"/>
                  <a:cs typeface="Times New Roman" panose="02020603050405020304" pitchFamily="18" charset="0"/>
                </a:rPr>
                <a:t>Are implications, potential applications and future directions discussed?</a:t>
              </a:r>
            </a:p>
            <a:p>
              <a:pPr marL="5715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HK" sz="2400" b="0" i="0" u="none" strike="noStrike" kern="0" cap="none" spc="0" normalizeH="0" baseline="0" noProof="0" dirty="0">
                  <a:ln>
                    <a:noFill/>
                  </a:ln>
                  <a:solidFill>
                    <a:sysClr val="windowText" lastClr="000000"/>
                  </a:solidFill>
                  <a:effectLst/>
                  <a:uLnTx/>
                  <a:uFillTx/>
                  <a:latin typeface="Calibri" panose="020F0502020204030204" pitchFamily="34" charset="0"/>
                  <a:ea typeface="新細明體" panose="02020500000000000000" pitchFamily="18" charset="-120"/>
                  <a:cs typeface="Times New Roman" panose="02020603050405020304" pitchFamily="18" charset="0"/>
                </a:rPr>
                <a:t>Is the discussion section free from overgeneralisations and unsupported claims?</a:t>
              </a:r>
            </a:p>
          </p:txBody>
        </p:sp>
      </p:grpSp>
    </p:spTree>
    <p:extLst>
      <p:ext uri="{BB962C8B-B14F-4D97-AF65-F5344CB8AC3E}">
        <p14:creationId xmlns:p14="http://schemas.microsoft.com/office/powerpoint/2010/main" val="158607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Learning: Using Corpora to Improve Academic Writing</a:t>
            </a:r>
          </a:p>
        </p:txBody>
      </p:sp>
      <p:sp>
        <p:nvSpPr>
          <p:cNvPr id="3" name="Content Placeholder 2"/>
          <p:cNvSpPr>
            <a:spLocks noGrp="1"/>
          </p:cNvSpPr>
          <p:nvPr>
            <p:ph idx="1"/>
          </p:nvPr>
        </p:nvSpPr>
        <p:spPr/>
        <p:txBody>
          <a:bodyPr/>
          <a:lstStyle/>
          <a:p>
            <a:r>
              <a:rPr lang="en-HK" b="1" dirty="0"/>
              <a:t>Video 6: Search for Collocations (table) (~4 minutes)</a:t>
            </a:r>
          </a:p>
          <a:p>
            <a:pPr marL="0" lvl="0" indent="0">
              <a:buNone/>
            </a:pPr>
            <a:r>
              <a:rPr lang="en-HK" u="sng" dirty="0">
                <a:hlinkClick r:id="rId2"/>
              </a:rPr>
              <a:t>https://youtu.be/qGILwdSnJlM</a:t>
            </a:r>
            <a:endParaRPr lang="en-HK" dirty="0"/>
          </a:p>
          <a:p>
            <a:pPr marL="0" indent="0">
              <a:buNone/>
            </a:pPr>
            <a:r>
              <a:rPr lang="en-HK" dirty="0"/>
              <a:t> </a:t>
            </a:r>
          </a:p>
          <a:p>
            <a:r>
              <a:rPr lang="en-HK" b="1" dirty="0"/>
              <a:t>Video 7: Search for Collocations (difference) (~3 minutes)</a:t>
            </a:r>
          </a:p>
          <a:p>
            <a:pPr marL="0" lvl="0" indent="0">
              <a:buNone/>
            </a:pPr>
            <a:r>
              <a:rPr lang="en-HK" u="sng" dirty="0">
                <a:hlinkClick r:id="rId3"/>
              </a:rPr>
              <a:t> https://youtu.be/8nftcikpzMs</a:t>
            </a:r>
            <a:r>
              <a:rPr lang="en-HK" dirty="0"/>
              <a:t>  </a:t>
            </a:r>
          </a:p>
          <a:p>
            <a:pPr marL="0" lvl="0" indent="0">
              <a:buNone/>
            </a:pPr>
            <a:endParaRPr lang="en-HK" dirty="0"/>
          </a:p>
          <a:p>
            <a:r>
              <a:rPr lang="en-HK" b="1" dirty="0"/>
              <a:t>Video 8: Improve your writing with </a:t>
            </a:r>
            <a:r>
              <a:rPr lang="en-HK" b="1" dirty="0" err="1"/>
              <a:t>BNCweb</a:t>
            </a:r>
            <a:r>
              <a:rPr lang="en-HK" b="1" dirty="0"/>
              <a:t> (concern) (~6 minutes)</a:t>
            </a:r>
          </a:p>
          <a:p>
            <a:pPr marL="0" indent="0">
              <a:buNone/>
            </a:pPr>
            <a:r>
              <a:rPr lang="en-HK" u="sng" dirty="0">
                <a:hlinkClick r:id="rId4"/>
              </a:rPr>
              <a:t>https://youtu.be/yOkH87Xph50</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45</a:t>
            </a:fld>
            <a:endParaRPr lang="en-US" dirty="0"/>
          </a:p>
        </p:txBody>
      </p:sp>
      <p:sp>
        <p:nvSpPr>
          <p:cNvPr id="5" name="Rectangle 4"/>
          <p:cNvSpPr/>
          <p:nvPr/>
        </p:nvSpPr>
        <p:spPr>
          <a:xfrm>
            <a:off x="531812" y="2133600"/>
            <a:ext cx="1682979" cy="247048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Continue to use your personal corpora to do linguistic search! </a:t>
            </a:r>
          </a:p>
        </p:txBody>
      </p:sp>
    </p:spTree>
    <p:extLst>
      <p:ext uri="{BB962C8B-B14F-4D97-AF65-F5344CB8AC3E}">
        <p14:creationId xmlns:p14="http://schemas.microsoft.com/office/powerpoint/2010/main" val="406911137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igrationWizId xmlns="30d3476f-ec53-4671-8980-d10767fdaaec" xsi:nil="true"/>
    <MigrationWizIdPermissions xmlns="30d3476f-ec53-4671-8980-d10767fdaaec" xsi:nil="true"/>
    <MigrationWizIdVersion xmlns="30d3476f-ec53-4671-8980-d10767fdaaec" xsi:nil="true"/>
    <_activity xmlns="30d3476f-ec53-4671-8980-d10767fdaae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CBE5400CADFA0469A091337646547C3" ma:contentTypeVersion="18" ma:contentTypeDescription="Create a new document." ma:contentTypeScope="" ma:versionID="8c181785002a1dbe4526f90e3827fc40">
  <xsd:schema xmlns:xsd="http://www.w3.org/2001/XMLSchema" xmlns:xs="http://www.w3.org/2001/XMLSchema" xmlns:p="http://schemas.microsoft.com/office/2006/metadata/properties" xmlns:ns3="30d3476f-ec53-4671-8980-d10767fdaaec" xmlns:ns4="4b97df95-d6ed-4c71-86d4-bf7c4bd3aaf0" targetNamespace="http://schemas.microsoft.com/office/2006/metadata/properties" ma:root="true" ma:fieldsID="49d229b7914550cb2e0d3eae77a3ab84" ns3:_="" ns4:_="">
    <xsd:import namespace="30d3476f-ec53-4671-8980-d10767fdaaec"/>
    <xsd:import namespace="4b97df95-d6ed-4c71-86d4-bf7c4bd3aaf0"/>
    <xsd:element name="properties">
      <xsd:complexType>
        <xsd:sequence>
          <xsd:element name="documentManagement">
            <xsd:complexType>
              <xsd:all>
                <xsd:element ref="ns3:MigrationWizId" minOccurs="0"/>
                <xsd:element ref="ns3:MigrationWizIdPermissions" minOccurs="0"/>
                <xsd:element ref="ns3:MigrationWizIdVersion"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3476f-ec53-4671-8980-d10767fdaae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20" nillable="true" ma:displayName="Tags" ma:internalName="MediaServiceAutoTag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ternalName="MediaServiceLocation" ma:readOnly="true">
      <xsd:simpleType>
        <xsd:restriction base="dms:Text"/>
      </xsd:simpleType>
    </xsd:element>
    <xsd:element name="_activity" ma:index="25"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97df95-d6ed-4c71-86d4-bf7c4bd3aaf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B8B413-1F62-4E9B-96DC-BE4D2C96B607}">
  <ds:schemaRefs>
    <ds:schemaRef ds:uri="http://schemas.microsoft.com/sharepoint/v3/contenttype/forms"/>
  </ds:schemaRefs>
</ds:datastoreItem>
</file>

<file path=customXml/itemProps2.xml><?xml version="1.0" encoding="utf-8"?>
<ds:datastoreItem xmlns:ds="http://schemas.openxmlformats.org/officeDocument/2006/customXml" ds:itemID="{86366AD9-3B8B-494C-8BCB-A28958C69FEA}">
  <ds:schemaRefs>
    <ds:schemaRef ds:uri="30d3476f-ec53-4671-8980-d10767fdaaec"/>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purl.org/dc/terms/"/>
    <ds:schemaRef ds:uri="http://schemas.microsoft.com/office/infopath/2007/PartnerControls"/>
    <ds:schemaRef ds:uri="4b97df95-d6ed-4c71-86d4-bf7c4bd3aaf0"/>
    <ds:schemaRef ds:uri="http://www.w3.org/XML/1998/namespace"/>
    <ds:schemaRef ds:uri="http://purl.org/dc/elements/1.1/"/>
  </ds:schemaRefs>
</ds:datastoreItem>
</file>

<file path=customXml/itemProps3.xml><?xml version="1.0" encoding="utf-8"?>
<ds:datastoreItem xmlns:ds="http://schemas.openxmlformats.org/officeDocument/2006/customXml" ds:itemID="{AB5E5BA9-D4D1-45F4-AC2F-D6DC4E4A6E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3476f-ec53-4671-8980-d10767fdaaec"/>
    <ds:schemaRef ds:uri="4b97df95-d6ed-4c71-86d4-bf7c4bd3a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1400</TotalTime>
  <Words>6471</Words>
  <Application>Microsoft Office PowerPoint</Application>
  <PresentationFormat>Widescreen</PresentationFormat>
  <Paragraphs>413</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Century Gothic</vt:lpstr>
      <vt:lpstr>Symbol</vt:lpstr>
      <vt:lpstr>Times New Roman</vt:lpstr>
      <vt:lpstr>Wingdings</vt:lpstr>
      <vt:lpstr>Wingdings 3</vt:lpstr>
      <vt:lpstr>Wisp</vt:lpstr>
      <vt:lpstr>MCCP6020  Advanced English for Academic Purposes</vt:lpstr>
      <vt:lpstr>Learning Outcomes:</vt:lpstr>
      <vt:lpstr>Warm-up Task</vt:lpstr>
      <vt:lpstr>Warm-up Task</vt:lpstr>
      <vt:lpstr>PowerPoint Presentation</vt:lpstr>
      <vt:lpstr>PowerPoint Presentation</vt:lpstr>
      <vt:lpstr>PowerPoint Presentation</vt:lpstr>
      <vt:lpstr>PowerPoint Presentation</vt:lpstr>
      <vt:lpstr>PowerPoint Presentation</vt:lpstr>
      <vt:lpstr>PowerPoint Presentation</vt:lpstr>
      <vt:lpstr>Task 1</vt:lpstr>
      <vt:lpstr>Task 2</vt:lpstr>
      <vt:lpstr>PowerPoint Presentation</vt:lpstr>
      <vt:lpstr>PowerPoint Presentation</vt:lpstr>
      <vt:lpstr>PowerPoint Presentation</vt:lpstr>
      <vt:lpstr>PowerPoint Presentation</vt:lpstr>
      <vt:lpstr>Task 3</vt:lpstr>
      <vt:lpstr>PowerPoint Presentation</vt:lpstr>
      <vt:lpstr>PowerPoint Presentation</vt:lpstr>
      <vt:lpstr>PowerPoint Presentation</vt:lpstr>
      <vt:lpstr>PowerPoint Presentation</vt:lpstr>
      <vt:lpstr>PowerPoint Presentation</vt:lpstr>
      <vt:lpstr>Task 4</vt:lpstr>
      <vt:lpstr>Task 4 </vt:lpstr>
      <vt:lpstr>PowerPoint Presentation</vt:lpstr>
      <vt:lpstr>Guidelines for Writing the Results Section of a Thesis and a Journal Article</vt:lpstr>
      <vt:lpstr>PowerPoint Presentation</vt:lpstr>
      <vt:lpstr>Task 5</vt:lpstr>
      <vt:lpstr>PowerPoint Presentation</vt:lpstr>
      <vt:lpstr>PowerPoint Presentation</vt:lpstr>
      <vt:lpstr>PowerPoint Presentation</vt:lpstr>
      <vt:lpstr>PowerPoint Presentation</vt:lpstr>
      <vt:lpstr>Task 6</vt:lpstr>
      <vt:lpstr>Task 7</vt:lpstr>
      <vt:lpstr>Task 7</vt:lpstr>
      <vt:lpstr>Moderating Claims and Careful Presentation of Claims in the Discussion Section/Chapter </vt:lpstr>
      <vt:lpstr>PowerPoint Presentation</vt:lpstr>
      <vt:lpstr>Task 8</vt:lpstr>
      <vt:lpstr>PowerPoint Presentation</vt:lpstr>
      <vt:lpstr>PowerPoint Presentation</vt:lpstr>
      <vt:lpstr>Task 9</vt:lpstr>
      <vt:lpstr>Task 9</vt:lpstr>
      <vt:lpstr>Task 10</vt:lpstr>
      <vt:lpstr>PowerPoint Presentation</vt:lpstr>
      <vt:lpstr>Independent Learning: Using Corpora to Improve Academic Writing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MCCP7020 Advanced English for Academic Purposes</dc:title>
  <dc:creator>GAN Ling</dc:creator>
  <cp:lastModifiedBy>Author</cp:lastModifiedBy>
  <cp:revision>38</cp:revision>
  <dcterms:created xsi:type="dcterms:W3CDTF">2020-08-01T09:24:34Z</dcterms:created>
  <dcterms:modified xsi:type="dcterms:W3CDTF">2025-08-27T04:49:22Z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0x0101006CBE5400CADFA0469A091337646547C3</vt:lpwstr>
  </property>
</Properties>
</file>