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52"/>
  </p:notesMasterIdLst>
  <p:sldIdLst>
    <p:sldId id="256" r:id="rId5"/>
    <p:sldId id="257" r:id="rId6"/>
    <p:sldId id="258" r:id="rId7"/>
    <p:sldId id="307" r:id="rId8"/>
    <p:sldId id="281" r:id="rId9"/>
    <p:sldId id="308" r:id="rId10"/>
    <p:sldId id="321" r:id="rId11"/>
    <p:sldId id="322" r:id="rId12"/>
    <p:sldId id="323" r:id="rId13"/>
    <p:sldId id="324" r:id="rId14"/>
    <p:sldId id="300" r:id="rId15"/>
    <p:sldId id="260" r:id="rId16"/>
    <p:sldId id="309" r:id="rId17"/>
    <p:sldId id="261" r:id="rId18"/>
    <p:sldId id="325" r:id="rId19"/>
    <p:sldId id="326" r:id="rId20"/>
    <p:sldId id="286" r:id="rId21"/>
    <p:sldId id="310" r:id="rId22"/>
    <p:sldId id="287" r:id="rId23"/>
    <p:sldId id="288" r:id="rId24"/>
    <p:sldId id="352" r:id="rId25"/>
    <p:sldId id="327" r:id="rId26"/>
    <p:sldId id="328" r:id="rId27"/>
    <p:sldId id="296" r:id="rId28"/>
    <p:sldId id="345" r:id="rId29"/>
    <p:sldId id="346" r:id="rId30"/>
    <p:sldId id="312" r:id="rId31"/>
    <p:sldId id="353" r:id="rId32"/>
    <p:sldId id="354" r:id="rId33"/>
    <p:sldId id="355" r:id="rId34"/>
    <p:sldId id="356" r:id="rId35"/>
    <p:sldId id="357" r:id="rId36"/>
    <p:sldId id="358" r:id="rId37"/>
    <p:sldId id="331" r:id="rId38"/>
    <p:sldId id="349" r:id="rId39"/>
    <p:sldId id="332" r:id="rId40"/>
    <p:sldId id="333" r:id="rId41"/>
    <p:sldId id="335" r:id="rId42"/>
    <p:sldId id="313" r:id="rId43"/>
    <p:sldId id="360" r:id="rId44"/>
    <p:sldId id="359" r:id="rId45"/>
    <p:sldId id="361" r:id="rId46"/>
    <p:sldId id="338" r:id="rId47"/>
    <p:sldId id="339" r:id="rId48"/>
    <p:sldId id="340" r:id="rId49"/>
    <p:sldId id="341" r:id="rId50"/>
    <p:sldId id="342"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N Ling" initials="GL" lastIdx="1" clrIdx="0">
    <p:extLst>
      <p:ext uri="{19B8F6BF-5375-455C-9EA6-DF929625EA0E}">
        <p15:presenceInfo xmlns:p15="http://schemas.microsoft.com/office/powerpoint/2012/main" userId="S::19481578@link.hkbu.edu.hk::e3d205b2-356f-4b65-ab9f-7c14072c95a3" providerId="AD"/>
      </p:ext>
    </p:extLst>
  </p:cmAuthor>
  <p:cmAuthor id="2" name="GAN Ling" initials="GL [2]" lastIdx="5" clrIdx="1">
    <p:extLst>
      <p:ext uri="{19B8F6BF-5375-455C-9EA6-DF929625EA0E}">
        <p15:presenceInfo xmlns:p15="http://schemas.microsoft.com/office/powerpoint/2012/main" userId="GAN L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24169C-0948-40F9-9C81-2DFF256A2B5C}" v="10" dt="2025-10-04T06:27:27.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23" autoAdjust="0"/>
    <p:restoredTop sz="94249" autoAdjust="0"/>
  </p:normalViewPr>
  <p:slideViewPr>
    <p:cSldViewPr snapToGrid="0">
      <p:cViewPr>
        <p:scale>
          <a:sx n="52" d="100"/>
          <a:sy n="52" d="100"/>
        </p:scale>
        <p:origin x="48" y="83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en Yi LAW" userId="7022f2d7-95f0-4fb1-89f4-e72d0af4d2c8" providerId="ADAL" clId="{E49769D4-4CA0-47F2-BA42-02F395BA96FC}"/>
    <pc:docChg chg="custSel addSld modSld">
      <pc:chgData name="Yuen Yi LAW" userId="7022f2d7-95f0-4fb1-89f4-e72d0af4d2c8" providerId="ADAL" clId="{E49769D4-4CA0-47F2-BA42-02F395BA96FC}" dt="2024-04-09T04:32:13.144" v="97" actId="20577"/>
      <pc:docMkLst>
        <pc:docMk/>
      </pc:docMkLst>
      <pc:sldChg chg="modSp">
        <pc:chgData name="Yuen Yi LAW" userId="7022f2d7-95f0-4fb1-89f4-e72d0af4d2c8" providerId="ADAL" clId="{E49769D4-4CA0-47F2-BA42-02F395BA96FC}" dt="2024-04-09T04:32:13.144" v="97" actId="20577"/>
        <pc:sldMkLst>
          <pc:docMk/>
          <pc:sldMk cId="2788102250" sldId="257"/>
        </pc:sldMkLst>
      </pc:sldChg>
      <pc:sldChg chg="modSp">
        <pc:chgData name="Yuen Yi LAW" userId="7022f2d7-95f0-4fb1-89f4-e72d0af4d2c8" providerId="ADAL" clId="{E49769D4-4CA0-47F2-BA42-02F395BA96FC}" dt="2024-04-08T09:32:21.828" v="8" actId="13926"/>
        <pc:sldMkLst>
          <pc:docMk/>
          <pc:sldMk cId="794283687" sldId="351"/>
        </pc:sldMkLst>
      </pc:sldChg>
      <pc:sldChg chg="addSp modSp add">
        <pc:chgData name="Yuen Yi LAW" userId="7022f2d7-95f0-4fb1-89f4-e72d0af4d2c8" providerId="ADAL" clId="{E49769D4-4CA0-47F2-BA42-02F395BA96FC}" dt="2024-04-08T10:11:48.430" v="60" actId="1076"/>
        <pc:sldMkLst>
          <pc:docMk/>
          <pc:sldMk cId="318229562" sldId="352"/>
        </pc:sldMkLst>
      </pc:sldChg>
    </pc:docChg>
  </pc:docChgLst>
  <pc:docChgLst>
    <pc:chgData name="Yuen Yi LAW" userId="7022f2d7-95f0-4fb1-89f4-e72d0af4d2c8" providerId="ADAL" clId="{6814F422-01F1-4348-98AF-E49534F6D0F5}"/>
    <pc:docChg chg="modSld">
      <pc:chgData name="Yuen Yi LAW" userId="7022f2d7-95f0-4fb1-89f4-e72d0af4d2c8" providerId="ADAL" clId="{6814F422-01F1-4348-98AF-E49534F6D0F5}" dt="2024-11-17T10:02:27.230" v="0" actId="113"/>
      <pc:docMkLst>
        <pc:docMk/>
      </pc:docMkLst>
      <pc:sldChg chg="modSp">
        <pc:chgData name="Yuen Yi LAW" userId="7022f2d7-95f0-4fb1-89f4-e72d0af4d2c8" providerId="ADAL" clId="{6814F422-01F1-4348-98AF-E49534F6D0F5}" dt="2024-11-17T10:02:27.230" v="0" actId="113"/>
        <pc:sldMkLst>
          <pc:docMk/>
          <pc:sldMk cId="1181585901" sldId="336"/>
        </pc:sldMkLst>
      </pc:sldChg>
    </pc:docChg>
  </pc:docChgLst>
  <pc:docChgLst>
    <pc:chgData name="Yuen Yi LAW" userId="7022f2d7-95f0-4fb1-89f4-e72d0af4d2c8" providerId="ADAL" clId="{4C93A254-0418-4854-8F91-E76CAD3A12FB}"/>
    <pc:docChg chg="custSel addSld delSld modSld sldOrd">
      <pc:chgData name="Yuen Yi LAW" userId="7022f2d7-95f0-4fb1-89f4-e72d0af4d2c8" providerId="ADAL" clId="{4C93A254-0418-4854-8F91-E76CAD3A12FB}" dt="2025-10-04T06:31:21.388" v="697" actId="113"/>
      <pc:docMkLst>
        <pc:docMk/>
      </pc:docMkLst>
      <pc:sldChg chg="modSp mod">
        <pc:chgData name="Yuen Yi LAW" userId="7022f2d7-95f0-4fb1-89f4-e72d0af4d2c8" providerId="ADAL" clId="{4C93A254-0418-4854-8F91-E76CAD3A12FB}" dt="2025-10-01T15:28:16.487" v="2" actId="20577"/>
        <pc:sldMkLst>
          <pc:docMk/>
          <pc:sldMk cId="3572139831" sldId="256"/>
        </pc:sldMkLst>
        <pc:spChg chg="mod">
          <ac:chgData name="Yuen Yi LAW" userId="7022f2d7-95f0-4fb1-89f4-e72d0af4d2c8" providerId="ADAL" clId="{4C93A254-0418-4854-8F91-E76CAD3A12FB}" dt="2025-10-01T15:28:16.487" v="2" actId="20577"/>
          <ac:spMkLst>
            <pc:docMk/>
            <pc:sldMk cId="3572139831" sldId="256"/>
            <ac:spMk id="3" creationId="{00000000-0000-0000-0000-000000000000}"/>
          </ac:spMkLst>
        </pc:spChg>
      </pc:sldChg>
      <pc:sldChg chg="mod modShow">
        <pc:chgData name="Yuen Yi LAW" userId="7022f2d7-95f0-4fb1-89f4-e72d0af4d2c8" providerId="ADAL" clId="{4C93A254-0418-4854-8F91-E76CAD3A12FB}" dt="2025-10-04T04:36:20.294" v="5" actId="729"/>
        <pc:sldMkLst>
          <pc:docMk/>
          <pc:sldMk cId="1287603649" sldId="261"/>
        </pc:sldMkLst>
      </pc:sldChg>
      <pc:sldChg chg="del">
        <pc:chgData name="Yuen Yi LAW" userId="7022f2d7-95f0-4fb1-89f4-e72d0af4d2c8" providerId="ADAL" clId="{4C93A254-0418-4854-8F91-E76CAD3A12FB}" dt="2025-10-04T05:36:53.185" v="424" actId="2696"/>
        <pc:sldMkLst>
          <pc:docMk/>
          <pc:sldMk cId="2329382652" sldId="271"/>
        </pc:sldMkLst>
      </pc:sldChg>
      <pc:sldChg chg="mod modShow">
        <pc:chgData name="Yuen Yi LAW" userId="7022f2d7-95f0-4fb1-89f4-e72d0af4d2c8" providerId="ADAL" clId="{4C93A254-0418-4854-8F91-E76CAD3A12FB}" dt="2025-10-04T04:36:24.877" v="6" actId="729"/>
        <pc:sldMkLst>
          <pc:docMk/>
          <pc:sldMk cId="510809304" sldId="325"/>
        </pc:sldMkLst>
      </pc:sldChg>
      <pc:sldChg chg="del">
        <pc:chgData name="Yuen Yi LAW" userId="7022f2d7-95f0-4fb1-89f4-e72d0af4d2c8" providerId="ADAL" clId="{4C93A254-0418-4854-8F91-E76CAD3A12FB}" dt="2025-10-04T04:49:39.827" v="120" actId="47"/>
        <pc:sldMkLst>
          <pc:docMk/>
          <pc:sldMk cId="2616193852" sldId="329"/>
        </pc:sldMkLst>
      </pc:sldChg>
      <pc:sldChg chg="modSp mod">
        <pc:chgData name="Yuen Yi LAW" userId="7022f2d7-95f0-4fb1-89f4-e72d0af4d2c8" providerId="ADAL" clId="{4C93A254-0418-4854-8F91-E76CAD3A12FB}" dt="2025-10-04T05:36:19.272" v="421" actId="20577"/>
        <pc:sldMkLst>
          <pc:docMk/>
          <pc:sldMk cId="3969131428" sldId="331"/>
        </pc:sldMkLst>
        <pc:spChg chg="mod">
          <ac:chgData name="Yuen Yi LAW" userId="7022f2d7-95f0-4fb1-89f4-e72d0af4d2c8" providerId="ADAL" clId="{4C93A254-0418-4854-8F91-E76CAD3A12FB}" dt="2025-10-04T05:36:19.272" v="421" actId="20577"/>
          <ac:spMkLst>
            <pc:docMk/>
            <pc:sldMk cId="3969131428" sldId="331"/>
            <ac:spMk id="9" creationId="{C83404BC-776B-4FBF-9224-1C6BCF75CB6A}"/>
          </ac:spMkLst>
        </pc:spChg>
      </pc:sldChg>
      <pc:sldChg chg="modSp mod">
        <pc:chgData name="Yuen Yi LAW" userId="7022f2d7-95f0-4fb1-89f4-e72d0af4d2c8" providerId="ADAL" clId="{4C93A254-0418-4854-8F91-E76CAD3A12FB}" dt="2025-10-04T06:31:13.386" v="696" actId="5793"/>
        <pc:sldMkLst>
          <pc:docMk/>
          <pc:sldMk cId="2459292393" sldId="332"/>
        </pc:sldMkLst>
        <pc:spChg chg="mod">
          <ac:chgData name="Yuen Yi LAW" userId="7022f2d7-95f0-4fb1-89f4-e72d0af4d2c8" providerId="ADAL" clId="{4C93A254-0418-4854-8F91-E76CAD3A12FB}" dt="2025-10-04T06:31:13.386" v="696" actId="5793"/>
          <ac:spMkLst>
            <pc:docMk/>
            <pc:sldMk cId="2459292393" sldId="332"/>
            <ac:spMk id="9" creationId="{C83404BC-776B-4FBF-9224-1C6BCF75CB6A}"/>
          </ac:spMkLst>
        </pc:spChg>
      </pc:sldChg>
      <pc:sldChg chg="del">
        <pc:chgData name="Yuen Yi LAW" userId="7022f2d7-95f0-4fb1-89f4-e72d0af4d2c8" providerId="ADAL" clId="{4C93A254-0418-4854-8F91-E76CAD3A12FB}" dt="2025-10-04T05:37:23.282" v="427" actId="2696"/>
        <pc:sldMkLst>
          <pc:docMk/>
          <pc:sldMk cId="583776534" sldId="334"/>
        </pc:sldMkLst>
      </pc:sldChg>
      <pc:sldChg chg="modSp mod">
        <pc:chgData name="Yuen Yi LAW" userId="7022f2d7-95f0-4fb1-89f4-e72d0af4d2c8" providerId="ADAL" clId="{4C93A254-0418-4854-8F91-E76CAD3A12FB}" dt="2025-10-04T05:38:38.945" v="616" actId="20577"/>
        <pc:sldMkLst>
          <pc:docMk/>
          <pc:sldMk cId="164134645" sldId="335"/>
        </pc:sldMkLst>
        <pc:spChg chg="mod">
          <ac:chgData name="Yuen Yi LAW" userId="7022f2d7-95f0-4fb1-89f4-e72d0af4d2c8" providerId="ADAL" clId="{4C93A254-0418-4854-8F91-E76CAD3A12FB}" dt="2025-10-04T05:38:38.945" v="616" actId="20577"/>
          <ac:spMkLst>
            <pc:docMk/>
            <pc:sldMk cId="164134645" sldId="335"/>
            <ac:spMk id="9" creationId="{C83404BC-776B-4FBF-9224-1C6BCF75CB6A}"/>
          </ac:spMkLst>
        </pc:spChg>
      </pc:sldChg>
      <pc:sldChg chg="del">
        <pc:chgData name="Yuen Yi LAW" userId="7022f2d7-95f0-4fb1-89f4-e72d0af4d2c8" providerId="ADAL" clId="{4C93A254-0418-4854-8F91-E76CAD3A12FB}" dt="2025-10-04T05:40:00.317" v="617" actId="2696"/>
        <pc:sldMkLst>
          <pc:docMk/>
          <pc:sldMk cId="1181585901" sldId="336"/>
        </pc:sldMkLst>
      </pc:sldChg>
      <pc:sldChg chg="del">
        <pc:chgData name="Yuen Yi LAW" userId="7022f2d7-95f0-4fb1-89f4-e72d0af4d2c8" providerId="ADAL" clId="{4C93A254-0418-4854-8F91-E76CAD3A12FB}" dt="2025-10-04T05:40:26.067" v="618" actId="2696"/>
        <pc:sldMkLst>
          <pc:docMk/>
          <pc:sldMk cId="609676122" sldId="337"/>
        </pc:sldMkLst>
      </pc:sldChg>
      <pc:sldChg chg="modSp mod">
        <pc:chgData name="Yuen Yi LAW" userId="7022f2d7-95f0-4fb1-89f4-e72d0af4d2c8" providerId="ADAL" clId="{4C93A254-0418-4854-8F91-E76CAD3A12FB}" dt="2025-10-04T06:30:12.009" v="685" actId="403"/>
        <pc:sldMkLst>
          <pc:docMk/>
          <pc:sldMk cId="380979130" sldId="338"/>
        </pc:sldMkLst>
        <pc:spChg chg="mod">
          <ac:chgData name="Yuen Yi LAW" userId="7022f2d7-95f0-4fb1-89f4-e72d0af4d2c8" providerId="ADAL" clId="{4C93A254-0418-4854-8F91-E76CAD3A12FB}" dt="2025-10-04T06:30:12.009" v="685" actId="403"/>
          <ac:spMkLst>
            <pc:docMk/>
            <pc:sldMk cId="380979130" sldId="338"/>
            <ac:spMk id="9" creationId="{C83404BC-776B-4FBF-9224-1C6BCF75CB6A}"/>
          </ac:spMkLst>
        </pc:spChg>
      </pc:sldChg>
      <pc:sldChg chg="modSp mod">
        <pc:chgData name="Yuen Yi LAW" userId="7022f2d7-95f0-4fb1-89f4-e72d0af4d2c8" providerId="ADAL" clId="{4C93A254-0418-4854-8F91-E76CAD3A12FB}" dt="2025-10-04T06:30:34.227" v="689" actId="20577"/>
        <pc:sldMkLst>
          <pc:docMk/>
          <pc:sldMk cId="3594842206" sldId="340"/>
        </pc:sldMkLst>
        <pc:spChg chg="mod">
          <ac:chgData name="Yuen Yi LAW" userId="7022f2d7-95f0-4fb1-89f4-e72d0af4d2c8" providerId="ADAL" clId="{4C93A254-0418-4854-8F91-E76CAD3A12FB}" dt="2025-10-04T06:30:34.227" v="689" actId="20577"/>
          <ac:spMkLst>
            <pc:docMk/>
            <pc:sldMk cId="3594842206" sldId="340"/>
            <ac:spMk id="2" creationId="{8E31BED9-11A0-954F-9E5C-04CD0CDFD2B7}"/>
          </ac:spMkLst>
        </pc:spChg>
      </pc:sldChg>
      <pc:sldChg chg="modSp mod">
        <pc:chgData name="Yuen Yi LAW" userId="7022f2d7-95f0-4fb1-89f4-e72d0af4d2c8" providerId="ADAL" clId="{4C93A254-0418-4854-8F91-E76CAD3A12FB}" dt="2025-10-04T06:30:39.262" v="691" actId="20577"/>
        <pc:sldMkLst>
          <pc:docMk/>
          <pc:sldMk cId="1140179103" sldId="341"/>
        </pc:sldMkLst>
        <pc:spChg chg="mod">
          <ac:chgData name="Yuen Yi LAW" userId="7022f2d7-95f0-4fb1-89f4-e72d0af4d2c8" providerId="ADAL" clId="{4C93A254-0418-4854-8F91-E76CAD3A12FB}" dt="2025-10-04T06:30:39.262" v="691" actId="20577"/>
          <ac:spMkLst>
            <pc:docMk/>
            <pc:sldMk cId="1140179103" sldId="341"/>
            <ac:spMk id="2" creationId="{8E31BED9-11A0-954F-9E5C-04CD0CDFD2B7}"/>
          </ac:spMkLst>
        </pc:spChg>
      </pc:sldChg>
      <pc:sldChg chg="modSp mod">
        <pc:chgData name="Yuen Yi LAW" userId="7022f2d7-95f0-4fb1-89f4-e72d0af4d2c8" providerId="ADAL" clId="{4C93A254-0418-4854-8F91-E76CAD3A12FB}" dt="2025-10-04T06:31:21.388" v="697" actId="113"/>
        <pc:sldMkLst>
          <pc:docMk/>
          <pc:sldMk cId="2429125095" sldId="342"/>
        </pc:sldMkLst>
        <pc:spChg chg="mod">
          <ac:chgData name="Yuen Yi LAW" userId="7022f2d7-95f0-4fb1-89f4-e72d0af4d2c8" providerId="ADAL" clId="{4C93A254-0418-4854-8F91-E76CAD3A12FB}" dt="2025-10-04T06:31:21.388" v="697" actId="113"/>
          <ac:spMkLst>
            <pc:docMk/>
            <pc:sldMk cId="2429125095" sldId="342"/>
            <ac:spMk id="9" creationId="{C83404BC-776B-4FBF-9224-1C6BCF75CB6A}"/>
          </ac:spMkLst>
        </pc:spChg>
      </pc:sldChg>
      <pc:sldChg chg="del">
        <pc:chgData name="Yuen Yi LAW" userId="7022f2d7-95f0-4fb1-89f4-e72d0af4d2c8" providerId="ADAL" clId="{4C93A254-0418-4854-8F91-E76CAD3A12FB}" dt="2025-10-04T05:37:01.636" v="425" actId="2696"/>
        <pc:sldMkLst>
          <pc:docMk/>
          <pc:sldMk cId="3428373540" sldId="344"/>
        </pc:sldMkLst>
      </pc:sldChg>
      <pc:sldChg chg="modSp mod">
        <pc:chgData name="Yuen Yi LAW" userId="7022f2d7-95f0-4fb1-89f4-e72d0af4d2c8" providerId="ADAL" clId="{4C93A254-0418-4854-8F91-E76CAD3A12FB}" dt="2025-10-04T04:47:51.254" v="22" actId="115"/>
        <pc:sldMkLst>
          <pc:docMk/>
          <pc:sldMk cId="2216388627" sldId="345"/>
        </pc:sldMkLst>
        <pc:spChg chg="mod">
          <ac:chgData name="Yuen Yi LAW" userId="7022f2d7-95f0-4fb1-89f4-e72d0af4d2c8" providerId="ADAL" clId="{4C93A254-0418-4854-8F91-E76CAD3A12FB}" dt="2025-10-04T04:47:51.254" v="22" actId="115"/>
          <ac:spMkLst>
            <pc:docMk/>
            <pc:sldMk cId="2216388627" sldId="345"/>
            <ac:spMk id="2" creationId="{00000000-0000-0000-0000-000000000000}"/>
          </ac:spMkLst>
        </pc:spChg>
        <pc:spChg chg="mod">
          <ac:chgData name="Yuen Yi LAW" userId="7022f2d7-95f0-4fb1-89f4-e72d0af4d2c8" providerId="ADAL" clId="{4C93A254-0418-4854-8F91-E76CAD3A12FB}" dt="2025-10-04T04:47:37.862" v="11" actId="1076"/>
          <ac:spMkLst>
            <pc:docMk/>
            <pc:sldMk cId="2216388627" sldId="345"/>
            <ac:spMk id="3" creationId="{00000000-0000-0000-0000-000000000000}"/>
          </ac:spMkLst>
        </pc:spChg>
      </pc:sldChg>
      <pc:sldChg chg="modSp mod">
        <pc:chgData name="Yuen Yi LAW" userId="7022f2d7-95f0-4fb1-89f4-e72d0af4d2c8" providerId="ADAL" clId="{4C93A254-0418-4854-8F91-E76CAD3A12FB}" dt="2025-10-04T04:49:26.592" v="119" actId="115"/>
        <pc:sldMkLst>
          <pc:docMk/>
          <pc:sldMk cId="3804853932" sldId="346"/>
        </pc:sldMkLst>
        <pc:spChg chg="mod">
          <ac:chgData name="Yuen Yi LAW" userId="7022f2d7-95f0-4fb1-89f4-e72d0af4d2c8" providerId="ADAL" clId="{4C93A254-0418-4854-8F91-E76CAD3A12FB}" dt="2025-10-04T04:49:26.592" v="119" actId="115"/>
          <ac:spMkLst>
            <pc:docMk/>
            <pc:sldMk cId="3804853932" sldId="346"/>
            <ac:spMk id="3" creationId="{00000000-0000-0000-0000-000000000000}"/>
          </ac:spMkLst>
        </pc:spChg>
      </pc:sldChg>
      <pc:sldChg chg="del">
        <pc:chgData name="Yuen Yi LAW" userId="7022f2d7-95f0-4fb1-89f4-e72d0af4d2c8" providerId="ADAL" clId="{4C93A254-0418-4854-8F91-E76CAD3A12FB}" dt="2025-10-04T05:36:36.408" v="422" actId="2696"/>
        <pc:sldMkLst>
          <pc:docMk/>
          <pc:sldMk cId="1295496741" sldId="347"/>
        </pc:sldMkLst>
      </pc:sldChg>
      <pc:sldChg chg="del">
        <pc:chgData name="Yuen Yi LAW" userId="7022f2d7-95f0-4fb1-89f4-e72d0af4d2c8" providerId="ADAL" clId="{4C93A254-0418-4854-8F91-E76CAD3A12FB}" dt="2025-10-04T05:36:42.532" v="423" actId="2696"/>
        <pc:sldMkLst>
          <pc:docMk/>
          <pc:sldMk cId="3717116402" sldId="348"/>
        </pc:sldMkLst>
      </pc:sldChg>
      <pc:sldChg chg="del">
        <pc:chgData name="Yuen Yi LAW" userId="7022f2d7-95f0-4fb1-89f4-e72d0af4d2c8" providerId="ADAL" clId="{4C93A254-0418-4854-8F91-E76CAD3A12FB}" dt="2025-10-04T04:35:08.768" v="3" actId="2696"/>
        <pc:sldMkLst>
          <pc:docMk/>
          <pc:sldMk cId="2056260983" sldId="350"/>
        </pc:sldMkLst>
      </pc:sldChg>
      <pc:sldChg chg="del">
        <pc:chgData name="Yuen Yi LAW" userId="7022f2d7-95f0-4fb1-89f4-e72d0af4d2c8" providerId="ADAL" clId="{4C93A254-0418-4854-8F91-E76CAD3A12FB}" dt="2025-10-04T04:35:12.960" v="4" actId="2696"/>
        <pc:sldMkLst>
          <pc:docMk/>
          <pc:sldMk cId="794283687" sldId="351"/>
        </pc:sldMkLst>
      </pc:sldChg>
      <pc:sldChg chg="addSp modSp new mod">
        <pc:chgData name="Yuen Yi LAW" userId="7022f2d7-95f0-4fb1-89f4-e72d0af4d2c8" providerId="ADAL" clId="{4C93A254-0418-4854-8F91-E76CAD3A12FB}" dt="2025-10-04T04:59:30.056" v="133" actId="20577"/>
        <pc:sldMkLst>
          <pc:docMk/>
          <pc:sldMk cId="553436247" sldId="353"/>
        </pc:sldMkLst>
        <pc:spChg chg="mod">
          <ac:chgData name="Yuen Yi LAW" userId="7022f2d7-95f0-4fb1-89f4-e72d0af4d2c8" providerId="ADAL" clId="{4C93A254-0418-4854-8F91-E76CAD3A12FB}" dt="2025-10-04T04:59:30.056" v="133" actId="20577"/>
          <ac:spMkLst>
            <pc:docMk/>
            <pc:sldMk cId="553436247" sldId="353"/>
            <ac:spMk id="2" creationId="{B37A9CFF-426C-D9C5-4736-E4FA58ED5B97}"/>
          </ac:spMkLst>
        </pc:spChg>
        <pc:picChg chg="add mod">
          <ac:chgData name="Yuen Yi LAW" userId="7022f2d7-95f0-4fb1-89f4-e72d0af4d2c8" providerId="ADAL" clId="{4C93A254-0418-4854-8F91-E76CAD3A12FB}" dt="2025-10-04T04:58:59.994" v="127" actId="14100"/>
          <ac:picMkLst>
            <pc:docMk/>
            <pc:sldMk cId="553436247" sldId="353"/>
            <ac:picMk id="6" creationId="{28431327-692C-09F9-039B-37F6E011EBE8}"/>
          </ac:picMkLst>
        </pc:picChg>
      </pc:sldChg>
      <pc:sldChg chg="addSp delSp modSp add mod ord modAnim">
        <pc:chgData name="Yuen Yi LAW" userId="7022f2d7-95f0-4fb1-89f4-e72d0af4d2c8" providerId="ADAL" clId="{4C93A254-0418-4854-8F91-E76CAD3A12FB}" dt="2025-10-04T05:12:09.183" v="277"/>
        <pc:sldMkLst>
          <pc:docMk/>
          <pc:sldMk cId="2239007824" sldId="354"/>
        </pc:sldMkLst>
        <pc:spChg chg="mod">
          <ac:chgData name="Yuen Yi LAW" userId="7022f2d7-95f0-4fb1-89f4-e72d0af4d2c8" providerId="ADAL" clId="{4C93A254-0418-4854-8F91-E76CAD3A12FB}" dt="2025-10-04T05:01:52.527" v="184" actId="20577"/>
          <ac:spMkLst>
            <pc:docMk/>
            <pc:sldMk cId="2239007824" sldId="354"/>
            <ac:spMk id="3" creationId="{836469DC-83CC-3358-C0C5-83B34623B5E5}"/>
          </ac:spMkLst>
        </pc:spChg>
        <pc:spChg chg="add mod">
          <ac:chgData name="Yuen Yi LAW" userId="7022f2d7-95f0-4fb1-89f4-e72d0af4d2c8" providerId="ADAL" clId="{4C93A254-0418-4854-8F91-E76CAD3A12FB}" dt="2025-10-04T05:02:37.676" v="258" actId="27636"/>
          <ac:spMkLst>
            <pc:docMk/>
            <pc:sldMk cId="2239007824" sldId="354"/>
            <ac:spMk id="8" creationId="{DE8B5313-3126-0A5D-9B67-040745F74C85}"/>
          </ac:spMkLst>
        </pc:spChg>
        <pc:picChg chg="del">
          <ac:chgData name="Yuen Yi LAW" userId="7022f2d7-95f0-4fb1-89f4-e72d0af4d2c8" providerId="ADAL" clId="{4C93A254-0418-4854-8F91-E76CAD3A12FB}" dt="2025-10-04T05:00:37.819" v="135" actId="478"/>
          <ac:picMkLst>
            <pc:docMk/>
            <pc:sldMk cId="2239007824" sldId="354"/>
            <ac:picMk id="6" creationId="{DE19A48A-E245-C3B1-79A2-EB911CB77BF8}"/>
          </ac:picMkLst>
        </pc:picChg>
        <pc:picChg chg="add mod">
          <ac:chgData name="Yuen Yi LAW" userId="7022f2d7-95f0-4fb1-89f4-e72d0af4d2c8" providerId="ADAL" clId="{4C93A254-0418-4854-8F91-E76CAD3A12FB}" dt="2025-10-04T05:00:56.001" v="139" actId="1076"/>
          <ac:picMkLst>
            <pc:docMk/>
            <pc:sldMk cId="2239007824" sldId="354"/>
            <ac:picMk id="7" creationId="{9F0E1954-3306-2CC5-F812-BD5C80278030}"/>
          </ac:picMkLst>
        </pc:picChg>
      </pc:sldChg>
      <pc:sldChg chg="addSp delSp modSp add mod">
        <pc:chgData name="Yuen Yi LAW" userId="7022f2d7-95f0-4fb1-89f4-e72d0af4d2c8" providerId="ADAL" clId="{4C93A254-0418-4854-8F91-E76CAD3A12FB}" dt="2025-10-04T05:11:54.454" v="275" actId="1076"/>
        <pc:sldMkLst>
          <pc:docMk/>
          <pc:sldMk cId="3869561359" sldId="355"/>
        </pc:sldMkLst>
        <pc:spChg chg="mod">
          <ac:chgData name="Yuen Yi LAW" userId="7022f2d7-95f0-4fb1-89f4-e72d0af4d2c8" providerId="ADAL" clId="{4C93A254-0418-4854-8F91-E76CAD3A12FB}" dt="2025-10-04T05:11:54.454" v="275" actId="1076"/>
          <ac:spMkLst>
            <pc:docMk/>
            <pc:sldMk cId="3869561359" sldId="355"/>
            <ac:spMk id="2" creationId="{BB2EB5FC-C27A-0C8D-51A2-756BFD538FC0}"/>
          </ac:spMkLst>
        </pc:spChg>
        <pc:picChg chg="del">
          <ac:chgData name="Yuen Yi LAW" userId="7022f2d7-95f0-4fb1-89f4-e72d0af4d2c8" providerId="ADAL" clId="{4C93A254-0418-4854-8F91-E76CAD3A12FB}" dt="2025-10-04T05:10:00.145" v="261" actId="478"/>
          <ac:picMkLst>
            <pc:docMk/>
            <pc:sldMk cId="3869561359" sldId="355"/>
            <ac:picMk id="6" creationId="{E468A03A-A2E6-2A4D-7683-EBBD2AD72A51}"/>
          </ac:picMkLst>
        </pc:picChg>
        <pc:picChg chg="add mod">
          <ac:chgData name="Yuen Yi LAW" userId="7022f2d7-95f0-4fb1-89f4-e72d0af4d2c8" providerId="ADAL" clId="{4C93A254-0418-4854-8F91-E76CAD3A12FB}" dt="2025-10-04T05:11:50.452" v="274" actId="1076"/>
          <ac:picMkLst>
            <pc:docMk/>
            <pc:sldMk cId="3869561359" sldId="355"/>
            <ac:picMk id="7" creationId="{C8AE675E-90BF-3BC7-A568-A7AF5C554967}"/>
          </ac:picMkLst>
        </pc:picChg>
      </pc:sldChg>
      <pc:sldChg chg="addSp delSp modSp add mod">
        <pc:chgData name="Yuen Yi LAW" userId="7022f2d7-95f0-4fb1-89f4-e72d0af4d2c8" providerId="ADAL" clId="{4C93A254-0418-4854-8F91-E76CAD3A12FB}" dt="2025-10-04T05:11:47.260" v="273" actId="1076"/>
        <pc:sldMkLst>
          <pc:docMk/>
          <pc:sldMk cId="1371794948" sldId="356"/>
        </pc:sldMkLst>
        <pc:spChg chg="mod">
          <ac:chgData name="Yuen Yi LAW" userId="7022f2d7-95f0-4fb1-89f4-e72d0af4d2c8" providerId="ADAL" clId="{4C93A254-0418-4854-8F91-E76CAD3A12FB}" dt="2025-10-04T05:11:47.260" v="273" actId="1076"/>
          <ac:spMkLst>
            <pc:docMk/>
            <pc:sldMk cId="1371794948" sldId="356"/>
            <ac:spMk id="2" creationId="{850189C8-98D8-A538-B866-50A868E3A42B}"/>
          </ac:spMkLst>
        </pc:spChg>
        <pc:picChg chg="add mod">
          <ac:chgData name="Yuen Yi LAW" userId="7022f2d7-95f0-4fb1-89f4-e72d0af4d2c8" providerId="ADAL" clId="{4C93A254-0418-4854-8F91-E76CAD3A12FB}" dt="2025-10-04T05:11:43.646" v="272" actId="1076"/>
          <ac:picMkLst>
            <pc:docMk/>
            <pc:sldMk cId="1371794948" sldId="356"/>
            <ac:picMk id="6" creationId="{B7D880DA-71DD-874B-AD6F-FA142400F495}"/>
          </ac:picMkLst>
        </pc:picChg>
        <pc:picChg chg="del">
          <ac:chgData name="Yuen Yi LAW" userId="7022f2d7-95f0-4fb1-89f4-e72d0af4d2c8" providerId="ADAL" clId="{4C93A254-0418-4854-8F91-E76CAD3A12FB}" dt="2025-10-04T05:11:14.225" v="268" actId="478"/>
          <ac:picMkLst>
            <pc:docMk/>
            <pc:sldMk cId="1371794948" sldId="356"/>
            <ac:picMk id="7" creationId="{F7CC1882-D422-3039-DBB7-F734174EA326}"/>
          </ac:picMkLst>
        </pc:picChg>
      </pc:sldChg>
      <pc:sldChg chg="addSp delSp modSp add mod">
        <pc:chgData name="Yuen Yi LAW" userId="7022f2d7-95f0-4fb1-89f4-e72d0af4d2c8" providerId="ADAL" clId="{4C93A254-0418-4854-8F91-E76CAD3A12FB}" dt="2025-10-04T05:37:10.039" v="426" actId="207"/>
        <pc:sldMkLst>
          <pc:docMk/>
          <pc:sldMk cId="1674230530" sldId="357"/>
        </pc:sldMkLst>
        <pc:spChg chg="mod">
          <ac:chgData name="Yuen Yi LAW" userId="7022f2d7-95f0-4fb1-89f4-e72d0af4d2c8" providerId="ADAL" clId="{4C93A254-0418-4854-8F91-E76CAD3A12FB}" dt="2025-10-04T05:26:34.547" v="314" actId="14100"/>
          <ac:spMkLst>
            <pc:docMk/>
            <pc:sldMk cId="1674230530" sldId="357"/>
            <ac:spMk id="3" creationId="{E004F7CA-E100-A971-3A98-94489D01B129}"/>
          </ac:spMkLst>
        </pc:spChg>
        <pc:spChg chg="add mod">
          <ac:chgData name="Yuen Yi LAW" userId="7022f2d7-95f0-4fb1-89f4-e72d0af4d2c8" providerId="ADAL" clId="{4C93A254-0418-4854-8F91-E76CAD3A12FB}" dt="2025-10-04T05:32:00.359" v="345" actId="207"/>
          <ac:spMkLst>
            <pc:docMk/>
            <pc:sldMk cId="1674230530" sldId="357"/>
            <ac:spMk id="5" creationId="{ED79BA94-D9AA-863F-353B-DAC9DD6D324D}"/>
          </ac:spMkLst>
        </pc:spChg>
        <pc:spChg chg="add mod">
          <ac:chgData name="Yuen Yi LAW" userId="7022f2d7-95f0-4fb1-89f4-e72d0af4d2c8" providerId="ADAL" clId="{4C93A254-0418-4854-8F91-E76CAD3A12FB}" dt="2025-10-04T05:37:10.039" v="426" actId="207"/>
          <ac:spMkLst>
            <pc:docMk/>
            <pc:sldMk cId="1674230530" sldId="357"/>
            <ac:spMk id="7" creationId="{1D507DD5-C1BF-9363-45D0-154C92AFF594}"/>
          </ac:spMkLst>
        </pc:spChg>
        <pc:picChg chg="del">
          <ac:chgData name="Yuen Yi LAW" userId="7022f2d7-95f0-4fb1-89f4-e72d0af4d2c8" providerId="ADAL" clId="{4C93A254-0418-4854-8F91-E76CAD3A12FB}" dt="2025-10-04T05:12:56.137" v="279" actId="478"/>
          <ac:picMkLst>
            <pc:docMk/>
            <pc:sldMk cId="1674230530" sldId="357"/>
            <ac:picMk id="6" creationId="{CA115960-F918-2178-567F-0739E55AF3C6}"/>
          </ac:picMkLst>
        </pc:picChg>
      </pc:sldChg>
      <pc:sldChg chg="delSp modSp new mod">
        <pc:chgData name="Yuen Yi LAW" userId="7022f2d7-95f0-4fb1-89f4-e72d0af4d2c8" providerId="ADAL" clId="{4C93A254-0418-4854-8F91-E76CAD3A12FB}" dt="2025-10-04T05:35:50.050" v="370" actId="1076"/>
        <pc:sldMkLst>
          <pc:docMk/>
          <pc:sldMk cId="1603162073" sldId="358"/>
        </pc:sldMkLst>
        <pc:spChg chg="del">
          <ac:chgData name="Yuen Yi LAW" userId="7022f2d7-95f0-4fb1-89f4-e72d0af4d2c8" providerId="ADAL" clId="{4C93A254-0418-4854-8F91-E76CAD3A12FB}" dt="2025-10-04T05:35:32.457" v="364" actId="478"/>
          <ac:spMkLst>
            <pc:docMk/>
            <pc:sldMk cId="1603162073" sldId="358"/>
            <ac:spMk id="2" creationId="{4AD02B57-5A63-F65E-8BE9-A3EE64D7CDCE}"/>
          </ac:spMkLst>
        </pc:spChg>
        <pc:spChg chg="mod">
          <ac:chgData name="Yuen Yi LAW" userId="7022f2d7-95f0-4fb1-89f4-e72d0af4d2c8" providerId="ADAL" clId="{4C93A254-0418-4854-8F91-E76CAD3A12FB}" dt="2025-10-04T05:35:50.050" v="370" actId="1076"/>
          <ac:spMkLst>
            <pc:docMk/>
            <pc:sldMk cId="1603162073" sldId="358"/>
            <ac:spMk id="3" creationId="{6E79DA2B-96F0-2DD2-2F6F-91A2980BEC02}"/>
          </ac:spMkLst>
        </pc:spChg>
      </pc:sldChg>
      <pc:sldChg chg="modSp add mod">
        <pc:chgData name="Yuen Yi LAW" userId="7022f2d7-95f0-4fb1-89f4-e72d0af4d2c8" providerId="ADAL" clId="{4C93A254-0418-4854-8F91-E76CAD3A12FB}" dt="2025-10-04T06:21:13.608" v="650" actId="14100"/>
        <pc:sldMkLst>
          <pc:docMk/>
          <pc:sldMk cId="2277645597" sldId="359"/>
        </pc:sldMkLst>
        <pc:spChg chg="mod">
          <ac:chgData name="Yuen Yi LAW" userId="7022f2d7-95f0-4fb1-89f4-e72d0af4d2c8" providerId="ADAL" clId="{4C93A254-0418-4854-8F91-E76CAD3A12FB}" dt="2025-10-04T06:21:13.608" v="650" actId="14100"/>
          <ac:spMkLst>
            <pc:docMk/>
            <pc:sldMk cId="2277645597" sldId="359"/>
            <ac:spMk id="5" creationId="{E205C448-2E34-2ACD-A699-3450EFEB28FD}"/>
          </ac:spMkLst>
        </pc:spChg>
      </pc:sldChg>
      <pc:sldChg chg="modSp add mod ord">
        <pc:chgData name="Yuen Yi LAW" userId="7022f2d7-95f0-4fb1-89f4-e72d0af4d2c8" providerId="ADAL" clId="{4C93A254-0418-4854-8F91-E76CAD3A12FB}" dt="2025-10-04T06:21:25.414" v="652"/>
        <pc:sldMkLst>
          <pc:docMk/>
          <pc:sldMk cId="1166224267" sldId="360"/>
        </pc:sldMkLst>
        <pc:spChg chg="mod">
          <ac:chgData name="Yuen Yi LAW" userId="7022f2d7-95f0-4fb1-89f4-e72d0af4d2c8" providerId="ADAL" clId="{4C93A254-0418-4854-8F91-E76CAD3A12FB}" dt="2025-10-04T06:00:45.739" v="635" actId="14100"/>
          <ac:spMkLst>
            <pc:docMk/>
            <pc:sldMk cId="1166224267" sldId="360"/>
            <ac:spMk id="5" creationId="{2DF6070B-C46F-C8EA-8D44-E2A1A9863152}"/>
          </ac:spMkLst>
        </pc:spChg>
      </pc:sldChg>
      <pc:sldChg chg="modSp add mod">
        <pc:chgData name="Yuen Yi LAW" userId="7022f2d7-95f0-4fb1-89f4-e72d0af4d2c8" providerId="ADAL" clId="{4C93A254-0418-4854-8F91-E76CAD3A12FB}" dt="2025-10-04T06:29:40.927" v="679" actId="207"/>
        <pc:sldMkLst>
          <pc:docMk/>
          <pc:sldMk cId="1305767487" sldId="361"/>
        </pc:sldMkLst>
        <pc:spChg chg="mod">
          <ac:chgData name="Yuen Yi LAW" userId="7022f2d7-95f0-4fb1-89f4-e72d0af4d2c8" providerId="ADAL" clId="{4C93A254-0418-4854-8F91-E76CAD3A12FB}" dt="2025-10-04T06:29:40.927" v="679" actId="207"/>
          <ac:spMkLst>
            <pc:docMk/>
            <pc:sldMk cId="1305767487" sldId="361"/>
            <ac:spMk id="5" creationId="{775F26EF-823D-AB1A-00D7-413EA16331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811CF8-7FBE-7E4A-8C0B-B66662FE50F7}" type="datetimeFigureOut">
              <a:rPr lang="en-US" smtClean="0"/>
              <a:t>10/4/2025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47B1A8-2BB8-7244-B6B7-9181BE858A85}" type="slidenum">
              <a:rPr lang="en-US" smtClean="0"/>
              <a:t>‹#›</a:t>
            </a:fld>
            <a:endParaRPr lang="en-US"/>
          </a:p>
        </p:txBody>
      </p:sp>
    </p:spTree>
    <p:extLst>
      <p:ext uri="{BB962C8B-B14F-4D97-AF65-F5344CB8AC3E}">
        <p14:creationId xmlns:p14="http://schemas.microsoft.com/office/powerpoint/2010/main" val="439540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3BB51-360B-D345-A18F-124AE120A846}" type="datetime1">
              <a:rPr lang="en-HK"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0ACE2-CABA-944F-A548-FFDAAFE2AF8B}" type="datetime1">
              <a:rPr lang="en-HK"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100738-6E32-FC47-B0D8-B444EA87C6A1}" type="datetime1">
              <a:rPr lang="en-HK"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A58901-C5AD-E943-88CD-8A5CFB175D3F}" type="datetime1">
              <a:rPr lang="en-HK"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E52FDA-3918-824B-9984-9531A50D0D46}" type="datetime1">
              <a:rPr lang="en-HK" smtClean="0"/>
              <a:t>4/10/2025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9BC6D8-B3B4-1940-A68A-F262DFB86D80}" type="datetime1">
              <a:rPr lang="en-HK" smtClean="0"/>
              <a:t>4/10/2025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780113-C76F-4B49-A54A-DA55154A7115}" type="datetime1">
              <a:rPr lang="en-HK" smtClean="0"/>
              <a:t>4/10/2025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8F5373-C0B9-F64A-9874-3497D1C73E9C}" type="datetime1">
              <a:rPr lang="en-HK"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E3B67B9-2933-3040-84A0-30CF95EE4F70}" type="datetime1">
              <a:rPr lang="en-HK"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C4ACC73-8FF5-7C43-8317-4DD35CCD3725}" type="datetime1">
              <a:rPr lang="en-HK"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7AA459-70A5-A946-86E1-C55658B7E0C0}" type="datetime1">
              <a:rPr lang="en-HK"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610C1A1B-5DA9-5F40-8A12-1016629DB12C}" type="datetime1">
              <a:rPr lang="en-HK"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22F85A5D-9CE8-6F44-B194-D934889963C8}" type="datetime1">
              <a:rPr lang="en-HK"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AF7752B0-1DD3-0241-9E1D-CD3B14408ADD}" type="datetime1">
              <a:rPr lang="en-HK"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AE3E9E-CB1A-AF4F-8BA1-EBB124F81EF2}" type="datetime1">
              <a:rPr lang="en-HK"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803F00-406F-A84B-86C4-1C06EB3EDAF7}" type="datetime1">
              <a:rPr lang="en-HK"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C90D0AE-B4EF-4F4D-A3CA-2F5EB4C551B0}" type="datetime1">
              <a:rPr lang="en-HK" smtClean="0"/>
              <a:t>4/10/2025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oi.org/10.1186/s12915-020-00836-x"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scholars.hkbu.edu.hk/en/studentThese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esl.gatech.edu/sites/default/files/LI/li-how_to_write_acknowledgements_in_a_dissertation.pdf"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springer.com/gp/authors-editors/authorandreviewertutorials/writing-a-journal-manuscript/title-abstract-and-keywords/10285522#:~:text=The%20title%20of%20your%20manuscript,main%20topics%20of%20the%20study"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blog.wordvice.com/best-title-for-journal-manuscript/"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0749" y="1244212"/>
            <a:ext cx="8915399" cy="2262781"/>
          </a:xfrm>
        </p:spPr>
        <p:txBody>
          <a:bodyPr>
            <a:normAutofit fontScale="90000"/>
          </a:bodyPr>
          <a:lstStyle/>
          <a:p>
            <a:r>
              <a:rPr lang="en-US" dirty="0"/>
              <a:t>MCCP6020</a:t>
            </a:r>
            <a:br>
              <a:rPr lang="en-US" dirty="0"/>
            </a:br>
            <a:r>
              <a:rPr lang="en-US" dirty="0"/>
              <a:t>Advanced English for Academic Purposes</a:t>
            </a:r>
          </a:p>
        </p:txBody>
      </p:sp>
      <p:sp>
        <p:nvSpPr>
          <p:cNvPr id="3" name="Subtitle 2"/>
          <p:cNvSpPr>
            <a:spLocks noGrp="1"/>
          </p:cNvSpPr>
          <p:nvPr>
            <p:ph type="subTitle" idx="1"/>
          </p:nvPr>
        </p:nvSpPr>
        <p:spPr>
          <a:xfrm>
            <a:off x="2547332" y="4044463"/>
            <a:ext cx="8915399" cy="1126283"/>
          </a:xfrm>
        </p:spPr>
        <p:txBody>
          <a:bodyPr>
            <a:normAutofit lnSpcReduction="10000"/>
          </a:bodyPr>
          <a:lstStyle/>
          <a:p>
            <a:r>
              <a:rPr lang="en-US" dirty="0"/>
              <a:t>Session 8</a:t>
            </a:r>
          </a:p>
          <a:p>
            <a:r>
              <a:rPr lang="en-GB" altLang="zh-CN" dirty="0"/>
              <a:t>Writing the Abstract and Acknowledgements Sections</a:t>
            </a:r>
          </a:p>
          <a:p>
            <a:r>
              <a:rPr lang="en-GB" altLang="zh-CN" dirty="0"/>
              <a:t>Coherence, Cohesion and Signposting</a:t>
            </a:r>
          </a:p>
        </p:txBody>
      </p:sp>
      <p:sp>
        <p:nvSpPr>
          <p:cNvPr id="4" name="Slide Number Placeholder 3">
            <a:extLst>
              <a:ext uri="{FF2B5EF4-FFF2-40B4-BE49-F238E27FC236}">
                <a16:creationId xmlns:a16="http://schemas.microsoft.com/office/drawing/2014/main" id="{CA121820-2572-0848-865C-A4F6338A1396}"/>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572139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2084" y="787782"/>
            <a:ext cx="8911687" cy="1280890"/>
          </a:xfrm>
        </p:spPr>
        <p:txBody>
          <a:bodyPr/>
          <a:lstStyle/>
          <a:p>
            <a:r>
              <a:rPr lang="en-US" dirty="0"/>
              <a:t>Learning Outcomes</a:t>
            </a:r>
          </a:p>
        </p:txBody>
      </p:sp>
      <p:sp>
        <p:nvSpPr>
          <p:cNvPr id="3" name="Content Placeholder 2"/>
          <p:cNvSpPr>
            <a:spLocks noGrp="1"/>
          </p:cNvSpPr>
          <p:nvPr>
            <p:ph idx="1"/>
          </p:nvPr>
        </p:nvSpPr>
        <p:spPr>
          <a:xfrm>
            <a:off x="2282084" y="1777612"/>
            <a:ext cx="9222527" cy="3777622"/>
          </a:xfrm>
        </p:spPr>
        <p:txBody>
          <a:bodyPr>
            <a:normAutofit/>
          </a:bodyPr>
          <a:lstStyle/>
          <a:p>
            <a:pPr marL="0" indent="0">
              <a:buNone/>
            </a:pPr>
            <a:r>
              <a:rPr lang="en-US" sz="2400" dirty="0"/>
              <a:t>By the end of this session, students should be able to:</a:t>
            </a:r>
          </a:p>
          <a:p>
            <a:pPr marL="0" indent="0">
              <a:buNone/>
            </a:pPr>
            <a:endParaRPr lang="en-US" sz="2400" dirty="0"/>
          </a:p>
          <a:p>
            <a:pPr lvl="0"/>
            <a:r>
              <a:rPr lang="en-GB" sz="2400" dirty="0"/>
              <a:t>write the abstract and acknowledgements sections using appropriate organizational structure and linguistic features</a:t>
            </a:r>
          </a:p>
          <a:p>
            <a:pPr lvl="0"/>
            <a:r>
              <a:rPr lang="en-GB" sz="2400" dirty="0"/>
              <a:t>set a good title for a manuscript</a:t>
            </a:r>
          </a:p>
          <a:p>
            <a:pPr lvl="0"/>
            <a:r>
              <a:rPr lang="en-GB" sz="2400" dirty="0"/>
              <a:t>use appropriate rhetorical devices to enhance cohesion and coherence in academic writing</a:t>
            </a:r>
          </a:p>
          <a:p>
            <a:pPr marL="0" indent="0">
              <a:buNone/>
            </a:pPr>
            <a:endParaRPr lang="en-US" dirty="0"/>
          </a:p>
        </p:txBody>
      </p:sp>
      <p:sp>
        <p:nvSpPr>
          <p:cNvPr id="4" name="Slide Number Placeholder 3">
            <a:extLst>
              <a:ext uri="{FF2B5EF4-FFF2-40B4-BE49-F238E27FC236}">
                <a16:creationId xmlns:a16="http://schemas.microsoft.com/office/drawing/2014/main" id="{94099040-26C5-7A4E-BD59-FB7B38C31152}"/>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788102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2043" y="512462"/>
            <a:ext cx="8911687" cy="1280890"/>
          </a:xfrm>
        </p:spPr>
        <p:txBody>
          <a:bodyPr/>
          <a:lstStyle/>
          <a:p>
            <a:r>
              <a:rPr lang="en-US" dirty="0"/>
              <a:t>Warm-up Task</a:t>
            </a:r>
          </a:p>
        </p:txBody>
      </p:sp>
      <p:sp>
        <p:nvSpPr>
          <p:cNvPr id="3" name="Content Placeholder 2"/>
          <p:cNvSpPr>
            <a:spLocks noGrp="1"/>
          </p:cNvSpPr>
          <p:nvPr>
            <p:ph idx="1"/>
          </p:nvPr>
        </p:nvSpPr>
        <p:spPr>
          <a:xfrm>
            <a:off x="1148052" y="1331306"/>
            <a:ext cx="10946966" cy="5289792"/>
          </a:xfrm>
        </p:spPr>
        <p:txBody>
          <a:bodyPr vert="horz" lIns="91440" tIns="45720" rIns="91440" bIns="45720" rtlCol="0" anchor="t">
            <a:normAutofit lnSpcReduction="10000"/>
          </a:bodyPr>
          <a:lstStyle/>
          <a:p>
            <a:pPr marL="0" indent="0">
              <a:buNone/>
            </a:pPr>
            <a:r>
              <a:rPr lang="en-GB" sz="2200" dirty="0"/>
              <a:t>Form a group of 2-3 students and discuss the following questions.</a:t>
            </a:r>
          </a:p>
          <a:p>
            <a:pPr marL="0" indent="0">
              <a:buNone/>
            </a:pPr>
            <a:endParaRPr lang="en-US" sz="2200" dirty="0"/>
          </a:p>
          <a:p>
            <a:pPr marL="0" indent="0" algn="just">
              <a:buNone/>
            </a:pPr>
            <a:r>
              <a:rPr lang="en-US" sz="2200" dirty="0"/>
              <a:t>1. </a:t>
            </a:r>
            <a:r>
              <a:rPr lang="en-GB" sz="2200" dirty="0"/>
              <a:t>Why is the abstract necessary for academic research articles?</a:t>
            </a:r>
            <a:r>
              <a:rPr lang="en-GB" sz="2200" dirty="0">
                <a:solidFill>
                  <a:srgbClr val="0070C0"/>
                </a:solidFill>
              </a:rPr>
              <a:t> </a:t>
            </a:r>
          </a:p>
          <a:p>
            <a:pPr marL="611505" indent="-611505" algn="just">
              <a:buNone/>
            </a:pPr>
            <a:r>
              <a:rPr lang="en-GB" sz="2200" i="1" dirty="0">
                <a:solidFill>
                  <a:srgbClr val="0070C0"/>
                </a:solidFill>
              </a:rPr>
              <a:t>    The abstract concisely reports the aims and outcomes of your research so</a:t>
            </a:r>
          </a:p>
          <a:p>
            <a:pPr marL="611505" indent="-611505" algn="just">
              <a:buNone/>
            </a:pPr>
            <a:r>
              <a:rPr lang="en-GB" sz="2200" i="1" dirty="0">
                <a:solidFill>
                  <a:srgbClr val="0070C0"/>
                </a:solidFill>
              </a:rPr>
              <a:t>    that readers know exactly what the paper is about. </a:t>
            </a:r>
          </a:p>
          <a:p>
            <a:pPr marL="0" indent="0" algn="just">
              <a:buNone/>
            </a:pPr>
            <a:endParaRPr lang="en-GB" sz="2200" dirty="0">
              <a:solidFill>
                <a:srgbClr val="0070C0"/>
              </a:solidFill>
            </a:endParaRPr>
          </a:p>
          <a:p>
            <a:pPr marL="0" indent="0" algn="just">
              <a:buNone/>
            </a:pPr>
            <a:r>
              <a:rPr lang="en-GB" sz="2200" dirty="0">
                <a:solidFill>
                  <a:schemeClr val="tx1"/>
                </a:solidFill>
              </a:rPr>
              <a:t> 2. What kind of information do you think should be included in an abstract?</a:t>
            </a:r>
          </a:p>
          <a:p>
            <a:pPr marL="0" indent="0" algn="just">
              <a:buNone/>
            </a:pPr>
            <a:r>
              <a:rPr lang="en-GB" sz="2200" i="1" dirty="0">
                <a:solidFill>
                  <a:srgbClr val="0070C0"/>
                </a:solidFill>
              </a:rPr>
              <a:t>        Research problem and objectives</a:t>
            </a:r>
          </a:p>
          <a:p>
            <a:pPr marL="0" indent="0" algn="just">
              <a:buNone/>
            </a:pPr>
            <a:r>
              <a:rPr lang="en-GB" sz="2200" i="1" dirty="0">
                <a:solidFill>
                  <a:srgbClr val="0070C0"/>
                </a:solidFill>
              </a:rPr>
              <a:t>        Methods</a:t>
            </a:r>
          </a:p>
          <a:p>
            <a:pPr marL="0" indent="0" algn="just">
              <a:buNone/>
            </a:pPr>
            <a:r>
              <a:rPr lang="en-GB" sz="2200" i="1" dirty="0">
                <a:solidFill>
                  <a:srgbClr val="0070C0"/>
                </a:solidFill>
              </a:rPr>
              <a:t>        Key results or arguments</a:t>
            </a:r>
          </a:p>
          <a:p>
            <a:pPr marL="0" indent="0" algn="just">
              <a:buNone/>
            </a:pPr>
            <a:endParaRPr lang="en-GB" sz="2600" dirty="0">
              <a:solidFill>
                <a:srgbClr val="0070C0"/>
              </a:solidFill>
            </a:endParaRPr>
          </a:p>
          <a:p>
            <a:pPr marL="0" indent="0" algn="just">
              <a:buNone/>
            </a:pPr>
            <a:r>
              <a:rPr lang="en-GB" sz="2600" dirty="0">
                <a:solidFill>
                  <a:srgbClr val="0070C0"/>
                </a:solidFill>
              </a:rPr>
              <a:t>    </a:t>
            </a:r>
            <a:endParaRPr lang="en-GB" sz="2600" i="1" dirty="0">
              <a:solidFill>
                <a:srgbClr val="0070C0"/>
              </a:solidFill>
            </a:endParaRPr>
          </a:p>
          <a:p>
            <a:pPr marL="0" indent="0" algn="just">
              <a:buNone/>
            </a:pPr>
            <a:endParaRPr lang="en-GB" i="1" dirty="0"/>
          </a:p>
          <a:p>
            <a:pPr marL="0" indent="0">
              <a:buNone/>
            </a:pPr>
            <a:endParaRPr lang="en-US" dirty="0"/>
          </a:p>
        </p:txBody>
      </p:sp>
      <p:sp>
        <p:nvSpPr>
          <p:cNvPr id="4" name="Slide Number Placeholder 3">
            <a:extLst>
              <a:ext uri="{FF2B5EF4-FFF2-40B4-BE49-F238E27FC236}">
                <a16:creationId xmlns:a16="http://schemas.microsoft.com/office/drawing/2014/main" id="{2099E930-EA90-7A45-98C8-76BBD38BD945}"/>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371811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16785" y="617796"/>
            <a:ext cx="10143403" cy="5289792"/>
          </a:xfrm>
        </p:spPr>
        <p:txBody>
          <a:bodyPr>
            <a:normAutofit/>
          </a:bodyPr>
          <a:lstStyle/>
          <a:p>
            <a:pPr marL="0" indent="0">
              <a:buNone/>
            </a:pPr>
            <a:endParaRPr lang="en-US" sz="2600" dirty="0"/>
          </a:p>
          <a:p>
            <a:pPr marL="0" indent="0" algn="just">
              <a:buNone/>
            </a:pPr>
            <a:r>
              <a:rPr lang="en-GB" sz="2000" dirty="0"/>
              <a:t>3. Is there a structure for research article abstracts?</a:t>
            </a:r>
            <a:endParaRPr lang="en-GB" sz="2000" dirty="0">
              <a:solidFill>
                <a:srgbClr val="0070C0"/>
              </a:solidFill>
            </a:endParaRPr>
          </a:p>
          <a:p>
            <a:pPr marL="0" indent="0" algn="just">
              <a:buNone/>
            </a:pPr>
            <a:r>
              <a:rPr lang="en-GB" sz="2000" dirty="0">
                <a:solidFill>
                  <a:srgbClr val="0070C0"/>
                </a:solidFill>
              </a:rPr>
              <a:t>        </a:t>
            </a:r>
            <a:r>
              <a:rPr lang="en-GB" sz="2000" i="1" dirty="0">
                <a:solidFill>
                  <a:srgbClr val="0070C0"/>
                </a:solidFill>
              </a:rPr>
              <a:t>Move 1 – Introduction (Background, research objectives, hypotheses)</a:t>
            </a:r>
          </a:p>
          <a:p>
            <a:pPr marL="0" indent="0" algn="just">
              <a:buNone/>
            </a:pPr>
            <a:r>
              <a:rPr lang="en-GB" sz="2000" i="1" dirty="0">
                <a:solidFill>
                  <a:srgbClr val="0070C0"/>
                </a:solidFill>
              </a:rPr>
              <a:t>        Move 2 – Methods</a:t>
            </a:r>
          </a:p>
          <a:p>
            <a:pPr marL="0" indent="0" algn="just">
              <a:buNone/>
            </a:pPr>
            <a:r>
              <a:rPr lang="en-GB" sz="2000" i="1" dirty="0">
                <a:solidFill>
                  <a:srgbClr val="0070C0"/>
                </a:solidFill>
              </a:rPr>
              <a:t>        Move 3 – Results</a:t>
            </a:r>
          </a:p>
          <a:p>
            <a:pPr marL="0" indent="0" algn="just">
              <a:buNone/>
            </a:pPr>
            <a:r>
              <a:rPr lang="en-GB" sz="2000" i="1" dirty="0">
                <a:solidFill>
                  <a:srgbClr val="0070C0"/>
                </a:solidFill>
              </a:rPr>
              <a:t>        Move 4 – Discussion/Conclusion/Implications</a:t>
            </a:r>
          </a:p>
          <a:p>
            <a:pPr marL="0" indent="0" algn="just">
              <a:buNone/>
            </a:pPr>
            <a:endParaRPr lang="en-GB" sz="2000" i="1" dirty="0">
              <a:solidFill>
                <a:srgbClr val="0070C0"/>
              </a:solidFill>
            </a:endParaRPr>
          </a:p>
          <a:p>
            <a:pPr marL="18900" lvl="0" indent="0">
              <a:buNone/>
            </a:pPr>
            <a:r>
              <a:rPr lang="en-GB" sz="2000" dirty="0"/>
              <a:t>4. When is an abstract usually written? At the beginning of the research stage or near the final stage of the paper /after completion? Why?</a:t>
            </a:r>
          </a:p>
          <a:p>
            <a:pPr marL="396000" indent="-396000">
              <a:buNone/>
            </a:pPr>
            <a:r>
              <a:rPr lang="en-US" dirty="0"/>
              <a:t>      </a:t>
            </a:r>
            <a:r>
              <a:rPr lang="en-GB" sz="2000" i="1" dirty="0">
                <a:solidFill>
                  <a:srgbClr val="0070C0"/>
                </a:solidFill>
              </a:rPr>
              <a:t>An abstract highlights the key findings and perhaps the implications of the findings as well, so it is consequently written at the final stage of the paper. </a:t>
            </a:r>
            <a:endParaRPr lang="en-US" sz="2000" i="1" dirty="0">
              <a:solidFill>
                <a:srgbClr val="0070C0"/>
              </a:solidFill>
            </a:endParaRPr>
          </a:p>
        </p:txBody>
      </p:sp>
      <p:sp>
        <p:nvSpPr>
          <p:cNvPr id="4" name="Slide Number Placeholder 3">
            <a:extLst>
              <a:ext uri="{FF2B5EF4-FFF2-40B4-BE49-F238E27FC236}">
                <a16:creationId xmlns:a16="http://schemas.microsoft.com/office/drawing/2014/main" id="{2099E930-EA90-7A45-98C8-76BBD38BD945}"/>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580996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7251" y="261874"/>
            <a:ext cx="9932937" cy="1280890"/>
          </a:xfrm>
        </p:spPr>
        <p:txBody>
          <a:bodyPr>
            <a:normAutofit/>
          </a:bodyPr>
          <a:lstStyle/>
          <a:p>
            <a:r>
              <a:rPr lang="en-US" sz="4000" dirty="0"/>
              <a:t>Task 1</a:t>
            </a:r>
            <a:br>
              <a:rPr lang="en-US" b="1" dirty="0"/>
            </a:br>
            <a:endParaRPr lang="en-US" dirty="0"/>
          </a:p>
        </p:txBody>
      </p:sp>
      <p:sp>
        <p:nvSpPr>
          <p:cNvPr id="3" name="Content Placeholder 2"/>
          <p:cNvSpPr>
            <a:spLocks noGrp="1"/>
          </p:cNvSpPr>
          <p:nvPr>
            <p:ph idx="1"/>
          </p:nvPr>
        </p:nvSpPr>
        <p:spPr>
          <a:xfrm>
            <a:off x="1607228" y="997527"/>
            <a:ext cx="8977543" cy="4827768"/>
          </a:xfrm>
        </p:spPr>
        <p:txBody>
          <a:bodyPr>
            <a:normAutofit/>
          </a:bodyPr>
          <a:lstStyle/>
          <a:p>
            <a:r>
              <a:rPr lang="en-GB" dirty="0"/>
              <a:t>Read the following example abstracts in the fields of Sociology and Biology. Analyse the move structure and the linguistic features.      </a:t>
            </a:r>
          </a:p>
          <a:p>
            <a:pPr marL="0" indent="0">
              <a:buNone/>
            </a:pPr>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729CE009-E7ED-954D-9B79-CD278F4BFB7C}"/>
              </a:ext>
            </a:extLst>
          </p:cNvPr>
          <p:cNvSpPr>
            <a:spLocks noGrp="1"/>
          </p:cNvSpPr>
          <p:nvPr>
            <p:ph type="sldNum" sz="quarter" idx="12"/>
          </p:nvPr>
        </p:nvSpPr>
        <p:spPr/>
        <p:txBody>
          <a:bodyPr/>
          <a:lstStyle/>
          <a:p>
            <a:fld id="{D57F1E4F-1CFF-5643-939E-217C01CDF565}" type="slidenum">
              <a:rPr lang="en-US" smtClean="0"/>
              <a:pPr/>
              <a:t>5</a:t>
            </a:fld>
            <a:endParaRPr lang="en-US" dirty="0"/>
          </a:p>
        </p:txBody>
      </p:sp>
      <p:pic>
        <p:nvPicPr>
          <p:cNvPr id="5" name="Picture 4">
            <a:extLst>
              <a:ext uri="{FF2B5EF4-FFF2-40B4-BE49-F238E27FC236}">
                <a16:creationId xmlns:a16="http://schemas.microsoft.com/office/drawing/2014/main" id="{0A448747-F894-493E-A571-45C99BFF0CBD}"/>
              </a:ext>
            </a:extLst>
          </p:cNvPr>
          <p:cNvPicPr>
            <a:picLocks noChangeAspect="1"/>
          </p:cNvPicPr>
          <p:nvPr/>
        </p:nvPicPr>
        <p:blipFill>
          <a:blip r:embed="rId2"/>
          <a:stretch>
            <a:fillRect/>
          </a:stretch>
        </p:blipFill>
        <p:spPr>
          <a:xfrm>
            <a:off x="1607228" y="1682151"/>
            <a:ext cx="9180854" cy="4878797"/>
          </a:xfrm>
          <a:prstGeom prst="rect">
            <a:avLst/>
          </a:prstGeom>
        </p:spPr>
      </p:pic>
    </p:spTree>
    <p:extLst>
      <p:ext uri="{BB962C8B-B14F-4D97-AF65-F5344CB8AC3E}">
        <p14:creationId xmlns:p14="http://schemas.microsoft.com/office/powerpoint/2010/main" val="2437937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9CE009-E7ED-954D-9B79-CD278F4BFB7C}"/>
              </a:ext>
            </a:extLst>
          </p:cNvPr>
          <p:cNvSpPr>
            <a:spLocks noGrp="1"/>
          </p:cNvSpPr>
          <p:nvPr>
            <p:ph type="sldNum" sz="quarter" idx="12"/>
          </p:nvPr>
        </p:nvSpPr>
        <p:spPr>
          <a:xfrm>
            <a:off x="531812" y="787782"/>
            <a:ext cx="779767"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6</a:t>
            </a:fld>
            <a:endParaRPr lang="en-US" sz="1900"/>
          </a:p>
        </p:txBody>
      </p:sp>
      <p:sp>
        <p:nvSpPr>
          <p:cNvPr id="7" name="TextBox 6">
            <a:extLst>
              <a:ext uri="{FF2B5EF4-FFF2-40B4-BE49-F238E27FC236}">
                <a16:creationId xmlns:a16="http://schemas.microsoft.com/office/drawing/2014/main" id="{21D6F905-36E4-4FA3-98B9-F0F7C91FE399}"/>
              </a:ext>
            </a:extLst>
          </p:cNvPr>
          <p:cNvSpPr txBox="1"/>
          <p:nvPr/>
        </p:nvSpPr>
        <p:spPr>
          <a:xfrm>
            <a:off x="1888547" y="375090"/>
            <a:ext cx="8414905" cy="382477"/>
          </a:xfrm>
          <a:prstGeom prst="rect">
            <a:avLst/>
          </a:prstGeom>
          <a:noFill/>
        </p:spPr>
        <p:txBody>
          <a:bodyPr wrap="square">
            <a:spAutoFit/>
          </a:bodyPr>
          <a:lstStyle/>
          <a:p>
            <a:pPr marL="342900" lvl="0" indent="-342900">
              <a:lnSpc>
                <a:spcPct val="115000"/>
              </a:lnSpc>
              <a:spcAft>
                <a:spcPts val="600"/>
              </a:spcAft>
              <a:buFont typeface="+mj-lt"/>
              <a:buAutoNum type="arabicPeriod"/>
            </a:pPr>
            <a:r>
              <a:rPr lang="en-HK" dirty="0">
                <a:solidFill>
                  <a:schemeClr val="tx1">
                    <a:lumMod val="75000"/>
                    <a:lumOff val="25000"/>
                  </a:schemeClr>
                </a:solidFill>
              </a:rPr>
              <a:t>What do you notice about the move structure of the abstracts above?</a:t>
            </a:r>
            <a:endParaRPr lang="en-GB" dirty="0">
              <a:solidFill>
                <a:schemeClr val="tx1">
                  <a:lumMod val="75000"/>
                  <a:lumOff val="25000"/>
                </a:schemeClr>
              </a:solidFill>
            </a:endParaRPr>
          </a:p>
        </p:txBody>
      </p:sp>
      <p:sp>
        <p:nvSpPr>
          <p:cNvPr id="10" name="TextBox 9">
            <a:extLst>
              <a:ext uri="{FF2B5EF4-FFF2-40B4-BE49-F238E27FC236}">
                <a16:creationId xmlns:a16="http://schemas.microsoft.com/office/drawing/2014/main" id="{F38D9213-FB79-4F80-8A11-2940EE5B2D0D}"/>
              </a:ext>
            </a:extLst>
          </p:cNvPr>
          <p:cNvSpPr txBox="1"/>
          <p:nvPr/>
        </p:nvSpPr>
        <p:spPr>
          <a:xfrm>
            <a:off x="1953557" y="970344"/>
            <a:ext cx="6094562" cy="392159"/>
          </a:xfrm>
          <a:prstGeom prst="rect">
            <a:avLst/>
          </a:prstGeom>
          <a:noFill/>
        </p:spPr>
        <p:txBody>
          <a:bodyPr wrap="square">
            <a:spAutoFit/>
          </a:bodyPr>
          <a:lstStyle/>
          <a:p>
            <a:pPr>
              <a:lnSpc>
                <a:spcPct val="115000"/>
              </a:lnSpc>
              <a:spcAft>
                <a:spcPts val="600"/>
              </a:spcAft>
            </a:pPr>
            <a:r>
              <a:rPr lang="en-HK" dirty="0">
                <a:solidFill>
                  <a:srgbClr val="0070C0"/>
                </a:solidFill>
              </a:rPr>
              <a:t>Suggested answers:</a:t>
            </a:r>
            <a:endParaRPr lang="en-GB" dirty="0">
              <a:solidFill>
                <a:srgbClr val="0070C0"/>
              </a:solidFill>
            </a:endParaRPr>
          </a:p>
        </p:txBody>
      </p:sp>
      <p:pic>
        <p:nvPicPr>
          <p:cNvPr id="2" name="Picture 1">
            <a:extLst>
              <a:ext uri="{FF2B5EF4-FFF2-40B4-BE49-F238E27FC236}">
                <a16:creationId xmlns:a16="http://schemas.microsoft.com/office/drawing/2014/main" id="{F3F4B5C0-6D2A-46ED-93D2-ECA257B4AA82}"/>
              </a:ext>
            </a:extLst>
          </p:cNvPr>
          <p:cNvPicPr>
            <a:picLocks noChangeAspect="1"/>
          </p:cNvPicPr>
          <p:nvPr/>
        </p:nvPicPr>
        <p:blipFill>
          <a:blip r:embed="rId2"/>
          <a:stretch>
            <a:fillRect/>
          </a:stretch>
        </p:blipFill>
        <p:spPr>
          <a:xfrm>
            <a:off x="1828800" y="1431986"/>
            <a:ext cx="9282023" cy="5426014"/>
          </a:xfrm>
          <a:prstGeom prst="rect">
            <a:avLst/>
          </a:prstGeom>
        </p:spPr>
      </p:pic>
    </p:spTree>
    <p:extLst>
      <p:ext uri="{BB962C8B-B14F-4D97-AF65-F5344CB8AC3E}">
        <p14:creationId xmlns:p14="http://schemas.microsoft.com/office/powerpoint/2010/main" val="2216662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75EACA18-06CA-46DC-946F-B948964B0246}"/>
              </a:ext>
            </a:extLst>
          </p:cNvPr>
          <p:cNvGraphicFramePr>
            <a:graphicFrameLocks noGrp="1"/>
          </p:cNvGraphicFramePr>
          <p:nvPr>
            <p:ph idx="1"/>
            <p:extLst>
              <p:ext uri="{D42A27DB-BD31-4B8C-83A1-F6EECF244321}">
                <p14:modId xmlns:p14="http://schemas.microsoft.com/office/powerpoint/2010/main" val="4151883794"/>
              </p:ext>
            </p:extLst>
          </p:nvPr>
        </p:nvGraphicFramePr>
        <p:xfrm>
          <a:off x="1683326" y="0"/>
          <a:ext cx="9497291" cy="6911197"/>
        </p:xfrm>
        <a:graphic>
          <a:graphicData uri="http://schemas.openxmlformats.org/drawingml/2006/table">
            <a:tbl>
              <a:tblPr firstRow="1" firstCol="1" bandRow="1"/>
              <a:tblGrid>
                <a:gridCol w="9497291">
                  <a:extLst>
                    <a:ext uri="{9D8B030D-6E8A-4147-A177-3AD203B41FA5}">
                      <a16:colId xmlns:a16="http://schemas.microsoft.com/office/drawing/2014/main" val="1407427455"/>
                    </a:ext>
                  </a:extLst>
                </a:gridCol>
              </a:tblGrid>
              <a:tr h="6911197">
                <a:tc>
                  <a:txBody>
                    <a:bodyPr/>
                    <a:lstStyle/>
                    <a:p>
                      <a:pPr>
                        <a:lnSpc>
                          <a:spcPct val="115000"/>
                        </a:lnSpc>
                        <a:spcAft>
                          <a:spcPts val="600"/>
                        </a:spcAft>
                      </a:pPr>
                      <a:r>
                        <a:rPr lang="en-HK" sz="1400" u="sng" dirty="0">
                          <a:effectLst/>
                          <a:latin typeface="Calibri" panose="020F0502020204030204" pitchFamily="34" charset="0"/>
                          <a:ea typeface="DengXian" panose="02010600030101010101" pitchFamily="2" charset="-122"/>
                          <a:cs typeface="Times New Roman" panose="02020603050405020304" pitchFamily="18" charset="0"/>
                        </a:rPr>
                        <a:t>Example 2</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600"/>
                        </a:spcAf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Background</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Patients with pelvic malignancies often receive </a:t>
                      </a:r>
                      <a:r>
                        <a:rPr lang="en-GB" sz="1400" dirty="0" err="1">
                          <a:effectLst/>
                          <a:latin typeface="Calibri" panose="020F0502020204030204" pitchFamily="34" charset="0"/>
                          <a:ea typeface="DengXian" panose="02010600030101010101" pitchFamily="2" charset="-122"/>
                          <a:cs typeface="Times New Roman" panose="02020603050405020304" pitchFamily="18" charset="0"/>
                        </a:rPr>
                        <a:t>radiosensitising</a:t>
                      </a:r>
                      <a:r>
                        <a:rPr lang="en-GB" sz="1400" dirty="0">
                          <a:effectLst/>
                          <a:latin typeface="Calibri" panose="020F0502020204030204" pitchFamily="34" charset="0"/>
                          <a:ea typeface="DengXian" panose="02010600030101010101" pitchFamily="2" charset="-122"/>
                          <a:cs typeface="Times New Roman" panose="02020603050405020304" pitchFamily="18" charset="0"/>
                        </a:rPr>
                        <a:t> chemotherapy with radiotherapy to improve survival; however, this is at the expense of increased normal tissue toxicity, particularly in elderly patients. Here, we explore if an alternative, low-cost, and non-toxic approach can achieve </a:t>
                      </a:r>
                      <a:r>
                        <a:rPr lang="en-GB" sz="1400" dirty="0" err="1">
                          <a:effectLst/>
                          <a:latin typeface="Calibri" panose="020F0502020204030204" pitchFamily="34" charset="0"/>
                          <a:ea typeface="DengXian" panose="02010600030101010101" pitchFamily="2" charset="-122"/>
                          <a:cs typeface="Times New Roman" panose="02020603050405020304" pitchFamily="18" charset="0"/>
                        </a:rPr>
                        <a:t>radiosensitisation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in mice transplanted with human bladder cancer cells. Other investigators have shown slower growth of transplanted tumours in mice fed high-fibre diets. We hypothesised that mice fed a high-fibre diet would have improved tumour control following ionising radiation (IR) and that this would be mediated through the gut microbiota.</a:t>
                      </a:r>
                    </a:p>
                    <a:p>
                      <a:pPr algn="just">
                        <a:lnSpc>
                          <a:spcPct val="115000"/>
                        </a:lnSpc>
                        <a:spcAft>
                          <a:spcPts val="600"/>
                        </a:spcAf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Results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We investigated the effects of four different diets (low-fibre, soluble high-fibre, insoluble high-fibre, and mixed soluble/insoluble high-fibre diets) on tumour growth in immunodeficient mice implanted with human bladder cancer flank xenografts and treated with ionising radiation, simultaneously investigating the composition of their gut microbiomes by 16S rRNA sequencing. A significantly higher relative abundance of </a:t>
                      </a:r>
                      <a:r>
                        <a:rPr lang="en-GB" sz="1400" i="1" dirty="0">
                          <a:effectLst/>
                          <a:latin typeface="Calibri" panose="020F0502020204030204" pitchFamily="34" charset="0"/>
                          <a:ea typeface="DengXian" panose="02010600030101010101" pitchFamily="2" charset="-122"/>
                          <a:cs typeface="Times New Roman" panose="02020603050405020304" pitchFamily="18" charset="0"/>
                        </a:rPr>
                        <a:t>Bacteroides </a:t>
                      </a:r>
                      <a:r>
                        <a:rPr lang="en-GB" sz="1400" i="1" dirty="0" err="1">
                          <a:effectLst/>
                          <a:latin typeface="Calibri" panose="020F0502020204030204" pitchFamily="34" charset="0"/>
                          <a:ea typeface="DengXian" panose="02010600030101010101" pitchFamily="2" charset="-122"/>
                          <a:cs typeface="Times New Roman" panose="02020603050405020304" pitchFamily="18" charset="0"/>
                        </a:rPr>
                        <a:t>acidifaciens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was seen in the gut (faecal) microbiome of the soluble high-fibre group, and the soluble high-fibre diet resulted in delayed tumour growth after irradiation compared to the other groups. Within the soluble high-fibre group, responders to irradiation had significantly higher abundance of </a:t>
                      </a:r>
                      <a:r>
                        <a:rPr lang="en-GB" sz="1400" i="1" dirty="0">
                          <a:effectLst/>
                          <a:latin typeface="Calibri" panose="020F0502020204030204" pitchFamily="34" charset="0"/>
                          <a:ea typeface="DengXian" panose="02010600030101010101" pitchFamily="2" charset="-122"/>
                          <a:cs typeface="Times New Roman" panose="02020603050405020304" pitchFamily="18" charset="0"/>
                        </a:rPr>
                        <a:t>B. </a:t>
                      </a:r>
                      <a:r>
                        <a:rPr lang="en-GB" sz="1400" i="1" dirty="0" err="1">
                          <a:effectLst/>
                          <a:latin typeface="Calibri" panose="020F0502020204030204" pitchFamily="34" charset="0"/>
                          <a:ea typeface="DengXian" panose="02010600030101010101" pitchFamily="2" charset="-122"/>
                          <a:cs typeface="Times New Roman" panose="02020603050405020304" pitchFamily="18" charset="0"/>
                        </a:rPr>
                        <a:t>acidifaciens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than non-responders. When all mice fed with different diets were pooled, an association was found between the survival time of mice and relative abundance of </a:t>
                      </a:r>
                      <a:r>
                        <a:rPr lang="en-GB" sz="1400" i="1" dirty="0">
                          <a:effectLst/>
                          <a:latin typeface="Calibri" panose="020F0502020204030204" pitchFamily="34" charset="0"/>
                          <a:ea typeface="DengXian" panose="02010600030101010101" pitchFamily="2" charset="-122"/>
                          <a:cs typeface="Times New Roman" panose="02020603050405020304" pitchFamily="18" charset="0"/>
                        </a:rPr>
                        <a:t>B. </a:t>
                      </a:r>
                      <a:r>
                        <a:rPr lang="en-GB" sz="1400" i="1" dirty="0" err="1">
                          <a:effectLst/>
                          <a:latin typeface="Calibri" panose="020F0502020204030204" pitchFamily="34" charset="0"/>
                          <a:ea typeface="DengXian" panose="02010600030101010101" pitchFamily="2" charset="-122"/>
                          <a:cs typeface="Times New Roman" panose="02020603050405020304" pitchFamily="18" charset="0"/>
                        </a:rPr>
                        <a:t>acidifaciens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The gut microbiome in responders was predicted to be enriched for carbohydrate metabolism pathways, and in vitro experiments on the transplanted human bladder cancer cell line suggested a role for microbial-generated short-chain fatty acids and/or other metabolites in the enhanced </a:t>
                      </a:r>
                      <a:r>
                        <a:rPr lang="en-GB" sz="1400" dirty="0" err="1">
                          <a:effectLst/>
                          <a:latin typeface="Calibri" panose="020F0502020204030204" pitchFamily="34" charset="0"/>
                          <a:ea typeface="DengXian" panose="02010600030101010101" pitchFamily="2" charset="-122"/>
                          <a:cs typeface="Times New Roman" panose="02020603050405020304" pitchFamily="18" charset="0"/>
                        </a:rPr>
                        <a:t>radiosensitivity</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of the tumour cells.</a:t>
                      </a:r>
                    </a:p>
                    <a:p>
                      <a:pPr algn="just">
                        <a:lnSpc>
                          <a:spcPct val="115000"/>
                        </a:lnSpc>
                        <a:spcAft>
                          <a:spcPts val="600"/>
                        </a:spcAf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Conclusions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Soluble high-fibre diets sensitised tumour xenografts to irradiation, and this phenotype was associated with modification of the microbiome and positively correlated with </a:t>
                      </a:r>
                      <a:r>
                        <a:rPr lang="en-GB" sz="1400" i="1" dirty="0">
                          <a:effectLst/>
                          <a:latin typeface="Calibri" panose="020F0502020204030204" pitchFamily="34" charset="0"/>
                          <a:ea typeface="DengXian" panose="02010600030101010101" pitchFamily="2" charset="-122"/>
                          <a:cs typeface="Times New Roman" panose="02020603050405020304" pitchFamily="18" charset="0"/>
                        </a:rPr>
                        <a:t>B. </a:t>
                      </a:r>
                      <a:r>
                        <a:rPr lang="en-GB" sz="1400" i="1" dirty="0" err="1">
                          <a:effectLst/>
                          <a:latin typeface="Calibri" panose="020F0502020204030204" pitchFamily="34" charset="0"/>
                          <a:ea typeface="DengXian" panose="02010600030101010101" pitchFamily="2" charset="-122"/>
                          <a:cs typeface="Times New Roman" panose="02020603050405020304" pitchFamily="18" charset="0"/>
                        </a:rPr>
                        <a:t>acidifaciens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abundance. Our findings might be exploitable for improving radiotherapy response in human patients.</a:t>
                      </a:r>
                    </a:p>
                    <a:p>
                      <a:pPr algn="just">
                        <a:lnSpc>
                          <a:spcPct val="115000"/>
                        </a:lnSpc>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Source: Then, C.K., </a:t>
                      </a:r>
                      <a:r>
                        <a:rPr lang="en-GB" sz="1400" dirty="0" err="1">
                          <a:effectLst/>
                          <a:latin typeface="Calibri" panose="020F0502020204030204" pitchFamily="34" charset="0"/>
                          <a:ea typeface="DengXian" panose="02010600030101010101" pitchFamily="2" charset="-122"/>
                          <a:cs typeface="Times New Roman" panose="02020603050405020304" pitchFamily="18" charset="0"/>
                        </a:rPr>
                        <a:t>Paillas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S., Wang, X.D., Hampson, A., &amp; Kiltie, A.E. (2020). Association of Bacteroides </a:t>
                      </a:r>
                      <a:r>
                        <a:rPr lang="en-GB" sz="1400" dirty="0" err="1">
                          <a:effectLst/>
                          <a:latin typeface="Calibri" panose="020F0502020204030204" pitchFamily="34" charset="0"/>
                          <a:ea typeface="DengXian" panose="02010600030101010101" pitchFamily="2" charset="-122"/>
                          <a:cs typeface="Times New Roman" panose="02020603050405020304" pitchFamily="18" charset="0"/>
                        </a:rPr>
                        <a:t>acidifaciens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relative abundance with high-fibre diet-associated </a:t>
                      </a:r>
                      <a:r>
                        <a:rPr lang="en-GB" sz="1400" dirty="0" err="1">
                          <a:effectLst/>
                          <a:latin typeface="Calibri" panose="020F0502020204030204" pitchFamily="34" charset="0"/>
                          <a:ea typeface="DengXian" panose="02010600030101010101" pitchFamily="2" charset="-122"/>
                          <a:cs typeface="Times New Roman" panose="02020603050405020304" pitchFamily="18" charset="0"/>
                        </a:rPr>
                        <a:t>radiosensitisation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i="1" dirty="0">
                          <a:effectLst/>
                          <a:latin typeface="Calibri" panose="020F0502020204030204" pitchFamily="34" charset="0"/>
                          <a:ea typeface="DengXian" panose="02010600030101010101" pitchFamily="2" charset="-122"/>
                          <a:cs typeface="Times New Roman" panose="02020603050405020304" pitchFamily="18" charset="0"/>
                        </a:rPr>
                        <a:t>BMC Biology, 18</a:t>
                      </a:r>
                      <a:r>
                        <a:rPr lang="en-GB" sz="1400" dirty="0">
                          <a:effectLst/>
                          <a:latin typeface="Calibri" panose="020F0502020204030204" pitchFamily="34" charset="0"/>
                          <a:ea typeface="DengXian" panose="02010600030101010101" pitchFamily="2" charset="-122"/>
                          <a:cs typeface="Times New Roman" panose="02020603050405020304" pitchFamily="18" charset="0"/>
                        </a:rPr>
                        <a:t>, 102</a:t>
                      </a:r>
                      <a:r>
                        <a:rPr lang="en-GB" sz="14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 </a:t>
                      </a:r>
                      <a:r>
                        <a:rPr lang="en-GB" sz="1400" u="sng"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hlinkClick r:id="rId2">
                            <a:extLst>
                              <a:ext uri="{A12FA001-AC4F-418D-AE19-62706E023703}">
                                <ahyp:hlinkClr xmlns:ahyp="http://schemas.microsoft.com/office/drawing/2018/hyperlinkcolor" val="tx"/>
                              </a:ext>
                            </a:extLst>
                          </a:hlinkClick>
                        </a:rPr>
                        <a:t>https://doi.org/10.1186/s12915-020-00836-x</a:t>
                      </a:r>
                      <a:endParaRPr lang="en-GB" sz="14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39330" marR="3933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8793558"/>
                  </a:ext>
                </a:extLst>
              </a:tr>
            </a:tbl>
          </a:graphicData>
        </a:graphic>
      </p:graphicFrame>
      <p:sp>
        <p:nvSpPr>
          <p:cNvPr id="4" name="Slide Number Placeholder 3">
            <a:extLst>
              <a:ext uri="{FF2B5EF4-FFF2-40B4-BE49-F238E27FC236}">
                <a16:creationId xmlns:a16="http://schemas.microsoft.com/office/drawing/2014/main" id="{1A846813-152A-4CFE-B2A7-C2F5A299A9DD}"/>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552328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8AAA9F-8061-4281-8109-6145121EDBCC}"/>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3" name="Content Placeholder 2">
            <a:extLst>
              <a:ext uri="{FF2B5EF4-FFF2-40B4-BE49-F238E27FC236}">
                <a16:creationId xmlns:a16="http://schemas.microsoft.com/office/drawing/2014/main" id="{20CCC277-E263-4C4C-920D-A81FC35CB168}"/>
              </a:ext>
            </a:extLst>
          </p:cNvPr>
          <p:cNvSpPr>
            <a:spLocks noGrp="1"/>
          </p:cNvSpPr>
          <p:nvPr>
            <p:ph idx="1"/>
          </p:nvPr>
        </p:nvSpPr>
        <p:spPr/>
        <p:txBody>
          <a:bodyPr/>
          <a:lstStyle/>
          <a:p>
            <a:endParaRPr lang="en-GB"/>
          </a:p>
        </p:txBody>
      </p:sp>
      <p:pic>
        <p:nvPicPr>
          <p:cNvPr id="6" name="Picture 5">
            <a:extLst>
              <a:ext uri="{FF2B5EF4-FFF2-40B4-BE49-F238E27FC236}">
                <a16:creationId xmlns:a16="http://schemas.microsoft.com/office/drawing/2014/main" id="{BEC703F1-B56C-4145-8B16-883D20F96768}"/>
              </a:ext>
            </a:extLst>
          </p:cNvPr>
          <p:cNvPicPr>
            <a:picLocks noChangeAspect="1"/>
          </p:cNvPicPr>
          <p:nvPr/>
        </p:nvPicPr>
        <p:blipFill>
          <a:blip r:embed="rId2"/>
          <a:stretch>
            <a:fillRect/>
          </a:stretch>
        </p:blipFill>
        <p:spPr>
          <a:xfrm>
            <a:off x="1613140" y="946778"/>
            <a:ext cx="10153290" cy="5402264"/>
          </a:xfrm>
          <a:prstGeom prst="rect">
            <a:avLst/>
          </a:prstGeom>
        </p:spPr>
      </p:pic>
    </p:spTree>
    <p:extLst>
      <p:ext uri="{BB962C8B-B14F-4D97-AF65-F5344CB8AC3E}">
        <p14:creationId xmlns:p14="http://schemas.microsoft.com/office/powerpoint/2010/main" val="2179164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71F5C7-C914-48D1-9E23-8906CFDDFF52}"/>
              </a:ext>
            </a:extLst>
          </p:cNvPr>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2" name="Picture 1">
            <a:extLst>
              <a:ext uri="{FF2B5EF4-FFF2-40B4-BE49-F238E27FC236}">
                <a16:creationId xmlns:a16="http://schemas.microsoft.com/office/drawing/2014/main" id="{6C1705B6-B0FF-4921-A351-6C0AC70DC15D}"/>
              </a:ext>
            </a:extLst>
          </p:cNvPr>
          <p:cNvPicPr>
            <a:picLocks noChangeAspect="1"/>
          </p:cNvPicPr>
          <p:nvPr/>
        </p:nvPicPr>
        <p:blipFill>
          <a:blip r:embed="rId2"/>
          <a:stretch>
            <a:fillRect/>
          </a:stretch>
        </p:blipFill>
        <p:spPr>
          <a:xfrm>
            <a:off x="1940944" y="612221"/>
            <a:ext cx="9900632" cy="5495280"/>
          </a:xfrm>
          <a:prstGeom prst="rect">
            <a:avLst/>
          </a:prstGeom>
        </p:spPr>
      </p:pic>
    </p:spTree>
    <p:extLst>
      <p:ext uri="{BB962C8B-B14F-4D97-AF65-F5344CB8AC3E}">
        <p14:creationId xmlns:p14="http://schemas.microsoft.com/office/powerpoint/2010/main" val="1786548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C3A87B3-44BE-4836-BADF-A2E780142A6B}"/>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3" name="Content Placeholder 2">
            <a:extLst>
              <a:ext uri="{FF2B5EF4-FFF2-40B4-BE49-F238E27FC236}">
                <a16:creationId xmlns:a16="http://schemas.microsoft.com/office/drawing/2014/main" id="{4F109970-B6A0-4AF5-B780-68077A047928}"/>
              </a:ext>
            </a:extLst>
          </p:cNvPr>
          <p:cNvSpPr>
            <a:spLocks noGrp="1"/>
          </p:cNvSpPr>
          <p:nvPr>
            <p:ph idx="1"/>
          </p:nvPr>
        </p:nvSpPr>
        <p:spPr/>
        <p:txBody>
          <a:bodyPr/>
          <a:lstStyle/>
          <a:p>
            <a:endParaRPr lang="en-GB"/>
          </a:p>
        </p:txBody>
      </p:sp>
      <p:pic>
        <p:nvPicPr>
          <p:cNvPr id="6" name="Picture 5">
            <a:extLst>
              <a:ext uri="{FF2B5EF4-FFF2-40B4-BE49-F238E27FC236}">
                <a16:creationId xmlns:a16="http://schemas.microsoft.com/office/drawing/2014/main" id="{7F6B76FB-9DF0-4DC0-974F-8F2BE2A7F4D5}"/>
              </a:ext>
            </a:extLst>
          </p:cNvPr>
          <p:cNvPicPr>
            <a:picLocks noChangeAspect="1"/>
          </p:cNvPicPr>
          <p:nvPr/>
        </p:nvPicPr>
        <p:blipFill>
          <a:blip r:embed="rId2"/>
          <a:stretch>
            <a:fillRect/>
          </a:stretch>
        </p:blipFill>
        <p:spPr>
          <a:xfrm>
            <a:off x="1802921" y="1552755"/>
            <a:ext cx="10084279" cy="4080294"/>
          </a:xfrm>
          <a:prstGeom prst="rect">
            <a:avLst/>
          </a:prstGeom>
        </p:spPr>
      </p:pic>
    </p:spTree>
    <p:extLst>
      <p:ext uri="{BB962C8B-B14F-4D97-AF65-F5344CB8AC3E}">
        <p14:creationId xmlns:p14="http://schemas.microsoft.com/office/powerpoint/2010/main" val="2868868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48" name="Group 11">
            <a:extLst>
              <a:ext uri="{FF2B5EF4-FFF2-40B4-BE49-F238E27FC236}">
                <a16:creationId xmlns:a16="http://schemas.microsoft.com/office/drawing/2014/main" id="{259C671B-1B22-4141-A9C0-2E7941FDA7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3" name="Freeform 11">
              <a:extLst>
                <a:ext uri="{FF2B5EF4-FFF2-40B4-BE49-F238E27FC236}">
                  <a16:creationId xmlns:a16="http://schemas.microsoft.com/office/drawing/2014/main" id="{7B2F5A4B-FA0F-4625-82F7-1D3F11281B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HK"/>
            </a:p>
          </p:txBody>
        </p:sp>
        <p:sp>
          <p:nvSpPr>
            <p:cNvPr id="14" name="Freeform 12">
              <a:extLst>
                <a:ext uri="{FF2B5EF4-FFF2-40B4-BE49-F238E27FC236}">
                  <a16:creationId xmlns:a16="http://schemas.microsoft.com/office/drawing/2014/main" id="{9ACB0BAE-722F-4C91-8C2A-44EF768E83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HK"/>
            </a:p>
          </p:txBody>
        </p:sp>
        <p:sp>
          <p:nvSpPr>
            <p:cNvPr id="15" name="Freeform 13">
              <a:extLst>
                <a:ext uri="{FF2B5EF4-FFF2-40B4-BE49-F238E27FC236}">
                  <a16:creationId xmlns:a16="http://schemas.microsoft.com/office/drawing/2014/main" id="{C3AC4D9F-59AC-421A-9FF3-C936CEC439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HK"/>
            </a:p>
          </p:txBody>
        </p:sp>
        <p:sp>
          <p:nvSpPr>
            <p:cNvPr id="49" name="Freeform 14">
              <a:extLst>
                <a:ext uri="{FF2B5EF4-FFF2-40B4-BE49-F238E27FC236}">
                  <a16:creationId xmlns:a16="http://schemas.microsoft.com/office/drawing/2014/main" id="{797BCE03-677D-4D65-A4D1-1FD721DD5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HK"/>
            </a:p>
          </p:txBody>
        </p:sp>
        <p:sp>
          <p:nvSpPr>
            <p:cNvPr id="17" name="Freeform 15">
              <a:extLst>
                <a:ext uri="{FF2B5EF4-FFF2-40B4-BE49-F238E27FC236}">
                  <a16:creationId xmlns:a16="http://schemas.microsoft.com/office/drawing/2014/main" id="{D007E5D0-0B4E-4094-988C-9917146C2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HK"/>
            </a:p>
          </p:txBody>
        </p:sp>
        <p:sp>
          <p:nvSpPr>
            <p:cNvPr id="18" name="Freeform 16">
              <a:extLst>
                <a:ext uri="{FF2B5EF4-FFF2-40B4-BE49-F238E27FC236}">
                  <a16:creationId xmlns:a16="http://schemas.microsoft.com/office/drawing/2014/main" id="{024DB804-C06B-4A0A-AC43-6BCCB7D76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HK"/>
            </a:p>
          </p:txBody>
        </p:sp>
        <p:sp>
          <p:nvSpPr>
            <p:cNvPr id="19" name="Freeform 17">
              <a:extLst>
                <a:ext uri="{FF2B5EF4-FFF2-40B4-BE49-F238E27FC236}">
                  <a16:creationId xmlns:a16="http://schemas.microsoft.com/office/drawing/2014/main" id="{B51DC17A-305E-486E-A527-5E8068E9EF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HK"/>
            </a:p>
          </p:txBody>
        </p:sp>
        <p:sp>
          <p:nvSpPr>
            <p:cNvPr id="20" name="Freeform 18">
              <a:extLst>
                <a:ext uri="{FF2B5EF4-FFF2-40B4-BE49-F238E27FC236}">
                  <a16:creationId xmlns:a16="http://schemas.microsoft.com/office/drawing/2014/main" id="{B6CCA716-6D46-4523-BF96-FF1B0C546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HK"/>
            </a:p>
          </p:txBody>
        </p:sp>
        <p:sp>
          <p:nvSpPr>
            <p:cNvPr id="21" name="Freeform 19">
              <a:extLst>
                <a:ext uri="{FF2B5EF4-FFF2-40B4-BE49-F238E27FC236}">
                  <a16:creationId xmlns:a16="http://schemas.microsoft.com/office/drawing/2014/main" id="{E632B09A-D30C-4268-B28B-ACD6127630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HK"/>
            </a:p>
          </p:txBody>
        </p:sp>
        <p:sp>
          <p:nvSpPr>
            <p:cNvPr id="22" name="Freeform 20">
              <a:extLst>
                <a:ext uri="{FF2B5EF4-FFF2-40B4-BE49-F238E27FC236}">
                  <a16:creationId xmlns:a16="http://schemas.microsoft.com/office/drawing/2014/main" id="{5FC839A4-228B-4EC0-8AF4-D8E38ECE6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HK"/>
            </a:p>
          </p:txBody>
        </p:sp>
        <p:sp>
          <p:nvSpPr>
            <p:cNvPr id="23" name="Freeform 21">
              <a:extLst>
                <a:ext uri="{FF2B5EF4-FFF2-40B4-BE49-F238E27FC236}">
                  <a16:creationId xmlns:a16="http://schemas.microsoft.com/office/drawing/2014/main" id="{A8FFB1A1-5BB5-4551-87CD-F3365E6FE9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HK"/>
            </a:p>
          </p:txBody>
        </p:sp>
        <p:sp>
          <p:nvSpPr>
            <p:cNvPr id="24" name="Freeform 22">
              <a:extLst>
                <a:ext uri="{FF2B5EF4-FFF2-40B4-BE49-F238E27FC236}">
                  <a16:creationId xmlns:a16="http://schemas.microsoft.com/office/drawing/2014/main" id="{D05AF173-8E70-41FA-9254-DF9AC3DDA2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HK"/>
            </a:p>
          </p:txBody>
        </p:sp>
      </p:grpSp>
      <p:grpSp>
        <p:nvGrpSpPr>
          <p:cNvPr id="50" name="Group 25">
            <a:extLst>
              <a:ext uri="{FF2B5EF4-FFF2-40B4-BE49-F238E27FC236}">
                <a16:creationId xmlns:a16="http://schemas.microsoft.com/office/drawing/2014/main" id="{1D56A4CE-A3F4-4CFF-9A65-C029AC17B7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7" name="Freeform 27">
              <a:extLst>
                <a:ext uri="{FF2B5EF4-FFF2-40B4-BE49-F238E27FC236}">
                  <a16:creationId xmlns:a16="http://schemas.microsoft.com/office/drawing/2014/main" id="{DF669161-0B30-4C76-96BF-962027487D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HK"/>
            </a:p>
          </p:txBody>
        </p:sp>
        <p:sp>
          <p:nvSpPr>
            <p:cNvPr id="28" name="Freeform 28">
              <a:extLst>
                <a:ext uri="{FF2B5EF4-FFF2-40B4-BE49-F238E27FC236}">
                  <a16:creationId xmlns:a16="http://schemas.microsoft.com/office/drawing/2014/main" id="{A5232353-CF7C-44DD-8BEE-1C8FF54CD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HK"/>
            </a:p>
          </p:txBody>
        </p:sp>
        <p:sp>
          <p:nvSpPr>
            <p:cNvPr id="29" name="Freeform 29">
              <a:extLst>
                <a:ext uri="{FF2B5EF4-FFF2-40B4-BE49-F238E27FC236}">
                  <a16:creationId xmlns:a16="http://schemas.microsoft.com/office/drawing/2014/main" id="{AEA6CAE2-8741-4E88-A632-69C2B2EC58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HK"/>
            </a:p>
          </p:txBody>
        </p:sp>
        <p:sp>
          <p:nvSpPr>
            <p:cNvPr id="30" name="Freeform 30">
              <a:extLst>
                <a:ext uri="{FF2B5EF4-FFF2-40B4-BE49-F238E27FC236}">
                  <a16:creationId xmlns:a16="http://schemas.microsoft.com/office/drawing/2014/main" id="{014AC37D-4388-4AE6-9D4D-CCD99A608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HK"/>
            </a:p>
          </p:txBody>
        </p:sp>
        <p:sp>
          <p:nvSpPr>
            <p:cNvPr id="31" name="Freeform 31">
              <a:extLst>
                <a:ext uri="{FF2B5EF4-FFF2-40B4-BE49-F238E27FC236}">
                  <a16:creationId xmlns:a16="http://schemas.microsoft.com/office/drawing/2014/main" id="{7FE084B0-333E-4F7C-83F1-F7D132527D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HK"/>
            </a:p>
          </p:txBody>
        </p:sp>
        <p:sp>
          <p:nvSpPr>
            <p:cNvPr id="32" name="Freeform 32">
              <a:extLst>
                <a:ext uri="{FF2B5EF4-FFF2-40B4-BE49-F238E27FC236}">
                  <a16:creationId xmlns:a16="http://schemas.microsoft.com/office/drawing/2014/main" id="{FDCFCB98-2E3A-4227-823C-80489BB284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HK"/>
            </a:p>
          </p:txBody>
        </p:sp>
        <p:sp>
          <p:nvSpPr>
            <p:cNvPr id="33" name="Freeform 33">
              <a:extLst>
                <a:ext uri="{FF2B5EF4-FFF2-40B4-BE49-F238E27FC236}">
                  <a16:creationId xmlns:a16="http://schemas.microsoft.com/office/drawing/2014/main" id="{252F94DE-A6A3-4463-BE05-34281F1C8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HK"/>
            </a:p>
          </p:txBody>
        </p:sp>
        <p:sp>
          <p:nvSpPr>
            <p:cNvPr id="34" name="Freeform 34">
              <a:extLst>
                <a:ext uri="{FF2B5EF4-FFF2-40B4-BE49-F238E27FC236}">
                  <a16:creationId xmlns:a16="http://schemas.microsoft.com/office/drawing/2014/main" id="{16EA21FA-886F-43CF-9D44-C1342F3055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HK"/>
            </a:p>
          </p:txBody>
        </p:sp>
        <p:sp>
          <p:nvSpPr>
            <p:cNvPr id="35" name="Freeform 35">
              <a:extLst>
                <a:ext uri="{FF2B5EF4-FFF2-40B4-BE49-F238E27FC236}">
                  <a16:creationId xmlns:a16="http://schemas.microsoft.com/office/drawing/2014/main" id="{88C821A5-BCF7-47FE-894F-0ADC5FDB28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HK"/>
            </a:p>
          </p:txBody>
        </p:sp>
        <p:sp>
          <p:nvSpPr>
            <p:cNvPr id="36" name="Freeform 36">
              <a:extLst>
                <a:ext uri="{FF2B5EF4-FFF2-40B4-BE49-F238E27FC236}">
                  <a16:creationId xmlns:a16="http://schemas.microsoft.com/office/drawing/2014/main" id="{F8337ECE-206A-472E-AFC4-0F230C91E8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HK"/>
            </a:p>
          </p:txBody>
        </p:sp>
        <p:sp>
          <p:nvSpPr>
            <p:cNvPr id="37" name="Freeform 37">
              <a:extLst>
                <a:ext uri="{FF2B5EF4-FFF2-40B4-BE49-F238E27FC236}">
                  <a16:creationId xmlns:a16="http://schemas.microsoft.com/office/drawing/2014/main" id="{90BB2EC4-D043-4B43-87E7-723A787EE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HK"/>
            </a:p>
          </p:txBody>
        </p:sp>
        <p:sp>
          <p:nvSpPr>
            <p:cNvPr id="38" name="Freeform 38">
              <a:extLst>
                <a:ext uri="{FF2B5EF4-FFF2-40B4-BE49-F238E27FC236}">
                  <a16:creationId xmlns:a16="http://schemas.microsoft.com/office/drawing/2014/main" id="{04013015-AF71-47BC-BE4D-ED9EFA24FF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HK"/>
            </a:p>
          </p:txBody>
        </p:sp>
      </p:grpSp>
      <p:sp>
        <p:nvSpPr>
          <p:cNvPr id="51" name="Rectangle 39">
            <a:extLst>
              <a:ext uri="{FF2B5EF4-FFF2-40B4-BE49-F238E27FC236}">
                <a16:creationId xmlns:a16="http://schemas.microsoft.com/office/drawing/2014/main" id="{71B30B18-D920-4E3E-B931-1F310244C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52" name="Freeform 11">
            <a:extLst>
              <a:ext uri="{FF2B5EF4-FFF2-40B4-BE49-F238E27FC236}">
                <a16:creationId xmlns:a16="http://schemas.microsoft.com/office/drawing/2014/main" id="{C70EF50A-66E6-460A-8AF9-47A10D0D99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HK"/>
          </a:p>
        </p:txBody>
      </p:sp>
      <p:sp>
        <p:nvSpPr>
          <p:cNvPr id="53" name="Rectangle 43">
            <a:extLst>
              <a:ext uri="{FF2B5EF4-FFF2-40B4-BE49-F238E27FC236}">
                <a16:creationId xmlns:a16="http://schemas.microsoft.com/office/drawing/2014/main" id="{241D049E-2C7B-4131-B81E-E5B643BD61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45">
            <a:extLst>
              <a:ext uri="{FF2B5EF4-FFF2-40B4-BE49-F238E27FC236}">
                <a16:creationId xmlns:a16="http://schemas.microsoft.com/office/drawing/2014/main" id="{91635463-D121-4B16-AB61-D492DD3F02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CA88790B-E6FB-AF4B-85F8-ECFD85641307}"/>
              </a:ext>
            </a:extLst>
          </p:cNvPr>
          <p:cNvSpPr>
            <a:spLocks noGrp="1"/>
          </p:cNvSpPr>
          <p:nvPr>
            <p:ph type="sldNum" sz="quarter" idx="12"/>
          </p:nvPr>
        </p:nvSpPr>
        <p:spPr>
          <a:xfrm>
            <a:off x="531812" y="6349513"/>
            <a:ext cx="779767" cy="370396"/>
          </a:xfrm>
        </p:spPr>
        <p:txBody>
          <a:bodyPr vert="horz" lIns="91440" tIns="45720" rIns="91440" bIns="45720" rtlCol="0" anchor="ctr">
            <a:normAutofit/>
          </a:bodyPr>
          <a:lstStyle/>
          <a:p>
            <a:pPr>
              <a:spcAft>
                <a:spcPts val="600"/>
              </a:spcAft>
            </a:pPr>
            <a:fld id="{D57F1E4F-1CFF-5643-939E-217C01CDF565}" type="slidenum">
              <a:rPr lang="en-US" sz="900">
                <a:solidFill>
                  <a:schemeClr val="tx1"/>
                </a:solidFill>
              </a:rPr>
              <a:pPr>
                <a:spcAft>
                  <a:spcPts val="600"/>
                </a:spcAft>
              </a:pPr>
              <a:t>11</a:t>
            </a:fld>
            <a:endParaRPr lang="en-US" sz="900">
              <a:solidFill>
                <a:schemeClr val="tx1"/>
              </a:solidFill>
            </a:endParaRPr>
          </a:p>
        </p:txBody>
      </p:sp>
      <p:graphicFrame>
        <p:nvGraphicFramePr>
          <p:cNvPr id="7" name="Table 6">
            <a:extLst>
              <a:ext uri="{FF2B5EF4-FFF2-40B4-BE49-F238E27FC236}">
                <a16:creationId xmlns:a16="http://schemas.microsoft.com/office/drawing/2014/main" id="{FFB3FCBF-DED1-4384-AA98-7E46A4CEB59A}"/>
              </a:ext>
            </a:extLst>
          </p:cNvPr>
          <p:cNvGraphicFramePr>
            <a:graphicFrameLocks noGrp="1"/>
          </p:cNvGraphicFramePr>
          <p:nvPr>
            <p:extLst>
              <p:ext uri="{D42A27DB-BD31-4B8C-83A1-F6EECF244321}">
                <p14:modId xmlns:p14="http://schemas.microsoft.com/office/powerpoint/2010/main" val="1719275152"/>
              </p:ext>
            </p:extLst>
          </p:nvPr>
        </p:nvGraphicFramePr>
        <p:xfrm>
          <a:off x="878911" y="870908"/>
          <a:ext cx="10339364" cy="3767103"/>
        </p:xfrm>
        <a:graphic>
          <a:graphicData uri="http://schemas.openxmlformats.org/drawingml/2006/table">
            <a:tbl>
              <a:tblPr firstRow="1" firstCol="1" bandRow="1">
                <a:tableStyleId>{5C22544A-7EE6-4342-B048-85BDC9FD1C3A}</a:tableStyleId>
              </a:tblPr>
              <a:tblGrid>
                <a:gridCol w="1530787">
                  <a:extLst>
                    <a:ext uri="{9D8B030D-6E8A-4147-A177-3AD203B41FA5}">
                      <a16:colId xmlns:a16="http://schemas.microsoft.com/office/drawing/2014/main" val="182729169"/>
                    </a:ext>
                  </a:extLst>
                </a:gridCol>
                <a:gridCol w="4238493">
                  <a:extLst>
                    <a:ext uri="{9D8B030D-6E8A-4147-A177-3AD203B41FA5}">
                      <a16:colId xmlns:a16="http://schemas.microsoft.com/office/drawing/2014/main" val="1814536766"/>
                    </a:ext>
                  </a:extLst>
                </a:gridCol>
                <a:gridCol w="4570084">
                  <a:extLst>
                    <a:ext uri="{9D8B030D-6E8A-4147-A177-3AD203B41FA5}">
                      <a16:colId xmlns:a16="http://schemas.microsoft.com/office/drawing/2014/main" val="1847698698"/>
                    </a:ext>
                  </a:extLst>
                </a:gridCol>
              </a:tblGrid>
              <a:tr h="524756">
                <a:tc>
                  <a:txBody>
                    <a:bodyPr/>
                    <a:lstStyle/>
                    <a:p>
                      <a:pPr>
                        <a:lnSpc>
                          <a:spcPct val="115000"/>
                        </a:lnSpc>
                        <a:spcAft>
                          <a:spcPts val="600"/>
                        </a:spcAft>
                      </a:pPr>
                      <a:r>
                        <a:rPr lang="en-HK" sz="2000" dirty="0">
                          <a:solidFill>
                            <a:schemeClr val="tx1"/>
                          </a:solidFill>
                          <a:effectLst/>
                        </a:rPr>
                        <a:t>Moves</a:t>
                      </a:r>
                      <a:endParaRPr lang="en-GB" sz="20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dirty="0">
                          <a:solidFill>
                            <a:schemeClr val="tx1"/>
                          </a:solidFill>
                          <a:effectLst/>
                        </a:rPr>
                        <a:t>Example 1 - Sociology</a:t>
                      </a:r>
                      <a:endParaRPr lang="en-GB" sz="20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dirty="0">
                          <a:solidFill>
                            <a:schemeClr val="tx1"/>
                          </a:solidFill>
                          <a:effectLst/>
                        </a:rPr>
                        <a:t>Example 2 - Biology</a:t>
                      </a:r>
                      <a:endParaRPr lang="en-GB" sz="20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2710203"/>
                  </a:ext>
                </a:extLst>
              </a:tr>
              <a:tr h="524756">
                <a:tc>
                  <a:txBody>
                    <a:bodyPr/>
                    <a:lstStyle/>
                    <a:p>
                      <a:pPr>
                        <a:lnSpc>
                          <a:spcPct val="115000"/>
                        </a:lnSpc>
                        <a:spcAft>
                          <a:spcPts val="600"/>
                        </a:spcAft>
                      </a:pPr>
                      <a:r>
                        <a:rPr lang="en-HK" sz="2000" dirty="0">
                          <a:solidFill>
                            <a:schemeClr val="tx1"/>
                          </a:solidFill>
                          <a:effectLst/>
                        </a:rPr>
                        <a:t>1</a:t>
                      </a:r>
                      <a:endParaRPr lang="en-GB" sz="20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i="1" dirty="0">
                          <a:solidFill>
                            <a:srgbClr val="0070C0"/>
                          </a:solidFill>
                          <a:effectLst/>
                        </a:rPr>
                        <a:t>Establishes the context </a:t>
                      </a:r>
                      <a:endParaRPr lang="en-GB" sz="20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i="1">
                          <a:solidFill>
                            <a:srgbClr val="0070C0"/>
                          </a:solidFill>
                          <a:effectLst/>
                        </a:rPr>
                        <a:t>Introduces the topic</a:t>
                      </a:r>
                      <a:endParaRPr lang="en-GB" sz="2000" i="1">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0075238"/>
                  </a:ext>
                </a:extLst>
              </a:tr>
              <a:tr h="831406">
                <a:tc>
                  <a:txBody>
                    <a:bodyPr/>
                    <a:lstStyle/>
                    <a:p>
                      <a:pPr>
                        <a:lnSpc>
                          <a:spcPct val="115000"/>
                        </a:lnSpc>
                        <a:spcAft>
                          <a:spcPts val="600"/>
                        </a:spcAft>
                      </a:pPr>
                      <a:r>
                        <a:rPr lang="en-HK" sz="2000" dirty="0">
                          <a:solidFill>
                            <a:schemeClr val="tx1"/>
                          </a:solidFill>
                          <a:effectLst/>
                        </a:rPr>
                        <a:t>2</a:t>
                      </a:r>
                      <a:endParaRPr lang="en-GB" sz="20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i="1" dirty="0">
                          <a:solidFill>
                            <a:srgbClr val="0070C0"/>
                          </a:solidFill>
                          <a:effectLst/>
                        </a:rPr>
                        <a:t>States the methodology and objectives of the research</a:t>
                      </a:r>
                      <a:endParaRPr lang="en-GB" sz="20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i="1">
                          <a:solidFill>
                            <a:srgbClr val="0070C0"/>
                          </a:solidFill>
                          <a:effectLst/>
                        </a:rPr>
                        <a:t>States the objectives and the hypothesis of the research</a:t>
                      </a:r>
                      <a:endParaRPr lang="en-GB" sz="2000" i="1">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033957"/>
                  </a:ext>
                </a:extLst>
              </a:tr>
              <a:tr h="895187">
                <a:tc>
                  <a:txBody>
                    <a:bodyPr/>
                    <a:lstStyle/>
                    <a:p>
                      <a:pPr>
                        <a:lnSpc>
                          <a:spcPct val="115000"/>
                        </a:lnSpc>
                        <a:spcAft>
                          <a:spcPts val="600"/>
                        </a:spcAft>
                      </a:pPr>
                      <a:r>
                        <a:rPr lang="en-HK" sz="2000" dirty="0">
                          <a:solidFill>
                            <a:schemeClr val="tx1"/>
                          </a:solidFill>
                          <a:effectLst/>
                        </a:rPr>
                        <a:t>3</a:t>
                      </a:r>
                      <a:endParaRPr lang="en-GB" sz="20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i="1" dirty="0">
                          <a:solidFill>
                            <a:srgbClr val="0070C0"/>
                          </a:solidFill>
                          <a:effectLst/>
                        </a:rPr>
                        <a:t>Presents the key findings </a:t>
                      </a:r>
                      <a:endParaRPr lang="en-GB" sz="20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i="1" dirty="0">
                          <a:solidFill>
                            <a:srgbClr val="0070C0"/>
                          </a:solidFill>
                          <a:effectLst/>
                        </a:rPr>
                        <a:t>States the methodology and the results of the experiment</a:t>
                      </a:r>
                      <a:endParaRPr lang="en-GB" sz="20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3555099"/>
                  </a:ext>
                </a:extLst>
              </a:tr>
              <a:tr h="990998">
                <a:tc>
                  <a:txBody>
                    <a:bodyPr/>
                    <a:lstStyle/>
                    <a:p>
                      <a:pPr>
                        <a:lnSpc>
                          <a:spcPct val="115000"/>
                        </a:lnSpc>
                        <a:spcAft>
                          <a:spcPts val="600"/>
                        </a:spcAft>
                      </a:pPr>
                      <a:r>
                        <a:rPr lang="en-HK" sz="2000" dirty="0">
                          <a:solidFill>
                            <a:schemeClr val="tx1"/>
                          </a:solidFill>
                          <a:effectLst/>
                        </a:rPr>
                        <a:t>4</a:t>
                      </a:r>
                      <a:endParaRPr lang="en-GB" sz="20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i="1" dirty="0">
                          <a:solidFill>
                            <a:srgbClr val="0070C0"/>
                          </a:solidFill>
                          <a:effectLst/>
                        </a:rPr>
                        <a:t>Explains the implications of the findings</a:t>
                      </a:r>
                      <a:endParaRPr lang="en-GB" sz="20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HK" sz="2000" i="1" dirty="0">
                          <a:solidFill>
                            <a:srgbClr val="0070C0"/>
                          </a:solidFill>
                          <a:effectLst/>
                        </a:rPr>
                        <a:t>Draws conclusions about the research</a:t>
                      </a:r>
                      <a:endParaRPr lang="en-GB" sz="20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170700" marR="1707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0532798"/>
                  </a:ext>
                </a:extLst>
              </a:tr>
            </a:tbl>
          </a:graphicData>
        </a:graphic>
      </p:graphicFrame>
      <p:sp>
        <p:nvSpPr>
          <p:cNvPr id="55" name="TextBox 54">
            <a:extLst>
              <a:ext uri="{FF2B5EF4-FFF2-40B4-BE49-F238E27FC236}">
                <a16:creationId xmlns:a16="http://schemas.microsoft.com/office/drawing/2014/main" id="{9384FB9B-9F82-444A-84D0-30815FB41E7D}"/>
              </a:ext>
            </a:extLst>
          </p:cNvPr>
          <p:cNvSpPr txBox="1"/>
          <p:nvPr/>
        </p:nvSpPr>
        <p:spPr>
          <a:xfrm>
            <a:off x="938692" y="4872908"/>
            <a:ext cx="9076575" cy="768608"/>
          </a:xfrm>
          <a:prstGeom prst="rect">
            <a:avLst/>
          </a:prstGeom>
          <a:noFill/>
        </p:spPr>
        <p:txBody>
          <a:bodyPr wrap="square">
            <a:spAutoFit/>
          </a:bodyPr>
          <a:lstStyle/>
          <a:p>
            <a:pPr>
              <a:lnSpc>
                <a:spcPct val="115000"/>
              </a:lnSpc>
              <a:spcAft>
                <a:spcPts val="600"/>
              </a:spcAft>
            </a:pPr>
            <a:r>
              <a:rPr lang="en-HK" sz="2000" dirty="0">
                <a:solidFill>
                  <a:srgbClr val="0070C0"/>
                </a:solidFill>
              </a:rPr>
              <a:t>The second example is a structured abstract with sub-headings. This is common in the science-related disciplines e.g. medicine.</a:t>
            </a:r>
            <a:endParaRPr lang="en-GB" sz="2000" dirty="0">
              <a:solidFill>
                <a:srgbClr val="0070C0"/>
              </a:solidFill>
            </a:endParaRPr>
          </a:p>
        </p:txBody>
      </p:sp>
    </p:spTree>
    <p:extLst>
      <p:ext uri="{BB962C8B-B14F-4D97-AF65-F5344CB8AC3E}">
        <p14:creationId xmlns:p14="http://schemas.microsoft.com/office/powerpoint/2010/main" val="838438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9288" y="439703"/>
            <a:ext cx="10447309" cy="1788718"/>
          </a:xfrm>
        </p:spPr>
        <p:txBody>
          <a:bodyPr>
            <a:normAutofit/>
          </a:bodyPr>
          <a:lstStyle/>
          <a:p>
            <a:pPr marL="0" indent="0">
              <a:buNone/>
            </a:pPr>
            <a:r>
              <a:rPr lang="en-GB" sz="2000" dirty="0"/>
              <a:t>2.What language features (e.g. tense, voice, cohesive devices, hedging devices) are found in the example abstracts?</a:t>
            </a:r>
          </a:p>
        </p:txBody>
      </p:sp>
      <p:sp>
        <p:nvSpPr>
          <p:cNvPr id="4" name="Slide Number Placeholder 3">
            <a:extLst>
              <a:ext uri="{FF2B5EF4-FFF2-40B4-BE49-F238E27FC236}">
                <a16:creationId xmlns:a16="http://schemas.microsoft.com/office/drawing/2014/main" id="{015D2C0E-F90C-9144-BB0B-67B4449FFB96}"/>
              </a:ext>
            </a:extLst>
          </p:cNvPr>
          <p:cNvSpPr>
            <a:spLocks noGrp="1"/>
          </p:cNvSpPr>
          <p:nvPr>
            <p:ph type="sldNum" sz="quarter" idx="12"/>
          </p:nvPr>
        </p:nvSpPr>
        <p:spPr>
          <a:xfrm>
            <a:off x="454174" y="787782"/>
            <a:ext cx="779767" cy="365125"/>
          </a:xfrm>
        </p:spPr>
        <p:txBody>
          <a:bodyPr/>
          <a:lstStyle/>
          <a:p>
            <a:fld id="{D57F1E4F-1CFF-5643-939E-217C01CDF565}" type="slidenum">
              <a:rPr lang="en-US" smtClean="0"/>
              <a:pPr/>
              <a:t>12</a:t>
            </a:fld>
            <a:endParaRPr lang="en-US" dirty="0"/>
          </a:p>
        </p:txBody>
      </p:sp>
      <p:sp>
        <p:nvSpPr>
          <p:cNvPr id="15" name="TextBox 14">
            <a:extLst>
              <a:ext uri="{FF2B5EF4-FFF2-40B4-BE49-F238E27FC236}">
                <a16:creationId xmlns:a16="http://schemas.microsoft.com/office/drawing/2014/main" id="{FB777A72-D876-4A9D-83DC-9B46CF2752B0}"/>
              </a:ext>
            </a:extLst>
          </p:cNvPr>
          <p:cNvSpPr txBox="1"/>
          <p:nvPr/>
        </p:nvSpPr>
        <p:spPr>
          <a:xfrm>
            <a:off x="1569288" y="1331030"/>
            <a:ext cx="6094562" cy="396199"/>
          </a:xfrm>
          <a:prstGeom prst="rect">
            <a:avLst/>
          </a:prstGeom>
          <a:noFill/>
        </p:spPr>
        <p:txBody>
          <a:bodyPr wrap="square">
            <a:spAutoFit/>
          </a:bodyPr>
          <a:lstStyle/>
          <a:p>
            <a:pPr algn="just">
              <a:lnSpc>
                <a:spcPct val="107000"/>
              </a:lnSpc>
              <a:spcAft>
                <a:spcPts val="800"/>
              </a:spcAft>
            </a:pPr>
            <a:r>
              <a:rPr lang="en-HK" sz="2000" dirty="0">
                <a:solidFill>
                  <a:srgbClr val="0070C0"/>
                </a:solidFill>
              </a:rPr>
              <a:t>Suggested answers: </a:t>
            </a:r>
            <a:endParaRPr lang="en-GB" sz="2000" dirty="0">
              <a:solidFill>
                <a:srgbClr val="0070C0"/>
              </a:solidFill>
            </a:endParaRPr>
          </a:p>
        </p:txBody>
      </p:sp>
      <p:sp>
        <p:nvSpPr>
          <p:cNvPr id="17" name="TextBox 16">
            <a:extLst>
              <a:ext uri="{FF2B5EF4-FFF2-40B4-BE49-F238E27FC236}">
                <a16:creationId xmlns:a16="http://schemas.microsoft.com/office/drawing/2014/main" id="{97DA8885-E21B-43BE-90B1-687C7169CC99}"/>
              </a:ext>
            </a:extLst>
          </p:cNvPr>
          <p:cNvSpPr txBox="1"/>
          <p:nvPr/>
        </p:nvSpPr>
        <p:spPr>
          <a:xfrm>
            <a:off x="1700301" y="2228421"/>
            <a:ext cx="10185281" cy="2782493"/>
          </a:xfrm>
          <a:prstGeom prst="rect">
            <a:avLst/>
          </a:prstGeom>
          <a:noFill/>
        </p:spPr>
        <p:txBody>
          <a:bodyPr wrap="square">
            <a:spAutoFit/>
          </a:bodyPr>
          <a:lstStyle/>
          <a:p>
            <a:pPr algn="just">
              <a:lnSpc>
                <a:spcPct val="107000"/>
              </a:lnSpc>
              <a:spcAft>
                <a:spcPts val="800"/>
              </a:spcAft>
            </a:pPr>
            <a:r>
              <a:rPr lang="en-HK" sz="2000" dirty="0">
                <a:solidFill>
                  <a:srgbClr val="0070C0"/>
                </a:solidFill>
              </a:rPr>
              <a:t>Example 1 – </a:t>
            </a:r>
            <a:endParaRPr lang="en-GB" sz="2000" dirty="0">
              <a:solidFill>
                <a:srgbClr val="0070C0"/>
              </a:solidFill>
            </a:endParaRPr>
          </a:p>
          <a:p>
            <a:pPr marL="216000" lvl="0" indent="-216000" algn="just">
              <a:lnSpc>
                <a:spcPct val="107000"/>
              </a:lnSpc>
              <a:spcAft>
                <a:spcPts val="800"/>
              </a:spcAft>
              <a:buFont typeface="Symbol" panose="05050102010706020507" pitchFamily="18" charset="2"/>
              <a:buChar char=""/>
            </a:pPr>
            <a:r>
              <a:rPr lang="en-HK" sz="2000" dirty="0">
                <a:solidFill>
                  <a:srgbClr val="0070C0"/>
                </a:solidFill>
              </a:rPr>
              <a:t>The present tense and present perfect tense are used. The active voice is predominantly used. </a:t>
            </a:r>
            <a:endParaRPr lang="en-GB" sz="2000" dirty="0">
              <a:solidFill>
                <a:srgbClr val="0070C0"/>
              </a:solidFill>
            </a:endParaRPr>
          </a:p>
          <a:p>
            <a:pPr marL="216000" lvl="0" indent="-216000" algn="just">
              <a:lnSpc>
                <a:spcPct val="107000"/>
              </a:lnSpc>
              <a:spcAft>
                <a:spcPts val="800"/>
              </a:spcAft>
              <a:buFont typeface="Symbol" panose="05050102010706020507" pitchFamily="18" charset="2"/>
              <a:buChar char=""/>
            </a:pPr>
            <a:r>
              <a:rPr lang="en-HK" sz="2000" dirty="0">
                <a:solidFill>
                  <a:srgbClr val="0070C0"/>
                </a:solidFill>
              </a:rPr>
              <a:t>‘Furthermore’ is used to connect the research results.</a:t>
            </a:r>
            <a:endParaRPr lang="en-GB" sz="2000" dirty="0">
              <a:solidFill>
                <a:srgbClr val="0070C0"/>
              </a:solidFill>
            </a:endParaRPr>
          </a:p>
          <a:p>
            <a:pPr marL="216000" lvl="0" indent="-216000" algn="just">
              <a:lnSpc>
                <a:spcPct val="107000"/>
              </a:lnSpc>
              <a:spcAft>
                <a:spcPts val="800"/>
              </a:spcAft>
              <a:buFont typeface="Symbol" panose="05050102010706020507" pitchFamily="18" charset="2"/>
              <a:buChar char=""/>
            </a:pPr>
            <a:r>
              <a:rPr lang="en-HK" sz="2000" dirty="0">
                <a:solidFill>
                  <a:srgbClr val="0070C0"/>
                </a:solidFill>
              </a:rPr>
              <a:t>A hedging device (suggest) is used to soften the tone when discussing the implications of the findings.</a:t>
            </a:r>
            <a:endParaRPr lang="en-GB" sz="2000" dirty="0">
              <a:solidFill>
                <a:srgbClr val="0070C0"/>
              </a:solidFill>
            </a:endParaRPr>
          </a:p>
          <a:p>
            <a:pPr marL="216000" lvl="0" indent="-216000" algn="just">
              <a:lnSpc>
                <a:spcPct val="107000"/>
              </a:lnSpc>
              <a:spcAft>
                <a:spcPts val="800"/>
              </a:spcAft>
              <a:buFont typeface="Symbol" panose="05050102010706020507" pitchFamily="18" charset="2"/>
              <a:buChar char=""/>
            </a:pPr>
            <a:r>
              <a:rPr lang="en-HK" sz="2000" dirty="0">
                <a:solidFill>
                  <a:srgbClr val="0070C0"/>
                </a:solidFill>
              </a:rPr>
              <a:t>Both the active and passive voices are used to diversify the language.</a:t>
            </a:r>
            <a:endParaRPr lang="en-GB" sz="2000" dirty="0">
              <a:solidFill>
                <a:srgbClr val="0070C0"/>
              </a:solidFill>
            </a:endParaRPr>
          </a:p>
        </p:txBody>
      </p:sp>
    </p:spTree>
    <p:extLst>
      <p:ext uri="{BB962C8B-B14F-4D97-AF65-F5344CB8AC3E}">
        <p14:creationId xmlns:p14="http://schemas.microsoft.com/office/powerpoint/2010/main" val="309763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5D2C0E-F90C-9144-BB0B-67B4449FFB96}"/>
              </a:ext>
            </a:extLst>
          </p:cNvPr>
          <p:cNvSpPr>
            <a:spLocks noGrp="1"/>
          </p:cNvSpPr>
          <p:nvPr>
            <p:ph type="sldNum" sz="quarter" idx="12"/>
          </p:nvPr>
        </p:nvSpPr>
        <p:spPr>
          <a:xfrm>
            <a:off x="454174" y="787782"/>
            <a:ext cx="779767" cy="365125"/>
          </a:xfrm>
        </p:spPr>
        <p:txBody>
          <a:bodyPr/>
          <a:lstStyle/>
          <a:p>
            <a:fld id="{D57F1E4F-1CFF-5643-939E-217C01CDF565}" type="slidenum">
              <a:rPr lang="en-US" smtClean="0"/>
              <a:pPr/>
              <a:t>13</a:t>
            </a:fld>
            <a:endParaRPr lang="en-US" dirty="0"/>
          </a:p>
        </p:txBody>
      </p:sp>
      <p:sp>
        <p:nvSpPr>
          <p:cNvPr id="8" name="TextBox 7">
            <a:extLst>
              <a:ext uri="{FF2B5EF4-FFF2-40B4-BE49-F238E27FC236}">
                <a16:creationId xmlns:a16="http://schemas.microsoft.com/office/drawing/2014/main" id="{8FEBB2C5-6568-4241-A481-11DF6C182284}"/>
              </a:ext>
            </a:extLst>
          </p:cNvPr>
          <p:cNvSpPr txBox="1"/>
          <p:nvPr/>
        </p:nvSpPr>
        <p:spPr>
          <a:xfrm>
            <a:off x="2037990" y="287450"/>
            <a:ext cx="8736402" cy="4202369"/>
          </a:xfrm>
          <a:prstGeom prst="rect">
            <a:avLst/>
          </a:prstGeom>
          <a:noFill/>
        </p:spPr>
        <p:txBody>
          <a:bodyPr wrap="square">
            <a:spAutoFit/>
          </a:bodyPr>
          <a:lstStyle/>
          <a:p>
            <a:pPr algn="just">
              <a:lnSpc>
                <a:spcPct val="107000"/>
              </a:lnSpc>
              <a:spcAft>
                <a:spcPts val="800"/>
              </a:spcAft>
            </a:pPr>
            <a:r>
              <a:rPr lang="en-HK" sz="2000" dirty="0">
                <a:solidFill>
                  <a:srgbClr val="0070C0"/>
                </a:solidFill>
              </a:rPr>
              <a:t>Example 2 – </a:t>
            </a:r>
            <a:endParaRPr lang="en-GB" sz="2000" dirty="0">
              <a:solidFill>
                <a:srgbClr val="0070C0"/>
              </a:solidFill>
            </a:endParaRPr>
          </a:p>
          <a:p>
            <a:pPr marL="342900" indent="-342900" algn="just">
              <a:lnSpc>
                <a:spcPct val="107000"/>
              </a:lnSpc>
              <a:spcAft>
                <a:spcPts val="800"/>
              </a:spcAft>
              <a:buFont typeface="Symbol" panose="05050102010706020507" pitchFamily="18" charset="2"/>
              <a:buChar char=""/>
            </a:pPr>
            <a:r>
              <a:rPr lang="en-HK" sz="2000" dirty="0">
                <a:solidFill>
                  <a:srgbClr val="0070C0"/>
                </a:solidFill>
              </a:rPr>
              <a:t>The present tense and present perfect tense are used in the background information section. </a:t>
            </a:r>
            <a:endParaRPr lang="en-GB" sz="2000" dirty="0">
              <a:solidFill>
                <a:srgbClr val="0070C0"/>
              </a:solidFill>
            </a:endParaRPr>
          </a:p>
          <a:p>
            <a:pPr marL="342900" indent="-342900" algn="just">
              <a:lnSpc>
                <a:spcPct val="107000"/>
              </a:lnSpc>
              <a:spcAft>
                <a:spcPts val="800"/>
              </a:spcAft>
              <a:buFont typeface="Symbol" panose="05050102010706020507" pitchFamily="18" charset="2"/>
              <a:buChar char=""/>
            </a:pPr>
            <a:r>
              <a:rPr lang="en-HK" sz="2000" dirty="0">
                <a:solidFill>
                  <a:srgbClr val="0070C0"/>
                </a:solidFill>
              </a:rPr>
              <a:t>The past tense is used to refer to the methods adopted and to present the experimental results.</a:t>
            </a:r>
            <a:endParaRPr lang="en-GB" sz="2000" dirty="0">
              <a:solidFill>
                <a:srgbClr val="0070C0"/>
              </a:solidFill>
            </a:endParaRPr>
          </a:p>
          <a:p>
            <a:pPr marL="342900" indent="-342900" algn="just">
              <a:lnSpc>
                <a:spcPct val="107000"/>
              </a:lnSpc>
              <a:spcAft>
                <a:spcPts val="800"/>
              </a:spcAft>
              <a:buFont typeface="Symbol" panose="05050102010706020507" pitchFamily="18" charset="2"/>
              <a:buChar char=""/>
            </a:pPr>
            <a:r>
              <a:rPr lang="en-HK" sz="2000" dirty="0">
                <a:solidFill>
                  <a:srgbClr val="0070C0"/>
                </a:solidFill>
              </a:rPr>
              <a:t>The use of the personal pronoun “we” to refer to the research team is common in the science-related disciplines.</a:t>
            </a:r>
            <a:endParaRPr lang="en-GB" sz="2000" dirty="0">
              <a:solidFill>
                <a:srgbClr val="0070C0"/>
              </a:solidFill>
            </a:endParaRPr>
          </a:p>
          <a:p>
            <a:pPr marL="342900" indent="-342900" algn="just">
              <a:lnSpc>
                <a:spcPct val="107000"/>
              </a:lnSpc>
              <a:spcAft>
                <a:spcPts val="800"/>
              </a:spcAft>
              <a:buFont typeface="Symbol" panose="05050102010706020507" pitchFamily="18" charset="2"/>
              <a:buChar char=""/>
            </a:pPr>
            <a:r>
              <a:rPr lang="en-HK" sz="2000" dirty="0">
                <a:solidFill>
                  <a:srgbClr val="0070C0"/>
                </a:solidFill>
              </a:rPr>
              <a:t>A hedging device (might) is used to soften the tone when discussing the significance of the findings</a:t>
            </a:r>
            <a:endParaRPr lang="en-GB" sz="2000" dirty="0">
              <a:solidFill>
                <a:srgbClr val="0070C0"/>
              </a:solidFill>
            </a:endParaRPr>
          </a:p>
          <a:p>
            <a:pPr marL="342900" indent="-342900" algn="just">
              <a:lnSpc>
                <a:spcPct val="107000"/>
              </a:lnSpc>
              <a:spcAft>
                <a:spcPts val="800"/>
              </a:spcAft>
              <a:buFont typeface="Symbol" panose="05050102010706020507" pitchFamily="18" charset="2"/>
              <a:buChar char=""/>
            </a:pPr>
            <a:r>
              <a:rPr lang="en-HK" sz="2000" dirty="0">
                <a:solidFill>
                  <a:srgbClr val="0070C0"/>
                </a:solidFill>
              </a:rPr>
              <a:t>Both the active and passive voices are used to diversify the language.</a:t>
            </a:r>
            <a:endParaRPr lang="en-GB" sz="2000" dirty="0">
              <a:solidFill>
                <a:srgbClr val="0070C0"/>
              </a:solidFill>
            </a:endParaRPr>
          </a:p>
        </p:txBody>
      </p:sp>
      <p:sp>
        <p:nvSpPr>
          <p:cNvPr id="10" name="TextBox 9">
            <a:extLst>
              <a:ext uri="{FF2B5EF4-FFF2-40B4-BE49-F238E27FC236}">
                <a16:creationId xmlns:a16="http://schemas.microsoft.com/office/drawing/2014/main" id="{9C99CA5B-95FA-4B1E-BEB6-D42FB2B43DB1}"/>
              </a:ext>
            </a:extLst>
          </p:cNvPr>
          <p:cNvSpPr txBox="1"/>
          <p:nvPr/>
        </p:nvSpPr>
        <p:spPr>
          <a:xfrm>
            <a:off x="1934833" y="4727415"/>
            <a:ext cx="9546926" cy="2042803"/>
          </a:xfrm>
          <a:prstGeom prst="rect">
            <a:avLst/>
          </a:prstGeom>
          <a:noFill/>
        </p:spPr>
        <p:txBody>
          <a:bodyPr wrap="square">
            <a:spAutoFit/>
          </a:bodyPr>
          <a:lstStyle/>
          <a:p>
            <a:pPr algn="just">
              <a:lnSpc>
                <a:spcPct val="107000"/>
              </a:lnSpc>
              <a:spcAft>
                <a:spcPts val="800"/>
              </a:spcAft>
            </a:pPr>
            <a:r>
              <a:rPr lang="en-HK" sz="2000" dirty="0">
                <a:solidFill>
                  <a:srgbClr val="0070C0"/>
                </a:solidFill>
              </a:rPr>
              <a:t>In general, when writing a description of the thesis/research article itself, the simple present tense tends to be used. When writing a summary of research that is reported in the thesis/research article, it is likely that both the present and past tenses are used. The present tense is used for the purpose and the conclusions or recommendations, whereas the past tense is used to describe the methods and findings. </a:t>
            </a:r>
            <a:endParaRPr lang="en-GB" sz="2000" dirty="0">
              <a:solidFill>
                <a:srgbClr val="0070C0"/>
              </a:solidFill>
            </a:endParaRPr>
          </a:p>
        </p:txBody>
      </p:sp>
    </p:spTree>
    <p:extLst>
      <p:ext uri="{BB962C8B-B14F-4D97-AF65-F5344CB8AC3E}">
        <p14:creationId xmlns:p14="http://schemas.microsoft.com/office/powerpoint/2010/main" val="1323190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1214" y="0"/>
            <a:ext cx="8911687" cy="813992"/>
          </a:xfrm>
        </p:spPr>
        <p:txBody>
          <a:bodyPr/>
          <a:lstStyle/>
          <a:p>
            <a:r>
              <a:rPr lang="en-US" dirty="0"/>
              <a:t>Task 2</a:t>
            </a:r>
          </a:p>
        </p:txBody>
      </p:sp>
      <p:sp>
        <p:nvSpPr>
          <p:cNvPr id="3" name="Content Placeholder 2"/>
          <p:cNvSpPr>
            <a:spLocks noGrp="1"/>
          </p:cNvSpPr>
          <p:nvPr>
            <p:ph idx="1"/>
          </p:nvPr>
        </p:nvSpPr>
        <p:spPr>
          <a:xfrm>
            <a:off x="1721214" y="679299"/>
            <a:ext cx="10122854" cy="2111302"/>
          </a:xfrm>
        </p:spPr>
        <p:txBody>
          <a:bodyPr>
            <a:normAutofit/>
          </a:bodyPr>
          <a:lstStyle/>
          <a:p>
            <a:pPr marL="0" indent="0" algn="just">
              <a:buNone/>
            </a:pPr>
            <a:r>
              <a:rPr lang="en-GB" sz="1900" dirty="0"/>
              <a:t>Have a look at the following two abstracts. Do you think they are well-written? Why?</a:t>
            </a:r>
            <a:endParaRPr lang="en-US" dirty="0"/>
          </a:p>
        </p:txBody>
      </p:sp>
      <p:sp>
        <p:nvSpPr>
          <p:cNvPr id="5" name="Slide Number Placeholder 4">
            <a:extLst>
              <a:ext uri="{FF2B5EF4-FFF2-40B4-BE49-F238E27FC236}">
                <a16:creationId xmlns:a16="http://schemas.microsoft.com/office/drawing/2014/main" id="{82D0DBA6-6FDD-0448-A760-BC7FF4D4F6EC}"/>
              </a:ext>
            </a:extLst>
          </p:cNvPr>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6" name="Picture 5">
            <a:extLst>
              <a:ext uri="{FF2B5EF4-FFF2-40B4-BE49-F238E27FC236}">
                <a16:creationId xmlns:a16="http://schemas.microsoft.com/office/drawing/2014/main" id="{508D09AF-31B4-4040-961B-913DCD39B099}"/>
              </a:ext>
            </a:extLst>
          </p:cNvPr>
          <p:cNvPicPr>
            <a:picLocks noChangeAspect="1"/>
          </p:cNvPicPr>
          <p:nvPr/>
        </p:nvPicPr>
        <p:blipFill>
          <a:blip r:embed="rId2"/>
          <a:stretch>
            <a:fillRect/>
          </a:stretch>
        </p:blipFill>
        <p:spPr>
          <a:xfrm>
            <a:off x="1820174" y="1083895"/>
            <a:ext cx="9109494" cy="5774105"/>
          </a:xfrm>
          <a:prstGeom prst="rect">
            <a:avLst/>
          </a:prstGeom>
        </p:spPr>
      </p:pic>
    </p:spTree>
    <p:extLst>
      <p:ext uri="{BB962C8B-B14F-4D97-AF65-F5344CB8AC3E}">
        <p14:creationId xmlns:p14="http://schemas.microsoft.com/office/powerpoint/2010/main" val="1287603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5D2C0E-F90C-9144-BB0B-67B4449FFB96}"/>
              </a:ext>
            </a:extLst>
          </p:cNvPr>
          <p:cNvSpPr>
            <a:spLocks noGrp="1"/>
          </p:cNvSpPr>
          <p:nvPr>
            <p:ph type="sldNum" sz="quarter" idx="12"/>
          </p:nvPr>
        </p:nvSpPr>
        <p:spPr>
          <a:xfrm>
            <a:off x="454174" y="787782"/>
            <a:ext cx="779767" cy="365125"/>
          </a:xfrm>
        </p:spPr>
        <p:txBody>
          <a:bodyPr/>
          <a:lstStyle/>
          <a:p>
            <a:fld id="{D57F1E4F-1CFF-5643-939E-217C01CDF565}" type="slidenum">
              <a:rPr lang="en-US" smtClean="0"/>
              <a:pPr/>
              <a:t>15</a:t>
            </a:fld>
            <a:endParaRPr lang="en-US" dirty="0"/>
          </a:p>
        </p:txBody>
      </p:sp>
      <p:sp>
        <p:nvSpPr>
          <p:cNvPr id="15" name="TextBox 14">
            <a:extLst>
              <a:ext uri="{FF2B5EF4-FFF2-40B4-BE49-F238E27FC236}">
                <a16:creationId xmlns:a16="http://schemas.microsoft.com/office/drawing/2014/main" id="{FB777A72-D876-4A9D-83DC-9B46CF2752B0}"/>
              </a:ext>
            </a:extLst>
          </p:cNvPr>
          <p:cNvSpPr txBox="1"/>
          <p:nvPr/>
        </p:nvSpPr>
        <p:spPr>
          <a:xfrm>
            <a:off x="1700301" y="391583"/>
            <a:ext cx="6094562" cy="396199"/>
          </a:xfrm>
          <a:prstGeom prst="rect">
            <a:avLst/>
          </a:prstGeom>
          <a:noFill/>
        </p:spPr>
        <p:txBody>
          <a:bodyPr wrap="square">
            <a:spAutoFit/>
          </a:bodyPr>
          <a:lstStyle/>
          <a:p>
            <a:pPr algn="just">
              <a:lnSpc>
                <a:spcPct val="107000"/>
              </a:lnSpc>
              <a:spcAft>
                <a:spcPts val="800"/>
              </a:spcAft>
            </a:pPr>
            <a:r>
              <a:rPr lang="en-HK" sz="2000" dirty="0">
                <a:solidFill>
                  <a:srgbClr val="0070C0"/>
                </a:solidFill>
              </a:rPr>
              <a:t>Suggested answers: </a:t>
            </a:r>
            <a:endParaRPr lang="en-GB" sz="2000" dirty="0">
              <a:solidFill>
                <a:srgbClr val="0070C0"/>
              </a:solidFill>
            </a:endParaRPr>
          </a:p>
        </p:txBody>
      </p:sp>
      <p:sp>
        <p:nvSpPr>
          <p:cNvPr id="17" name="TextBox 16">
            <a:extLst>
              <a:ext uri="{FF2B5EF4-FFF2-40B4-BE49-F238E27FC236}">
                <a16:creationId xmlns:a16="http://schemas.microsoft.com/office/drawing/2014/main" id="{97DA8885-E21B-43BE-90B1-687C7169CC99}"/>
              </a:ext>
            </a:extLst>
          </p:cNvPr>
          <p:cNvSpPr txBox="1"/>
          <p:nvPr/>
        </p:nvSpPr>
        <p:spPr>
          <a:xfrm>
            <a:off x="1631028" y="1639603"/>
            <a:ext cx="10185281" cy="2247988"/>
          </a:xfrm>
          <a:prstGeom prst="rect">
            <a:avLst/>
          </a:prstGeom>
          <a:noFill/>
        </p:spPr>
        <p:txBody>
          <a:bodyPr wrap="square">
            <a:spAutoFit/>
          </a:bodyPr>
          <a:lstStyle/>
          <a:p>
            <a:pPr algn="just">
              <a:lnSpc>
                <a:spcPct val="107000"/>
              </a:lnSpc>
              <a:spcAft>
                <a:spcPts val="800"/>
              </a:spcAft>
            </a:pPr>
            <a:r>
              <a:rPr lang="en-GB" sz="2000" dirty="0">
                <a:solidFill>
                  <a:srgbClr val="0070C0"/>
                </a:solidFill>
              </a:rPr>
              <a:t>Comments on example 1:</a:t>
            </a:r>
          </a:p>
          <a:p>
            <a:pPr algn="just">
              <a:lnSpc>
                <a:spcPct val="107000"/>
              </a:lnSpc>
              <a:spcAft>
                <a:spcPts val="800"/>
              </a:spcAft>
            </a:pPr>
            <a:r>
              <a:rPr lang="en-GB" sz="2000" dirty="0">
                <a:solidFill>
                  <a:srgbClr val="0070C0"/>
                </a:solidFill>
              </a:rPr>
              <a:t>The purpose of the research is given but there is nothing about the methodology and it does not explain the scope of the study. It's too short and it leaves readers with a question. No summary or results or conclusions are given. The language is abstruse.</a:t>
            </a:r>
          </a:p>
          <a:p>
            <a:pPr lvl="0" indent="-342900" algn="just">
              <a:lnSpc>
                <a:spcPct val="107000"/>
              </a:lnSpc>
              <a:spcAft>
                <a:spcPts val="800"/>
              </a:spcAft>
              <a:buFont typeface="Symbol" panose="05050102010706020507" pitchFamily="18" charset="2"/>
              <a:buChar char=""/>
            </a:pPr>
            <a:endParaRPr lang="en-GB" sz="2000" dirty="0">
              <a:solidFill>
                <a:srgbClr val="0070C0"/>
              </a:solidFill>
            </a:endParaRPr>
          </a:p>
        </p:txBody>
      </p:sp>
      <p:sp>
        <p:nvSpPr>
          <p:cNvPr id="7" name="TextBox 6">
            <a:extLst>
              <a:ext uri="{FF2B5EF4-FFF2-40B4-BE49-F238E27FC236}">
                <a16:creationId xmlns:a16="http://schemas.microsoft.com/office/drawing/2014/main" id="{CEFEEA67-EDDA-474F-B109-F4888AE8E7A8}"/>
              </a:ext>
            </a:extLst>
          </p:cNvPr>
          <p:cNvSpPr txBox="1"/>
          <p:nvPr/>
        </p:nvSpPr>
        <p:spPr>
          <a:xfrm>
            <a:off x="1697851" y="913803"/>
            <a:ext cx="6099462" cy="396199"/>
          </a:xfrm>
          <a:prstGeom prst="rect">
            <a:avLst/>
          </a:prstGeom>
          <a:noFill/>
        </p:spPr>
        <p:txBody>
          <a:bodyPr wrap="square">
            <a:spAutoFit/>
          </a:bodyPr>
          <a:lstStyle/>
          <a:p>
            <a:pPr algn="just">
              <a:lnSpc>
                <a:spcPct val="107000"/>
              </a:lnSpc>
              <a:spcAft>
                <a:spcPts val="800"/>
              </a:spcAft>
            </a:pPr>
            <a:r>
              <a:rPr lang="en-HK" sz="2000" dirty="0">
                <a:solidFill>
                  <a:srgbClr val="0070C0"/>
                </a:solidFill>
              </a:rPr>
              <a:t>Both abstracts are not well-written. </a:t>
            </a:r>
            <a:endParaRPr lang="en-GB" sz="2000" dirty="0">
              <a:solidFill>
                <a:srgbClr val="0070C0"/>
              </a:solidFill>
            </a:endParaRPr>
          </a:p>
        </p:txBody>
      </p:sp>
      <p:sp>
        <p:nvSpPr>
          <p:cNvPr id="9" name="TextBox 8">
            <a:extLst>
              <a:ext uri="{FF2B5EF4-FFF2-40B4-BE49-F238E27FC236}">
                <a16:creationId xmlns:a16="http://schemas.microsoft.com/office/drawing/2014/main" id="{55A18399-952E-4C85-BA3B-2499428F050E}"/>
              </a:ext>
            </a:extLst>
          </p:cNvPr>
          <p:cNvSpPr txBox="1"/>
          <p:nvPr/>
        </p:nvSpPr>
        <p:spPr>
          <a:xfrm>
            <a:off x="1697851" y="3714349"/>
            <a:ext cx="9426285" cy="2474716"/>
          </a:xfrm>
          <a:prstGeom prst="rect">
            <a:avLst/>
          </a:prstGeom>
          <a:noFill/>
        </p:spPr>
        <p:txBody>
          <a:bodyPr wrap="square">
            <a:spAutoFit/>
          </a:bodyPr>
          <a:lstStyle/>
          <a:p>
            <a:pPr algn="just">
              <a:lnSpc>
                <a:spcPct val="107000"/>
              </a:lnSpc>
              <a:spcAft>
                <a:spcPts val="800"/>
              </a:spcAft>
            </a:pPr>
            <a:r>
              <a:rPr lang="en-GB" sz="2000" dirty="0">
                <a:solidFill>
                  <a:srgbClr val="0070C0"/>
                </a:solidFill>
              </a:rPr>
              <a:t>Comments on example 2:</a:t>
            </a:r>
          </a:p>
          <a:p>
            <a:pPr algn="just">
              <a:lnSpc>
                <a:spcPct val="107000"/>
              </a:lnSpc>
              <a:spcAft>
                <a:spcPts val="800"/>
              </a:spcAft>
            </a:pPr>
            <a:r>
              <a:rPr lang="en-GB" sz="2000" dirty="0">
                <a:solidFill>
                  <a:srgbClr val="0070C0"/>
                </a:solidFill>
              </a:rPr>
              <a:t>This abstract begins well with a concise statement of the objectives of the paper, but then wanders from good technical writing style from there. The abstract is written in the first person (e.g. “We explain…”, “We discuss…”, “We comment…”, etc.). No results are presented. This poorly written abstract describes only the organization of the paper. Instead, the abstract should summarize the actual results and how they were obtained. </a:t>
            </a:r>
          </a:p>
        </p:txBody>
      </p:sp>
    </p:spTree>
    <p:extLst>
      <p:ext uri="{BB962C8B-B14F-4D97-AF65-F5344CB8AC3E}">
        <p14:creationId xmlns:p14="http://schemas.microsoft.com/office/powerpoint/2010/main" val="510809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46DB9F9-C9E3-4B5F-B206-A94AD73663A4}"/>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14" name="TextBox 13">
            <a:extLst>
              <a:ext uri="{FF2B5EF4-FFF2-40B4-BE49-F238E27FC236}">
                <a16:creationId xmlns:a16="http://schemas.microsoft.com/office/drawing/2014/main" id="{3B789FB7-2CA8-478C-B9FA-50222E7BF782}"/>
              </a:ext>
            </a:extLst>
          </p:cNvPr>
          <p:cNvSpPr txBox="1"/>
          <p:nvPr/>
        </p:nvSpPr>
        <p:spPr>
          <a:xfrm>
            <a:off x="597701" y="217687"/>
            <a:ext cx="11698208" cy="369332"/>
          </a:xfrm>
          <a:prstGeom prst="rect">
            <a:avLst/>
          </a:prstGeom>
          <a:noFill/>
        </p:spPr>
        <p:txBody>
          <a:bodyPr wrap="square">
            <a:spAutoFit/>
          </a:bodyPr>
          <a:lstStyle/>
          <a:p>
            <a:r>
              <a:rPr lang="en-GB" dirty="0"/>
              <a:t>Hyland (2000)¹ examines the abstract structures across disciplines and identified five common moves:</a:t>
            </a:r>
          </a:p>
        </p:txBody>
      </p:sp>
      <p:graphicFrame>
        <p:nvGraphicFramePr>
          <p:cNvPr id="17" name="Table 16">
            <a:extLst>
              <a:ext uri="{FF2B5EF4-FFF2-40B4-BE49-F238E27FC236}">
                <a16:creationId xmlns:a16="http://schemas.microsoft.com/office/drawing/2014/main" id="{F7320F5C-AA03-42AB-808E-D30186A0F0D0}"/>
              </a:ext>
            </a:extLst>
          </p:cNvPr>
          <p:cNvGraphicFramePr>
            <a:graphicFrameLocks noGrp="1"/>
          </p:cNvGraphicFramePr>
          <p:nvPr>
            <p:extLst>
              <p:ext uri="{D42A27DB-BD31-4B8C-83A1-F6EECF244321}">
                <p14:modId xmlns:p14="http://schemas.microsoft.com/office/powerpoint/2010/main" val="4109067338"/>
              </p:ext>
            </p:extLst>
          </p:nvPr>
        </p:nvGraphicFramePr>
        <p:xfrm>
          <a:off x="1052786" y="1621945"/>
          <a:ext cx="7677146" cy="2855160"/>
        </p:xfrm>
        <a:graphic>
          <a:graphicData uri="http://schemas.openxmlformats.org/drawingml/2006/table">
            <a:tbl>
              <a:tblPr firstRow="1" firstCol="1" bandRow="1"/>
              <a:tblGrid>
                <a:gridCol w="2499859">
                  <a:extLst>
                    <a:ext uri="{9D8B030D-6E8A-4147-A177-3AD203B41FA5}">
                      <a16:colId xmlns:a16="http://schemas.microsoft.com/office/drawing/2014/main" val="1065862901"/>
                    </a:ext>
                  </a:extLst>
                </a:gridCol>
                <a:gridCol w="5177287">
                  <a:extLst>
                    <a:ext uri="{9D8B030D-6E8A-4147-A177-3AD203B41FA5}">
                      <a16:colId xmlns:a16="http://schemas.microsoft.com/office/drawing/2014/main" val="3993142846"/>
                    </a:ext>
                  </a:extLst>
                </a:gridCol>
              </a:tblGrid>
              <a:tr h="407880">
                <a:tc>
                  <a:txBody>
                    <a:bodyPr/>
                    <a:lstStyle/>
                    <a:p>
                      <a:pPr algn="just">
                        <a:lnSpc>
                          <a:spcPct val="107000"/>
                        </a:lnSpc>
                        <a:spcAft>
                          <a:spcPts val="800"/>
                        </a:spcAft>
                      </a:pPr>
                      <a:r>
                        <a:rPr lang="en-GB" sz="2000" b="1" dirty="0">
                          <a:effectLst/>
                          <a:latin typeface="+mn-lt"/>
                          <a:ea typeface="DengXian" panose="02010600030101010101" pitchFamily="2" charset="-122"/>
                          <a:cs typeface="Times New Roman" panose="02020603050405020304" pitchFamily="18" charset="0"/>
                        </a:rPr>
                        <a:t>Philosophy</a:t>
                      </a:r>
                      <a:endParaRPr lang="en-GB" sz="2000" dirty="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just">
                        <a:lnSpc>
                          <a:spcPct val="107000"/>
                        </a:lnSpc>
                        <a:spcAft>
                          <a:spcPts val="800"/>
                        </a:spcAft>
                      </a:pPr>
                      <a:r>
                        <a:rPr lang="en-GB" sz="2000">
                          <a:effectLst/>
                          <a:latin typeface="+mn-lt"/>
                          <a:ea typeface="DengXian" panose="02010600030101010101" pitchFamily="2" charset="-122"/>
                          <a:cs typeface="Times New Roman" panose="02020603050405020304" pitchFamily="18" charset="0"/>
                        </a:rPr>
                        <a:t>I-P-Pr        P-Pr</a:t>
                      </a: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409095883"/>
                  </a:ext>
                </a:extLst>
              </a:tr>
              <a:tr h="407880">
                <a:tc>
                  <a:txBody>
                    <a:bodyPr/>
                    <a:lstStyle/>
                    <a:p>
                      <a:pPr algn="just">
                        <a:lnSpc>
                          <a:spcPct val="107000"/>
                        </a:lnSpc>
                        <a:spcAft>
                          <a:spcPts val="800"/>
                        </a:spcAft>
                      </a:pPr>
                      <a:r>
                        <a:rPr lang="en-GB" sz="2000" b="1" dirty="0">
                          <a:solidFill>
                            <a:srgbClr val="000000"/>
                          </a:solidFill>
                          <a:effectLst/>
                          <a:latin typeface="+mn-lt"/>
                          <a:ea typeface="DengXian" panose="02010600030101010101" pitchFamily="2" charset="-122"/>
                          <a:cs typeface="Times New Roman" panose="02020603050405020304" pitchFamily="18" charset="0"/>
                        </a:rPr>
                        <a:t>Sociology</a:t>
                      </a:r>
                      <a:endParaRPr lang="en-GB" sz="2000" dirty="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pPr>
                      <a:r>
                        <a:rPr lang="en-GB" sz="2000">
                          <a:solidFill>
                            <a:srgbClr val="000000"/>
                          </a:solidFill>
                          <a:effectLst/>
                          <a:latin typeface="+mn-lt"/>
                          <a:ea typeface="DengXian" panose="02010600030101010101" pitchFamily="2" charset="-122"/>
                          <a:cs typeface="Times New Roman" panose="02020603050405020304" pitchFamily="18" charset="0"/>
                        </a:rPr>
                        <a:t>P-M-Pr     I-P-Pr      I-P-M-Pr</a:t>
                      </a:r>
                      <a:endParaRPr lang="en-GB" sz="200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1251859830"/>
                  </a:ext>
                </a:extLst>
              </a:tr>
              <a:tr h="407880">
                <a:tc>
                  <a:txBody>
                    <a:bodyPr/>
                    <a:lstStyle/>
                    <a:p>
                      <a:pPr algn="just">
                        <a:lnSpc>
                          <a:spcPct val="107000"/>
                        </a:lnSpc>
                        <a:spcAft>
                          <a:spcPts val="800"/>
                        </a:spcAft>
                      </a:pPr>
                      <a:r>
                        <a:rPr lang="en-GB" sz="2000" b="1" dirty="0">
                          <a:effectLst/>
                          <a:latin typeface="+mn-lt"/>
                          <a:ea typeface="DengXian" panose="02010600030101010101" pitchFamily="2" charset="-122"/>
                          <a:cs typeface="Times New Roman" panose="02020603050405020304" pitchFamily="18" charset="0"/>
                        </a:rPr>
                        <a:t>Applied Linguistics</a:t>
                      </a:r>
                      <a:endParaRPr lang="en-GB" sz="2000" dirty="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just">
                        <a:lnSpc>
                          <a:spcPct val="107000"/>
                        </a:lnSpc>
                        <a:spcAft>
                          <a:spcPts val="800"/>
                        </a:spcAft>
                      </a:pPr>
                      <a:r>
                        <a:rPr lang="en-GB" sz="2000" dirty="0">
                          <a:effectLst/>
                          <a:latin typeface="+mn-lt"/>
                          <a:ea typeface="DengXian" panose="02010600030101010101" pitchFamily="2" charset="-122"/>
                          <a:cs typeface="Times New Roman" panose="02020603050405020304" pitchFamily="18" charset="0"/>
                        </a:rPr>
                        <a:t>I-P-</a:t>
                      </a:r>
                      <a:r>
                        <a:rPr lang="en-GB" sz="2000" dirty="0" err="1">
                          <a:effectLst/>
                          <a:latin typeface="+mn-lt"/>
                          <a:ea typeface="DengXian" panose="02010600030101010101" pitchFamily="2" charset="-122"/>
                          <a:cs typeface="Times New Roman" panose="02020603050405020304" pitchFamily="18" charset="0"/>
                        </a:rPr>
                        <a:t>Pr</a:t>
                      </a:r>
                      <a:r>
                        <a:rPr lang="en-GB" sz="2000" dirty="0">
                          <a:effectLst/>
                          <a:latin typeface="+mn-lt"/>
                          <a:ea typeface="DengXian" panose="02010600030101010101" pitchFamily="2" charset="-122"/>
                          <a:cs typeface="Times New Roman" panose="02020603050405020304" pitchFamily="18" charset="0"/>
                        </a:rPr>
                        <a:t>       P-M-</a:t>
                      </a:r>
                      <a:r>
                        <a:rPr lang="en-GB" sz="2000" dirty="0" err="1">
                          <a:effectLst/>
                          <a:latin typeface="+mn-lt"/>
                          <a:ea typeface="DengXian" panose="02010600030101010101" pitchFamily="2" charset="-122"/>
                          <a:cs typeface="Times New Roman" panose="02020603050405020304" pitchFamily="18" charset="0"/>
                        </a:rPr>
                        <a:t>Pr</a:t>
                      </a:r>
                      <a:r>
                        <a:rPr lang="en-GB" sz="2000" dirty="0">
                          <a:effectLst/>
                          <a:latin typeface="+mn-lt"/>
                          <a:ea typeface="DengXian" panose="02010600030101010101" pitchFamily="2" charset="-122"/>
                          <a:cs typeface="Times New Roman" panose="02020603050405020304" pitchFamily="18" charset="0"/>
                        </a:rPr>
                        <a:t>    P-</a:t>
                      </a:r>
                      <a:r>
                        <a:rPr lang="en-GB" sz="2000" dirty="0" err="1">
                          <a:effectLst/>
                          <a:latin typeface="+mn-lt"/>
                          <a:ea typeface="DengXian" panose="02010600030101010101" pitchFamily="2" charset="-122"/>
                          <a:cs typeface="Times New Roman" panose="02020603050405020304" pitchFamily="18" charset="0"/>
                        </a:rPr>
                        <a:t>Pr</a:t>
                      </a:r>
                      <a:r>
                        <a:rPr lang="en-GB" sz="2000" dirty="0">
                          <a:effectLst/>
                          <a:latin typeface="+mn-lt"/>
                          <a:ea typeface="DengXian" panose="02010600030101010101" pitchFamily="2" charset="-122"/>
                          <a:cs typeface="Times New Roman" panose="02020603050405020304" pitchFamily="18" charset="0"/>
                        </a:rPr>
                        <a:t>      I-P-M-</a:t>
                      </a:r>
                      <a:r>
                        <a:rPr lang="en-GB" sz="2000" dirty="0" err="1">
                          <a:effectLst/>
                          <a:latin typeface="+mn-lt"/>
                          <a:ea typeface="DengXian" panose="02010600030101010101" pitchFamily="2" charset="-122"/>
                          <a:cs typeface="Times New Roman" panose="02020603050405020304" pitchFamily="18" charset="0"/>
                        </a:rPr>
                        <a:t>Pr</a:t>
                      </a:r>
                      <a:endParaRPr lang="en-GB" sz="2000" dirty="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776156262"/>
                  </a:ext>
                </a:extLst>
              </a:tr>
              <a:tr h="407880">
                <a:tc>
                  <a:txBody>
                    <a:bodyPr/>
                    <a:lstStyle/>
                    <a:p>
                      <a:pPr algn="just">
                        <a:lnSpc>
                          <a:spcPct val="107000"/>
                        </a:lnSpc>
                        <a:spcAft>
                          <a:spcPts val="800"/>
                        </a:spcAft>
                      </a:pPr>
                      <a:r>
                        <a:rPr lang="en-GB" sz="2000" b="1">
                          <a:solidFill>
                            <a:srgbClr val="000000"/>
                          </a:solidFill>
                          <a:effectLst/>
                          <a:latin typeface="+mn-lt"/>
                          <a:ea typeface="DengXian" panose="02010600030101010101" pitchFamily="2" charset="-122"/>
                          <a:cs typeface="Times New Roman" panose="02020603050405020304" pitchFamily="18" charset="0"/>
                        </a:rPr>
                        <a:t>Electronic Eng.</a:t>
                      </a:r>
                      <a:endParaRPr lang="en-GB" sz="200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pPr>
                      <a:r>
                        <a:rPr lang="en-GB" sz="2000" dirty="0">
                          <a:solidFill>
                            <a:srgbClr val="000000"/>
                          </a:solidFill>
                          <a:effectLst/>
                          <a:latin typeface="+mn-lt"/>
                          <a:ea typeface="DengXian" panose="02010600030101010101" pitchFamily="2" charset="-122"/>
                          <a:cs typeface="Times New Roman" panose="02020603050405020304" pitchFamily="18" charset="0"/>
                        </a:rPr>
                        <a:t>P-M-</a:t>
                      </a:r>
                      <a:r>
                        <a:rPr lang="en-GB" sz="2000" dirty="0" err="1">
                          <a:solidFill>
                            <a:srgbClr val="000000"/>
                          </a:solidFill>
                          <a:effectLst/>
                          <a:latin typeface="+mn-lt"/>
                          <a:ea typeface="DengXian" panose="02010600030101010101" pitchFamily="2" charset="-122"/>
                          <a:cs typeface="Times New Roman" panose="02020603050405020304" pitchFamily="18" charset="0"/>
                        </a:rPr>
                        <a:t>Pr</a:t>
                      </a:r>
                      <a:r>
                        <a:rPr lang="en-GB" sz="2000" dirty="0">
                          <a:solidFill>
                            <a:srgbClr val="000000"/>
                          </a:solidFill>
                          <a:effectLst/>
                          <a:latin typeface="+mn-lt"/>
                          <a:ea typeface="DengXian" panose="02010600030101010101" pitchFamily="2" charset="-122"/>
                          <a:cs typeface="Times New Roman" panose="02020603050405020304" pitchFamily="18" charset="0"/>
                        </a:rPr>
                        <a:t>     P-</a:t>
                      </a:r>
                      <a:r>
                        <a:rPr lang="en-GB" sz="2000" dirty="0" err="1">
                          <a:solidFill>
                            <a:srgbClr val="000000"/>
                          </a:solidFill>
                          <a:effectLst/>
                          <a:latin typeface="+mn-lt"/>
                          <a:ea typeface="DengXian" panose="02010600030101010101" pitchFamily="2" charset="-122"/>
                          <a:cs typeface="Times New Roman" panose="02020603050405020304" pitchFamily="18" charset="0"/>
                        </a:rPr>
                        <a:t>Pr</a:t>
                      </a:r>
                      <a:endParaRPr lang="en-GB" sz="2000" dirty="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985844514"/>
                  </a:ext>
                </a:extLst>
              </a:tr>
              <a:tr h="407880">
                <a:tc>
                  <a:txBody>
                    <a:bodyPr/>
                    <a:lstStyle/>
                    <a:p>
                      <a:pPr algn="just">
                        <a:lnSpc>
                          <a:spcPct val="107000"/>
                        </a:lnSpc>
                        <a:spcAft>
                          <a:spcPts val="800"/>
                        </a:spcAft>
                      </a:pPr>
                      <a:r>
                        <a:rPr lang="en-GB" sz="2000" b="1">
                          <a:effectLst/>
                          <a:latin typeface="+mn-lt"/>
                          <a:ea typeface="DengXian" panose="02010600030101010101" pitchFamily="2" charset="-122"/>
                          <a:cs typeface="Times New Roman" panose="02020603050405020304" pitchFamily="18" charset="0"/>
                        </a:rPr>
                        <a:t>Mechanical Eng.</a:t>
                      </a:r>
                      <a:endParaRPr lang="en-GB" sz="200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just">
                        <a:lnSpc>
                          <a:spcPct val="107000"/>
                        </a:lnSpc>
                        <a:spcAft>
                          <a:spcPts val="800"/>
                        </a:spcAft>
                      </a:pPr>
                      <a:r>
                        <a:rPr lang="en-GB" sz="2000" dirty="0">
                          <a:effectLst/>
                          <a:latin typeface="+mn-lt"/>
                          <a:ea typeface="DengXian" panose="02010600030101010101" pitchFamily="2" charset="-122"/>
                          <a:cs typeface="Times New Roman" panose="02020603050405020304" pitchFamily="18" charset="0"/>
                        </a:rPr>
                        <a:t>P-M-</a:t>
                      </a:r>
                      <a:r>
                        <a:rPr lang="en-GB" sz="2000" dirty="0" err="1">
                          <a:effectLst/>
                          <a:latin typeface="+mn-lt"/>
                          <a:ea typeface="DengXian" panose="02010600030101010101" pitchFamily="2" charset="-122"/>
                          <a:cs typeface="Times New Roman" panose="02020603050405020304" pitchFamily="18" charset="0"/>
                        </a:rPr>
                        <a:t>Pr</a:t>
                      </a:r>
                      <a:r>
                        <a:rPr lang="en-GB" sz="2000" dirty="0">
                          <a:effectLst/>
                          <a:latin typeface="+mn-lt"/>
                          <a:ea typeface="DengXian" panose="02010600030101010101" pitchFamily="2" charset="-122"/>
                          <a:cs typeface="Times New Roman" panose="02020603050405020304" pitchFamily="18" charset="0"/>
                        </a:rPr>
                        <a:t>     P-</a:t>
                      </a:r>
                      <a:r>
                        <a:rPr lang="en-GB" sz="2000" dirty="0" err="1">
                          <a:effectLst/>
                          <a:latin typeface="+mn-lt"/>
                          <a:ea typeface="DengXian" panose="02010600030101010101" pitchFamily="2" charset="-122"/>
                          <a:cs typeface="Times New Roman" panose="02020603050405020304" pitchFamily="18" charset="0"/>
                        </a:rPr>
                        <a:t>Pr</a:t>
                      </a:r>
                      <a:r>
                        <a:rPr lang="en-GB" sz="2000" dirty="0">
                          <a:effectLst/>
                          <a:latin typeface="+mn-lt"/>
                          <a:ea typeface="DengXian" panose="02010600030101010101" pitchFamily="2" charset="-122"/>
                          <a:cs typeface="Times New Roman" panose="02020603050405020304" pitchFamily="18" charset="0"/>
                        </a:rPr>
                        <a:t>      I-P-</a:t>
                      </a:r>
                      <a:r>
                        <a:rPr lang="en-GB" sz="2000" dirty="0" err="1">
                          <a:effectLst/>
                          <a:latin typeface="+mn-lt"/>
                          <a:ea typeface="DengXian" panose="02010600030101010101" pitchFamily="2" charset="-122"/>
                          <a:cs typeface="Times New Roman" panose="02020603050405020304" pitchFamily="18" charset="0"/>
                        </a:rPr>
                        <a:t>Pr</a:t>
                      </a:r>
                      <a:endParaRPr lang="en-GB" sz="2000" dirty="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155514955"/>
                  </a:ext>
                </a:extLst>
              </a:tr>
              <a:tr h="407880">
                <a:tc>
                  <a:txBody>
                    <a:bodyPr/>
                    <a:lstStyle/>
                    <a:p>
                      <a:pPr algn="just">
                        <a:lnSpc>
                          <a:spcPct val="107000"/>
                        </a:lnSpc>
                        <a:spcAft>
                          <a:spcPts val="800"/>
                        </a:spcAft>
                      </a:pPr>
                      <a:r>
                        <a:rPr lang="en-GB" sz="2000" b="1">
                          <a:solidFill>
                            <a:srgbClr val="000000"/>
                          </a:solidFill>
                          <a:effectLst/>
                          <a:latin typeface="+mn-lt"/>
                          <a:ea typeface="DengXian" panose="02010600030101010101" pitchFamily="2" charset="-122"/>
                          <a:cs typeface="Times New Roman" panose="02020603050405020304" pitchFamily="18" charset="0"/>
                        </a:rPr>
                        <a:t>Physics</a:t>
                      </a:r>
                      <a:endParaRPr lang="en-GB" sz="200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just">
                        <a:lnSpc>
                          <a:spcPct val="107000"/>
                        </a:lnSpc>
                        <a:spcAft>
                          <a:spcPts val="800"/>
                        </a:spcAft>
                      </a:pPr>
                      <a:r>
                        <a:rPr lang="en-GB" sz="2000" dirty="0">
                          <a:solidFill>
                            <a:srgbClr val="000000"/>
                          </a:solidFill>
                          <a:effectLst/>
                          <a:latin typeface="+mn-lt"/>
                          <a:ea typeface="DengXian" panose="02010600030101010101" pitchFamily="2" charset="-122"/>
                          <a:cs typeface="Times New Roman" panose="02020603050405020304" pitchFamily="18" charset="0"/>
                        </a:rPr>
                        <a:t>P-M-</a:t>
                      </a:r>
                      <a:r>
                        <a:rPr lang="en-GB" sz="2000" dirty="0" err="1">
                          <a:solidFill>
                            <a:srgbClr val="000000"/>
                          </a:solidFill>
                          <a:effectLst/>
                          <a:latin typeface="+mn-lt"/>
                          <a:ea typeface="DengXian" panose="02010600030101010101" pitchFamily="2" charset="-122"/>
                          <a:cs typeface="Times New Roman" panose="02020603050405020304" pitchFamily="18" charset="0"/>
                        </a:rPr>
                        <a:t>Pr</a:t>
                      </a:r>
                      <a:r>
                        <a:rPr lang="en-GB" sz="2000" dirty="0">
                          <a:solidFill>
                            <a:srgbClr val="000000"/>
                          </a:solidFill>
                          <a:effectLst/>
                          <a:latin typeface="+mn-lt"/>
                          <a:ea typeface="DengXian" panose="02010600030101010101" pitchFamily="2" charset="-122"/>
                          <a:cs typeface="Times New Roman" panose="02020603050405020304" pitchFamily="18" charset="0"/>
                        </a:rPr>
                        <a:t>     P-</a:t>
                      </a:r>
                      <a:r>
                        <a:rPr lang="en-GB" sz="2000" dirty="0" err="1">
                          <a:solidFill>
                            <a:srgbClr val="000000"/>
                          </a:solidFill>
                          <a:effectLst/>
                          <a:latin typeface="+mn-lt"/>
                          <a:ea typeface="DengXian" panose="02010600030101010101" pitchFamily="2" charset="-122"/>
                          <a:cs typeface="Times New Roman" panose="02020603050405020304" pitchFamily="18" charset="0"/>
                        </a:rPr>
                        <a:t>Pr</a:t>
                      </a:r>
                      <a:endParaRPr lang="en-GB" sz="2000" dirty="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631521985"/>
                  </a:ext>
                </a:extLst>
              </a:tr>
              <a:tr h="407880">
                <a:tc>
                  <a:txBody>
                    <a:bodyPr/>
                    <a:lstStyle/>
                    <a:p>
                      <a:pPr algn="just">
                        <a:lnSpc>
                          <a:spcPct val="107000"/>
                        </a:lnSpc>
                        <a:spcAft>
                          <a:spcPts val="800"/>
                        </a:spcAft>
                      </a:pPr>
                      <a:r>
                        <a:rPr lang="en-GB" sz="2000" b="1">
                          <a:effectLst/>
                          <a:latin typeface="+mn-lt"/>
                          <a:ea typeface="DengXian" panose="02010600030101010101" pitchFamily="2" charset="-122"/>
                          <a:cs typeface="Times New Roman" panose="02020603050405020304" pitchFamily="18" charset="0"/>
                        </a:rPr>
                        <a:t>Biology</a:t>
                      </a:r>
                      <a:endParaRPr lang="en-GB" sz="200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just">
                        <a:lnSpc>
                          <a:spcPct val="107000"/>
                        </a:lnSpc>
                        <a:spcAft>
                          <a:spcPts val="800"/>
                        </a:spcAft>
                      </a:pPr>
                      <a:r>
                        <a:rPr lang="en-GB" sz="2000" dirty="0">
                          <a:effectLst/>
                          <a:latin typeface="+mn-lt"/>
                          <a:ea typeface="DengXian" panose="02010600030101010101" pitchFamily="2" charset="-122"/>
                          <a:cs typeface="Times New Roman" panose="02020603050405020304" pitchFamily="18" charset="0"/>
                        </a:rPr>
                        <a:t>P-M-</a:t>
                      </a:r>
                      <a:r>
                        <a:rPr lang="en-GB" sz="2000" dirty="0" err="1">
                          <a:effectLst/>
                          <a:latin typeface="+mn-lt"/>
                          <a:ea typeface="DengXian" panose="02010600030101010101" pitchFamily="2" charset="-122"/>
                          <a:cs typeface="Times New Roman" panose="02020603050405020304" pitchFamily="18" charset="0"/>
                        </a:rPr>
                        <a:t>Pr</a:t>
                      </a:r>
                      <a:r>
                        <a:rPr lang="en-GB" sz="2000" dirty="0">
                          <a:effectLst/>
                          <a:latin typeface="+mn-lt"/>
                          <a:ea typeface="DengXian" panose="02010600030101010101" pitchFamily="2" charset="-122"/>
                          <a:cs typeface="Times New Roman" panose="02020603050405020304" pitchFamily="18" charset="0"/>
                        </a:rPr>
                        <a:t>     I-P-M-</a:t>
                      </a:r>
                      <a:r>
                        <a:rPr lang="en-GB" sz="2000" dirty="0" err="1">
                          <a:effectLst/>
                          <a:latin typeface="+mn-lt"/>
                          <a:ea typeface="DengXian" panose="02010600030101010101" pitchFamily="2" charset="-122"/>
                          <a:cs typeface="Times New Roman" panose="02020603050405020304" pitchFamily="18" charset="0"/>
                        </a:rPr>
                        <a:t>Pr</a:t>
                      </a:r>
                      <a:r>
                        <a:rPr lang="en-GB" sz="2000" dirty="0">
                          <a:effectLst/>
                          <a:latin typeface="+mn-lt"/>
                          <a:ea typeface="DengXian" panose="02010600030101010101" pitchFamily="2" charset="-122"/>
                          <a:cs typeface="Times New Roman" panose="02020603050405020304" pitchFamily="18" charset="0"/>
                        </a:rPr>
                        <a:t>/I-P-</a:t>
                      </a:r>
                      <a:r>
                        <a:rPr lang="en-GB" sz="2000" dirty="0" err="1">
                          <a:effectLst/>
                          <a:latin typeface="+mn-lt"/>
                          <a:ea typeface="DengXian" panose="02010600030101010101" pitchFamily="2" charset="-122"/>
                          <a:cs typeface="Times New Roman" panose="02020603050405020304" pitchFamily="18" charset="0"/>
                        </a:rPr>
                        <a:t>Pr</a:t>
                      </a:r>
                      <a:r>
                        <a:rPr lang="en-GB" sz="2000" dirty="0">
                          <a:effectLst/>
                          <a:latin typeface="+mn-lt"/>
                          <a:ea typeface="DengXian" panose="02010600030101010101" pitchFamily="2" charset="-122"/>
                          <a:cs typeface="Times New Roman" panose="02020603050405020304" pitchFamily="18" charset="0"/>
                        </a:rPr>
                        <a:t>/P-</a:t>
                      </a:r>
                      <a:r>
                        <a:rPr lang="en-GB" sz="2000" dirty="0" err="1">
                          <a:effectLst/>
                          <a:latin typeface="+mn-lt"/>
                          <a:ea typeface="DengXian" panose="02010600030101010101" pitchFamily="2" charset="-122"/>
                          <a:cs typeface="Times New Roman" panose="02020603050405020304" pitchFamily="18" charset="0"/>
                        </a:rPr>
                        <a:t>Pr</a:t>
                      </a:r>
                      <a:endParaRPr lang="en-GB" sz="2000" dirty="0">
                        <a:effectLst/>
                        <a:latin typeface="+mn-lt"/>
                        <a:ea typeface="DengXian" panose="02010600030101010101" pitchFamily="2" charset="-122"/>
                        <a:cs typeface="Times New Roman" panose="02020603050405020304" pitchFamily="18" charset="0"/>
                      </a:endParaRPr>
                    </a:p>
                  </a:txBody>
                  <a:tcPr marL="68580" marR="68580" marT="0" marB="0">
                    <a:lnL>
                      <a:noFill/>
                    </a:lnL>
                    <a:lnR>
                      <a:noFill/>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1929411216"/>
                  </a:ext>
                </a:extLst>
              </a:tr>
            </a:tbl>
          </a:graphicData>
        </a:graphic>
      </p:graphicFrame>
      <p:sp>
        <p:nvSpPr>
          <p:cNvPr id="18" name="Text Box 2">
            <a:extLst>
              <a:ext uri="{FF2B5EF4-FFF2-40B4-BE49-F238E27FC236}">
                <a16:creationId xmlns:a16="http://schemas.microsoft.com/office/drawing/2014/main" id="{AA96644A-83EC-489F-ADC0-16AA127DF4A1}"/>
              </a:ext>
            </a:extLst>
          </p:cNvPr>
          <p:cNvSpPr txBox="1">
            <a:spLocks noChangeArrowheads="1"/>
          </p:cNvSpPr>
          <p:nvPr/>
        </p:nvSpPr>
        <p:spPr bwMode="auto">
          <a:xfrm>
            <a:off x="8794865" y="1632732"/>
            <a:ext cx="3314008" cy="2883469"/>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a:lnSpc>
                <a:spcPct val="107000"/>
              </a:lnSpc>
              <a:spcAft>
                <a:spcPts val="800"/>
              </a:spcAft>
            </a:pPr>
            <a:r>
              <a:rPr lang="en-GB" sz="2000" dirty="0">
                <a:effectLst/>
                <a:ea typeface="DengXian" panose="02010600030101010101" pitchFamily="2" charset="-122"/>
                <a:cs typeface="Times New Roman" panose="02020603050405020304" pitchFamily="18" charset="0"/>
              </a:rPr>
              <a:t>I = Introduction</a:t>
            </a:r>
          </a:p>
          <a:p>
            <a:pPr>
              <a:lnSpc>
                <a:spcPct val="107000"/>
              </a:lnSpc>
              <a:spcAft>
                <a:spcPts val="800"/>
              </a:spcAft>
            </a:pPr>
            <a:r>
              <a:rPr lang="en-GB" sz="2000" dirty="0">
                <a:effectLst/>
                <a:ea typeface="DengXian" panose="02010600030101010101" pitchFamily="2" charset="-122"/>
                <a:cs typeface="Times New Roman" panose="02020603050405020304" pitchFamily="18" charset="0"/>
              </a:rPr>
              <a:t>P = Purpose</a:t>
            </a:r>
          </a:p>
          <a:p>
            <a:pPr>
              <a:lnSpc>
                <a:spcPct val="107000"/>
              </a:lnSpc>
              <a:spcAft>
                <a:spcPts val="800"/>
              </a:spcAft>
            </a:pPr>
            <a:r>
              <a:rPr lang="en-GB" sz="2000" dirty="0">
                <a:effectLst/>
                <a:ea typeface="DengXian" panose="02010600030101010101" pitchFamily="2" charset="-122"/>
                <a:cs typeface="Times New Roman" panose="02020603050405020304" pitchFamily="18" charset="0"/>
              </a:rPr>
              <a:t>M = Method</a:t>
            </a:r>
          </a:p>
          <a:p>
            <a:pPr>
              <a:lnSpc>
                <a:spcPct val="107000"/>
              </a:lnSpc>
              <a:spcAft>
                <a:spcPts val="800"/>
              </a:spcAft>
            </a:pPr>
            <a:r>
              <a:rPr lang="en-GB" sz="2000" dirty="0">
                <a:effectLst/>
                <a:ea typeface="DengXian" panose="02010600030101010101" pitchFamily="2" charset="-122"/>
                <a:cs typeface="Times New Roman" panose="02020603050405020304" pitchFamily="18" charset="0"/>
              </a:rPr>
              <a:t>Pr = Product (findings)</a:t>
            </a:r>
          </a:p>
          <a:p>
            <a:pPr>
              <a:lnSpc>
                <a:spcPct val="107000"/>
              </a:lnSpc>
              <a:spcAft>
                <a:spcPts val="800"/>
              </a:spcAft>
            </a:pPr>
            <a:r>
              <a:rPr lang="en-GB" sz="2000" dirty="0">
                <a:effectLst/>
                <a:ea typeface="DengXian" panose="02010600030101010101" pitchFamily="2" charset="-122"/>
                <a:cs typeface="Times New Roman" panose="02020603050405020304" pitchFamily="18" charset="0"/>
              </a:rPr>
              <a:t>C = Conclusion </a:t>
            </a:r>
            <a:r>
              <a:rPr lang="en-GB" sz="2000">
                <a:effectLst/>
                <a:ea typeface="DengXian" panose="02010600030101010101" pitchFamily="2" charset="-122"/>
                <a:cs typeface="Times New Roman" panose="02020603050405020304" pitchFamily="18" charset="0"/>
              </a:rPr>
              <a:t>(optional)</a:t>
            </a:r>
            <a:endParaRPr lang="en-GB" sz="2000" dirty="0">
              <a:effectLst/>
              <a:ea typeface="DengXian" panose="02010600030101010101" pitchFamily="2" charset="-122"/>
              <a:cs typeface="Times New Roman" panose="02020603050405020304" pitchFamily="18" charset="0"/>
            </a:endParaRPr>
          </a:p>
        </p:txBody>
      </p:sp>
      <p:sp>
        <p:nvSpPr>
          <p:cNvPr id="20" name="TextBox 19">
            <a:extLst>
              <a:ext uri="{FF2B5EF4-FFF2-40B4-BE49-F238E27FC236}">
                <a16:creationId xmlns:a16="http://schemas.microsoft.com/office/drawing/2014/main" id="{007E0281-ABB2-4322-A6CF-E5E247CBE8FD}"/>
              </a:ext>
            </a:extLst>
          </p:cNvPr>
          <p:cNvSpPr txBox="1"/>
          <p:nvPr/>
        </p:nvSpPr>
        <p:spPr>
          <a:xfrm>
            <a:off x="1071684" y="5633654"/>
            <a:ext cx="11224225" cy="338554"/>
          </a:xfrm>
          <a:prstGeom prst="rect">
            <a:avLst/>
          </a:prstGeom>
          <a:noFill/>
        </p:spPr>
        <p:txBody>
          <a:bodyPr wrap="square">
            <a:spAutoFit/>
          </a:bodyPr>
          <a:lstStyle/>
          <a:p>
            <a:r>
              <a:rPr lang="en-GB" sz="1600" dirty="0"/>
              <a:t>¹Hyland, K. (2000). </a:t>
            </a:r>
            <a:r>
              <a:rPr lang="en-GB" sz="1600" i="1" dirty="0"/>
              <a:t>Disciplinary discourses: Social interactions in academic writing</a:t>
            </a:r>
            <a:r>
              <a:rPr lang="en-GB" sz="1600" dirty="0"/>
              <a:t>. London: Longman.</a:t>
            </a:r>
          </a:p>
        </p:txBody>
      </p:sp>
    </p:spTree>
    <p:extLst>
      <p:ext uri="{BB962C8B-B14F-4D97-AF65-F5344CB8AC3E}">
        <p14:creationId xmlns:p14="http://schemas.microsoft.com/office/powerpoint/2010/main" val="1603889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3362" y="380786"/>
            <a:ext cx="8911687" cy="813992"/>
          </a:xfrm>
        </p:spPr>
        <p:txBody>
          <a:bodyPr/>
          <a:lstStyle/>
          <a:p>
            <a:r>
              <a:rPr lang="en-US" dirty="0"/>
              <a:t>Task 3</a:t>
            </a:r>
          </a:p>
        </p:txBody>
      </p:sp>
      <p:sp>
        <p:nvSpPr>
          <p:cNvPr id="6" name="Slide Number Placeholder 5">
            <a:extLst>
              <a:ext uri="{FF2B5EF4-FFF2-40B4-BE49-F238E27FC236}">
                <a16:creationId xmlns:a16="http://schemas.microsoft.com/office/drawing/2014/main" id="{00B3CFD7-01E8-C143-9CD1-B0606A5DE2F1}"/>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
        <p:nvSpPr>
          <p:cNvPr id="7" name="TextBox 6">
            <a:extLst>
              <a:ext uri="{FF2B5EF4-FFF2-40B4-BE49-F238E27FC236}">
                <a16:creationId xmlns:a16="http://schemas.microsoft.com/office/drawing/2014/main" id="{A0FB6A7E-72D8-4756-9B80-3084F8C48B5C}"/>
              </a:ext>
            </a:extLst>
          </p:cNvPr>
          <p:cNvSpPr txBox="1"/>
          <p:nvPr/>
        </p:nvSpPr>
        <p:spPr>
          <a:xfrm>
            <a:off x="2003362" y="1329767"/>
            <a:ext cx="8681288" cy="4184928"/>
          </a:xfrm>
          <a:prstGeom prst="rect">
            <a:avLst/>
          </a:prstGeom>
          <a:noFill/>
        </p:spPr>
        <p:txBody>
          <a:bodyPr wrap="square">
            <a:spAutoFit/>
          </a:bodyPr>
          <a:lstStyle/>
          <a:p>
            <a:pPr algn="just">
              <a:lnSpc>
                <a:spcPct val="115000"/>
              </a:lnSpc>
              <a:spcAft>
                <a:spcPts val="600"/>
              </a:spcAft>
            </a:pPr>
            <a:r>
              <a:rPr lang="en-HK" sz="2000" dirty="0">
                <a:effectLst/>
                <a:ea typeface="DengXian" panose="02010600030101010101" pitchFamily="2" charset="-122"/>
                <a:cs typeface="Times New Roman" panose="02020603050405020304" pitchFamily="18" charset="0"/>
              </a:rPr>
              <a:t>Analyse the move structure and the linguistic features of an RA abstract in your own field. Make notes in the table below.</a:t>
            </a:r>
            <a:endParaRPr lang="en-GB" sz="2000" dirty="0">
              <a:effectLst/>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mj-lt"/>
              <a:buAutoNum type="arabicPeriod"/>
            </a:pPr>
            <a:r>
              <a:rPr lang="en-HK" sz="2000" dirty="0">
                <a:effectLst/>
                <a:ea typeface="DengXian" panose="02010600030101010101" pitchFamily="2" charset="-122"/>
                <a:cs typeface="Times New Roman" panose="02020603050405020304" pitchFamily="18" charset="0"/>
              </a:rPr>
              <a:t>Download one or two research articles that you think are well-written in your own field. You can also use the research articles that you have collected. </a:t>
            </a:r>
            <a:endParaRPr lang="en-GB" sz="2000" dirty="0">
              <a:effectLst/>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mj-lt"/>
              <a:buAutoNum type="arabicPeriod"/>
            </a:pPr>
            <a:r>
              <a:rPr lang="en-HK" sz="2000" dirty="0">
                <a:effectLst/>
                <a:ea typeface="DengXian" panose="02010600030101010101" pitchFamily="2" charset="-122"/>
                <a:cs typeface="Times New Roman" panose="02020603050405020304" pitchFamily="18" charset="0"/>
              </a:rPr>
              <a:t>Follow the steps that you have been through with the example abstracts above, highlight different parts of the abstract and </a:t>
            </a:r>
            <a:r>
              <a:rPr lang="en-HK" sz="2000" dirty="0">
                <a:solidFill>
                  <a:srgbClr val="0070C0"/>
                </a:solidFill>
                <a:effectLst/>
                <a:ea typeface="DengXian" panose="02010600030101010101" pitchFamily="2" charset="-122"/>
                <a:cs typeface="Times New Roman" panose="02020603050405020304" pitchFamily="18" charset="0"/>
              </a:rPr>
              <a:t>identify the moves </a:t>
            </a:r>
            <a:r>
              <a:rPr lang="en-HK" sz="2000" dirty="0">
                <a:effectLst/>
                <a:ea typeface="DengXian" panose="02010600030101010101" pitchFamily="2" charset="-122"/>
                <a:cs typeface="Times New Roman" panose="02020603050405020304" pitchFamily="18" charset="0"/>
              </a:rPr>
              <a:t>in each part.</a:t>
            </a:r>
            <a:endParaRPr lang="en-GB" sz="2000" dirty="0">
              <a:effectLst/>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mj-lt"/>
              <a:buAutoNum type="arabicPeriod"/>
            </a:pPr>
            <a:r>
              <a:rPr lang="en-HK" sz="2000" dirty="0">
                <a:effectLst/>
                <a:ea typeface="DengXian" panose="02010600030101010101" pitchFamily="2" charset="-122"/>
                <a:cs typeface="Times New Roman" panose="02020603050405020304" pitchFamily="18" charset="0"/>
              </a:rPr>
              <a:t>Identify the </a:t>
            </a:r>
            <a:r>
              <a:rPr lang="en-HK" sz="2000" dirty="0">
                <a:solidFill>
                  <a:srgbClr val="0070C0"/>
                </a:solidFill>
                <a:effectLst/>
                <a:ea typeface="DengXian" panose="02010600030101010101" pitchFamily="2" charset="-122"/>
                <a:cs typeface="Times New Roman" panose="02020603050405020304" pitchFamily="18" charset="0"/>
              </a:rPr>
              <a:t>typical words/phrases and grammatical patterns </a:t>
            </a:r>
            <a:r>
              <a:rPr lang="en-HK" sz="2000" dirty="0">
                <a:effectLst/>
                <a:ea typeface="DengXian" panose="02010600030101010101" pitchFamily="2" charset="-122"/>
                <a:cs typeface="Times New Roman" panose="02020603050405020304" pitchFamily="18" charset="0"/>
              </a:rPr>
              <a:t>that are used in the abstract. Pay attention to the moves/steps these words/phrases and grammatical pattern fulfil. </a:t>
            </a:r>
            <a:endParaRPr lang="en-GB" sz="2000" dirty="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02673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13D473-6B24-49E8-9E7B-8236010102AE}"/>
              </a:ext>
            </a:extLst>
          </p:cNvPr>
          <p:cNvSpPr>
            <a:spLocks noGrp="1"/>
          </p:cNvSpPr>
          <p:nvPr>
            <p:ph type="sldNum" sz="quarter" idx="12"/>
          </p:nvPr>
        </p:nvSpPr>
        <p:spPr/>
        <p:txBody>
          <a:bodyPr/>
          <a:lstStyle/>
          <a:p>
            <a:fld id="{D57F1E4F-1CFF-5643-939E-217C01CDF565}" type="slidenum">
              <a:rPr lang="en-US" smtClean="0"/>
              <a:pPr/>
              <a:t>18</a:t>
            </a:fld>
            <a:endParaRPr lang="en-US" dirty="0"/>
          </a:p>
        </p:txBody>
      </p:sp>
      <p:graphicFrame>
        <p:nvGraphicFramePr>
          <p:cNvPr id="8" name="Table 7">
            <a:extLst>
              <a:ext uri="{FF2B5EF4-FFF2-40B4-BE49-F238E27FC236}">
                <a16:creationId xmlns:a16="http://schemas.microsoft.com/office/drawing/2014/main" id="{6D409F82-2F18-40D3-92E5-AD4A3DDDCF66}"/>
              </a:ext>
            </a:extLst>
          </p:cNvPr>
          <p:cNvGraphicFramePr>
            <a:graphicFrameLocks noGrp="1"/>
          </p:cNvGraphicFramePr>
          <p:nvPr>
            <p:extLst>
              <p:ext uri="{D42A27DB-BD31-4B8C-83A1-F6EECF244321}">
                <p14:modId xmlns:p14="http://schemas.microsoft.com/office/powerpoint/2010/main" val="2220827840"/>
              </p:ext>
            </p:extLst>
          </p:nvPr>
        </p:nvGraphicFramePr>
        <p:xfrm>
          <a:off x="1971007" y="84179"/>
          <a:ext cx="8557403" cy="6756592"/>
        </p:xfrm>
        <a:graphic>
          <a:graphicData uri="http://schemas.openxmlformats.org/drawingml/2006/table">
            <a:tbl>
              <a:tblPr firstRow="1" firstCol="1" bandRow="1"/>
              <a:tblGrid>
                <a:gridCol w="1744316">
                  <a:extLst>
                    <a:ext uri="{9D8B030D-6E8A-4147-A177-3AD203B41FA5}">
                      <a16:colId xmlns:a16="http://schemas.microsoft.com/office/drawing/2014/main" val="4032433579"/>
                    </a:ext>
                  </a:extLst>
                </a:gridCol>
                <a:gridCol w="3406070">
                  <a:extLst>
                    <a:ext uri="{9D8B030D-6E8A-4147-A177-3AD203B41FA5}">
                      <a16:colId xmlns:a16="http://schemas.microsoft.com/office/drawing/2014/main" val="1910306921"/>
                    </a:ext>
                  </a:extLst>
                </a:gridCol>
                <a:gridCol w="3407017">
                  <a:extLst>
                    <a:ext uri="{9D8B030D-6E8A-4147-A177-3AD203B41FA5}">
                      <a16:colId xmlns:a16="http://schemas.microsoft.com/office/drawing/2014/main" val="318628853"/>
                    </a:ext>
                  </a:extLst>
                </a:gridCol>
              </a:tblGrid>
              <a:tr h="116327">
                <a:tc>
                  <a:txBody>
                    <a:bodyPr/>
                    <a:lstStyle/>
                    <a:p>
                      <a:pPr algn="just">
                        <a:lnSpc>
                          <a:spcPct val="107000"/>
                        </a:lnSpc>
                        <a:spcAft>
                          <a:spcPts val="800"/>
                        </a:spcAft>
                      </a:pPr>
                      <a:r>
                        <a:rPr lang="en-HK"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txBody>
                  <a:tcPr marL="46531" marR="465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Abstract 1</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txBody>
                  <a:tcPr marL="46531" marR="465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Abstract 2</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txBody>
                  <a:tcPr marL="46531" marR="465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648833"/>
                  </a:ext>
                </a:extLst>
              </a:tr>
              <a:tr h="0">
                <a:tc>
                  <a:txBody>
                    <a:bodyPr/>
                    <a:lstStyle/>
                    <a:p>
                      <a:pPr algn="just">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Moves identified</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p>
                    <a:p>
                      <a:pPr algn="just">
                        <a:lnSpc>
                          <a:spcPct val="107000"/>
                        </a:lnSpc>
                        <a:spcAft>
                          <a:spcPts val="800"/>
                        </a:spcAft>
                      </a:pP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txBody>
                  <a:tcPr marL="46531" marR="465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HK"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07000"/>
                        </a:lnSpc>
                        <a:spcAft>
                          <a:spcPts val="800"/>
                        </a:spcAft>
                      </a:pPr>
                      <a:r>
                        <a:rPr lang="en-HK"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07000"/>
                        </a:lnSpc>
                        <a:spcAft>
                          <a:spcPts val="800"/>
                        </a:spcAft>
                      </a:pPr>
                      <a:r>
                        <a:rPr lang="en-HK"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txBody>
                  <a:tcPr marL="46531" marR="465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HK"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txBody>
                  <a:tcPr marL="46531" marR="465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6858569"/>
                  </a:ext>
                </a:extLst>
              </a:tr>
              <a:tr h="1937714">
                <a:tc>
                  <a:txBody>
                    <a:bodyPr/>
                    <a:lstStyle/>
                    <a:p>
                      <a:pPr>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Typical words/phrases and grammatical patterns observed</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txBody>
                  <a:tcPr marL="46531" marR="465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HK"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txBody>
                  <a:tcPr marL="46531" marR="465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HK"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txBody>
                  <a:tcPr marL="46531" marR="4653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7096326"/>
                  </a:ext>
                </a:extLst>
              </a:tr>
            </a:tbl>
          </a:graphicData>
        </a:graphic>
      </p:graphicFrame>
    </p:spTree>
    <p:extLst>
      <p:ext uri="{BB962C8B-B14F-4D97-AF65-F5344CB8AC3E}">
        <p14:creationId xmlns:p14="http://schemas.microsoft.com/office/powerpoint/2010/main" val="2587931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CF7D2F-614D-0E47-9783-9E7E5C06E47F}"/>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
        <p:nvSpPr>
          <p:cNvPr id="5" name="TextBox 4">
            <a:extLst>
              <a:ext uri="{FF2B5EF4-FFF2-40B4-BE49-F238E27FC236}">
                <a16:creationId xmlns:a16="http://schemas.microsoft.com/office/drawing/2014/main" id="{F2223859-3596-4DAF-A916-C16959823641}"/>
              </a:ext>
            </a:extLst>
          </p:cNvPr>
          <p:cNvSpPr txBox="1"/>
          <p:nvPr/>
        </p:nvSpPr>
        <p:spPr>
          <a:xfrm>
            <a:off x="1712770" y="133119"/>
            <a:ext cx="6099462" cy="396006"/>
          </a:xfrm>
          <a:prstGeom prst="rect">
            <a:avLst/>
          </a:prstGeom>
          <a:noFill/>
        </p:spPr>
        <p:txBody>
          <a:bodyPr wrap="square">
            <a:spAutoFit/>
          </a:bodyPr>
          <a:lstStyle/>
          <a:p>
            <a:pPr algn="just">
              <a:lnSpc>
                <a:spcPct val="107000"/>
              </a:lnSpc>
              <a:spcAft>
                <a:spcPts val="800"/>
              </a:spcAft>
            </a:pPr>
            <a:r>
              <a:rPr lang="en-HK" sz="2000" b="1" dirty="0">
                <a:effectLst/>
                <a:ea typeface="DengXian" panose="02010600030101010101" pitchFamily="2" charset="-122"/>
                <a:cs typeface="Times New Roman" panose="02020603050405020304" pitchFamily="18" charset="0"/>
              </a:rPr>
              <a:t>Writing the Acknowledgements Section</a:t>
            </a:r>
            <a:endParaRPr lang="en-GB" sz="2000" dirty="0">
              <a:effectLst/>
              <a:ea typeface="DengXian" panose="02010600030101010101" pitchFamily="2" charset="-122"/>
              <a:cs typeface="Times New Roman" panose="02020603050405020304" pitchFamily="18" charset="0"/>
            </a:endParaRPr>
          </a:p>
        </p:txBody>
      </p:sp>
      <p:sp>
        <p:nvSpPr>
          <p:cNvPr id="7" name="TextBox 6">
            <a:extLst>
              <a:ext uri="{FF2B5EF4-FFF2-40B4-BE49-F238E27FC236}">
                <a16:creationId xmlns:a16="http://schemas.microsoft.com/office/drawing/2014/main" id="{C7D8A464-4913-4843-8EDB-2951F53DBFA4}"/>
              </a:ext>
            </a:extLst>
          </p:cNvPr>
          <p:cNvSpPr txBox="1"/>
          <p:nvPr/>
        </p:nvSpPr>
        <p:spPr>
          <a:xfrm>
            <a:off x="1574223" y="704408"/>
            <a:ext cx="9440141" cy="5840060"/>
          </a:xfrm>
          <a:prstGeom prst="rect">
            <a:avLst/>
          </a:prstGeom>
          <a:noFill/>
        </p:spPr>
        <p:txBody>
          <a:bodyPr wrap="square">
            <a:spAutoFit/>
          </a:bodyPr>
          <a:lstStyle/>
          <a:p>
            <a:pPr algn="just">
              <a:lnSpc>
                <a:spcPct val="115000"/>
              </a:lnSpc>
              <a:spcAft>
                <a:spcPts val="600"/>
              </a:spcAft>
            </a:pPr>
            <a:r>
              <a:rPr lang="en-HK" dirty="0">
                <a:effectLst/>
                <a:ea typeface="DengXian" panose="02010600030101010101" pitchFamily="2" charset="-122"/>
                <a:cs typeface="Times New Roman" panose="02020603050405020304" pitchFamily="18" charset="0"/>
              </a:rPr>
              <a:t>Hyland and </a:t>
            </a:r>
            <a:r>
              <a:rPr lang="en-HK" dirty="0" err="1">
                <a:effectLst/>
                <a:ea typeface="DengXian" panose="02010600030101010101" pitchFamily="2" charset="-122"/>
                <a:cs typeface="Times New Roman" panose="02020603050405020304" pitchFamily="18" charset="0"/>
              </a:rPr>
              <a:t>Tse</a:t>
            </a:r>
            <a:r>
              <a:rPr lang="en-HK" dirty="0">
                <a:effectLst/>
                <a:ea typeface="DengXian" panose="02010600030101010101" pitchFamily="2" charset="-122"/>
                <a:cs typeface="Times New Roman" panose="02020603050405020304" pitchFamily="18" charset="0"/>
              </a:rPr>
              <a:t> (2004)² studied thesis and dissertation Acknowledgements section in detail. </a:t>
            </a:r>
            <a:r>
              <a:rPr lang="en-HK" dirty="0">
                <a:ea typeface="DengXian" panose="02010600030101010101" pitchFamily="2" charset="-122"/>
                <a:cs typeface="Times New Roman" panose="02020603050405020304" pitchFamily="18" charset="0"/>
              </a:rPr>
              <a:t>Their</a:t>
            </a:r>
            <a:r>
              <a:rPr lang="en-HK" dirty="0">
                <a:effectLst/>
                <a:ea typeface="DengXian" panose="02010600030101010101" pitchFamily="2" charset="-122"/>
                <a:cs typeface="Times New Roman" panose="02020603050405020304" pitchFamily="18" charset="0"/>
              </a:rPr>
              <a:t> work has shown not only that there are typical ways in which these texts are organized but also how students use these texts to display their disciplinary memberships and networks at the same time as they thank the people that helped them in their academic undertaking. Hyland points out that these short and seemingly simple texts “bridge the personal and the public, the social and the professional, and the academic and the moral”.</a:t>
            </a:r>
            <a:endParaRPr lang="en-GB" dirty="0">
              <a:effectLst/>
              <a:ea typeface="DengXian" panose="02010600030101010101" pitchFamily="2" charset="-122"/>
              <a:cs typeface="Times New Roman" panose="02020603050405020304" pitchFamily="18" charset="0"/>
            </a:endParaRPr>
          </a:p>
          <a:p>
            <a:pPr>
              <a:lnSpc>
                <a:spcPct val="115000"/>
              </a:lnSpc>
              <a:spcAft>
                <a:spcPts val="600"/>
              </a:spcAft>
            </a:pPr>
            <a:r>
              <a:rPr lang="en-HK" dirty="0">
                <a:effectLst/>
                <a:ea typeface="DengXian" panose="02010600030101010101" pitchFamily="2" charset="-122"/>
                <a:cs typeface="Times New Roman" panose="02020603050405020304" pitchFamily="18" charset="0"/>
              </a:rPr>
              <a:t>Hyland and </a:t>
            </a:r>
            <a:r>
              <a:rPr lang="en-HK" dirty="0" err="1">
                <a:effectLst/>
                <a:ea typeface="DengXian" panose="02010600030101010101" pitchFamily="2" charset="-122"/>
                <a:cs typeface="Times New Roman" panose="02020603050405020304" pitchFamily="18" charset="0"/>
              </a:rPr>
              <a:t>Tse</a:t>
            </a:r>
            <a:r>
              <a:rPr lang="en-HK" dirty="0">
                <a:effectLst/>
                <a:ea typeface="DengXian" panose="02010600030101010101" pitchFamily="2" charset="-122"/>
                <a:cs typeface="Times New Roman" panose="02020603050405020304" pitchFamily="18" charset="0"/>
              </a:rPr>
              <a:t> highlighted 3 stages in the Acknowledgements section:</a:t>
            </a:r>
            <a:endParaRPr lang="en-GB" dirty="0">
              <a:effectLst/>
              <a:ea typeface="DengXian" panose="02010600030101010101" pitchFamily="2" charset="-122"/>
              <a:cs typeface="Times New Roman" panose="02020603050405020304" pitchFamily="18" charset="0"/>
            </a:endParaRPr>
          </a:p>
          <a:p>
            <a:pPr marL="342900" lvl="0" indent="-342900">
              <a:lnSpc>
                <a:spcPct val="115000"/>
              </a:lnSpc>
              <a:spcAft>
                <a:spcPts val="600"/>
              </a:spcAft>
              <a:buFont typeface="+mj-lt"/>
              <a:buAutoNum type="arabicPeriod"/>
            </a:pPr>
            <a:r>
              <a:rPr lang="en-HK" b="1" dirty="0">
                <a:solidFill>
                  <a:srgbClr val="0070C0"/>
                </a:solidFill>
                <a:effectLst/>
                <a:ea typeface="DengXian" panose="02010600030101010101" pitchFamily="2" charset="-122"/>
                <a:cs typeface="Times New Roman" panose="02020603050405020304" pitchFamily="18" charset="0"/>
              </a:rPr>
              <a:t>Reflecting</a:t>
            </a:r>
            <a:r>
              <a:rPr lang="en-HK" dirty="0">
                <a:effectLst/>
                <a:ea typeface="DengXian" panose="02010600030101010101" pitchFamily="2" charset="-122"/>
                <a:cs typeface="Times New Roman" panose="02020603050405020304" pitchFamily="18" charset="0"/>
              </a:rPr>
              <a:t> – some introspective comment is made about the writer’s research experience.</a:t>
            </a:r>
            <a:endParaRPr lang="en-GB" dirty="0">
              <a:effectLst/>
              <a:ea typeface="DengXian" panose="02010600030101010101" pitchFamily="2" charset="-122"/>
              <a:cs typeface="Times New Roman" panose="02020603050405020304" pitchFamily="18" charset="0"/>
            </a:endParaRPr>
          </a:p>
          <a:p>
            <a:pPr marL="342900" lvl="0" indent="-342900">
              <a:lnSpc>
                <a:spcPct val="115000"/>
              </a:lnSpc>
              <a:spcAft>
                <a:spcPts val="600"/>
              </a:spcAft>
              <a:buFont typeface="+mj-lt"/>
              <a:buAutoNum type="arabicPeriod"/>
            </a:pPr>
            <a:r>
              <a:rPr lang="en-HK" b="1" dirty="0">
                <a:solidFill>
                  <a:srgbClr val="0070C0"/>
                </a:solidFill>
                <a:effectLst/>
                <a:ea typeface="DengXian" panose="02010600030101010101" pitchFamily="2" charset="-122"/>
                <a:cs typeface="Times New Roman" panose="02020603050405020304" pitchFamily="18" charset="0"/>
              </a:rPr>
              <a:t>Thanking</a:t>
            </a:r>
            <a:r>
              <a:rPr lang="en-HK" dirty="0">
                <a:effectLst/>
                <a:ea typeface="DengXian" panose="02010600030101010101" pitchFamily="2" charset="-122"/>
                <a:cs typeface="Times New Roman" panose="02020603050405020304" pitchFamily="18" charset="0"/>
              </a:rPr>
              <a:t> – credit is given to individuals and institutions.</a:t>
            </a:r>
            <a:endParaRPr lang="en-GB" dirty="0">
              <a:effectLst/>
              <a:ea typeface="DengXian" panose="02010600030101010101" pitchFamily="2" charset="-122"/>
              <a:cs typeface="Times New Roman" panose="02020603050405020304" pitchFamily="18" charset="0"/>
            </a:endParaRPr>
          </a:p>
          <a:p>
            <a:pPr marL="342900" lvl="0" indent="-342900">
              <a:lnSpc>
                <a:spcPct val="115000"/>
              </a:lnSpc>
              <a:spcAft>
                <a:spcPts val="600"/>
              </a:spcAft>
              <a:buFont typeface="+mj-lt"/>
              <a:buAutoNum type="arabicPeriod"/>
            </a:pPr>
            <a:r>
              <a:rPr lang="en-HK" b="1" dirty="0">
                <a:solidFill>
                  <a:srgbClr val="0070C0"/>
                </a:solidFill>
                <a:effectLst/>
                <a:ea typeface="DengXian" panose="02010600030101010101" pitchFamily="2" charset="-122"/>
                <a:cs typeface="Times New Roman" panose="02020603050405020304" pitchFamily="18" charset="0"/>
              </a:rPr>
              <a:t>Announcing</a:t>
            </a:r>
            <a:r>
              <a:rPr lang="en-HK" dirty="0">
                <a:effectLst/>
                <a:ea typeface="DengXian" panose="02010600030101010101" pitchFamily="2" charset="-122"/>
                <a:cs typeface="Times New Roman" panose="02020603050405020304" pitchFamily="18" charset="0"/>
              </a:rPr>
              <a:t> – responsibility for any flaws or errors is accepted and the thesis is dedicated to specific people.</a:t>
            </a:r>
          </a:p>
          <a:p>
            <a:pPr lvl="0">
              <a:lnSpc>
                <a:spcPct val="115000"/>
              </a:lnSpc>
              <a:spcAft>
                <a:spcPts val="600"/>
              </a:spcAft>
            </a:pPr>
            <a:endParaRPr lang="en-HK" dirty="0">
              <a:ea typeface="DengXian" panose="02010600030101010101" pitchFamily="2" charset="-122"/>
              <a:cs typeface="Times New Roman" panose="02020603050405020304" pitchFamily="18" charset="0"/>
            </a:endParaRPr>
          </a:p>
          <a:p>
            <a:pPr lvl="0">
              <a:lnSpc>
                <a:spcPct val="115000"/>
              </a:lnSpc>
              <a:spcAft>
                <a:spcPts val="600"/>
              </a:spcAft>
            </a:pPr>
            <a:endParaRPr lang="en-GB" dirty="0">
              <a:effectLst/>
              <a:ea typeface="DengXian" panose="02010600030101010101" pitchFamily="2" charset="-122"/>
              <a:cs typeface="Times New Roman" panose="02020603050405020304" pitchFamily="18" charset="0"/>
            </a:endParaRPr>
          </a:p>
          <a:p>
            <a:pPr algn="just"/>
            <a:r>
              <a:rPr lang="en-GB" sz="1400" dirty="0">
                <a:effectLst/>
                <a:ea typeface="DengXian" panose="02010600030101010101" pitchFamily="2" charset="-122"/>
                <a:cs typeface="Times New Roman" panose="02020603050405020304" pitchFamily="18" charset="0"/>
              </a:rPr>
              <a:t>²Hyland, K. &amp; </a:t>
            </a:r>
            <a:r>
              <a:rPr lang="en-GB" sz="1400" dirty="0" err="1">
                <a:effectLst/>
                <a:ea typeface="DengXian" panose="02010600030101010101" pitchFamily="2" charset="-122"/>
                <a:cs typeface="Times New Roman" panose="02020603050405020304" pitchFamily="18" charset="0"/>
              </a:rPr>
              <a:t>Tse</a:t>
            </a:r>
            <a:r>
              <a:rPr lang="en-GB" sz="1400" dirty="0">
                <a:effectLst/>
                <a:ea typeface="DengXian" panose="02010600030101010101" pitchFamily="2" charset="-122"/>
                <a:cs typeface="Times New Roman" panose="02020603050405020304" pitchFamily="18" charset="0"/>
              </a:rPr>
              <a:t>, P. (2004). “I would like to thank my supervisor”. Acknowledgements in graduate dissertations. </a:t>
            </a:r>
            <a:r>
              <a:rPr lang="en-GB" sz="1400" i="1" dirty="0">
                <a:effectLst/>
                <a:ea typeface="DengXian" panose="02010600030101010101" pitchFamily="2" charset="-122"/>
                <a:cs typeface="Times New Roman" panose="02020603050405020304" pitchFamily="18" charset="0"/>
              </a:rPr>
              <a:t>International Journal of Applied Linguistics, 14</a:t>
            </a:r>
            <a:r>
              <a:rPr lang="en-GB" sz="1400" dirty="0">
                <a:effectLst/>
                <a:ea typeface="DengXian" panose="02010600030101010101" pitchFamily="2" charset="-122"/>
                <a:cs typeface="Times New Roman" panose="02020603050405020304" pitchFamily="18" charset="0"/>
              </a:rPr>
              <a:t>(2), 259-275.  </a:t>
            </a:r>
          </a:p>
        </p:txBody>
      </p:sp>
    </p:spTree>
    <p:extLst>
      <p:ext uri="{BB962C8B-B14F-4D97-AF65-F5344CB8AC3E}">
        <p14:creationId xmlns:p14="http://schemas.microsoft.com/office/powerpoint/2010/main" val="2472275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85ADD3-79E7-3647-8951-334CB5A98EFE}"/>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
        <p:nvSpPr>
          <p:cNvPr id="5" name="TextBox 4">
            <a:extLst>
              <a:ext uri="{FF2B5EF4-FFF2-40B4-BE49-F238E27FC236}">
                <a16:creationId xmlns:a16="http://schemas.microsoft.com/office/drawing/2014/main" id="{8A5CEBDD-550F-4992-B76B-92FDCAED061A}"/>
              </a:ext>
            </a:extLst>
          </p:cNvPr>
          <p:cNvSpPr txBox="1"/>
          <p:nvPr/>
        </p:nvSpPr>
        <p:spPr>
          <a:xfrm>
            <a:off x="584923" y="0"/>
            <a:ext cx="6099462" cy="375552"/>
          </a:xfrm>
          <a:prstGeom prst="rect">
            <a:avLst/>
          </a:prstGeom>
          <a:noFill/>
        </p:spPr>
        <p:txBody>
          <a:bodyPr wrap="square">
            <a:spAutoFit/>
          </a:bodyPr>
          <a:lstStyle/>
          <a:p>
            <a:pPr>
              <a:lnSpc>
                <a:spcPct val="107000"/>
              </a:lnSpc>
              <a:spcAft>
                <a:spcPts val="800"/>
              </a:spcAft>
            </a:pPr>
            <a:r>
              <a:rPr lang="en-HK" sz="1800" dirty="0">
                <a:effectLst/>
                <a:ea typeface="DengXian" panose="02010600030101010101" pitchFamily="2" charset="-122"/>
                <a:cs typeface="Times New Roman" panose="02020603050405020304" pitchFamily="18" charset="0"/>
              </a:rPr>
              <a:t>The moves are illustrated in the table below:</a:t>
            </a:r>
            <a:endParaRPr lang="en-GB" sz="1800" dirty="0">
              <a:effectLst/>
              <a:ea typeface="DengXian" panose="02010600030101010101" pitchFamily="2" charset="-122"/>
              <a:cs typeface="Times New Roman" panose="02020603050405020304" pitchFamily="18" charset="0"/>
            </a:endParaRPr>
          </a:p>
        </p:txBody>
      </p:sp>
      <p:graphicFrame>
        <p:nvGraphicFramePr>
          <p:cNvPr id="4" name="Table 3">
            <a:extLst>
              <a:ext uri="{FF2B5EF4-FFF2-40B4-BE49-F238E27FC236}">
                <a16:creationId xmlns:a16="http://schemas.microsoft.com/office/drawing/2014/main" id="{9B320691-A82D-4C7F-A71D-CE77559B3EDA}"/>
              </a:ext>
            </a:extLst>
          </p:cNvPr>
          <p:cNvGraphicFramePr>
            <a:graphicFrameLocks noGrp="1"/>
          </p:cNvGraphicFramePr>
          <p:nvPr>
            <p:extLst>
              <p:ext uri="{D42A27DB-BD31-4B8C-83A1-F6EECF244321}">
                <p14:modId xmlns:p14="http://schemas.microsoft.com/office/powerpoint/2010/main" val="3499736486"/>
              </p:ext>
            </p:extLst>
          </p:nvPr>
        </p:nvGraphicFramePr>
        <p:xfrm>
          <a:off x="1558638" y="375552"/>
          <a:ext cx="9351818" cy="6479422"/>
        </p:xfrm>
        <a:graphic>
          <a:graphicData uri="http://schemas.openxmlformats.org/drawingml/2006/table">
            <a:tbl>
              <a:tblPr firstRow="1" firstCol="1" bandRow="1"/>
              <a:tblGrid>
                <a:gridCol w="2189662">
                  <a:extLst>
                    <a:ext uri="{9D8B030D-6E8A-4147-A177-3AD203B41FA5}">
                      <a16:colId xmlns:a16="http://schemas.microsoft.com/office/drawing/2014/main" val="157017161"/>
                    </a:ext>
                  </a:extLst>
                </a:gridCol>
                <a:gridCol w="7162156">
                  <a:extLst>
                    <a:ext uri="{9D8B030D-6E8A-4147-A177-3AD203B41FA5}">
                      <a16:colId xmlns:a16="http://schemas.microsoft.com/office/drawing/2014/main" val="3530925837"/>
                    </a:ext>
                  </a:extLst>
                </a:gridCol>
              </a:tblGrid>
              <a:tr h="289991">
                <a:tc>
                  <a:txBody>
                    <a:bodyPr/>
                    <a:lstStyle/>
                    <a:p>
                      <a:pPr>
                        <a:lnSpc>
                          <a:spcPct val="107000"/>
                        </a:lnSpc>
                        <a:spcAft>
                          <a:spcPts val="800"/>
                        </a:spcAft>
                      </a:pPr>
                      <a:r>
                        <a:rPr lang="en-HK" sz="1400" b="1"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Move</a:t>
                      </a:r>
                      <a:endParaRPr lang="en-GB" sz="14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26729" marR="26729" marT="0" marB="0">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a:txBody>
                    <a:bodyPr/>
                    <a:lstStyle/>
                    <a:p>
                      <a:pPr>
                        <a:lnSpc>
                          <a:spcPct val="107000"/>
                        </a:lnSpc>
                        <a:spcAft>
                          <a:spcPts val="800"/>
                        </a:spcAft>
                      </a:pPr>
                      <a:r>
                        <a:rPr lang="en-HK" sz="1400" b="1" i="1"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rPr>
                        <a:t>Example</a:t>
                      </a:r>
                      <a:endParaRPr lang="en-GB" sz="14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26729" marR="26729" marT="0" marB="0">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392158225"/>
                  </a:ext>
                </a:extLst>
              </a:tr>
              <a:tr h="444024">
                <a:tc>
                  <a:txBody>
                    <a:bodyPr/>
                    <a:lstStyle/>
                    <a:p>
                      <a:pPr>
                        <a:lnSpc>
                          <a:spcPct val="107000"/>
                        </a:lnSpc>
                        <a:spcAft>
                          <a:spcPts val="800"/>
                        </a:spcAft>
                      </a:pPr>
                      <a:r>
                        <a:rPr lang="en-HK" sz="1400" b="1" i="1"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Reflecting move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26729" marR="26729"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nSpc>
                          <a:spcPct val="107000"/>
                        </a:lnSpc>
                        <a:spcAft>
                          <a:spcPts val="800"/>
                        </a:spcAft>
                      </a:pPr>
                      <a:r>
                        <a:rPr lang="en-HK" sz="1400" i="1"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The most rewarding achievement in my life, as I approach middle age, is the completion of my doctoral dissertation.</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26729" marR="26729"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25918107"/>
                  </a:ext>
                </a:extLst>
              </a:tr>
              <a:tr h="4055997">
                <a:tc>
                  <a:txBody>
                    <a:bodyPr/>
                    <a:lstStyle/>
                    <a:p>
                      <a:pPr>
                        <a:lnSpc>
                          <a:spcPct val="107000"/>
                        </a:lnSpc>
                        <a:spcAft>
                          <a:spcPts val="800"/>
                        </a:spcAft>
                      </a:pPr>
                      <a:r>
                        <a:rPr lang="en-HK" sz="1400" b="1" i="1" dirty="0">
                          <a:effectLst/>
                          <a:latin typeface="Calibri" panose="020F0502020204030204" pitchFamily="34" charset="0"/>
                          <a:ea typeface="DengXian" panose="02010600030101010101" pitchFamily="2" charset="-122"/>
                          <a:cs typeface="Times New Roman" panose="02020603050405020304" pitchFamily="18" charset="0"/>
                        </a:rPr>
                        <a:t>Thanking move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dirty="0">
                          <a:effectLst/>
                          <a:latin typeface="Calibri" panose="020F0502020204030204" pitchFamily="34" charset="0"/>
                          <a:ea typeface="DengXian" panose="02010600030101010101" pitchFamily="2" charset="-122"/>
                          <a:cs typeface="Times New Roman" panose="02020603050405020304" pitchFamily="18" charset="0"/>
                        </a:rPr>
                        <a:t>Presenting participants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dirty="0">
                          <a:effectLst/>
                          <a:latin typeface="Calibri" panose="020F0502020204030204" pitchFamily="34" charset="0"/>
                          <a:ea typeface="DengXian" panose="02010600030101010101" pitchFamily="2" charset="-122"/>
                          <a:cs typeface="Times New Roman" panose="02020603050405020304" pitchFamily="18" charset="0"/>
                        </a:rPr>
                        <a:t>Thanking for academic assistance, intellectual support, ideas, analyses, feedback, etc.</a:t>
                      </a:r>
                    </a:p>
                    <a:p>
                      <a:pPr>
                        <a:lnSpc>
                          <a:spcPct val="107000"/>
                        </a:lnSpc>
                        <a:spcAft>
                          <a:spcPts val="800"/>
                        </a:spcAf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dirty="0">
                          <a:effectLst/>
                          <a:latin typeface="Calibri" panose="020F0502020204030204" pitchFamily="34" charset="0"/>
                          <a:ea typeface="DengXian" panose="02010600030101010101" pitchFamily="2" charset="-122"/>
                          <a:cs typeface="Times New Roman" panose="02020603050405020304" pitchFamily="18" charset="0"/>
                        </a:rPr>
                        <a:t>Thanking for resources, data access and clerical, technical and financial support, etc.</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dirty="0">
                          <a:effectLst/>
                          <a:latin typeface="Calibri" panose="020F0502020204030204" pitchFamily="34" charset="0"/>
                          <a:ea typeface="DengXian" panose="02010600030101010101" pitchFamily="2" charset="-122"/>
                          <a:cs typeface="Times New Roman" panose="02020603050405020304" pitchFamily="18" charset="0"/>
                        </a:rPr>
                        <a:t> Thanking for moral support, friendship, encouragement, sympathy, patience, etc.</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26729" marR="26729"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nSpc>
                          <a:spcPct val="107000"/>
                        </a:lnSpc>
                        <a:spcAft>
                          <a:spcPts val="800"/>
                        </a:spcAft>
                      </a:pPr>
                      <a:r>
                        <a:rPr lang="en-HK" sz="1400" i="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i="1" dirty="0">
                          <a:effectLst/>
                          <a:latin typeface="Calibri" panose="020F0502020204030204" pitchFamily="34" charset="0"/>
                          <a:ea typeface="DengXian" panose="02010600030101010101" pitchFamily="2" charset="-122"/>
                          <a:cs typeface="Times New Roman" panose="02020603050405020304" pitchFamily="18" charset="0"/>
                        </a:rPr>
                        <a:t>I would like to take this opportunity to express my immense gratitude to all those persons who have given their invaluable support and assistance.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i="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i="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i="1" dirty="0">
                          <a:effectLst/>
                          <a:latin typeface="Calibri" panose="020F0502020204030204" pitchFamily="34" charset="0"/>
                          <a:ea typeface="DengXian" panose="02010600030101010101" pitchFamily="2" charset="-122"/>
                          <a:cs typeface="Times New Roman" panose="02020603050405020304" pitchFamily="18" charset="0"/>
                        </a:rPr>
                        <a:t>In particular, I am profoundly indebted to my supervisor, </a:t>
                      </a:r>
                      <a:r>
                        <a:rPr lang="en-HK" sz="1400" i="1" dirty="0" err="1">
                          <a:effectLst/>
                          <a:latin typeface="Calibri" panose="020F0502020204030204" pitchFamily="34" charset="0"/>
                          <a:ea typeface="DengXian" panose="02010600030101010101" pitchFamily="2" charset="-122"/>
                          <a:cs typeface="Times New Roman" panose="02020603050405020304" pitchFamily="18" charset="0"/>
                        </a:rPr>
                        <a:t>Dr.</a:t>
                      </a:r>
                      <a:r>
                        <a:rPr lang="en-HK" sz="1400" i="1" dirty="0">
                          <a:effectLst/>
                          <a:latin typeface="Calibri" panose="020F0502020204030204" pitchFamily="34" charset="0"/>
                          <a:ea typeface="DengXian" panose="02010600030101010101" pitchFamily="2" charset="-122"/>
                          <a:cs typeface="Times New Roman" panose="02020603050405020304" pitchFamily="18" charset="0"/>
                        </a:rPr>
                        <a:t> James Fung, who was very generous with his time and knowledge and assisted me in each step to complete the thesis.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i="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i="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i="1" dirty="0">
                          <a:effectLst/>
                          <a:latin typeface="Calibri" panose="020F0502020204030204" pitchFamily="34" charset="0"/>
                          <a:ea typeface="DengXian" panose="02010600030101010101" pitchFamily="2" charset="-122"/>
                          <a:cs typeface="Times New Roman" panose="02020603050405020304" pitchFamily="18" charset="0"/>
                        </a:rPr>
                        <a:t>The research for this thesis was financially supported by a postgraduate studentship from the University of Hong Kong, The Hong Kong and China Gas Company Postgraduate Scholarship, Epson Foundation Scholarship, two University of Hong Kong CRCG grants and an RCG grant.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i="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endParaRPr lang="en-HK" sz="1400" i="1"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400" i="1" dirty="0">
                          <a:effectLst/>
                          <a:latin typeface="Calibri" panose="020F0502020204030204" pitchFamily="34" charset="0"/>
                          <a:ea typeface="DengXian" panose="02010600030101010101" pitchFamily="2" charset="-122"/>
                          <a:cs typeface="Times New Roman" panose="02020603050405020304" pitchFamily="18" charset="0"/>
                        </a:rPr>
                        <a:t>I’d include those who helped including my supervisor, friends, and colleagues. It is also appropriate to thank for spiritual support, so I’d also include my friends in church and family members.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26729" marR="26729"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5211580"/>
                  </a:ext>
                </a:extLst>
              </a:tr>
              <a:tr h="1617621">
                <a:tc>
                  <a:txBody>
                    <a:bodyPr/>
                    <a:lstStyle/>
                    <a:p>
                      <a:pPr>
                        <a:lnSpc>
                          <a:spcPct val="107000"/>
                        </a:lnSpc>
                        <a:spcAft>
                          <a:spcPts val="800"/>
                        </a:spcAft>
                      </a:pPr>
                      <a:r>
                        <a:rPr lang="en-HK" sz="1600" b="1" i="1"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Announcing move</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600"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Accepting responsibility for flaws or errors </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600"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Dedicating the thesis to individual(s)</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txBody>
                  <a:tcPr marL="26729" marR="26729"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nSpc>
                          <a:spcPct val="107000"/>
                        </a:lnSpc>
                        <a:spcAft>
                          <a:spcPts val="800"/>
                        </a:spcAft>
                      </a:pPr>
                      <a:r>
                        <a:rPr lang="en-HK" sz="1600" i="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600" i="1" dirty="0">
                          <a:effectLst/>
                          <a:latin typeface="Calibri" panose="020F0502020204030204" pitchFamily="34" charset="0"/>
                          <a:ea typeface="DengXian" panose="02010600030101010101" pitchFamily="2" charset="-122"/>
                          <a:cs typeface="Times New Roman" panose="02020603050405020304" pitchFamily="18" charset="0"/>
                        </a:rPr>
                        <a:t> </a:t>
                      </a:r>
                      <a:r>
                        <a:rPr lang="en-HK" sz="1600" i="1"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Notwithstanding all of the above support for this project, any errors and/or omissions are solely my own.</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07000"/>
                        </a:lnSpc>
                        <a:spcAft>
                          <a:spcPts val="800"/>
                        </a:spcAft>
                      </a:pPr>
                      <a:r>
                        <a:rPr lang="en-HK" sz="1600" i="1" dirty="0">
                          <a:solidFill>
                            <a:srgbClr val="000000"/>
                          </a:solidFill>
                          <a:effectLst/>
                          <a:latin typeface="Calibri" panose="020F0502020204030204" pitchFamily="34" charset="0"/>
                          <a:ea typeface="DengXian" panose="02010600030101010101" pitchFamily="2" charset="-122"/>
                          <a:cs typeface="Times New Roman" panose="02020603050405020304" pitchFamily="18" charset="0"/>
                        </a:rPr>
                        <a:t>I love my family. This thesis is dedicated to them.</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txBody>
                  <a:tcPr marL="26729" marR="26729" marT="0"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733920660"/>
                  </a:ext>
                </a:extLst>
              </a:tr>
            </a:tbl>
          </a:graphicData>
        </a:graphic>
      </p:graphicFrame>
    </p:spTree>
    <p:extLst>
      <p:ext uri="{BB962C8B-B14F-4D97-AF65-F5344CB8AC3E}">
        <p14:creationId xmlns:p14="http://schemas.microsoft.com/office/powerpoint/2010/main" val="3865877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F6961-7534-4CD5-ACBB-6CEE225C47EE}"/>
              </a:ext>
            </a:extLst>
          </p:cNvPr>
          <p:cNvSpPr>
            <a:spLocks noGrp="1"/>
          </p:cNvSpPr>
          <p:nvPr>
            <p:ph type="title"/>
          </p:nvPr>
        </p:nvSpPr>
        <p:spPr>
          <a:xfrm>
            <a:off x="1787582" y="624110"/>
            <a:ext cx="8911687" cy="1280890"/>
          </a:xfrm>
        </p:spPr>
        <p:txBody>
          <a:bodyPr/>
          <a:lstStyle/>
          <a:p>
            <a:r>
              <a:rPr lang="en-US" dirty="0"/>
              <a:t>HKBU Student Theses and Dissertations</a:t>
            </a:r>
            <a:endParaRPr lang="en-HK" dirty="0"/>
          </a:p>
        </p:txBody>
      </p:sp>
      <p:sp>
        <p:nvSpPr>
          <p:cNvPr id="3" name="Content Placeholder 2">
            <a:extLst>
              <a:ext uri="{FF2B5EF4-FFF2-40B4-BE49-F238E27FC236}">
                <a16:creationId xmlns:a16="http://schemas.microsoft.com/office/drawing/2014/main" id="{306893FD-5B72-4F48-BED1-04D121C9CB6A}"/>
              </a:ext>
            </a:extLst>
          </p:cNvPr>
          <p:cNvSpPr>
            <a:spLocks noGrp="1"/>
          </p:cNvSpPr>
          <p:nvPr>
            <p:ph idx="1"/>
          </p:nvPr>
        </p:nvSpPr>
        <p:spPr>
          <a:xfrm>
            <a:off x="1926481" y="1905000"/>
            <a:ext cx="8915400" cy="3777622"/>
          </a:xfrm>
        </p:spPr>
        <p:txBody>
          <a:bodyPr>
            <a:normAutofit/>
          </a:bodyPr>
          <a:lstStyle/>
          <a:p>
            <a:r>
              <a:rPr lang="en-HK" sz="2400" dirty="0">
                <a:hlinkClick r:id="rId2"/>
              </a:rPr>
              <a:t>https://scholars.hkbu.edu.hk/en/studentTheses/</a:t>
            </a:r>
            <a:r>
              <a:rPr lang="en-HK" sz="2400" dirty="0"/>
              <a:t> </a:t>
            </a:r>
          </a:p>
        </p:txBody>
      </p:sp>
      <p:sp>
        <p:nvSpPr>
          <p:cNvPr id="4" name="Slide Number Placeholder 3">
            <a:extLst>
              <a:ext uri="{FF2B5EF4-FFF2-40B4-BE49-F238E27FC236}">
                <a16:creationId xmlns:a16="http://schemas.microsoft.com/office/drawing/2014/main" id="{FB9D94B3-0E91-4CDC-97F6-B7349BB1D96C}"/>
              </a:ext>
            </a:extLst>
          </p:cNvPr>
          <p:cNvSpPr>
            <a:spLocks noGrp="1"/>
          </p:cNvSpPr>
          <p:nvPr>
            <p:ph type="sldNum" sz="quarter" idx="12"/>
          </p:nvPr>
        </p:nvSpPr>
        <p:spPr/>
        <p:txBody>
          <a:bodyPr/>
          <a:lstStyle/>
          <a:p>
            <a:fld id="{D57F1E4F-1CFF-5643-939E-217C01CDF565}" type="slidenum">
              <a:rPr lang="en-US" smtClean="0"/>
              <a:pPr/>
              <a:t>21</a:t>
            </a:fld>
            <a:endParaRPr lang="en-US" dirty="0"/>
          </a:p>
        </p:txBody>
      </p:sp>
      <p:pic>
        <p:nvPicPr>
          <p:cNvPr id="1026" name="Picture 2" descr="How to write acknowledgements in a thesis or dissertation – Academia Insider">
            <a:extLst>
              <a:ext uri="{FF2B5EF4-FFF2-40B4-BE49-F238E27FC236}">
                <a16:creationId xmlns:a16="http://schemas.microsoft.com/office/drawing/2014/main" id="{72E65090-BB16-4CE6-878C-8069AC92D1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1097" y="2498560"/>
            <a:ext cx="5033395" cy="4219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229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212" y="0"/>
            <a:ext cx="8911687" cy="821917"/>
          </a:xfrm>
        </p:spPr>
        <p:txBody>
          <a:bodyPr/>
          <a:lstStyle/>
          <a:p>
            <a:r>
              <a:rPr lang="en-US" dirty="0"/>
              <a:t>Task 4</a:t>
            </a:r>
          </a:p>
        </p:txBody>
      </p:sp>
      <p:sp>
        <p:nvSpPr>
          <p:cNvPr id="5" name="Slide Number Placeholder 4">
            <a:extLst>
              <a:ext uri="{FF2B5EF4-FFF2-40B4-BE49-F238E27FC236}">
                <a16:creationId xmlns:a16="http://schemas.microsoft.com/office/drawing/2014/main" id="{588020CC-B0A9-6E4B-ABD9-9BE0EE4150F2}"/>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
        <p:nvSpPr>
          <p:cNvPr id="13" name="TextBox 12">
            <a:extLst>
              <a:ext uri="{FF2B5EF4-FFF2-40B4-BE49-F238E27FC236}">
                <a16:creationId xmlns:a16="http://schemas.microsoft.com/office/drawing/2014/main" id="{3DA0FE77-B429-4153-A712-744E212EBDCC}"/>
              </a:ext>
            </a:extLst>
          </p:cNvPr>
          <p:cNvSpPr txBox="1"/>
          <p:nvPr/>
        </p:nvSpPr>
        <p:spPr>
          <a:xfrm>
            <a:off x="1778702" y="86949"/>
            <a:ext cx="8085513" cy="700833"/>
          </a:xfrm>
          <a:prstGeom prst="rect">
            <a:avLst/>
          </a:prstGeom>
          <a:noFill/>
        </p:spPr>
        <p:txBody>
          <a:bodyPr wrap="square">
            <a:spAutoFit/>
          </a:bodyPr>
          <a:lstStyle/>
          <a:p>
            <a:pPr algn="just">
              <a:lnSpc>
                <a:spcPct val="115000"/>
              </a:lnSpc>
            </a:pPr>
            <a:r>
              <a:rPr lang="en-GB" sz="1800" dirty="0">
                <a:solidFill>
                  <a:srgbClr val="000000"/>
                </a:solidFill>
                <a:effectLst/>
                <a:latin typeface="+mj-lt"/>
                <a:ea typeface="Times New Roman" panose="02020603050405020304" pitchFamily="18" charset="0"/>
              </a:rPr>
              <a:t>Analyse the structure of the following Acknowledgements section and identify the ways the writer has expressed gratitude.</a:t>
            </a:r>
            <a:endParaRPr lang="en-GB" sz="2000" dirty="0">
              <a:effectLst/>
              <a:latin typeface="+mj-lt"/>
              <a:ea typeface="Times New Roman" panose="02020603050405020304" pitchFamily="18" charset="0"/>
            </a:endParaRPr>
          </a:p>
        </p:txBody>
      </p:sp>
      <p:sp>
        <p:nvSpPr>
          <p:cNvPr id="8" name="TextBox 7">
            <a:extLst>
              <a:ext uri="{FF2B5EF4-FFF2-40B4-BE49-F238E27FC236}">
                <a16:creationId xmlns:a16="http://schemas.microsoft.com/office/drawing/2014/main" id="{CC525966-70BE-4DE7-B1BA-4683B63C8410}"/>
              </a:ext>
            </a:extLst>
          </p:cNvPr>
          <p:cNvSpPr txBox="1"/>
          <p:nvPr/>
        </p:nvSpPr>
        <p:spPr>
          <a:xfrm>
            <a:off x="9117898" y="787782"/>
            <a:ext cx="3074101" cy="3017493"/>
          </a:xfrm>
          <a:prstGeom prst="rect">
            <a:avLst/>
          </a:prstGeom>
          <a:noFill/>
        </p:spPr>
        <p:txBody>
          <a:bodyPr wrap="square">
            <a:spAutoFit/>
          </a:bodyPr>
          <a:lstStyle/>
          <a:p>
            <a:pPr algn="just">
              <a:lnSpc>
                <a:spcPct val="115000"/>
              </a:lnSpc>
              <a:spcAft>
                <a:spcPts val="600"/>
              </a:spcAft>
            </a:pPr>
            <a:r>
              <a:rPr lang="en-GB" sz="1800" dirty="0">
                <a:solidFill>
                  <a:srgbClr val="0070C0"/>
                </a:solidFill>
                <a:effectLst/>
                <a:latin typeface="Calibri" panose="020F0502020204030204" pitchFamily="34" charset="0"/>
                <a:ea typeface="PMingLiU" panose="02020500000000000000" pitchFamily="18" charset="-120"/>
                <a:cs typeface="Times New Roman" panose="02020603050405020304" pitchFamily="18" charset="0"/>
              </a:rPr>
              <a:t>Suggested answer:</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15000"/>
              </a:lnSpc>
              <a:spcAft>
                <a:spcPts val="600"/>
              </a:spcAft>
            </a:pPr>
            <a:r>
              <a:rPr lang="en-GB" sz="1800" dirty="0">
                <a:solidFill>
                  <a:srgbClr val="0070C0"/>
                </a:solidFill>
                <a:effectLst/>
                <a:latin typeface="Calibri" panose="020F0502020204030204" pitchFamily="34" charset="0"/>
                <a:ea typeface="PMingLiU" panose="02020500000000000000" pitchFamily="18" charset="-120"/>
                <a:cs typeface="Times New Roman" panose="02020603050405020304" pitchFamily="18" charset="0"/>
              </a:rPr>
              <a:t>This acknowledgements section appears to have each of the three moves: reflecting, thanking and announcing. Credit is given to academic and intellectual support, technical and practical assistance and personal encouragement.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3" name="Picture 2">
            <a:extLst>
              <a:ext uri="{FF2B5EF4-FFF2-40B4-BE49-F238E27FC236}">
                <a16:creationId xmlns:a16="http://schemas.microsoft.com/office/drawing/2014/main" id="{1A9F0DF0-2241-49D9-83D7-041DA59E472F}"/>
              </a:ext>
            </a:extLst>
          </p:cNvPr>
          <p:cNvPicPr>
            <a:picLocks noChangeAspect="1"/>
          </p:cNvPicPr>
          <p:nvPr/>
        </p:nvPicPr>
        <p:blipFill>
          <a:blip r:embed="rId2"/>
          <a:stretch>
            <a:fillRect/>
          </a:stretch>
        </p:blipFill>
        <p:spPr>
          <a:xfrm>
            <a:off x="1487978" y="755622"/>
            <a:ext cx="7629920" cy="6088874"/>
          </a:xfrm>
          <a:prstGeom prst="rect">
            <a:avLst/>
          </a:prstGeom>
        </p:spPr>
      </p:pic>
      <p:sp>
        <p:nvSpPr>
          <p:cNvPr id="4" name="TextBox 3"/>
          <p:cNvSpPr txBox="1"/>
          <p:nvPr/>
        </p:nvSpPr>
        <p:spPr>
          <a:xfrm>
            <a:off x="9304421" y="4459705"/>
            <a:ext cx="2646947" cy="1754326"/>
          </a:xfrm>
          <a:prstGeom prst="rect">
            <a:avLst/>
          </a:prstGeom>
          <a:noFill/>
        </p:spPr>
        <p:txBody>
          <a:bodyPr wrap="square" rtlCol="0">
            <a:spAutoFit/>
          </a:bodyPr>
          <a:lstStyle/>
          <a:p>
            <a:r>
              <a:rPr lang="en-US" dirty="0">
                <a:hlinkClick r:id="rId3"/>
              </a:rPr>
              <a:t>https://esl.gatech.edu/sites/default/files/LI/li-how_to_write_acknowledgements_in_a_dissertation.pdf</a:t>
            </a:r>
            <a:r>
              <a:rPr lang="en-US" dirty="0"/>
              <a:t> </a:t>
            </a:r>
          </a:p>
        </p:txBody>
      </p:sp>
    </p:spTree>
    <p:extLst>
      <p:ext uri="{BB962C8B-B14F-4D97-AF65-F5344CB8AC3E}">
        <p14:creationId xmlns:p14="http://schemas.microsoft.com/office/powerpoint/2010/main" val="1824817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48000"/>
                <a:lumOff val="52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8B68F28-B902-454D-83C5-8D1745142135}"/>
              </a:ext>
            </a:extLst>
          </p:cNvPr>
          <p:cNvSpPr>
            <a:spLocks noGrp="1"/>
          </p:cNvSpPr>
          <p:nvPr>
            <p:ph type="sldNum" sz="quarter" idx="12"/>
          </p:nvPr>
        </p:nvSpPr>
        <p:spPr/>
        <p:txBody>
          <a:bodyPr/>
          <a:lstStyle/>
          <a:p>
            <a:fld id="{D57F1E4F-1CFF-5643-939E-217C01CDF565}" type="slidenum">
              <a:rPr lang="en-US" smtClean="0"/>
              <a:pPr/>
              <a:t>23</a:t>
            </a:fld>
            <a:endParaRPr lang="en-US" dirty="0"/>
          </a:p>
        </p:txBody>
      </p:sp>
      <p:graphicFrame>
        <p:nvGraphicFramePr>
          <p:cNvPr id="11" name="Table 10">
            <a:extLst>
              <a:ext uri="{FF2B5EF4-FFF2-40B4-BE49-F238E27FC236}">
                <a16:creationId xmlns:a16="http://schemas.microsoft.com/office/drawing/2014/main" id="{A9041F65-64BB-45DE-AFFB-355F75F1FE93}"/>
              </a:ext>
            </a:extLst>
          </p:cNvPr>
          <p:cNvGraphicFramePr>
            <a:graphicFrameLocks noGrp="1"/>
          </p:cNvGraphicFramePr>
          <p:nvPr>
            <p:extLst>
              <p:ext uri="{D42A27DB-BD31-4B8C-83A1-F6EECF244321}">
                <p14:modId xmlns:p14="http://schemas.microsoft.com/office/powerpoint/2010/main" val="3433670755"/>
              </p:ext>
            </p:extLst>
          </p:nvPr>
        </p:nvGraphicFramePr>
        <p:xfrm>
          <a:off x="1784582" y="1439726"/>
          <a:ext cx="9571759" cy="1671375"/>
        </p:xfrm>
        <a:graphic>
          <a:graphicData uri="http://schemas.openxmlformats.org/drawingml/2006/table">
            <a:tbl>
              <a:tblPr firstRow="1" firstCol="1" bandRow="1">
                <a:tableStyleId>{5C22544A-7EE6-4342-B048-85BDC9FD1C3A}</a:tableStyleId>
              </a:tblPr>
              <a:tblGrid>
                <a:gridCol w="9571759">
                  <a:extLst>
                    <a:ext uri="{9D8B030D-6E8A-4147-A177-3AD203B41FA5}">
                      <a16:colId xmlns:a16="http://schemas.microsoft.com/office/drawing/2014/main" val="1152452036"/>
                    </a:ext>
                  </a:extLst>
                </a:gridCol>
              </a:tblGrid>
              <a:tr h="1671375">
                <a:tc>
                  <a:txBody>
                    <a:bodyPr/>
                    <a:lstStyle/>
                    <a:p>
                      <a:pPr algn="just">
                        <a:lnSpc>
                          <a:spcPct val="115000"/>
                        </a:lnSpc>
                      </a:pPr>
                      <a:r>
                        <a:rPr lang="en-GB" sz="1800" b="0" u="none" dirty="0">
                          <a:solidFill>
                            <a:schemeClr val="tx1"/>
                          </a:solidFill>
                          <a:effectLst/>
                        </a:rPr>
                        <a:t>The organisation of a thesis can be studied from the perspective of </a:t>
                      </a:r>
                      <a:r>
                        <a:rPr lang="en-GB" sz="1800" b="1" u="none" dirty="0">
                          <a:solidFill>
                            <a:srgbClr val="0070C0"/>
                          </a:solidFill>
                          <a:effectLst/>
                        </a:rPr>
                        <a:t>macrostructure and microstructure</a:t>
                      </a:r>
                      <a:r>
                        <a:rPr lang="en-GB" sz="1800" b="0" u="none" dirty="0">
                          <a:solidFill>
                            <a:schemeClr val="tx1"/>
                          </a:solidFill>
                          <a:effectLst/>
                        </a:rPr>
                        <a:t>. Does the text have a clear macrostructure that suits the overall communicative intent of the thesis? Are the ideas properly linked to enable the text to have internal unity? These are questions you should ask as a writer and your reader will ask as someone who needs to comprehend your work.</a:t>
                      </a:r>
                      <a:endParaRPr lang="en-GB" sz="1200" b="0" u="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066814296"/>
                  </a:ext>
                </a:extLst>
              </a:tr>
            </a:tbl>
          </a:graphicData>
        </a:graphic>
      </p:graphicFrame>
      <p:sp>
        <p:nvSpPr>
          <p:cNvPr id="8" name="TextBox 7">
            <a:extLst>
              <a:ext uri="{FF2B5EF4-FFF2-40B4-BE49-F238E27FC236}">
                <a16:creationId xmlns:a16="http://schemas.microsoft.com/office/drawing/2014/main" id="{8145F50B-70E7-4835-B903-5D2165BEAD38}"/>
              </a:ext>
            </a:extLst>
          </p:cNvPr>
          <p:cNvSpPr txBox="1"/>
          <p:nvPr/>
        </p:nvSpPr>
        <p:spPr>
          <a:xfrm>
            <a:off x="1784582" y="575031"/>
            <a:ext cx="7202632" cy="425501"/>
          </a:xfrm>
          <a:prstGeom prst="rect">
            <a:avLst/>
          </a:prstGeom>
          <a:noFill/>
        </p:spPr>
        <p:txBody>
          <a:bodyPr wrap="square">
            <a:spAutoFit/>
          </a:bodyPr>
          <a:lstStyle/>
          <a:p>
            <a:pPr algn="just">
              <a:lnSpc>
                <a:spcPct val="115000"/>
              </a:lnSpc>
              <a:spcAft>
                <a:spcPts val="600"/>
              </a:spcAft>
            </a:pPr>
            <a:r>
              <a:rPr lang="en-GB" sz="2000" b="1" dirty="0">
                <a:solidFill>
                  <a:srgbClr val="000000"/>
                </a:solidFill>
                <a:effectLst/>
                <a:latin typeface="Calibri" panose="020F0502020204030204" pitchFamily="34" charset="0"/>
                <a:ea typeface="PMingLiU" panose="02020500000000000000" pitchFamily="18" charset="-120"/>
                <a:cs typeface="Times New Roman" panose="02020603050405020304" pitchFamily="18" charset="0"/>
              </a:rPr>
              <a:t>Structuring your Thesis: Coherence, Cohesion and Signposting</a:t>
            </a:r>
            <a:endParaRPr lang="en-GB" sz="20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9" name="TextBox 8">
            <a:extLst>
              <a:ext uri="{FF2B5EF4-FFF2-40B4-BE49-F238E27FC236}">
                <a16:creationId xmlns:a16="http://schemas.microsoft.com/office/drawing/2014/main" id="{BF673FBE-717D-4EDF-956B-E33C01E66DF0}"/>
              </a:ext>
            </a:extLst>
          </p:cNvPr>
          <p:cNvSpPr txBox="1"/>
          <p:nvPr/>
        </p:nvSpPr>
        <p:spPr>
          <a:xfrm>
            <a:off x="1718233" y="3746899"/>
            <a:ext cx="9419359" cy="2280881"/>
          </a:xfrm>
          <a:prstGeom prst="rect">
            <a:avLst/>
          </a:prstGeom>
          <a:noFill/>
        </p:spPr>
        <p:txBody>
          <a:bodyPr wrap="square">
            <a:spAutoFit/>
          </a:bodyPr>
          <a:lstStyle/>
          <a:p>
            <a:pPr>
              <a:lnSpc>
                <a:spcPct val="107000"/>
              </a:lnSpc>
              <a:spcAft>
                <a:spcPts val="800"/>
              </a:spcAft>
            </a:pPr>
            <a:r>
              <a:rPr lang="en-GB" u="sng" dirty="0"/>
              <a:t>Coherence (macro-level)</a:t>
            </a:r>
          </a:p>
          <a:p>
            <a:pPr>
              <a:lnSpc>
                <a:spcPct val="107000"/>
              </a:lnSpc>
              <a:spcAft>
                <a:spcPts val="800"/>
              </a:spcAft>
            </a:pPr>
            <a:r>
              <a:rPr lang="en-GB" dirty="0"/>
              <a:t>Coherence is concerned with the connection and logical flow of ideas in a text to create unity. </a:t>
            </a:r>
          </a:p>
          <a:p>
            <a:pPr>
              <a:lnSpc>
                <a:spcPct val="107000"/>
              </a:lnSpc>
              <a:spcAft>
                <a:spcPts val="800"/>
              </a:spcAft>
            </a:pPr>
            <a:endParaRPr lang="en-GB" dirty="0"/>
          </a:p>
          <a:p>
            <a:pPr>
              <a:lnSpc>
                <a:spcPct val="107000"/>
              </a:lnSpc>
              <a:spcAft>
                <a:spcPts val="800"/>
              </a:spcAft>
            </a:pPr>
            <a:r>
              <a:rPr lang="en-GB" u="sng" dirty="0"/>
              <a:t>Cohesion (micro-level)</a:t>
            </a:r>
          </a:p>
          <a:p>
            <a:pPr>
              <a:lnSpc>
                <a:spcPct val="107000"/>
              </a:lnSpc>
              <a:spcAft>
                <a:spcPts val="800"/>
              </a:spcAft>
            </a:pPr>
            <a:r>
              <a:rPr lang="en-GB" dirty="0"/>
              <a:t>Cohesion is concerned with the links between words and sentences. </a:t>
            </a:r>
          </a:p>
        </p:txBody>
      </p:sp>
    </p:spTree>
    <p:extLst>
      <p:ext uri="{BB962C8B-B14F-4D97-AF65-F5344CB8AC3E}">
        <p14:creationId xmlns:p14="http://schemas.microsoft.com/office/powerpoint/2010/main" val="399404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48000"/>
                <a:lumOff val="52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8B68F28-B902-454D-83C5-8D1745142135}"/>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
        <p:nvSpPr>
          <p:cNvPr id="9" name="TextBox 8">
            <a:extLst>
              <a:ext uri="{FF2B5EF4-FFF2-40B4-BE49-F238E27FC236}">
                <a16:creationId xmlns:a16="http://schemas.microsoft.com/office/drawing/2014/main" id="{BF673FBE-717D-4EDF-956B-E33C01E66DF0}"/>
              </a:ext>
            </a:extLst>
          </p:cNvPr>
          <p:cNvSpPr txBox="1"/>
          <p:nvPr/>
        </p:nvSpPr>
        <p:spPr>
          <a:xfrm>
            <a:off x="1691120" y="565310"/>
            <a:ext cx="8809760" cy="5050742"/>
          </a:xfrm>
          <a:prstGeom prst="rect">
            <a:avLst/>
          </a:prstGeom>
          <a:noFill/>
        </p:spPr>
        <p:txBody>
          <a:bodyPr wrap="square">
            <a:spAutoFit/>
          </a:bodyPr>
          <a:lstStyle/>
          <a:p>
            <a:pPr>
              <a:lnSpc>
                <a:spcPct val="107000"/>
              </a:lnSpc>
              <a:spcAft>
                <a:spcPts val="800"/>
              </a:spcAft>
            </a:pPr>
            <a:r>
              <a:rPr lang="en-GB" u="sng" dirty="0"/>
              <a:t>Signposting</a:t>
            </a:r>
          </a:p>
          <a:p>
            <a:pPr algn="just">
              <a:lnSpc>
                <a:spcPct val="107000"/>
              </a:lnSpc>
              <a:spcAft>
                <a:spcPts val="800"/>
              </a:spcAft>
            </a:pPr>
            <a:r>
              <a:rPr lang="en-GB" dirty="0"/>
              <a:t>A thesis should have </a:t>
            </a:r>
            <a:r>
              <a:rPr lang="en-GB" b="1" dirty="0">
                <a:solidFill>
                  <a:srgbClr val="0070C0"/>
                </a:solidFill>
              </a:rPr>
              <a:t>an informative title, headings, and subheadings</a:t>
            </a:r>
            <a:r>
              <a:rPr lang="en-GB" dirty="0"/>
              <a:t>. It should present information in a </a:t>
            </a:r>
            <a:r>
              <a:rPr lang="en-GB" b="1" dirty="0">
                <a:solidFill>
                  <a:srgbClr val="0070C0"/>
                </a:solidFill>
              </a:rPr>
              <a:t>logical order</a:t>
            </a:r>
            <a:r>
              <a:rPr lang="en-GB" dirty="0"/>
              <a:t>; include all essential steps in any argument and make any implications clear; give sufficient evidence; give examples where appropriate; and explain why any point is particularly important.</a:t>
            </a:r>
          </a:p>
          <a:p>
            <a:pPr algn="just">
              <a:lnSpc>
                <a:spcPct val="107000"/>
              </a:lnSpc>
              <a:spcAft>
                <a:spcPts val="800"/>
              </a:spcAft>
            </a:pPr>
            <a:endParaRPr lang="en-GB" dirty="0"/>
          </a:p>
          <a:p>
            <a:pPr algn="just">
              <a:lnSpc>
                <a:spcPct val="107000"/>
              </a:lnSpc>
              <a:spcAft>
                <a:spcPts val="800"/>
              </a:spcAft>
            </a:pPr>
            <a:r>
              <a:rPr lang="en-GB" b="1" dirty="0">
                <a:solidFill>
                  <a:srgbClr val="0070C0"/>
                </a:solidFill>
              </a:rPr>
              <a:t>Signposts</a:t>
            </a:r>
            <a:r>
              <a:rPr lang="en-GB" dirty="0"/>
              <a:t> signal key aspects of the work, such as purpose, structure, author’s stance, main points, direction of the argument, conclusions. </a:t>
            </a:r>
          </a:p>
          <a:p>
            <a:pPr algn="just">
              <a:lnSpc>
                <a:spcPct val="107000"/>
              </a:lnSpc>
              <a:spcAft>
                <a:spcPts val="800"/>
              </a:spcAft>
            </a:pPr>
            <a:endParaRPr lang="en-GB" dirty="0"/>
          </a:p>
          <a:p>
            <a:pPr algn="just">
              <a:lnSpc>
                <a:spcPct val="107000"/>
              </a:lnSpc>
              <a:spcAft>
                <a:spcPts val="800"/>
              </a:spcAft>
            </a:pPr>
            <a:r>
              <a:rPr lang="en-GB" dirty="0"/>
              <a:t>The </a:t>
            </a:r>
            <a:r>
              <a:rPr lang="en-GB" b="1" dirty="0">
                <a:solidFill>
                  <a:srgbClr val="0070C0"/>
                </a:solidFill>
              </a:rPr>
              <a:t>first signpost in a thesis is the title </a:t>
            </a:r>
            <a:r>
              <a:rPr lang="en-GB" dirty="0"/>
              <a:t>and this needs to be as </a:t>
            </a:r>
            <a:r>
              <a:rPr lang="en-GB" b="1" dirty="0">
                <a:solidFill>
                  <a:srgbClr val="0070C0"/>
                </a:solidFill>
              </a:rPr>
              <a:t>informative</a:t>
            </a:r>
            <a:r>
              <a:rPr lang="en-GB" dirty="0"/>
              <a:t> as possible. Include all necessary key words to correctly and fully convey the content of the study. Delete all words that are redundant or do not contribute to the essential meaning. Order the words to reflect accurately the meaning you intend to convey.</a:t>
            </a:r>
          </a:p>
        </p:txBody>
      </p:sp>
    </p:spTree>
    <p:extLst>
      <p:ext uri="{BB962C8B-B14F-4D97-AF65-F5344CB8AC3E}">
        <p14:creationId xmlns:p14="http://schemas.microsoft.com/office/powerpoint/2010/main" val="665411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2870" y="1485585"/>
            <a:ext cx="8911687" cy="1280890"/>
          </a:xfrm>
        </p:spPr>
        <p:txBody>
          <a:bodyPr>
            <a:normAutofit fontScale="90000"/>
          </a:bodyPr>
          <a:lstStyle/>
          <a:p>
            <a:br>
              <a:rPr lang="en-US" sz="2400" dirty="0"/>
            </a:br>
            <a:r>
              <a:rPr lang="en-US" sz="2400" b="1" u="sng" dirty="0"/>
              <a:t>Part 1: </a:t>
            </a:r>
            <a:r>
              <a:rPr lang="en-US" sz="2400" dirty="0"/>
              <a:t>Have a look at the titles of a few papers that you have been reading. What are some features of a good title?</a:t>
            </a:r>
          </a:p>
        </p:txBody>
      </p:sp>
      <p:sp>
        <p:nvSpPr>
          <p:cNvPr id="3" name="Content Placeholder 2"/>
          <p:cNvSpPr>
            <a:spLocks noGrp="1"/>
          </p:cNvSpPr>
          <p:nvPr>
            <p:ph idx="1"/>
          </p:nvPr>
        </p:nvSpPr>
        <p:spPr>
          <a:xfrm>
            <a:off x="1854502" y="3483604"/>
            <a:ext cx="8915400" cy="3777622"/>
          </a:xfrm>
        </p:spPr>
        <p:txBody>
          <a:bodyPr vert="horz" lIns="91440" tIns="45720" rIns="91440" bIns="45720" rtlCol="0" anchor="t">
            <a:normAutofit/>
          </a:bodyPr>
          <a:lstStyle/>
          <a:p>
            <a:r>
              <a:rPr lang="en-US" dirty="0"/>
              <a:t>Choose a journal article title that you think is effective. Put the title in the Google Doc.</a:t>
            </a:r>
          </a:p>
          <a:p>
            <a:r>
              <a:rPr lang="en-US" dirty="0"/>
              <a:t>Discuss in pairs. What makes a title effective?</a:t>
            </a:r>
          </a:p>
          <a:p>
            <a:pPr marL="0" indent="0">
              <a:buNone/>
            </a:pPr>
            <a:endParaRPr lang="en-US" dirty="0"/>
          </a:p>
          <a:p>
            <a:pPr marL="0" indent="0">
              <a:buNone/>
            </a:pPr>
            <a:r>
              <a:rPr lang="en-US" dirty="0"/>
              <a:t>Advice from Springer: </a:t>
            </a:r>
            <a:r>
              <a:rPr lang="en-US" b="1" u="sng" dirty="0">
                <a:hlinkClick r:id="rId2"/>
              </a:rPr>
              <a:t>Title, Abstract and Keywords | Springer — International Publisher</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25</a:t>
            </a:fld>
            <a:endParaRPr lang="en-US" dirty="0"/>
          </a:p>
        </p:txBody>
      </p:sp>
      <p:sp>
        <p:nvSpPr>
          <p:cNvPr id="5" name="TextBox 4">
            <a:extLst>
              <a:ext uri="{FF2B5EF4-FFF2-40B4-BE49-F238E27FC236}">
                <a16:creationId xmlns:a16="http://schemas.microsoft.com/office/drawing/2014/main" id="{30F0B23B-8F3A-4D84-8B8F-2AFEAF8EF8C9}"/>
              </a:ext>
            </a:extLst>
          </p:cNvPr>
          <p:cNvSpPr txBox="1"/>
          <p:nvPr/>
        </p:nvSpPr>
        <p:spPr>
          <a:xfrm>
            <a:off x="1919157" y="736933"/>
            <a:ext cx="9070421" cy="461665"/>
          </a:xfrm>
          <a:prstGeom prst="rect">
            <a:avLst/>
          </a:prstGeom>
          <a:noFill/>
        </p:spPr>
        <p:txBody>
          <a:bodyPr wrap="square" rtlCol="0">
            <a:spAutoFit/>
          </a:bodyPr>
          <a:lstStyle/>
          <a:p>
            <a:r>
              <a:rPr lang="en-US" sz="2400" b="1" dirty="0"/>
              <a:t>Task 5 Creating an Effective Title for a Research Paper/Thesis</a:t>
            </a:r>
            <a:endParaRPr lang="en-HK" sz="2400" b="1" dirty="0"/>
          </a:p>
        </p:txBody>
      </p:sp>
    </p:spTree>
    <p:extLst>
      <p:ext uri="{BB962C8B-B14F-4D97-AF65-F5344CB8AC3E}">
        <p14:creationId xmlns:p14="http://schemas.microsoft.com/office/powerpoint/2010/main" val="2216388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4211" y="787782"/>
            <a:ext cx="9900401" cy="1117218"/>
          </a:xfrm>
        </p:spPr>
        <p:txBody>
          <a:bodyPr/>
          <a:lstStyle/>
          <a:p>
            <a:r>
              <a:rPr lang="en-US" dirty="0"/>
              <a:t>Steps for Creating a Research Paper Title</a:t>
            </a:r>
          </a:p>
        </p:txBody>
      </p:sp>
      <p:sp>
        <p:nvSpPr>
          <p:cNvPr id="3" name="Content Placeholder 2"/>
          <p:cNvSpPr>
            <a:spLocks noGrp="1"/>
          </p:cNvSpPr>
          <p:nvPr>
            <p:ph idx="1"/>
          </p:nvPr>
        </p:nvSpPr>
        <p:spPr>
          <a:xfrm>
            <a:off x="1311579" y="1905000"/>
            <a:ext cx="10193033" cy="4006222"/>
          </a:xfrm>
        </p:spPr>
        <p:txBody>
          <a:bodyPr vert="horz" lIns="91440" tIns="45720" rIns="91440" bIns="45720" rtlCol="0" anchor="t">
            <a:normAutofit/>
          </a:bodyPr>
          <a:lstStyle/>
          <a:p>
            <a:pPr marL="0" indent="0">
              <a:buNone/>
            </a:pPr>
            <a:r>
              <a:rPr lang="en-US" sz="2000" b="1" u="sng" dirty="0">
                <a:solidFill>
                  <a:schemeClr val="tx1"/>
                </a:solidFill>
              </a:rPr>
              <a:t>Part 2: </a:t>
            </a:r>
            <a:r>
              <a:rPr lang="en-US" sz="2000" dirty="0">
                <a:solidFill>
                  <a:schemeClr val="tx1"/>
                </a:solidFill>
              </a:rPr>
              <a:t>Watch a video about the steps for creating a research paper title.</a:t>
            </a:r>
            <a:endParaRPr lang="en-US" sz="2000" dirty="0">
              <a:solidFill>
                <a:schemeClr val="tx1"/>
              </a:solidFill>
              <a:hlinkClick r:id="rId2">
                <a:extLst>
                  <a:ext uri="{A12FA001-AC4F-418D-AE19-62706E023703}">
                    <ahyp:hlinkClr xmlns:ahyp="http://schemas.microsoft.com/office/drawing/2018/hyperlinkcolor" val="tx"/>
                  </a:ext>
                </a:extLst>
              </a:hlinkClick>
            </a:endParaRPr>
          </a:p>
          <a:p>
            <a:pPr marL="0" indent="0">
              <a:buNone/>
            </a:pPr>
            <a:r>
              <a:rPr lang="en-US" sz="2000" dirty="0">
                <a:solidFill>
                  <a:srgbClr val="FDAB2A"/>
                </a:solidFill>
                <a:hlinkClick r:id="rId2">
                  <a:extLst>
                    <a:ext uri="{A12FA001-AC4F-418D-AE19-62706E023703}">
                      <ahyp:hlinkClr xmlns:ahyp="http://schemas.microsoft.com/office/drawing/2018/hyperlinkcolor" val="tx"/>
                    </a:ext>
                  </a:extLst>
                </a:hlinkClick>
              </a:rPr>
              <a:t>https://blog.wordvice.com/best-title-for-journal-manuscript/</a:t>
            </a:r>
            <a:r>
              <a:rPr lang="en-US" sz="2000" dirty="0"/>
              <a:t> </a:t>
            </a:r>
          </a:p>
          <a:p>
            <a:pPr marL="457200" indent="-457200">
              <a:buAutoNum type="arabicPeriod"/>
            </a:pPr>
            <a:r>
              <a:rPr lang="en-US" sz="2000" dirty="0"/>
              <a:t>Answer some basic questions about your paper (objective, methods, results)</a:t>
            </a:r>
          </a:p>
          <a:p>
            <a:pPr marL="457200" indent="-457200">
              <a:buAutoNum type="arabicPeriod"/>
            </a:pPr>
            <a:r>
              <a:rPr lang="en-US" sz="2000" dirty="0"/>
              <a:t>Identify and list keywords and phrases from these responses</a:t>
            </a:r>
          </a:p>
          <a:p>
            <a:pPr marL="457200" indent="-457200">
              <a:buAutoNum type="arabicPeriod"/>
            </a:pPr>
            <a:r>
              <a:rPr lang="en-US" sz="2000" dirty="0"/>
              <a:t>Write a long sentence with these keywords</a:t>
            </a:r>
          </a:p>
          <a:p>
            <a:pPr marL="457200" indent="-457200">
              <a:buAutoNum type="arabicPeriod"/>
            </a:pPr>
            <a:r>
              <a:rPr lang="en-US" sz="2000" dirty="0"/>
              <a:t>Create a working title; delete unnecessary and redundant words</a:t>
            </a:r>
          </a:p>
          <a:p>
            <a:pPr marL="457200" indent="-457200">
              <a:buAutoNum type="arabicPeriod"/>
            </a:pPr>
            <a:r>
              <a:rPr lang="en-US" sz="2000" dirty="0"/>
              <a:t>Delete extra elements to meet suitable word count; put key terms at beginning and end</a:t>
            </a:r>
          </a:p>
          <a:p>
            <a:pPr marL="0" indent="0">
              <a:buNone/>
            </a:pPr>
            <a:r>
              <a:rPr lang="en-US" sz="2000" dirty="0"/>
              <a:t>* Add a subtitle if necessary</a:t>
            </a:r>
          </a:p>
        </p:txBody>
      </p:sp>
      <p:sp>
        <p:nvSpPr>
          <p:cNvPr id="4" name="Slide Number Placeholder 3"/>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3804853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CC9539-5E40-6745-90E1-D250EA47797B}"/>
              </a:ext>
            </a:extLst>
          </p:cNvPr>
          <p:cNvSpPr>
            <a:spLocks noGrp="1"/>
          </p:cNvSpPr>
          <p:nvPr>
            <p:ph type="sldNum" sz="quarter" idx="12"/>
          </p:nvPr>
        </p:nvSpPr>
        <p:spPr>
          <a:xfrm>
            <a:off x="531812" y="787782"/>
            <a:ext cx="779767"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27</a:t>
            </a:fld>
            <a:endParaRPr lang="en-US" sz="1900"/>
          </a:p>
        </p:txBody>
      </p:sp>
      <p:sp>
        <p:nvSpPr>
          <p:cNvPr id="5" name="TextBox 4">
            <a:extLst>
              <a:ext uri="{FF2B5EF4-FFF2-40B4-BE49-F238E27FC236}">
                <a16:creationId xmlns:a16="http://schemas.microsoft.com/office/drawing/2014/main" id="{08A3F44C-14B1-437A-9C7A-1D137F422440}"/>
              </a:ext>
            </a:extLst>
          </p:cNvPr>
          <p:cNvSpPr txBox="1"/>
          <p:nvPr/>
        </p:nvSpPr>
        <p:spPr>
          <a:xfrm>
            <a:off x="2024496" y="216877"/>
            <a:ext cx="8982940" cy="6613414"/>
          </a:xfrm>
          <a:prstGeom prst="rect">
            <a:avLst/>
          </a:prstGeom>
          <a:noFill/>
        </p:spPr>
        <p:txBody>
          <a:bodyPr wrap="square" lIns="91440" tIns="45720" rIns="91440" bIns="45720" anchor="t">
            <a:spAutoFit/>
          </a:bodyPr>
          <a:lstStyle/>
          <a:p>
            <a:pPr algn="just">
              <a:lnSpc>
                <a:spcPct val="115000"/>
              </a:lnSpc>
              <a:spcAft>
                <a:spcPts val="600"/>
              </a:spcAft>
            </a:pPr>
            <a:r>
              <a:rPr lang="en-GB" sz="2000" b="1" u="sng" dirty="0">
                <a:solidFill>
                  <a:srgbClr val="000000"/>
                </a:solidFill>
                <a:effectLst/>
                <a:ea typeface="DengXian" panose="02010600030101010101" pitchFamily="2" charset="-122"/>
                <a:cs typeface="Times New Roman" panose="02020603050405020304" pitchFamily="18" charset="0"/>
              </a:rPr>
              <a:t>Coherence</a:t>
            </a:r>
            <a:endParaRPr lang="en-GB" sz="1800" dirty="0">
              <a:effectLst/>
              <a:ea typeface="DengXian" panose="02010600030101010101" pitchFamily="2" charset="-122"/>
              <a:cs typeface="Times New Roman" panose="02020603050405020304" pitchFamily="18" charset="0"/>
            </a:endParaRPr>
          </a:p>
          <a:p>
            <a:pPr algn="just">
              <a:lnSpc>
                <a:spcPct val="115000"/>
              </a:lnSpc>
              <a:spcAft>
                <a:spcPts val="600"/>
              </a:spcAft>
            </a:pPr>
            <a:r>
              <a:rPr lang="en-GB" sz="1800" dirty="0">
                <a:solidFill>
                  <a:srgbClr val="000000"/>
                </a:solidFill>
                <a:effectLst/>
                <a:ea typeface="DengXian" panose="02010600030101010101" pitchFamily="2" charset="-122"/>
                <a:cs typeface="Times New Roman" panose="02020603050405020304" pitchFamily="18" charset="0"/>
              </a:rPr>
              <a:t>Techniques for enhancing the </a:t>
            </a:r>
            <a:r>
              <a:rPr lang="en-GB" sz="1800" b="1" dirty="0">
                <a:solidFill>
                  <a:srgbClr val="000000"/>
                </a:solidFill>
                <a:effectLst/>
                <a:ea typeface="DengXian" panose="02010600030101010101" pitchFamily="2" charset="-122"/>
                <a:cs typeface="Times New Roman" panose="02020603050405020304" pitchFamily="18" charset="0"/>
              </a:rPr>
              <a:t>coherence</a:t>
            </a:r>
            <a:r>
              <a:rPr lang="en-GB" sz="1800" dirty="0">
                <a:solidFill>
                  <a:srgbClr val="000000"/>
                </a:solidFill>
                <a:effectLst/>
                <a:ea typeface="DengXian" panose="02010600030101010101" pitchFamily="2" charset="-122"/>
                <a:cs typeface="Times New Roman" panose="02020603050405020304" pitchFamily="18" charset="0"/>
              </a:rPr>
              <a:t> of writing include:</a:t>
            </a:r>
            <a:endParaRPr lang="en-GB" sz="1800" dirty="0">
              <a:effectLst/>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mj-lt"/>
              <a:buAutoNum type="arabicPeriod"/>
            </a:pPr>
            <a:r>
              <a:rPr lang="en-GB" sz="1800" dirty="0">
                <a:solidFill>
                  <a:srgbClr val="000000"/>
                </a:solidFill>
                <a:effectLst/>
                <a:ea typeface="DengXian"/>
                <a:cs typeface="Times New Roman"/>
              </a:rPr>
              <a:t>A </a:t>
            </a:r>
            <a:r>
              <a:rPr lang="en-GB" sz="1800" b="1" dirty="0">
                <a:solidFill>
                  <a:srgbClr val="0070C0"/>
                </a:solidFill>
                <a:effectLst/>
                <a:ea typeface="DengXian"/>
                <a:cs typeface="Times New Roman"/>
              </a:rPr>
              <a:t>macrostructure</a:t>
            </a:r>
            <a:r>
              <a:rPr lang="en-GB" sz="1800" dirty="0">
                <a:solidFill>
                  <a:srgbClr val="000000"/>
                </a:solidFill>
                <a:effectLst/>
                <a:ea typeface="DengXian"/>
                <a:cs typeface="Times New Roman"/>
              </a:rPr>
              <a:t> that provides a </a:t>
            </a:r>
            <a:r>
              <a:rPr lang="en-GB" sz="1800" u="sng" dirty="0">
                <a:solidFill>
                  <a:srgbClr val="000000"/>
                </a:solidFill>
                <a:effectLst/>
                <a:ea typeface="DengXian"/>
                <a:cs typeface="Times New Roman"/>
              </a:rPr>
              <a:t>pattern characteristic</a:t>
            </a:r>
            <a:r>
              <a:rPr lang="en-GB" sz="1800" dirty="0">
                <a:solidFill>
                  <a:srgbClr val="000000"/>
                </a:solidFill>
                <a:effectLst/>
                <a:ea typeface="DengXian"/>
                <a:cs typeface="Times New Roman"/>
              </a:rPr>
              <a:t> and appropriate to its communicative purpose (e.g. using a </a:t>
            </a:r>
            <a:r>
              <a:rPr lang="en-GB" sz="1800" u="sng" dirty="0">
                <a:solidFill>
                  <a:srgbClr val="000000"/>
                </a:solidFill>
                <a:effectLst/>
                <a:ea typeface="DengXian"/>
                <a:cs typeface="Times New Roman"/>
              </a:rPr>
              <a:t>chronological approach</a:t>
            </a:r>
            <a:r>
              <a:rPr lang="en-GB" sz="1800" dirty="0">
                <a:solidFill>
                  <a:srgbClr val="000000"/>
                </a:solidFill>
                <a:effectLst/>
                <a:ea typeface="DengXian"/>
                <a:cs typeface="Times New Roman"/>
              </a:rPr>
              <a:t> to tell a story, </a:t>
            </a:r>
            <a:r>
              <a:rPr lang="en-GB" sz="1800" u="sng" dirty="0">
                <a:solidFill>
                  <a:srgbClr val="000000"/>
                </a:solidFill>
                <a:effectLst/>
                <a:ea typeface="DengXian"/>
                <a:cs typeface="Times New Roman"/>
              </a:rPr>
              <a:t>explaining the problem before suggesting the solutions</a:t>
            </a:r>
            <a:r>
              <a:rPr lang="en-GB" sz="1800" dirty="0">
                <a:solidFill>
                  <a:srgbClr val="000000"/>
                </a:solidFill>
                <a:effectLst/>
                <a:ea typeface="DengXian"/>
                <a:cs typeface="Times New Roman"/>
              </a:rPr>
              <a:t> in a problem-solution essay)</a:t>
            </a:r>
            <a:endParaRPr lang="en-GB" sz="1800" dirty="0">
              <a:effectLst/>
              <a:ea typeface="DengXian"/>
              <a:cs typeface="Times New Roman"/>
            </a:endParaRPr>
          </a:p>
          <a:p>
            <a:pPr marL="342900" lvl="0" indent="-342900" algn="just">
              <a:lnSpc>
                <a:spcPct val="115000"/>
              </a:lnSpc>
              <a:spcAft>
                <a:spcPts val="600"/>
              </a:spcAft>
              <a:buFont typeface="+mj-lt"/>
              <a:buAutoNum type="arabicPeriod"/>
            </a:pPr>
            <a:r>
              <a:rPr lang="en-GB" sz="1800" dirty="0">
                <a:solidFill>
                  <a:srgbClr val="000000"/>
                </a:solidFill>
                <a:effectLst/>
                <a:ea typeface="DengXian"/>
                <a:cs typeface="Times New Roman"/>
              </a:rPr>
              <a:t>An </a:t>
            </a:r>
            <a:r>
              <a:rPr lang="en-GB" sz="1800" b="1" dirty="0">
                <a:solidFill>
                  <a:srgbClr val="0070C0"/>
                </a:solidFill>
                <a:effectLst/>
                <a:ea typeface="DengXian"/>
                <a:cs typeface="Times New Roman"/>
              </a:rPr>
              <a:t>information structure </a:t>
            </a:r>
            <a:r>
              <a:rPr lang="en-GB" sz="1800" dirty="0">
                <a:solidFill>
                  <a:srgbClr val="000000"/>
                </a:solidFill>
                <a:effectLst/>
                <a:ea typeface="DengXian"/>
                <a:cs typeface="Times New Roman"/>
              </a:rPr>
              <a:t>that guides the reader in understanding how information is organized and </a:t>
            </a:r>
            <a:r>
              <a:rPr lang="en-GB" sz="1800" u="sng" dirty="0">
                <a:solidFill>
                  <a:srgbClr val="000000"/>
                </a:solidFill>
                <a:effectLst/>
                <a:ea typeface="DengXian"/>
                <a:cs typeface="Times New Roman"/>
              </a:rPr>
              <a:t>how the topic of text is developed</a:t>
            </a:r>
            <a:r>
              <a:rPr lang="en-GB" sz="1800" dirty="0">
                <a:solidFill>
                  <a:srgbClr val="000000"/>
                </a:solidFill>
                <a:effectLst/>
                <a:ea typeface="DengXian"/>
                <a:cs typeface="Times New Roman"/>
              </a:rPr>
              <a:t> (e.g. giving old information before new information)</a:t>
            </a:r>
            <a:endParaRPr lang="en-GB" sz="1800" dirty="0">
              <a:effectLst/>
              <a:ea typeface="DengXian"/>
              <a:cs typeface="Times New Roman"/>
            </a:endParaRPr>
          </a:p>
          <a:p>
            <a:pPr marL="342900" lvl="0" indent="-342900" algn="just">
              <a:lnSpc>
                <a:spcPct val="115000"/>
              </a:lnSpc>
              <a:spcAft>
                <a:spcPts val="600"/>
              </a:spcAft>
              <a:buFont typeface="+mj-lt"/>
              <a:buAutoNum type="arabicPeriod"/>
            </a:pPr>
            <a:r>
              <a:rPr lang="en-GB" sz="1800" b="1" dirty="0">
                <a:solidFill>
                  <a:srgbClr val="0070C0"/>
                </a:solidFill>
                <a:effectLst/>
                <a:ea typeface="DengXian"/>
                <a:cs typeface="Times New Roman"/>
              </a:rPr>
              <a:t>Connectivity of the underlying content </a:t>
            </a:r>
            <a:r>
              <a:rPr lang="en-GB" sz="1800" dirty="0">
                <a:solidFill>
                  <a:srgbClr val="000000"/>
                </a:solidFill>
                <a:effectLst/>
                <a:ea typeface="DengXian"/>
                <a:cs typeface="Times New Roman"/>
              </a:rPr>
              <a:t>evidenced by </a:t>
            </a:r>
            <a:r>
              <a:rPr lang="en-GB" sz="1800" u="sng" dirty="0">
                <a:solidFill>
                  <a:srgbClr val="000000"/>
                </a:solidFill>
                <a:effectLst/>
                <a:ea typeface="DengXian"/>
                <a:cs typeface="Times New Roman"/>
              </a:rPr>
              <a:t>relations between propositions</a:t>
            </a:r>
            <a:r>
              <a:rPr lang="en-GB" sz="1800" dirty="0">
                <a:solidFill>
                  <a:srgbClr val="000000"/>
                </a:solidFill>
                <a:effectLst/>
                <a:ea typeface="DengXian"/>
                <a:cs typeface="Times New Roman"/>
              </a:rPr>
              <a:t> (e.g. giving supporting evidence and examples to support a proposition)</a:t>
            </a:r>
            <a:endParaRPr lang="en-GB" sz="1800" dirty="0">
              <a:effectLst/>
              <a:ea typeface="DengXian"/>
              <a:cs typeface="Times New Roman"/>
            </a:endParaRPr>
          </a:p>
          <a:p>
            <a:pPr marL="342900" indent="-342900" algn="just">
              <a:lnSpc>
                <a:spcPct val="115000"/>
              </a:lnSpc>
              <a:spcAft>
                <a:spcPts val="600"/>
              </a:spcAft>
              <a:buFont typeface="+mj-lt"/>
              <a:buAutoNum type="arabicPeriod"/>
            </a:pPr>
            <a:r>
              <a:rPr lang="en-GB" sz="1800" b="1" dirty="0">
                <a:solidFill>
                  <a:srgbClr val="0070C0"/>
                </a:solidFill>
                <a:effectLst/>
                <a:ea typeface="DengXian"/>
                <a:cs typeface="Times New Roman"/>
              </a:rPr>
              <a:t>Connectivity of the surface text </a:t>
            </a:r>
            <a:r>
              <a:rPr lang="en-GB" sz="1800" dirty="0">
                <a:solidFill>
                  <a:srgbClr val="000000"/>
                </a:solidFill>
                <a:effectLst/>
                <a:ea typeface="DengXian"/>
                <a:cs typeface="Times New Roman"/>
              </a:rPr>
              <a:t>evidenced by the presence of </a:t>
            </a:r>
            <a:r>
              <a:rPr lang="en-GB" sz="1800" b="1" dirty="0">
                <a:solidFill>
                  <a:srgbClr val="0070C0"/>
                </a:solidFill>
                <a:effectLst/>
                <a:ea typeface="DengXian"/>
                <a:cs typeface="Times New Roman"/>
              </a:rPr>
              <a:t>cohesive devices</a:t>
            </a:r>
            <a:r>
              <a:rPr lang="en-GB" sz="1800" dirty="0">
                <a:solidFill>
                  <a:srgbClr val="000000"/>
                </a:solidFill>
                <a:effectLst/>
                <a:ea typeface="DengXian"/>
                <a:cs typeface="Times New Roman"/>
              </a:rPr>
              <a:t> (e.g. pronoun references – he, she, it, this, that; conjunctions – but, also, therefore, however) and content lexical ties (e.g. repetition, synonymy/antonymy, and superordinate/hyponymy – animals/cats)</a:t>
            </a:r>
            <a:r>
              <a:rPr lang="en-GB" dirty="0">
                <a:solidFill>
                  <a:srgbClr val="000000"/>
                </a:solidFill>
                <a:ea typeface="DengXian"/>
                <a:cs typeface="Times New Roman"/>
              </a:rPr>
              <a:t> </a:t>
            </a:r>
            <a:endParaRPr lang="en-GB" sz="1800" dirty="0">
              <a:effectLst/>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mj-lt"/>
              <a:buAutoNum type="arabicPeriod"/>
            </a:pPr>
            <a:r>
              <a:rPr lang="en-GB" sz="1800" b="1" dirty="0">
                <a:solidFill>
                  <a:srgbClr val="0070C0"/>
                </a:solidFill>
                <a:effectLst/>
                <a:ea typeface="DengXian"/>
                <a:cs typeface="Times New Roman"/>
              </a:rPr>
              <a:t>Appropriate </a:t>
            </a:r>
            <a:r>
              <a:rPr lang="en-GB" sz="1800" b="1" dirty="0" err="1">
                <a:solidFill>
                  <a:srgbClr val="0070C0"/>
                </a:solidFill>
                <a:effectLst/>
                <a:ea typeface="DengXian"/>
                <a:cs typeface="Times New Roman"/>
              </a:rPr>
              <a:t>metadiscourse</a:t>
            </a:r>
            <a:r>
              <a:rPr lang="en-GB" sz="1800" b="1" dirty="0">
                <a:solidFill>
                  <a:srgbClr val="0070C0"/>
                </a:solidFill>
                <a:effectLst/>
                <a:ea typeface="DengXian"/>
                <a:cs typeface="Times New Roman"/>
              </a:rPr>
              <a:t> features</a:t>
            </a:r>
            <a:r>
              <a:rPr lang="en-GB" sz="1800" dirty="0">
                <a:solidFill>
                  <a:srgbClr val="000000"/>
                </a:solidFill>
                <a:effectLst/>
                <a:ea typeface="DengXian"/>
                <a:cs typeface="Times New Roman"/>
              </a:rPr>
              <a:t>: Some examples are l</a:t>
            </a:r>
            <a:r>
              <a:rPr lang="en-GB" sz="1800" u="sng" dirty="0">
                <a:solidFill>
                  <a:srgbClr val="000000"/>
                </a:solidFill>
                <a:effectLst/>
                <a:ea typeface="DengXian"/>
                <a:cs typeface="Times New Roman"/>
              </a:rPr>
              <a:t>ogical connective</a:t>
            </a:r>
            <a:r>
              <a:rPr lang="en-GB" sz="1800" dirty="0">
                <a:solidFill>
                  <a:srgbClr val="000000"/>
                </a:solidFill>
                <a:effectLst/>
                <a:ea typeface="DengXian"/>
                <a:cs typeface="Times New Roman"/>
              </a:rPr>
              <a:t>s (e.g. therefore, but), sequencers (e.g. firstly, secondly, finally), certainty markers (e.g. certainly, no doubt) and hedges (e.g. can, may)</a:t>
            </a:r>
            <a:endParaRPr lang="en-GB" sz="1800" dirty="0">
              <a:effectLst/>
              <a:ea typeface="DengXian"/>
              <a:cs typeface="Times New Roman"/>
            </a:endParaRPr>
          </a:p>
        </p:txBody>
      </p:sp>
    </p:spTree>
    <p:extLst>
      <p:ext uri="{BB962C8B-B14F-4D97-AF65-F5344CB8AC3E}">
        <p14:creationId xmlns:p14="http://schemas.microsoft.com/office/powerpoint/2010/main" val="3245358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A9CFF-426C-D9C5-4736-E4FA58ED5B97}"/>
              </a:ext>
            </a:extLst>
          </p:cNvPr>
          <p:cNvSpPr>
            <a:spLocks noGrp="1"/>
          </p:cNvSpPr>
          <p:nvPr>
            <p:ph type="title"/>
          </p:nvPr>
        </p:nvSpPr>
        <p:spPr>
          <a:xfrm>
            <a:off x="1835543" y="69023"/>
            <a:ext cx="8911687" cy="1280890"/>
          </a:xfrm>
        </p:spPr>
        <p:txBody>
          <a:bodyPr/>
          <a:lstStyle/>
          <a:p>
            <a:r>
              <a:rPr lang="en-GB" dirty="0"/>
              <a:t>Task 6</a:t>
            </a:r>
            <a:endParaRPr lang="en-HK" dirty="0"/>
          </a:p>
        </p:txBody>
      </p:sp>
      <p:sp>
        <p:nvSpPr>
          <p:cNvPr id="3" name="Content Placeholder 2">
            <a:extLst>
              <a:ext uri="{FF2B5EF4-FFF2-40B4-BE49-F238E27FC236}">
                <a16:creationId xmlns:a16="http://schemas.microsoft.com/office/drawing/2014/main" id="{740290AF-CBF5-BEA6-966C-65A4CCBC984A}"/>
              </a:ext>
            </a:extLst>
          </p:cNvPr>
          <p:cNvSpPr>
            <a:spLocks noGrp="1"/>
          </p:cNvSpPr>
          <p:nvPr>
            <p:ph idx="1"/>
          </p:nvPr>
        </p:nvSpPr>
        <p:spPr/>
        <p:txBody>
          <a:bodyPr/>
          <a:lstStyle/>
          <a:p>
            <a:endParaRPr lang="en-HK"/>
          </a:p>
        </p:txBody>
      </p:sp>
      <p:sp>
        <p:nvSpPr>
          <p:cNvPr id="4" name="Slide Number Placeholder 3">
            <a:extLst>
              <a:ext uri="{FF2B5EF4-FFF2-40B4-BE49-F238E27FC236}">
                <a16:creationId xmlns:a16="http://schemas.microsoft.com/office/drawing/2014/main" id="{1253C50D-1760-D091-7AE3-CB248F0BDD11}"/>
              </a:ext>
            </a:extLst>
          </p:cNvPr>
          <p:cNvSpPr>
            <a:spLocks noGrp="1"/>
          </p:cNvSpPr>
          <p:nvPr>
            <p:ph type="sldNum" sz="quarter" idx="12"/>
          </p:nvPr>
        </p:nvSpPr>
        <p:spPr/>
        <p:txBody>
          <a:bodyPr/>
          <a:lstStyle/>
          <a:p>
            <a:fld id="{D57F1E4F-1CFF-5643-939E-217C01CDF565}" type="slidenum">
              <a:rPr lang="en-US" smtClean="0"/>
              <a:pPr/>
              <a:t>28</a:t>
            </a:fld>
            <a:endParaRPr lang="en-US" dirty="0"/>
          </a:p>
        </p:txBody>
      </p:sp>
      <p:pic>
        <p:nvPicPr>
          <p:cNvPr id="6" name="Picture 5">
            <a:extLst>
              <a:ext uri="{FF2B5EF4-FFF2-40B4-BE49-F238E27FC236}">
                <a16:creationId xmlns:a16="http://schemas.microsoft.com/office/drawing/2014/main" id="{28431327-692C-09F9-039B-37F6E011EBE8}"/>
              </a:ext>
            </a:extLst>
          </p:cNvPr>
          <p:cNvPicPr>
            <a:picLocks noChangeAspect="1"/>
          </p:cNvPicPr>
          <p:nvPr/>
        </p:nvPicPr>
        <p:blipFill>
          <a:blip r:embed="rId2"/>
          <a:stretch>
            <a:fillRect/>
          </a:stretch>
        </p:blipFill>
        <p:spPr>
          <a:xfrm>
            <a:off x="1835543" y="1025761"/>
            <a:ext cx="7945766" cy="5865477"/>
          </a:xfrm>
          <a:prstGeom prst="rect">
            <a:avLst/>
          </a:prstGeom>
        </p:spPr>
      </p:pic>
    </p:spTree>
    <p:extLst>
      <p:ext uri="{BB962C8B-B14F-4D97-AF65-F5344CB8AC3E}">
        <p14:creationId xmlns:p14="http://schemas.microsoft.com/office/powerpoint/2010/main" val="553436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46565-C1BF-C889-9459-4C02A38C4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4139E-1A33-A269-7393-D67A5EDAE30C}"/>
              </a:ext>
            </a:extLst>
          </p:cNvPr>
          <p:cNvSpPr>
            <a:spLocks noGrp="1"/>
          </p:cNvSpPr>
          <p:nvPr>
            <p:ph type="title"/>
          </p:nvPr>
        </p:nvSpPr>
        <p:spPr>
          <a:xfrm>
            <a:off x="1835543" y="69023"/>
            <a:ext cx="8911687" cy="1280890"/>
          </a:xfrm>
        </p:spPr>
        <p:txBody>
          <a:bodyPr/>
          <a:lstStyle/>
          <a:p>
            <a:r>
              <a:rPr lang="en-GB" dirty="0"/>
              <a:t>Task 6</a:t>
            </a:r>
            <a:endParaRPr lang="en-HK" dirty="0"/>
          </a:p>
        </p:txBody>
      </p:sp>
      <p:sp>
        <p:nvSpPr>
          <p:cNvPr id="3" name="Content Placeholder 2">
            <a:extLst>
              <a:ext uri="{FF2B5EF4-FFF2-40B4-BE49-F238E27FC236}">
                <a16:creationId xmlns:a16="http://schemas.microsoft.com/office/drawing/2014/main" id="{836469DC-83CC-3358-C0C5-83B34623B5E5}"/>
              </a:ext>
            </a:extLst>
          </p:cNvPr>
          <p:cNvSpPr>
            <a:spLocks noGrp="1"/>
          </p:cNvSpPr>
          <p:nvPr>
            <p:ph idx="1"/>
          </p:nvPr>
        </p:nvSpPr>
        <p:spPr>
          <a:xfrm>
            <a:off x="1708727" y="6206836"/>
            <a:ext cx="4322618" cy="510523"/>
          </a:xfrm>
        </p:spPr>
        <p:txBody>
          <a:bodyPr/>
          <a:lstStyle/>
          <a:p>
            <a:pPr marL="0" indent="0">
              <a:buNone/>
            </a:pPr>
            <a:r>
              <a:rPr lang="en-GB" b="1" dirty="0"/>
              <a:t>What is the theme of this passage? </a:t>
            </a:r>
            <a:endParaRPr lang="en-HK" b="1" dirty="0"/>
          </a:p>
        </p:txBody>
      </p:sp>
      <p:sp>
        <p:nvSpPr>
          <p:cNvPr id="4" name="Slide Number Placeholder 3">
            <a:extLst>
              <a:ext uri="{FF2B5EF4-FFF2-40B4-BE49-F238E27FC236}">
                <a16:creationId xmlns:a16="http://schemas.microsoft.com/office/drawing/2014/main" id="{1F34096B-EB7B-E2B8-0F29-EA8BD627620A}"/>
              </a:ext>
            </a:extLst>
          </p:cNvPr>
          <p:cNvSpPr>
            <a:spLocks noGrp="1"/>
          </p:cNvSpPr>
          <p:nvPr>
            <p:ph type="sldNum" sz="quarter" idx="12"/>
          </p:nvPr>
        </p:nvSpPr>
        <p:spPr/>
        <p:txBody>
          <a:bodyPr/>
          <a:lstStyle/>
          <a:p>
            <a:fld id="{D57F1E4F-1CFF-5643-939E-217C01CDF565}" type="slidenum">
              <a:rPr lang="en-US" smtClean="0"/>
              <a:pPr/>
              <a:t>29</a:t>
            </a:fld>
            <a:endParaRPr lang="en-US" dirty="0"/>
          </a:p>
        </p:txBody>
      </p:sp>
      <p:pic>
        <p:nvPicPr>
          <p:cNvPr id="7" name="Picture 6">
            <a:extLst>
              <a:ext uri="{FF2B5EF4-FFF2-40B4-BE49-F238E27FC236}">
                <a16:creationId xmlns:a16="http://schemas.microsoft.com/office/drawing/2014/main" id="{9F0E1954-3306-2CC5-F812-BD5C80278030}"/>
              </a:ext>
            </a:extLst>
          </p:cNvPr>
          <p:cNvPicPr>
            <a:picLocks noChangeAspect="1"/>
          </p:cNvPicPr>
          <p:nvPr/>
        </p:nvPicPr>
        <p:blipFill>
          <a:blip r:embed="rId2"/>
          <a:stretch>
            <a:fillRect/>
          </a:stretch>
        </p:blipFill>
        <p:spPr>
          <a:xfrm>
            <a:off x="1835543" y="787782"/>
            <a:ext cx="9344419" cy="5236576"/>
          </a:xfrm>
          <a:prstGeom prst="rect">
            <a:avLst/>
          </a:prstGeom>
        </p:spPr>
      </p:pic>
      <p:sp>
        <p:nvSpPr>
          <p:cNvPr id="8" name="Content Placeholder 2">
            <a:extLst>
              <a:ext uri="{FF2B5EF4-FFF2-40B4-BE49-F238E27FC236}">
                <a16:creationId xmlns:a16="http://schemas.microsoft.com/office/drawing/2014/main" id="{DE8B5313-3126-0A5D-9B67-040745F74C85}"/>
              </a:ext>
            </a:extLst>
          </p:cNvPr>
          <p:cNvSpPr txBox="1">
            <a:spLocks/>
          </p:cNvSpPr>
          <p:nvPr/>
        </p:nvSpPr>
        <p:spPr>
          <a:xfrm>
            <a:off x="5805054" y="6232594"/>
            <a:ext cx="6386945" cy="51052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GB" b="1" dirty="0">
                <a:solidFill>
                  <a:srgbClr val="0070C0"/>
                </a:solidFill>
              </a:rPr>
              <a:t>The literature on the causes of obesity in children</a:t>
            </a:r>
            <a:endParaRPr lang="en-HK" b="1" dirty="0">
              <a:solidFill>
                <a:srgbClr val="0070C0"/>
              </a:solidFill>
            </a:endParaRPr>
          </a:p>
        </p:txBody>
      </p:sp>
    </p:spTree>
    <p:extLst>
      <p:ext uri="{BB962C8B-B14F-4D97-AF65-F5344CB8AC3E}">
        <p14:creationId xmlns:p14="http://schemas.microsoft.com/office/powerpoint/2010/main" val="2239007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EB976-C33A-AB81-DBAB-A9A0F047A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EB5FC-C27A-0C8D-51A2-756BFD538FC0}"/>
              </a:ext>
            </a:extLst>
          </p:cNvPr>
          <p:cNvSpPr>
            <a:spLocks noGrp="1"/>
          </p:cNvSpPr>
          <p:nvPr>
            <p:ph type="title"/>
          </p:nvPr>
        </p:nvSpPr>
        <p:spPr>
          <a:xfrm>
            <a:off x="1585625" y="426959"/>
            <a:ext cx="8911687" cy="1280890"/>
          </a:xfrm>
        </p:spPr>
        <p:txBody>
          <a:bodyPr/>
          <a:lstStyle/>
          <a:p>
            <a:r>
              <a:rPr lang="en-GB" dirty="0"/>
              <a:t>Task 6</a:t>
            </a:r>
            <a:endParaRPr lang="en-HK" dirty="0"/>
          </a:p>
        </p:txBody>
      </p:sp>
      <p:sp>
        <p:nvSpPr>
          <p:cNvPr id="3" name="Content Placeholder 2">
            <a:extLst>
              <a:ext uri="{FF2B5EF4-FFF2-40B4-BE49-F238E27FC236}">
                <a16:creationId xmlns:a16="http://schemas.microsoft.com/office/drawing/2014/main" id="{AFB02FFD-1ADF-F2C9-41CE-4CCF53212F7C}"/>
              </a:ext>
            </a:extLst>
          </p:cNvPr>
          <p:cNvSpPr>
            <a:spLocks noGrp="1"/>
          </p:cNvSpPr>
          <p:nvPr>
            <p:ph idx="1"/>
          </p:nvPr>
        </p:nvSpPr>
        <p:spPr/>
        <p:txBody>
          <a:bodyPr/>
          <a:lstStyle/>
          <a:p>
            <a:endParaRPr lang="en-HK"/>
          </a:p>
        </p:txBody>
      </p:sp>
      <p:sp>
        <p:nvSpPr>
          <p:cNvPr id="4" name="Slide Number Placeholder 3">
            <a:extLst>
              <a:ext uri="{FF2B5EF4-FFF2-40B4-BE49-F238E27FC236}">
                <a16:creationId xmlns:a16="http://schemas.microsoft.com/office/drawing/2014/main" id="{97FF6BE2-B550-D6DB-690D-25F6F324C58E}"/>
              </a:ext>
            </a:extLst>
          </p:cNvPr>
          <p:cNvSpPr>
            <a:spLocks noGrp="1"/>
          </p:cNvSpPr>
          <p:nvPr>
            <p:ph type="sldNum" sz="quarter" idx="12"/>
          </p:nvPr>
        </p:nvSpPr>
        <p:spPr/>
        <p:txBody>
          <a:bodyPr/>
          <a:lstStyle/>
          <a:p>
            <a:fld id="{D57F1E4F-1CFF-5643-939E-217C01CDF565}" type="slidenum">
              <a:rPr lang="en-US" smtClean="0"/>
              <a:pPr/>
              <a:t>30</a:t>
            </a:fld>
            <a:endParaRPr lang="en-US" dirty="0"/>
          </a:p>
        </p:txBody>
      </p:sp>
      <p:pic>
        <p:nvPicPr>
          <p:cNvPr id="7" name="Picture 6">
            <a:extLst>
              <a:ext uri="{FF2B5EF4-FFF2-40B4-BE49-F238E27FC236}">
                <a16:creationId xmlns:a16="http://schemas.microsoft.com/office/drawing/2014/main" id="{C8AE675E-90BF-3BC7-A568-A7AF5C554967}"/>
              </a:ext>
            </a:extLst>
          </p:cNvPr>
          <p:cNvPicPr>
            <a:picLocks noChangeAspect="1"/>
          </p:cNvPicPr>
          <p:nvPr/>
        </p:nvPicPr>
        <p:blipFill>
          <a:blip r:embed="rId2"/>
          <a:stretch>
            <a:fillRect/>
          </a:stretch>
        </p:blipFill>
        <p:spPr>
          <a:xfrm>
            <a:off x="1585625" y="1349913"/>
            <a:ext cx="10123759" cy="4940878"/>
          </a:xfrm>
          <a:prstGeom prst="rect">
            <a:avLst/>
          </a:prstGeom>
        </p:spPr>
      </p:pic>
    </p:spTree>
    <p:extLst>
      <p:ext uri="{BB962C8B-B14F-4D97-AF65-F5344CB8AC3E}">
        <p14:creationId xmlns:p14="http://schemas.microsoft.com/office/powerpoint/2010/main" val="3869561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610B3-71E4-CBC1-7929-4945AA7D3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189C8-98D8-A538-B866-50A868E3A42B}"/>
              </a:ext>
            </a:extLst>
          </p:cNvPr>
          <p:cNvSpPr>
            <a:spLocks noGrp="1"/>
          </p:cNvSpPr>
          <p:nvPr>
            <p:ph type="title"/>
          </p:nvPr>
        </p:nvSpPr>
        <p:spPr>
          <a:xfrm>
            <a:off x="1770888" y="329899"/>
            <a:ext cx="8911687" cy="1280890"/>
          </a:xfrm>
        </p:spPr>
        <p:txBody>
          <a:bodyPr/>
          <a:lstStyle/>
          <a:p>
            <a:r>
              <a:rPr lang="en-GB" dirty="0"/>
              <a:t>Task 6</a:t>
            </a:r>
            <a:endParaRPr lang="en-HK" dirty="0"/>
          </a:p>
        </p:txBody>
      </p:sp>
      <p:sp>
        <p:nvSpPr>
          <p:cNvPr id="3" name="Content Placeholder 2">
            <a:extLst>
              <a:ext uri="{FF2B5EF4-FFF2-40B4-BE49-F238E27FC236}">
                <a16:creationId xmlns:a16="http://schemas.microsoft.com/office/drawing/2014/main" id="{606D3027-04D1-82B9-8F5B-7B87FD0C5038}"/>
              </a:ext>
            </a:extLst>
          </p:cNvPr>
          <p:cNvSpPr>
            <a:spLocks noGrp="1"/>
          </p:cNvSpPr>
          <p:nvPr>
            <p:ph idx="1"/>
          </p:nvPr>
        </p:nvSpPr>
        <p:spPr/>
        <p:txBody>
          <a:bodyPr/>
          <a:lstStyle/>
          <a:p>
            <a:endParaRPr lang="en-HK"/>
          </a:p>
        </p:txBody>
      </p:sp>
      <p:sp>
        <p:nvSpPr>
          <p:cNvPr id="4" name="Slide Number Placeholder 3">
            <a:extLst>
              <a:ext uri="{FF2B5EF4-FFF2-40B4-BE49-F238E27FC236}">
                <a16:creationId xmlns:a16="http://schemas.microsoft.com/office/drawing/2014/main" id="{2EC7EA9E-8D7C-A760-5944-BF5F5BBB8DDD}"/>
              </a:ext>
            </a:extLst>
          </p:cNvPr>
          <p:cNvSpPr>
            <a:spLocks noGrp="1"/>
          </p:cNvSpPr>
          <p:nvPr>
            <p:ph type="sldNum" sz="quarter" idx="12"/>
          </p:nvPr>
        </p:nvSpPr>
        <p:spPr/>
        <p:txBody>
          <a:bodyPr/>
          <a:lstStyle/>
          <a:p>
            <a:fld id="{D57F1E4F-1CFF-5643-939E-217C01CDF565}" type="slidenum">
              <a:rPr lang="en-US" smtClean="0"/>
              <a:pPr/>
              <a:t>31</a:t>
            </a:fld>
            <a:endParaRPr lang="en-US" dirty="0"/>
          </a:p>
        </p:txBody>
      </p:sp>
      <p:pic>
        <p:nvPicPr>
          <p:cNvPr id="6" name="Picture 5">
            <a:extLst>
              <a:ext uri="{FF2B5EF4-FFF2-40B4-BE49-F238E27FC236}">
                <a16:creationId xmlns:a16="http://schemas.microsoft.com/office/drawing/2014/main" id="{B7D880DA-71DD-874B-AD6F-FA142400F495}"/>
              </a:ext>
            </a:extLst>
          </p:cNvPr>
          <p:cNvPicPr>
            <a:picLocks noChangeAspect="1"/>
          </p:cNvPicPr>
          <p:nvPr/>
        </p:nvPicPr>
        <p:blipFill>
          <a:blip r:embed="rId2"/>
          <a:stretch>
            <a:fillRect/>
          </a:stretch>
        </p:blipFill>
        <p:spPr>
          <a:xfrm>
            <a:off x="1635684" y="1457707"/>
            <a:ext cx="10245565" cy="4758315"/>
          </a:xfrm>
          <a:prstGeom prst="rect">
            <a:avLst/>
          </a:prstGeom>
        </p:spPr>
      </p:pic>
    </p:spTree>
    <p:extLst>
      <p:ext uri="{BB962C8B-B14F-4D97-AF65-F5344CB8AC3E}">
        <p14:creationId xmlns:p14="http://schemas.microsoft.com/office/powerpoint/2010/main" val="1371794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633E-7059-7E2A-E199-DEAAE7540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7BEF6-7F19-1321-D5B0-5982B0079628}"/>
              </a:ext>
            </a:extLst>
          </p:cNvPr>
          <p:cNvSpPr>
            <a:spLocks noGrp="1"/>
          </p:cNvSpPr>
          <p:nvPr>
            <p:ph type="title"/>
          </p:nvPr>
        </p:nvSpPr>
        <p:spPr>
          <a:xfrm>
            <a:off x="1770888" y="329899"/>
            <a:ext cx="8911687" cy="1280890"/>
          </a:xfrm>
        </p:spPr>
        <p:txBody>
          <a:bodyPr/>
          <a:lstStyle/>
          <a:p>
            <a:r>
              <a:rPr lang="en-GB" dirty="0"/>
              <a:t>Task 6</a:t>
            </a:r>
            <a:endParaRPr lang="en-HK" dirty="0"/>
          </a:p>
        </p:txBody>
      </p:sp>
      <p:sp>
        <p:nvSpPr>
          <p:cNvPr id="3" name="Content Placeholder 2">
            <a:extLst>
              <a:ext uri="{FF2B5EF4-FFF2-40B4-BE49-F238E27FC236}">
                <a16:creationId xmlns:a16="http://schemas.microsoft.com/office/drawing/2014/main" id="{E004F7CA-E100-A971-3A98-94489D01B129}"/>
              </a:ext>
            </a:extLst>
          </p:cNvPr>
          <p:cNvSpPr>
            <a:spLocks noGrp="1"/>
          </p:cNvSpPr>
          <p:nvPr>
            <p:ph idx="1"/>
          </p:nvPr>
        </p:nvSpPr>
        <p:spPr>
          <a:xfrm>
            <a:off x="1767175" y="1152907"/>
            <a:ext cx="8915400" cy="457882"/>
          </a:xfrm>
        </p:spPr>
        <p:txBody>
          <a:bodyPr/>
          <a:lstStyle/>
          <a:p>
            <a:r>
              <a:rPr lang="en-GB" dirty="0"/>
              <a:t>Which text is more coherent? Why?</a:t>
            </a:r>
            <a:endParaRPr lang="en-HK" dirty="0"/>
          </a:p>
        </p:txBody>
      </p:sp>
      <p:sp>
        <p:nvSpPr>
          <p:cNvPr id="4" name="Slide Number Placeholder 3">
            <a:extLst>
              <a:ext uri="{FF2B5EF4-FFF2-40B4-BE49-F238E27FC236}">
                <a16:creationId xmlns:a16="http://schemas.microsoft.com/office/drawing/2014/main" id="{3A985744-E2C4-2B36-4DA7-CF2515EE3174}"/>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
        <p:nvSpPr>
          <p:cNvPr id="5" name="Content Placeholder 2">
            <a:extLst>
              <a:ext uri="{FF2B5EF4-FFF2-40B4-BE49-F238E27FC236}">
                <a16:creationId xmlns:a16="http://schemas.microsoft.com/office/drawing/2014/main" id="{ED79BA94-D9AA-863F-353B-DAC9DD6D324D}"/>
              </a:ext>
            </a:extLst>
          </p:cNvPr>
          <p:cNvSpPr txBox="1">
            <a:spLocks/>
          </p:cNvSpPr>
          <p:nvPr/>
        </p:nvSpPr>
        <p:spPr>
          <a:xfrm>
            <a:off x="1106422" y="1663516"/>
            <a:ext cx="5340560" cy="4864585"/>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u="sng" dirty="0"/>
              <a:t>Text A</a:t>
            </a:r>
            <a:endParaRPr lang="en-HK" dirty="0"/>
          </a:p>
          <a:p>
            <a:pPr marL="0" indent="0">
              <a:lnSpc>
                <a:spcPct val="110000"/>
              </a:lnSpc>
              <a:buNone/>
            </a:pPr>
            <a:r>
              <a:rPr lang="en-US" dirty="0">
                <a:solidFill>
                  <a:srgbClr val="00B0F0"/>
                </a:solidFill>
              </a:rPr>
              <a:t>Attracting customers </a:t>
            </a:r>
            <a:r>
              <a:rPr lang="en-US" dirty="0"/>
              <a:t>to buy your products and services needs a </a:t>
            </a:r>
            <a:r>
              <a:rPr lang="en-US" dirty="0">
                <a:solidFill>
                  <a:srgbClr val="00B050"/>
                </a:solidFill>
              </a:rPr>
              <a:t>great deal of research </a:t>
            </a:r>
            <a:r>
              <a:rPr lang="en-US" dirty="0"/>
              <a:t>and planning to ensure the money you invest in gaining customers pays off.  </a:t>
            </a:r>
            <a:r>
              <a:rPr lang="en-US" b="1" dirty="0"/>
              <a:t>This</a:t>
            </a:r>
            <a:r>
              <a:rPr lang="en-US" dirty="0"/>
              <a:t> is normally achieved through </a:t>
            </a:r>
            <a:r>
              <a:rPr lang="en-US" dirty="0">
                <a:solidFill>
                  <a:srgbClr val="00B050"/>
                </a:solidFill>
              </a:rPr>
              <a:t>market research </a:t>
            </a:r>
            <a:r>
              <a:rPr lang="en-US" dirty="0"/>
              <a:t>and involves finding more about the </a:t>
            </a:r>
            <a:r>
              <a:rPr lang="en-US" dirty="0">
                <a:solidFill>
                  <a:srgbClr val="00B0F0"/>
                </a:solidFill>
              </a:rPr>
              <a:t>people you hope to sell to</a:t>
            </a:r>
            <a:r>
              <a:rPr lang="en-US" dirty="0"/>
              <a:t>.  Armed with </a:t>
            </a:r>
            <a:r>
              <a:rPr lang="en-US" b="1" dirty="0">
                <a:solidFill>
                  <a:srgbClr val="FFC000"/>
                </a:solidFill>
              </a:rPr>
              <a:t>this information </a:t>
            </a:r>
            <a:r>
              <a:rPr lang="en-US" dirty="0"/>
              <a:t>you can then formulate an effective plan of action based on your </a:t>
            </a:r>
            <a:r>
              <a:rPr lang="en-US" dirty="0">
                <a:solidFill>
                  <a:srgbClr val="FFC000"/>
                </a:solidFill>
              </a:rPr>
              <a:t>evidence</a:t>
            </a:r>
            <a:r>
              <a:rPr lang="en-US" dirty="0"/>
              <a:t>. Once you are aware of the needs of your </a:t>
            </a:r>
            <a:r>
              <a:rPr lang="en-US" dirty="0">
                <a:solidFill>
                  <a:srgbClr val="00B0F0"/>
                </a:solidFill>
              </a:rPr>
              <a:t>potential customers </a:t>
            </a:r>
            <a:r>
              <a:rPr lang="en-US" dirty="0"/>
              <a:t>you need to examine your product in detail, fix a suitable price which will help your product sell, ensure you choose the correct method of distribution and select an appropriate promotion to </a:t>
            </a:r>
            <a:r>
              <a:rPr lang="en-US" dirty="0">
                <a:solidFill>
                  <a:srgbClr val="00B0F0"/>
                </a:solidFill>
              </a:rPr>
              <a:t>attract your audience</a:t>
            </a:r>
            <a:r>
              <a:rPr lang="en-US" dirty="0"/>
              <a:t>. </a:t>
            </a:r>
            <a:r>
              <a:rPr lang="en-US" b="1" dirty="0"/>
              <a:t>This </a:t>
            </a:r>
            <a:r>
              <a:rPr lang="en-US" dirty="0"/>
              <a:t>is known as the marketing mix and can help your business to spend money wisely with the best results.</a:t>
            </a:r>
            <a:endParaRPr lang="en-HK" dirty="0"/>
          </a:p>
        </p:txBody>
      </p:sp>
      <p:sp>
        <p:nvSpPr>
          <p:cNvPr id="7" name="Content Placeholder 2">
            <a:extLst>
              <a:ext uri="{FF2B5EF4-FFF2-40B4-BE49-F238E27FC236}">
                <a16:creationId xmlns:a16="http://schemas.microsoft.com/office/drawing/2014/main" id="{1D507DD5-C1BF-9363-45D0-154C92AFF594}"/>
              </a:ext>
            </a:extLst>
          </p:cNvPr>
          <p:cNvSpPr txBox="1">
            <a:spLocks/>
          </p:cNvSpPr>
          <p:nvPr/>
        </p:nvSpPr>
        <p:spPr>
          <a:xfrm>
            <a:off x="6560495" y="1790215"/>
            <a:ext cx="5340560" cy="4864585"/>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u="sng" dirty="0"/>
              <a:t>Text B</a:t>
            </a:r>
            <a:endParaRPr lang="en-HK" dirty="0"/>
          </a:p>
          <a:p>
            <a:pPr>
              <a:lnSpc>
                <a:spcPct val="110000"/>
              </a:lnSpc>
            </a:pPr>
            <a:r>
              <a:rPr lang="en-US" dirty="0">
                <a:solidFill>
                  <a:srgbClr val="0070C0"/>
                </a:solidFill>
              </a:rPr>
              <a:t>Attracting customers </a:t>
            </a:r>
            <a:r>
              <a:rPr lang="en-US" dirty="0"/>
              <a:t>to buy your products and services needs a </a:t>
            </a:r>
            <a:r>
              <a:rPr lang="en-US" dirty="0">
                <a:solidFill>
                  <a:srgbClr val="00B050"/>
                </a:solidFill>
              </a:rPr>
              <a:t>great deal of research </a:t>
            </a:r>
            <a:r>
              <a:rPr lang="en-US" dirty="0"/>
              <a:t>and planning to ensure the money you invest in </a:t>
            </a:r>
            <a:r>
              <a:rPr lang="en-US" dirty="0">
                <a:solidFill>
                  <a:srgbClr val="00B0F0"/>
                </a:solidFill>
              </a:rPr>
              <a:t>gaining customers </a:t>
            </a:r>
            <a:r>
              <a:rPr lang="en-US" dirty="0"/>
              <a:t>pays off. </a:t>
            </a:r>
            <a:r>
              <a:rPr lang="en-US" b="1" dirty="0"/>
              <a:t>Firstly</a:t>
            </a:r>
            <a:r>
              <a:rPr lang="en-US" dirty="0"/>
              <a:t>, there is </a:t>
            </a:r>
            <a:r>
              <a:rPr lang="en-US" dirty="0">
                <a:solidFill>
                  <a:srgbClr val="00B050"/>
                </a:solidFill>
              </a:rPr>
              <a:t>market research </a:t>
            </a:r>
            <a:r>
              <a:rPr lang="en-US" dirty="0"/>
              <a:t>and involves finding more about </a:t>
            </a:r>
            <a:r>
              <a:rPr lang="en-US" dirty="0">
                <a:solidFill>
                  <a:srgbClr val="00B0F0"/>
                </a:solidFill>
              </a:rPr>
              <a:t>the people </a:t>
            </a:r>
            <a:r>
              <a:rPr lang="en-US" dirty="0"/>
              <a:t>you hope to sell to.  </a:t>
            </a:r>
            <a:r>
              <a:rPr lang="en-US" b="1" dirty="0"/>
              <a:t>Secondly</a:t>
            </a:r>
            <a:r>
              <a:rPr lang="en-US" dirty="0"/>
              <a:t>, formulate an effective plan of action based on your evidence. </a:t>
            </a:r>
            <a:r>
              <a:rPr lang="en-US" b="1" dirty="0"/>
              <a:t>Furthermore</a:t>
            </a:r>
            <a:r>
              <a:rPr lang="en-US" dirty="0"/>
              <a:t>, it is important to examine your product in detail. </a:t>
            </a:r>
            <a:r>
              <a:rPr lang="en-US" b="1" dirty="0"/>
              <a:t>Moreover</a:t>
            </a:r>
            <a:r>
              <a:rPr lang="en-US" dirty="0"/>
              <a:t>, you should fix a suitable price which will help your product sell, ensure you choose the correct method of distribution and select an appropriate promotion to attract </a:t>
            </a:r>
            <a:r>
              <a:rPr lang="en-US" dirty="0">
                <a:solidFill>
                  <a:srgbClr val="00B0F0"/>
                </a:solidFill>
              </a:rPr>
              <a:t>your audience</a:t>
            </a:r>
            <a:r>
              <a:rPr lang="en-US" dirty="0"/>
              <a:t>. </a:t>
            </a:r>
            <a:r>
              <a:rPr lang="en-US" b="1" dirty="0"/>
              <a:t>So this</a:t>
            </a:r>
            <a:r>
              <a:rPr lang="en-US" dirty="0"/>
              <a:t> is known as the marketing mix and in summary it can help your business to spend money wisely with the best results.</a:t>
            </a:r>
            <a:endParaRPr lang="en-HK" dirty="0"/>
          </a:p>
        </p:txBody>
      </p:sp>
    </p:spTree>
    <p:extLst>
      <p:ext uri="{BB962C8B-B14F-4D97-AF65-F5344CB8AC3E}">
        <p14:creationId xmlns:p14="http://schemas.microsoft.com/office/powerpoint/2010/main" val="1674230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79DA2B-96F0-2DD2-2F6F-91A2980BEC02}"/>
              </a:ext>
            </a:extLst>
          </p:cNvPr>
          <p:cNvSpPr>
            <a:spLocks noGrp="1"/>
          </p:cNvSpPr>
          <p:nvPr>
            <p:ph idx="1"/>
          </p:nvPr>
        </p:nvSpPr>
        <p:spPr>
          <a:xfrm>
            <a:off x="1597890" y="1152907"/>
            <a:ext cx="10280073" cy="5334000"/>
          </a:xfrm>
        </p:spPr>
        <p:txBody>
          <a:bodyPr>
            <a:normAutofit fontScale="92500"/>
          </a:bodyPr>
          <a:lstStyle/>
          <a:p>
            <a:pPr marL="0" indent="0">
              <a:buNone/>
            </a:pPr>
            <a:r>
              <a:rPr lang="en-US" sz="2400" dirty="0">
                <a:solidFill>
                  <a:srgbClr val="0070C0"/>
                </a:solidFill>
              </a:rPr>
              <a:t>Suggested answers:</a:t>
            </a:r>
            <a:endParaRPr lang="en-HK" sz="2400" dirty="0">
              <a:solidFill>
                <a:srgbClr val="0070C0"/>
              </a:solidFill>
            </a:endParaRPr>
          </a:p>
          <a:p>
            <a:pPr lvl="0"/>
            <a:r>
              <a:rPr lang="en-US" sz="2400" dirty="0">
                <a:solidFill>
                  <a:srgbClr val="0070C0"/>
                </a:solidFill>
              </a:rPr>
              <a:t>The first text is the original text and is highly cohesive – even though it does not contain many obvious linking words. Text B may at first sight look more cohesive, but in fact most of the cohesion words are wrongly used. Be careful of overusing that sort of language. </a:t>
            </a:r>
            <a:endParaRPr lang="en-HK" sz="2400" dirty="0">
              <a:solidFill>
                <a:srgbClr val="0070C0"/>
              </a:solidFill>
            </a:endParaRPr>
          </a:p>
          <a:p>
            <a:pPr lvl="0"/>
            <a:r>
              <a:rPr lang="en-US" sz="2400" dirty="0">
                <a:solidFill>
                  <a:srgbClr val="0070C0"/>
                </a:solidFill>
              </a:rPr>
              <a:t>Incorrect linking:</a:t>
            </a:r>
            <a:endParaRPr lang="en-HK" sz="2400" dirty="0">
              <a:solidFill>
                <a:srgbClr val="0070C0"/>
              </a:solidFill>
            </a:endParaRPr>
          </a:p>
          <a:p>
            <a:pPr lvl="0"/>
            <a:r>
              <a:rPr lang="en-US" sz="2400" dirty="0">
                <a:solidFill>
                  <a:srgbClr val="0070C0"/>
                </a:solidFill>
              </a:rPr>
              <a:t>Is “Firstly” really the first point made in Text B? To use it correctly, you need to identify that there is a list of points to come: “There are a variety of issues here; firstly,..”</a:t>
            </a:r>
            <a:endParaRPr lang="en-HK" sz="2400" dirty="0">
              <a:solidFill>
                <a:srgbClr val="0070C0"/>
              </a:solidFill>
            </a:endParaRPr>
          </a:p>
          <a:p>
            <a:pPr lvl="0"/>
            <a:r>
              <a:rPr lang="en-US" sz="2400" dirty="0">
                <a:solidFill>
                  <a:srgbClr val="0070C0"/>
                </a:solidFill>
              </a:rPr>
              <a:t>The same comment applies to the use of “secondly”</a:t>
            </a:r>
            <a:endParaRPr lang="en-HK" sz="2400" dirty="0">
              <a:solidFill>
                <a:srgbClr val="0070C0"/>
              </a:solidFill>
            </a:endParaRPr>
          </a:p>
          <a:p>
            <a:pPr lvl="0"/>
            <a:r>
              <a:rPr lang="en-US" sz="2400" dirty="0">
                <a:solidFill>
                  <a:srgbClr val="0070C0"/>
                </a:solidFill>
              </a:rPr>
              <a:t>“So” is used when a conclusion can be made – typically in conversation rather than academic writing. This is the final point, but it is not a conclusion.</a:t>
            </a:r>
            <a:endParaRPr lang="en-HK" sz="2400" dirty="0">
              <a:solidFill>
                <a:srgbClr val="0070C0"/>
              </a:solidFill>
            </a:endParaRPr>
          </a:p>
          <a:p>
            <a:endParaRPr lang="en-HK" dirty="0"/>
          </a:p>
        </p:txBody>
      </p:sp>
      <p:sp>
        <p:nvSpPr>
          <p:cNvPr id="4" name="Slide Number Placeholder 3">
            <a:extLst>
              <a:ext uri="{FF2B5EF4-FFF2-40B4-BE49-F238E27FC236}">
                <a16:creationId xmlns:a16="http://schemas.microsoft.com/office/drawing/2014/main" id="{DF330BDC-A58E-301D-9C86-8592AA8430DF}"/>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Tree>
    <p:extLst>
      <p:ext uri="{BB962C8B-B14F-4D97-AF65-F5344CB8AC3E}">
        <p14:creationId xmlns:p14="http://schemas.microsoft.com/office/powerpoint/2010/main" val="1603162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287279-4795-5349-A983-06DEEB58567F}"/>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
        <p:nvSpPr>
          <p:cNvPr id="9" name="TextBox 8">
            <a:extLst>
              <a:ext uri="{FF2B5EF4-FFF2-40B4-BE49-F238E27FC236}">
                <a16:creationId xmlns:a16="http://schemas.microsoft.com/office/drawing/2014/main" id="{C83404BC-776B-4FBF-9224-1C6BCF75CB6A}"/>
              </a:ext>
            </a:extLst>
          </p:cNvPr>
          <p:cNvSpPr txBox="1"/>
          <p:nvPr/>
        </p:nvSpPr>
        <p:spPr>
          <a:xfrm>
            <a:off x="1632238" y="607105"/>
            <a:ext cx="10275743" cy="5973110"/>
          </a:xfrm>
          <a:prstGeom prst="rect">
            <a:avLst/>
          </a:prstGeom>
          <a:noFill/>
        </p:spPr>
        <p:txBody>
          <a:bodyPr wrap="square">
            <a:spAutoFit/>
          </a:bodyPr>
          <a:lstStyle/>
          <a:p>
            <a:pPr>
              <a:lnSpc>
                <a:spcPct val="107000"/>
              </a:lnSpc>
              <a:spcAft>
                <a:spcPts val="800"/>
              </a:spcAft>
            </a:pPr>
            <a:r>
              <a:rPr lang="en-GB" sz="2000" b="1" u="sng" dirty="0">
                <a:effectLst/>
                <a:ea typeface="DengXian" panose="02010600030101010101" pitchFamily="2" charset="-122"/>
                <a:cs typeface="Times New Roman" panose="02020603050405020304" pitchFamily="18" charset="0"/>
              </a:rPr>
              <a:t>Cohesion</a:t>
            </a:r>
            <a:endParaRPr lang="en-GB" sz="2000" dirty="0">
              <a:effectLst/>
              <a:ea typeface="DengXian" panose="02010600030101010101" pitchFamily="2" charset="-122"/>
              <a:cs typeface="Times New Roman" panose="02020603050405020304" pitchFamily="18" charset="0"/>
            </a:endParaRPr>
          </a:p>
          <a:p>
            <a:pPr algn="just">
              <a:lnSpc>
                <a:spcPct val="107000"/>
              </a:lnSpc>
              <a:spcAft>
                <a:spcPts val="800"/>
              </a:spcAft>
            </a:pPr>
            <a:r>
              <a:rPr lang="en-GB" sz="2000" dirty="0">
                <a:effectLst/>
                <a:ea typeface="DengXian" panose="02010600030101010101" pitchFamily="2" charset="-122"/>
                <a:cs typeface="Times New Roman" panose="02020603050405020304" pitchFamily="18" charset="0"/>
              </a:rPr>
              <a:t>All languages provide a certain number of </a:t>
            </a:r>
            <a:r>
              <a:rPr lang="en-GB" sz="2000" dirty="0" err="1">
                <a:effectLst/>
                <a:ea typeface="DengXian" panose="02010600030101010101" pitchFamily="2" charset="-122"/>
                <a:cs typeface="Times New Roman" panose="02020603050405020304" pitchFamily="18" charset="0"/>
              </a:rPr>
              <a:t>lexico</a:t>
            </a:r>
            <a:r>
              <a:rPr lang="en-GB" sz="2000" dirty="0">
                <a:effectLst/>
                <a:ea typeface="DengXian" panose="02010600030101010101" pitchFamily="2" charset="-122"/>
                <a:cs typeface="Times New Roman" panose="02020603050405020304" pitchFamily="18" charset="0"/>
              </a:rPr>
              <a:t>-grammatical elements which highlight, on the sentence and paragraph level, the sense relation of one textual unit to those preceding or following it. Such formal or stylistic devices have a </a:t>
            </a:r>
            <a:r>
              <a:rPr lang="en-GB" sz="2000" b="1" dirty="0">
                <a:solidFill>
                  <a:srgbClr val="0070C0"/>
                </a:solidFill>
                <a:effectLst/>
                <a:ea typeface="DengXian" panose="02010600030101010101" pitchFamily="2" charset="-122"/>
                <a:cs typeface="Times New Roman" panose="02020603050405020304" pitchFamily="18" charset="0"/>
              </a:rPr>
              <a:t>guiding function </a:t>
            </a:r>
            <a:r>
              <a:rPr lang="en-GB" sz="2000" dirty="0">
                <a:effectLst/>
                <a:ea typeface="DengXian" panose="02010600030101010101" pitchFamily="2" charset="-122"/>
                <a:cs typeface="Times New Roman" panose="02020603050405020304" pitchFamily="18" charset="0"/>
              </a:rPr>
              <a:t>for the reader. They support and speed up the cognitive processes by which a reader constructs the overall meaning of the linearly incoming textual information. This is why an author must take care that there is a tight fit of meaning and form. The cohesive elements which languages offer for the structuring and ease of understanding of texts can best be illustrated by some examples.</a:t>
            </a:r>
          </a:p>
          <a:p>
            <a:pPr>
              <a:lnSpc>
                <a:spcPct val="107000"/>
              </a:lnSpc>
              <a:spcAft>
                <a:spcPts val="800"/>
              </a:spcAft>
            </a:pPr>
            <a:r>
              <a:rPr lang="en-GB" sz="2000" dirty="0">
                <a:effectLst/>
                <a:ea typeface="DengXian" panose="02010600030101010101" pitchFamily="2" charset="-122"/>
                <a:cs typeface="Times New Roman" panose="02020603050405020304" pitchFamily="18" charset="0"/>
              </a:rPr>
              <a:t>Strategies for making a text more cohesive include the use of:</a:t>
            </a:r>
          </a:p>
          <a:p>
            <a:pPr marL="342900" lvl="0" indent="-342900">
              <a:lnSpc>
                <a:spcPct val="107000"/>
              </a:lnSpc>
              <a:buFont typeface="+mj-lt"/>
              <a:buAutoNum type="romanUcPeriod"/>
            </a:pPr>
            <a:r>
              <a:rPr lang="en-GB" sz="2000" dirty="0">
                <a:effectLst/>
                <a:ea typeface="DengXian" panose="02010600030101010101" pitchFamily="2" charset="-122"/>
                <a:cs typeface="Times New Roman" panose="02020603050405020304" pitchFamily="18" charset="0"/>
              </a:rPr>
              <a:t>Transitions or connectives</a:t>
            </a:r>
          </a:p>
          <a:p>
            <a:pPr marL="342900" lvl="0" indent="-342900">
              <a:lnSpc>
                <a:spcPct val="107000"/>
              </a:lnSpc>
              <a:buFont typeface="+mj-lt"/>
              <a:buAutoNum type="romanUcPeriod"/>
            </a:pPr>
            <a:r>
              <a:rPr lang="en-GB" sz="2000" dirty="0">
                <a:ea typeface="DengXian" panose="02010600030101010101" pitchFamily="2" charset="-122"/>
                <a:cs typeface="Times New Roman" panose="02020603050405020304" pitchFamily="18" charset="0"/>
              </a:rPr>
              <a:t>Referencing</a:t>
            </a:r>
          </a:p>
          <a:p>
            <a:pPr marL="342900" lvl="0" indent="-342900">
              <a:lnSpc>
                <a:spcPct val="107000"/>
              </a:lnSpc>
              <a:buFont typeface="+mj-lt"/>
              <a:buAutoNum type="romanUcPeriod"/>
            </a:pPr>
            <a:r>
              <a:rPr lang="en-GB" sz="2000" dirty="0">
                <a:effectLst/>
                <a:ea typeface="DengXian" panose="02010600030101010101" pitchFamily="2" charset="-122"/>
                <a:cs typeface="Times New Roman" panose="02020603050405020304" pitchFamily="18" charset="0"/>
              </a:rPr>
              <a:t>Lexical cha</a:t>
            </a:r>
            <a:r>
              <a:rPr lang="en-GB" sz="2000" dirty="0">
                <a:ea typeface="DengXian" panose="02010600030101010101" pitchFamily="2" charset="-122"/>
                <a:cs typeface="Times New Roman" panose="02020603050405020304" pitchFamily="18" charset="0"/>
              </a:rPr>
              <a:t>ins</a:t>
            </a:r>
            <a:endParaRPr lang="en-GB" sz="2000" dirty="0">
              <a:effectLst/>
              <a:ea typeface="DengXian" panose="02010600030101010101" pitchFamily="2" charset="-122"/>
              <a:cs typeface="Times New Roman" panose="02020603050405020304" pitchFamily="18" charset="0"/>
            </a:endParaRPr>
          </a:p>
          <a:p>
            <a:pPr marL="342900" lvl="0" indent="-342900">
              <a:lnSpc>
                <a:spcPct val="107000"/>
              </a:lnSpc>
              <a:buFont typeface="+mj-lt"/>
              <a:buAutoNum type="romanUcPeriod"/>
            </a:pPr>
            <a:r>
              <a:rPr lang="en-GB" sz="2000" dirty="0">
                <a:effectLst/>
                <a:ea typeface="DengXian" panose="02010600030101010101" pitchFamily="2" charset="-122"/>
                <a:cs typeface="Times New Roman" panose="02020603050405020304" pitchFamily="18" charset="0"/>
              </a:rPr>
              <a:t>Anaphoric nouns</a:t>
            </a:r>
          </a:p>
          <a:p>
            <a:pPr marL="342900" lvl="0" indent="-342900">
              <a:lnSpc>
                <a:spcPct val="107000"/>
              </a:lnSpc>
              <a:buFont typeface="+mj-lt"/>
              <a:buAutoNum type="romanUcPeriod"/>
            </a:pPr>
            <a:r>
              <a:rPr lang="en-GB" sz="2000" dirty="0">
                <a:effectLst/>
                <a:ea typeface="DengXian" panose="02010600030101010101" pitchFamily="2" charset="-122"/>
                <a:cs typeface="Times New Roman" panose="02020603050405020304" pitchFamily="18" charset="0"/>
              </a:rPr>
              <a:t>Substitution and ellipsis</a:t>
            </a:r>
          </a:p>
          <a:p>
            <a:pPr marL="457200">
              <a:lnSpc>
                <a:spcPct val="107000"/>
              </a:lnSpc>
              <a:spcAft>
                <a:spcPts val="800"/>
              </a:spcAft>
            </a:pPr>
            <a:r>
              <a:rPr lang="en-GB" sz="2000" dirty="0">
                <a:effectLst/>
                <a:ea typeface="DengXian" panose="02010600030101010101" pitchFamily="2" charset="-122"/>
                <a:cs typeface="Times New Roman" panose="02020603050405020304" pitchFamily="18" charset="0"/>
              </a:rPr>
              <a:t> </a:t>
            </a:r>
          </a:p>
        </p:txBody>
      </p:sp>
    </p:spTree>
    <p:extLst>
      <p:ext uri="{BB962C8B-B14F-4D97-AF65-F5344CB8AC3E}">
        <p14:creationId xmlns:p14="http://schemas.microsoft.com/office/powerpoint/2010/main" val="39691314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852710"/>
            <a:ext cx="8911687" cy="1280890"/>
          </a:xfrm>
        </p:spPr>
        <p:txBody>
          <a:bodyPr/>
          <a:lstStyle/>
          <a:p>
            <a:r>
              <a:rPr lang="en-US" dirty="0"/>
              <a:t>Cohesion – Practice Task</a:t>
            </a:r>
          </a:p>
        </p:txBody>
      </p:sp>
      <p:sp>
        <p:nvSpPr>
          <p:cNvPr id="3" name="Content Placeholder 2"/>
          <p:cNvSpPr>
            <a:spLocks noGrp="1"/>
          </p:cNvSpPr>
          <p:nvPr>
            <p:ph idx="1"/>
          </p:nvPr>
        </p:nvSpPr>
        <p:spPr/>
        <p:txBody>
          <a:bodyPr>
            <a:normAutofit/>
          </a:bodyPr>
          <a:lstStyle/>
          <a:p>
            <a:r>
              <a:rPr lang="en-US" sz="2800" dirty="0" err="1"/>
              <a:t>Analyse</a:t>
            </a:r>
            <a:r>
              <a:rPr lang="en-US" sz="2800" dirty="0"/>
              <a:t> the </a:t>
            </a:r>
            <a:r>
              <a:rPr lang="en-US" sz="2800" dirty="0">
                <a:solidFill>
                  <a:srgbClr val="00B0F0"/>
                </a:solidFill>
              </a:rPr>
              <a:t>use of cohesive devices </a:t>
            </a:r>
            <a:r>
              <a:rPr lang="en-US" sz="2800" dirty="0"/>
              <a:t>in a short paragraph in a journal article of your choice. </a:t>
            </a:r>
          </a:p>
          <a:p>
            <a:r>
              <a:rPr lang="en-US" sz="2800" dirty="0"/>
              <a:t>How did the authors ensure the </a:t>
            </a:r>
            <a:r>
              <a:rPr lang="en-US" sz="2800" dirty="0">
                <a:solidFill>
                  <a:srgbClr val="00B0F0"/>
                </a:solidFill>
              </a:rPr>
              <a:t>coherence</a:t>
            </a:r>
            <a:r>
              <a:rPr lang="en-US" sz="2800" dirty="0"/>
              <a:t> of the text and the </a:t>
            </a:r>
            <a:r>
              <a:rPr lang="en-US" sz="2800" dirty="0">
                <a:solidFill>
                  <a:srgbClr val="00B0F0"/>
                </a:solidFill>
              </a:rPr>
              <a:t>logical flow of ideas</a:t>
            </a:r>
            <a:r>
              <a:rPr lang="en-US" sz="2800" dirty="0"/>
              <a:t>?</a:t>
            </a:r>
          </a:p>
          <a:p>
            <a:pPr marL="0" indent="0">
              <a:buNone/>
            </a:pPr>
            <a:endParaRPr lang="en-US" sz="2800"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35</a:t>
            </a:fld>
            <a:endParaRPr lang="en-US" dirty="0"/>
          </a:p>
        </p:txBody>
      </p:sp>
    </p:spTree>
    <p:extLst>
      <p:ext uri="{BB962C8B-B14F-4D97-AF65-F5344CB8AC3E}">
        <p14:creationId xmlns:p14="http://schemas.microsoft.com/office/powerpoint/2010/main" val="9589328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287279-4795-5349-A983-06DEEB58567F}"/>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
        <p:nvSpPr>
          <p:cNvPr id="9" name="TextBox 8">
            <a:extLst>
              <a:ext uri="{FF2B5EF4-FFF2-40B4-BE49-F238E27FC236}">
                <a16:creationId xmlns:a16="http://schemas.microsoft.com/office/drawing/2014/main" id="{C83404BC-776B-4FBF-9224-1C6BCF75CB6A}"/>
              </a:ext>
            </a:extLst>
          </p:cNvPr>
          <p:cNvSpPr txBox="1"/>
          <p:nvPr/>
        </p:nvSpPr>
        <p:spPr>
          <a:xfrm>
            <a:off x="1513292" y="578260"/>
            <a:ext cx="10275743" cy="5539273"/>
          </a:xfrm>
          <a:prstGeom prst="rect">
            <a:avLst/>
          </a:prstGeom>
          <a:noFill/>
        </p:spPr>
        <p:txBody>
          <a:bodyPr wrap="square">
            <a:spAutoFit/>
          </a:bodyPr>
          <a:lstStyle/>
          <a:p>
            <a:pPr marL="742950" indent="-514350" algn="just">
              <a:lnSpc>
                <a:spcPct val="115000"/>
              </a:lnSpc>
              <a:spcAft>
                <a:spcPts val="600"/>
              </a:spcAft>
              <a:buAutoNum type="romanUcPeriod"/>
            </a:pPr>
            <a:r>
              <a:rPr lang="en-GB" sz="2000" b="1" dirty="0">
                <a:effectLst/>
                <a:ea typeface="DengXian" panose="02010600030101010101" pitchFamily="2" charset="-122"/>
                <a:cs typeface="Times New Roman" panose="02020603050405020304" pitchFamily="18" charset="0"/>
              </a:rPr>
              <a:t>Transitions</a:t>
            </a:r>
          </a:p>
          <a:p>
            <a:pPr marL="228600" algn="just">
              <a:lnSpc>
                <a:spcPct val="115000"/>
              </a:lnSpc>
              <a:spcAft>
                <a:spcPts val="600"/>
              </a:spcAft>
            </a:pPr>
            <a:endParaRPr lang="en-GB" sz="2000" b="1" dirty="0">
              <a:effectLst/>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Symbol" panose="05050102010706020507" pitchFamily="18" charset="2"/>
              <a:buChar char=""/>
            </a:pPr>
            <a:r>
              <a:rPr lang="en-GB" dirty="0">
                <a:effectLst/>
                <a:ea typeface="DengXian" panose="02010600030101010101" pitchFamily="2" charset="-122"/>
                <a:cs typeface="Times New Roman" panose="02020603050405020304" pitchFamily="18" charset="0"/>
              </a:rPr>
              <a:t>One of the ways of comprehensibly presenting and structuring information is the </a:t>
            </a:r>
            <a:r>
              <a:rPr lang="en-GB" b="1" dirty="0">
                <a:solidFill>
                  <a:srgbClr val="0070C0"/>
                </a:solidFill>
                <a:effectLst/>
                <a:ea typeface="DengXian" panose="02010600030101010101" pitchFamily="2" charset="-122"/>
                <a:cs typeface="Times New Roman" panose="02020603050405020304" pitchFamily="18" charset="0"/>
              </a:rPr>
              <a:t>chronological presentation of facts or events</a:t>
            </a:r>
            <a:r>
              <a:rPr lang="en-GB" dirty="0">
                <a:effectLst/>
                <a:ea typeface="DengXian" panose="02010600030101010101" pitchFamily="2" charset="-122"/>
                <a:cs typeface="Times New Roman" panose="02020603050405020304" pitchFamily="18" charset="0"/>
              </a:rPr>
              <a:t>. There are a few options for making clear the order in which ‘things’ happened. A straightforward way of making clear their sequence is the use of lexical items like </a:t>
            </a:r>
            <a:r>
              <a:rPr lang="en-GB" i="1" dirty="0">
                <a:effectLst/>
                <a:ea typeface="DengXian" panose="02010600030101010101" pitchFamily="2" charset="-122"/>
                <a:cs typeface="Times New Roman" panose="02020603050405020304" pitchFamily="18" charset="0"/>
              </a:rPr>
              <a:t>first … second … third …finally</a:t>
            </a:r>
            <a:r>
              <a:rPr lang="en-GB" dirty="0">
                <a:effectLst/>
                <a:ea typeface="DengXian" panose="02010600030101010101" pitchFamily="2" charset="-122"/>
                <a:cs typeface="Times New Roman" panose="02020603050405020304" pitchFamily="18" charset="0"/>
              </a:rPr>
              <a:t>. In certain types of stories or reports a similar effect is achieved by the use of lexical items like </a:t>
            </a:r>
            <a:r>
              <a:rPr lang="en-GB" i="1" dirty="0">
                <a:effectLst/>
                <a:ea typeface="DengXian" panose="02010600030101010101" pitchFamily="2" charset="-122"/>
                <a:cs typeface="Times New Roman" panose="02020603050405020304" pitchFamily="18" charset="0"/>
              </a:rPr>
              <a:t>in the beginning/at the start/to start with/after that/and then/in between/before that/following on that/in the end </a:t>
            </a:r>
            <a:r>
              <a:rPr lang="en-GB" dirty="0">
                <a:effectLst/>
                <a:ea typeface="DengXian" panose="02010600030101010101" pitchFamily="2" charset="-122"/>
                <a:cs typeface="Times New Roman" panose="02020603050405020304" pitchFamily="18" charset="0"/>
              </a:rPr>
              <a:t>…</a:t>
            </a:r>
          </a:p>
          <a:p>
            <a:pPr marL="342900" lvl="0" indent="-342900" algn="just">
              <a:lnSpc>
                <a:spcPct val="115000"/>
              </a:lnSpc>
              <a:spcAft>
                <a:spcPts val="600"/>
              </a:spcAft>
              <a:buFont typeface="Symbol" panose="05050102010706020507" pitchFamily="18" charset="2"/>
              <a:buChar char=""/>
            </a:pPr>
            <a:r>
              <a:rPr lang="en-GB" dirty="0">
                <a:effectLst/>
                <a:ea typeface="DengXian" panose="02010600030101010101" pitchFamily="2" charset="-122"/>
                <a:cs typeface="Times New Roman" panose="02020603050405020304" pitchFamily="18" charset="0"/>
              </a:rPr>
              <a:t>In other texts the sense relations among the individual parts of a text may be that they </a:t>
            </a:r>
            <a:r>
              <a:rPr lang="en-GB" b="1" dirty="0">
                <a:solidFill>
                  <a:srgbClr val="0070C0"/>
                </a:solidFill>
                <a:effectLst/>
                <a:ea typeface="DengXian" panose="02010600030101010101" pitchFamily="2" charset="-122"/>
                <a:cs typeface="Times New Roman" panose="02020603050405020304" pitchFamily="18" charset="0"/>
              </a:rPr>
              <a:t>compare, contrast, or evaluate facts or events or ideas </a:t>
            </a:r>
            <a:r>
              <a:rPr lang="en-GB" dirty="0">
                <a:effectLst/>
                <a:ea typeface="DengXian" panose="02010600030101010101" pitchFamily="2" charset="-122"/>
                <a:cs typeface="Times New Roman" panose="02020603050405020304" pitchFamily="18" charset="0"/>
              </a:rPr>
              <a:t>by using words like </a:t>
            </a:r>
            <a:r>
              <a:rPr lang="en-GB" i="1" dirty="0">
                <a:effectLst/>
                <a:ea typeface="DengXian" panose="02010600030101010101" pitchFamily="2" charset="-122"/>
                <a:cs typeface="Times New Roman" panose="02020603050405020304" pitchFamily="18" charset="0"/>
              </a:rPr>
              <a:t>similarly/in the same way/in a different way/on the one hand … on the other hand/in contrast/though/however/moreover/in addition/on top of …/whereas…</a:t>
            </a:r>
            <a:endParaRPr lang="en-GB" dirty="0">
              <a:effectLst/>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Symbol" panose="05050102010706020507" pitchFamily="18" charset="2"/>
              <a:buChar char=""/>
            </a:pPr>
            <a:r>
              <a:rPr lang="en-GB" dirty="0">
                <a:effectLst/>
                <a:ea typeface="DengXian" panose="02010600030101010101" pitchFamily="2" charset="-122"/>
                <a:cs typeface="Times New Roman" panose="02020603050405020304" pitchFamily="18" charset="0"/>
              </a:rPr>
              <a:t>When authors </a:t>
            </a:r>
            <a:r>
              <a:rPr lang="en-GB" b="1" dirty="0">
                <a:solidFill>
                  <a:srgbClr val="0070C0"/>
                </a:solidFill>
                <a:effectLst/>
                <a:ea typeface="DengXian" panose="02010600030101010101" pitchFamily="2" charset="-122"/>
                <a:cs typeface="Times New Roman" panose="02020603050405020304" pitchFamily="18" charset="0"/>
              </a:rPr>
              <a:t>present arguments or cause and effect relations</a:t>
            </a:r>
            <a:r>
              <a:rPr lang="en-GB" dirty="0">
                <a:solidFill>
                  <a:srgbClr val="0070C0"/>
                </a:solidFill>
                <a:effectLst/>
                <a:ea typeface="DengXian" panose="02010600030101010101" pitchFamily="2" charset="-122"/>
                <a:cs typeface="Times New Roman" panose="02020603050405020304" pitchFamily="18" charset="0"/>
              </a:rPr>
              <a:t> </a:t>
            </a:r>
            <a:r>
              <a:rPr lang="en-GB" dirty="0">
                <a:effectLst/>
                <a:ea typeface="DengXian" panose="02010600030101010101" pitchFamily="2" charset="-122"/>
                <a:cs typeface="Times New Roman" panose="02020603050405020304" pitchFamily="18" charset="0"/>
              </a:rPr>
              <a:t>they typically use words and phrases like </a:t>
            </a:r>
            <a:r>
              <a:rPr lang="en-GB" i="1" dirty="0">
                <a:effectLst/>
                <a:ea typeface="DengXian" panose="02010600030101010101" pitchFamily="2" charset="-122"/>
                <a:cs typeface="Times New Roman" panose="02020603050405020304" pitchFamily="18" charset="0"/>
              </a:rPr>
              <a:t>because/consequently/ therefore/ as a result/ … Conditional truths may be announced by words like depending on/ given that/ assuming that…</a:t>
            </a:r>
            <a:endParaRPr lang="en-GB" dirty="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59292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21501EF-52B3-4C75-ADBB-181B86640823}"/>
              </a:ext>
            </a:extLst>
          </p:cNvPr>
          <p:cNvSpPr>
            <a:spLocks noGrp="1"/>
          </p:cNvSpPr>
          <p:nvPr>
            <p:ph type="sldNum" sz="quarter" idx="12"/>
          </p:nvPr>
        </p:nvSpPr>
        <p:spPr/>
        <p:txBody>
          <a:bodyPr/>
          <a:lstStyle/>
          <a:p>
            <a:fld id="{D57F1E4F-1CFF-5643-939E-217C01CDF565}" type="slidenum">
              <a:rPr lang="en-US" smtClean="0"/>
              <a:pPr/>
              <a:t>37</a:t>
            </a:fld>
            <a:endParaRPr lang="en-US" dirty="0"/>
          </a:p>
        </p:txBody>
      </p:sp>
      <p:sp>
        <p:nvSpPr>
          <p:cNvPr id="6" name="TextBox 5">
            <a:extLst>
              <a:ext uri="{FF2B5EF4-FFF2-40B4-BE49-F238E27FC236}">
                <a16:creationId xmlns:a16="http://schemas.microsoft.com/office/drawing/2014/main" id="{4B939AED-097F-4EF5-B87B-2440C9C7919B}"/>
              </a:ext>
            </a:extLst>
          </p:cNvPr>
          <p:cNvSpPr txBox="1"/>
          <p:nvPr/>
        </p:nvSpPr>
        <p:spPr>
          <a:xfrm>
            <a:off x="1650422" y="189760"/>
            <a:ext cx="7167995" cy="365869"/>
          </a:xfrm>
          <a:prstGeom prst="rect">
            <a:avLst/>
          </a:prstGeom>
          <a:noFill/>
        </p:spPr>
        <p:txBody>
          <a:bodyPr wrap="square">
            <a:spAutoFit/>
          </a:bodyPr>
          <a:lstStyle/>
          <a:p>
            <a:pPr>
              <a:lnSpc>
                <a:spcPct val="107000"/>
              </a:lnSpc>
              <a:spcAft>
                <a:spcPts val="800"/>
              </a:spcAft>
            </a:pPr>
            <a:r>
              <a:rPr lang="en-GB" sz="1800">
                <a:effectLst/>
                <a:ea typeface="DengXian" panose="02010600030101010101" pitchFamily="2" charset="-122"/>
                <a:cs typeface="Times New Roman" panose="02020603050405020304" pitchFamily="18" charset="0"/>
              </a:rPr>
              <a:t>Here is a brief list of some common discourse markers:</a:t>
            </a:r>
            <a:endParaRPr lang="en-GB" sz="1600" dirty="0">
              <a:effectLst/>
              <a:ea typeface="DengXian" panose="02010600030101010101" pitchFamily="2" charset="-122"/>
              <a:cs typeface="Times New Roman" panose="02020603050405020304" pitchFamily="18" charset="0"/>
            </a:endParaRPr>
          </a:p>
        </p:txBody>
      </p:sp>
      <p:graphicFrame>
        <p:nvGraphicFramePr>
          <p:cNvPr id="7" name="Table 6">
            <a:extLst>
              <a:ext uri="{FF2B5EF4-FFF2-40B4-BE49-F238E27FC236}">
                <a16:creationId xmlns:a16="http://schemas.microsoft.com/office/drawing/2014/main" id="{67ABD119-BB15-47D8-9D5A-A4CEB92078B3}"/>
              </a:ext>
            </a:extLst>
          </p:cNvPr>
          <p:cNvGraphicFramePr>
            <a:graphicFrameLocks noGrp="1"/>
          </p:cNvGraphicFramePr>
          <p:nvPr>
            <p:extLst>
              <p:ext uri="{D42A27DB-BD31-4B8C-83A1-F6EECF244321}">
                <p14:modId xmlns:p14="http://schemas.microsoft.com/office/powerpoint/2010/main" val="608009724"/>
              </p:ext>
            </p:extLst>
          </p:nvPr>
        </p:nvGraphicFramePr>
        <p:xfrm>
          <a:off x="1761226" y="663870"/>
          <a:ext cx="7822721" cy="6004370"/>
        </p:xfrm>
        <a:graphic>
          <a:graphicData uri="http://schemas.openxmlformats.org/drawingml/2006/table">
            <a:tbl>
              <a:tblPr firstRow="1" firstCol="1" lastRow="1" lastCol="1" bandRow="1" bandCol="1">
                <a:tableStyleId>{5C22544A-7EE6-4342-B048-85BDC9FD1C3A}</a:tableStyleId>
              </a:tblPr>
              <a:tblGrid>
                <a:gridCol w="2327695">
                  <a:extLst>
                    <a:ext uri="{9D8B030D-6E8A-4147-A177-3AD203B41FA5}">
                      <a16:colId xmlns:a16="http://schemas.microsoft.com/office/drawing/2014/main" val="3998186186"/>
                    </a:ext>
                  </a:extLst>
                </a:gridCol>
                <a:gridCol w="5495026">
                  <a:extLst>
                    <a:ext uri="{9D8B030D-6E8A-4147-A177-3AD203B41FA5}">
                      <a16:colId xmlns:a16="http://schemas.microsoft.com/office/drawing/2014/main" val="1218832053"/>
                    </a:ext>
                  </a:extLst>
                </a:gridCol>
              </a:tblGrid>
              <a:tr h="243265">
                <a:tc>
                  <a:txBody>
                    <a:bodyPr/>
                    <a:lstStyle/>
                    <a:p>
                      <a:pPr>
                        <a:lnSpc>
                          <a:spcPct val="115000"/>
                        </a:lnSpc>
                        <a:spcAft>
                          <a:spcPts val="600"/>
                        </a:spcAft>
                      </a:pPr>
                      <a:r>
                        <a:rPr lang="en-GB" sz="1600" b="1" kern="100" dirty="0">
                          <a:solidFill>
                            <a:schemeClr val="tx1"/>
                          </a:solidFill>
                          <a:effectLst/>
                        </a:rPr>
                        <a:t>Types</a:t>
                      </a:r>
                      <a:endParaRPr lang="en-GB" sz="1600" b="1"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GB" sz="1600" b="1" kern="100" dirty="0">
                          <a:solidFill>
                            <a:schemeClr val="tx1"/>
                          </a:solidFill>
                          <a:effectLst/>
                        </a:rPr>
                        <a:t>Examples</a:t>
                      </a:r>
                      <a:endParaRPr lang="en-GB" sz="1600" b="1"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9248209"/>
                  </a:ext>
                </a:extLst>
              </a:tr>
              <a:tr h="764164">
                <a:tc>
                  <a:txBody>
                    <a:bodyPr/>
                    <a:lstStyle/>
                    <a:p>
                      <a:pPr>
                        <a:lnSpc>
                          <a:spcPct val="115000"/>
                        </a:lnSpc>
                        <a:spcAft>
                          <a:spcPts val="600"/>
                        </a:spcAft>
                      </a:pPr>
                      <a:r>
                        <a:rPr lang="en-GB" sz="1600" b="0" kern="100" dirty="0">
                          <a:solidFill>
                            <a:schemeClr val="tx1"/>
                          </a:solidFill>
                          <a:effectLst/>
                        </a:rPr>
                        <a:t>To add</a:t>
                      </a:r>
                      <a:endParaRPr lang="en-GB"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GB" sz="1600" b="0" kern="100" dirty="0">
                          <a:solidFill>
                            <a:schemeClr val="tx1"/>
                          </a:solidFill>
                          <a:effectLst/>
                        </a:rPr>
                        <a:t>also, and, again, and then, equally important, finally, further, furthermore, too, next, lastly, what is more, moreover, in addition, first (second)</a:t>
                      </a:r>
                      <a:endParaRPr lang="en-GB"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7219485"/>
                  </a:ext>
                </a:extLst>
              </a:tr>
              <a:tr h="1024545">
                <a:tc>
                  <a:txBody>
                    <a:bodyPr/>
                    <a:lstStyle/>
                    <a:p>
                      <a:pPr>
                        <a:lnSpc>
                          <a:spcPct val="115000"/>
                        </a:lnSpc>
                        <a:spcAft>
                          <a:spcPts val="600"/>
                        </a:spcAft>
                      </a:pPr>
                      <a:r>
                        <a:rPr lang="en-GB" sz="1600" b="0" kern="100">
                          <a:solidFill>
                            <a:schemeClr val="tx1"/>
                          </a:solidFill>
                          <a:effectLst/>
                        </a:rPr>
                        <a:t>To compare/contrast</a:t>
                      </a:r>
                      <a:endParaRPr lang="en-GB" sz="1600" b="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GB" sz="1600" b="0" kern="100" dirty="0">
                          <a:solidFill>
                            <a:schemeClr val="tx1"/>
                          </a:solidFill>
                          <a:effectLst/>
                        </a:rPr>
                        <a:t>whereas, but, yet, on the other hand, however, nevertheless, on the contrary, by comparison, compared to, although, conversely, meanwhile, in contrast, notwithstanding, alternatively, otherwise, instead, </a:t>
                      </a:r>
                      <a:endParaRPr lang="en-GB"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23705678"/>
                  </a:ext>
                </a:extLst>
              </a:tr>
              <a:tr h="503782">
                <a:tc>
                  <a:txBody>
                    <a:bodyPr/>
                    <a:lstStyle/>
                    <a:p>
                      <a:pPr>
                        <a:lnSpc>
                          <a:spcPct val="115000"/>
                        </a:lnSpc>
                        <a:spcAft>
                          <a:spcPts val="600"/>
                        </a:spcAft>
                      </a:pPr>
                      <a:r>
                        <a:rPr lang="en-GB" sz="1600" b="0" kern="100">
                          <a:solidFill>
                            <a:schemeClr val="tx1"/>
                          </a:solidFill>
                          <a:effectLst/>
                        </a:rPr>
                        <a:t>To show effect</a:t>
                      </a:r>
                      <a:endParaRPr lang="en-GB" sz="1600" b="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GB" sz="1600" b="0" kern="100" dirty="0">
                          <a:solidFill>
                            <a:schemeClr val="tx1"/>
                          </a:solidFill>
                          <a:effectLst/>
                        </a:rPr>
                        <a:t>because, for, since, that is, due to, thus, therefore, hence, accordingly</a:t>
                      </a:r>
                      <a:endParaRPr lang="en-GB"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2138765"/>
                  </a:ext>
                </a:extLst>
              </a:tr>
              <a:tr h="764164">
                <a:tc>
                  <a:txBody>
                    <a:bodyPr/>
                    <a:lstStyle/>
                    <a:p>
                      <a:pPr>
                        <a:lnSpc>
                          <a:spcPct val="115000"/>
                        </a:lnSpc>
                        <a:spcAft>
                          <a:spcPts val="600"/>
                        </a:spcAft>
                      </a:pPr>
                      <a:r>
                        <a:rPr lang="en-GB" sz="1600" b="0" kern="100">
                          <a:solidFill>
                            <a:schemeClr val="tx1"/>
                          </a:solidFill>
                          <a:effectLst/>
                        </a:rPr>
                        <a:t>To sequence</a:t>
                      </a:r>
                      <a:endParaRPr lang="en-GB" sz="1600" b="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GB" sz="1600" b="0" kern="100" dirty="0">
                          <a:solidFill>
                            <a:schemeClr val="tx1"/>
                          </a:solidFill>
                          <a:effectLst/>
                        </a:rPr>
                        <a:t>first(</a:t>
                      </a:r>
                      <a:r>
                        <a:rPr lang="en-GB" sz="1600" b="0" kern="100" dirty="0" err="1">
                          <a:solidFill>
                            <a:schemeClr val="tx1"/>
                          </a:solidFill>
                          <a:effectLst/>
                        </a:rPr>
                        <a:t>ly</a:t>
                      </a:r>
                      <a:r>
                        <a:rPr lang="en-GB" sz="1600" b="0" kern="100" dirty="0">
                          <a:solidFill>
                            <a:schemeClr val="tx1"/>
                          </a:solidFill>
                          <a:effectLst/>
                        </a:rPr>
                        <a:t>), second(</a:t>
                      </a:r>
                      <a:r>
                        <a:rPr lang="en-GB" sz="1600" b="0" kern="100" dirty="0" err="1">
                          <a:solidFill>
                            <a:schemeClr val="tx1"/>
                          </a:solidFill>
                          <a:effectLst/>
                        </a:rPr>
                        <a:t>ly</a:t>
                      </a:r>
                      <a:r>
                        <a:rPr lang="en-GB" sz="1600" b="0" kern="100" dirty="0">
                          <a:solidFill>
                            <a:schemeClr val="tx1"/>
                          </a:solidFill>
                          <a:effectLst/>
                        </a:rPr>
                        <a:t>), finally, previously, formerly, next, then, later, lastly, and so forth, following, afterwards, subsequently, concurrently, simultaneously </a:t>
                      </a:r>
                      <a:endParaRPr lang="en-GB"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4625639"/>
                  </a:ext>
                </a:extLst>
              </a:tr>
              <a:tr h="243400">
                <a:tc>
                  <a:txBody>
                    <a:bodyPr/>
                    <a:lstStyle/>
                    <a:p>
                      <a:pPr>
                        <a:lnSpc>
                          <a:spcPct val="115000"/>
                        </a:lnSpc>
                        <a:spcAft>
                          <a:spcPts val="600"/>
                        </a:spcAft>
                      </a:pPr>
                      <a:r>
                        <a:rPr lang="en-GB" sz="1600" b="0" kern="100">
                          <a:solidFill>
                            <a:schemeClr val="tx1"/>
                          </a:solidFill>
                          <a:effectLst/>
                        </a:rPr>
                        <a:t>To repeat</a:t>
                      </a:r>
                      <a:endParaRPr lang="en-GB" sz="1600" b="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GB" sz="1600" b="0" kern="100" dirty="0">
                          <a:solidFill>
                            <a:schemeClr val="tx1"/>
                          </a:solidFill>
                          <a:effectLst/>
                        </a:rPr>
                        <a:t>in other words, in brief, as noted, that is </a:t>
                      </a:r>
                      <a:endParaRPr lang="en-GB"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4122165"/>
                  </a:ext>
                </a:extLst>
              </a:tr>
              <a:tr h="764164">
                <a:tc>
                  <a:txBody>
                    <a:bodyPr/>
                    <a:lstStyle/>
                    <a:p>
                      <a:pPr>
                        <a:lnSpc>
                          <a:spcPct val="115000"/>
                        </a:lnSpc>
                        <a:spcAft>
                          <a:spcPts val="600"/>
                        </a:spcAft>
                      </a:pPr>
                      <a:r>
                        <a:rPr lang="en-GB" sz="1600" b="0" kern="100">
                          <a:solidFill>
                            <a:schemeClr val="tx1"/>
                          </a:solidFill>
                          <a:effectLst/>
                        </a:rPr>
                        <a:t>To emphasize</a:t>
                      </a:r>
                      <a:endParaRPr lang="en-GB" sz="1600" b="0">
                        <a:solidFill>
                          <a:schemeClr val="tx1"/>
                        </a:solidFill>
                        <a:effectLst/>
                      </a:endParaRPr>
                    </a:p>
                    <a:p>
                      <a:pPr>
                        <a:lnSpc>
                          <a:spcPct val="115000"/>
                        </a:lnSpc>
                        <a:spcAft>
                          <a:spcPts val="600"/>
                        </a:spcAft>
                      </a:pPr>
                      <a:r>
                        <a:rPr lang="en-GB" sz="1600" b="0" kern="100">
                          <a:solidFill>
                            <a:schemeClr val="tx1"/>
                          </a:solidFill>
                          <a:effectLst/>
                        </a:rPr>
                        <a:t>(use sparingly)</a:t>
                      </a:r>
                      <a:endParaRPr lang="en-GB" sz="1600" b="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GB" sz="1600" b="0" kern="100" dirty="0">
                          <a:solidFill>
                            <a:schemeClr val="tx1"/>
                          </a:solidFill>
                          <a:effectLst/>
                        </a:rPr>
                        <a:t>definitely, extremely, obviously, indeed, absolutely, never, emphatically, unquestionably, without doubt, certainly, undeniably, without reservation</a:t>
                      </a:r>
                      <a:endParaRPr lang="en-GB"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1285543"/>
                  </a:ext>
                </a:extLst>
              </a:tr>
              <a:tr h="503782">
                <a:tc>
                  <a:txBody>
                    <a:bodyPr/>
                    <a:lstStyle/>
                    <a:p>
                      <a:pPr>
                        <a:lnSpc>
                          <a:spcPct val="115000"/>
                        </a:lnSpc>
                        <a:spcAft>
                          <a:spcPts val="600"/>
                        </a:spcAft>
                      </a:pPr>
                      <a:r>
                        <a:rPr lang="en-GB" sz="1600" b="0" kern="100">
                          <a:solidFill>
                            <a:schemeClr val="tx1"/>
                          </a:solidFill>
                          <a:effectLst/>
                        </a:rPr>
                        <a:t>To provide example</a:t>
                      </a:r>
                      <a:endParaRPr lang="en-GB" sz="1600" b="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GB" sz="1600" b="0" kern="100" dirty="0">
                          <a:solidFill>
                            <a:schemeClr val="tx1"/>
                          </a:solidFill>
                          <a:effectLst/>
                        </a:rPr>
                        <a:t>for example, for instance, to demonstrate, to illustrate, as an illustration</a:t>
                      </a:r>
                      <a:endParaRPr lang="en-GB"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2213609"/>
                  </a:ext>
                </a:extLst>
              </a:tr>
              <a:tr h="503782">
                <a:tc>
                  <a:txBody>
                    <a:bodyPr/>
                    <a:lstStyle/>
                    <a:p>
                      <a:pPr>
                        <a:lnSpc>
                          <a:spcPct val="115000"/>
                        </a:lnSpc>
                        <a:spcAft>
                          <a:spcPts val="600"/>
                        </a:spcAft>
                      </a:pPr>
                      <a:r>
                        <a:rPr lang="en-GB" sz="1600" b="0" kern="100">
                          <a:solidFill>
                            <a:schemeClr val="tx1"/>
                          </a:solidFill>
                          <a:effectLst/>
                        </a:rPr>
                        <a:t>To conclude</a:t>
                      </a:r>
                      <a:endParaRPr lang="en-GB" sz="1600" b="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5000"/>
                        </a:lnSpc>
                        <a:spcAft>
                          <a:spcPts val="600"/>
                        </a:spcAft>
                      </a:pPr>
                      <a:r>
                        <a:rPr lang="en-GB" sz="1600" b="0" kern="100" dirty="0">
                          <a:solidFill>
                            <a:schemeClr val="tx1"/>
                          </a:solidFill>
                          <a:effectLst/>
                        </a:rPr>
                        <a:t>in brief, on the whole, summing up, to conclude, in conclusion, as a result, consequently, all in all</a:t>
                      </a:r>
                      <a:endParaRPr lang="en-GB"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58897" marR="5889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674512"/>
                  </a:ext>
                </a:extLst>
              </a:tr>
            </a:tbl>
          </a:graphicData>
        </a:graphic>
      </p:graphicFrame>
    </p:spTree>
    <p:extLst>
      <p:ext uri="{BB962C8B-B14F-4D97-AF65-F5344CB8AC3E}">
        <p14:creationId xmlns:p14="http://schemas.microsoft.com/office/powerpoint/2010/main" val="222605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287279-4795-5349-A983-06DEEB58567F}"/>
              </a:ext>
            </a:extLst>
          </p:cNvPr>
          <p:cNvSpPr>
            <a:spLocks noGrp="1"/>
          </p:cNvSpPr>
          <p:nvPr>
            <p:ph type="sldNum" sz="quarter" idx="12"/>
          </p:nvPr>
        </p:nvSpPr>
        <p:spPr/>
        <p:txBody>
          <a:bodyPr/>
          <a:lstStyle/>
          <a:p>
            <a:fld id="{D57F1E4F-1CFF-5643-939E-217C01CDF565}" type="slidenum">
              <a:rPr lang="en-US" smtClean="0"/>
              <a:pPr/>
              <a:t>38</a:t>
            </a:fld>
            <a:endParaRPr lang="en-US" dirty="0"/>
          </a:p>
        </p:txBody>
      </p:sp>
      <p:sp>
        <p:nvSpPr>
          <p:cNvPr id="9" name="TextBox 8">
            <a:extLst>
              <a:ext uri="{FF2B5EF4-FFF2-40B4-BE49-F238E27FC236}">
                <a16:creationId xmlns:a16="http://schemas.microsoft.com/office/drawing/2014/main" id="{C83404BC-776B-4FBF-9224-1C6BCF75CB6A}"/>
              </a:ext>
            </a:extLst>
          </p:cNvPr>
          <p:cNvSpPr txBox="1"/>
          <p:nvPr/>
        </p:nvSpPr>
        <p:spPr>
          <a:xfrm>
            <a:off x="1384445" y="145999"/>
            <a:ext cx="10275743" cy="2919197"/>
          </a:xfrm>
          <a:prstGeom prst="rect">
            <a:avLst/>
          </a:prstGeom>
          <a:noFill/>
        </p:spPr>
        <p:txBody>
          <a:bodyPr wrap="square">
            <a:spAutoFit/>
          </a:bodyPr>
          <a:lstStyle/>
          <a:p>
            <a:pPr marL="228600" algn="just">
              <a:lnSpc>
                <a:spcPct val="115000"/>
              </a:lnSpc>
              <a:spcAft>
                <a:spcPts val="600"/>
              </a:spcAft>
            </a:pPr>
            <a:r>
              <a:rPr lang="en-GB" dirty="0">
                <a:effectLst/>
                <a:ea typeface="DengXian" panose="02010600030101010101" pitchFamily="2" charset="-122"/>
                <a:cs typeface="Times New Roman" panose="02020603050405020304" pitchFamily="18" charset="0"/>
              </a:rPr>
              <a:t>II. Referencing – pronouns, demonstratives, or other expressions to refer back to something previously mentioned or to point forward to something that will be mentioned later.</a:t>
            </a:r>
          </a:p>
          <a:p>
            <a:pPr marL="228600" algn="just">
              <a:lnSpc>
                <a:spcPct val="115000"/>
              </a:lnSpc>
              <a:spcAft>
                <a:spcPts val="600"/>
              </a:spcAft>
            </a:pPr>
            <a:endParaRPr lang="en-GB" dirty="0">
              <a:effectLst/>
              <a:ea typeface="DengXian" panose="02010600030101010101" pitchFamily="2" charset="-122"/>
              <a:cs typeface="Times New Roman" panose="02020603050405020304" pitchFamily="18" charset="0"/>
            </a:endParaRPr>
          </a:p>
          <a:p>
            <a:pPr marL="228600" algn="just">
              <a:lnSpc>
                <a:spcPct val="115000"/>
              </a:lnSpc>
              <a:spcAft>
                <a:spcPts val="600"/>
              </a:spcAft>
            </a:pPr>
            <a:r>
              <a:rPr lang="en-GB" dirty="0">
                <a:effectLst/>
                <a:ea typeface="DengXian" panose="02010600030101010101" pitchFamily="2" charset="-122"/>
                <a:cs typeface="Times New Roman" panose="02020603050405020304" pitchFamily="18" charset="0"/>
              </a:rPr>
              <a:t>Be careful when using pronouns (words such as it, they, them, he, him, she and her). If pronouns are overused, the focus can be hard for the reader [What is ‘it’ or ‘they’?].</a:t>
            </a:r>
          </a:p>
          <a:p>
            <a:pPr marL="228600" algn="just">
              <a:lnSpc>
                <a:spcPct val="115000"/>
              </a:lnSpc>
              <a:spcAft>
                <a:spcPts val="600"/>
              </a:spcAft>
            </a:pPr>
            <a:endParaRPr lang="en-GB" dirty="0">
              <a:effectLst/>
              <a:ea typeface="DengXian" panose="02010600030101010101" pitchFamily="2" charset="-122"/>
              <a:cs typeface="Times New Roman" panose="02020603050405020304" pitchFamily="18" charset="0"/>
            </a:endParaRPr>
          </a:p>
          <a:p>
            <a:pPr marL="228600" algn="just">
              <a:lnSpc>
                <a:spcPct val="115000"/>
              </a:lnSpc>
              <a:spcAft>
                <a:spcPts val="600"/>
              </a:spcAft>
            </a:pPr>
            <a:r>
              <a:rPr lang="en-GB" b="1" dirty="0">
                <a:effectLst/>
                <a:ea typeface="DengXian" panose="02010600030101010101" pitchFamily="2" charset="-122"/>
                <a:cs typeface="Times New Roman" panose="02020603050405020304" pitchFamily="18" charset="0"/>
              </a:rPr>
              <a:t>There is often confusion over whether the use of pronouns is singular or plural.</a:t>
            </a:r>
          </a:p>
        </p:txBody>
      </p:sp>
      <p:pic>
        <p:nvPicPr>
          <p:cNvPr id="5" name="Picture 4" descr="A picture containing knife, bird, table&#10;&#10;Description automatically generated">
            <a:extLst>
              <a:ext uri="{FF2B5EF4-FFF2-40B4-BE49-F238E27FC236}">
                <a16:creationId xmlns:a16="http://schemas.microsoft.com/office/drawing/2014/main" id="{EEE516EC-D881-449D-BC32-2ED3B522171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496291" y="2632363"/>
            <a:ext cx="8901545" cy="1593273"/>
          </a:xfrm>
          <a:prstGeom prst="rect">
            <a:avLst/>
          </a:prstGeom>
          <a:noFill/>
          <a:ln>
            <a:noFill/>
          </a:ln>
        </p:spPr>
      </p:pic>
      <p:sp>
        <p:nvSpPr>
          <p:cNvPr id="6" name="TextBox 5">
            <a:extLst>
              <a:ext uri="{FF2B5EF4-FFF2-40B4-BE49-F238E27FC236}">
                <a16:creationId xmlns:a16="http://schemas.microsoft.com/office/drawing/2014/main" id="{D02B8EE4-33FC-45CF-B605-0808C6A9D720}"/>
              </a:ext>
            </a:extLst>
          </p:cNvPr>
          <p:cNvSpPr txBox="1"/>
          <p:nvPr/>
        </p:nvSpPr>
        <p:spPr>
          <a:xfrm>
            <a:off x="1311579" y="4429900"/>
            <a:ext cx="10124211" cy="381579"/>
          </a:xfrm>
          <a:prstGeom prst="rect">
            <a:avLst/>
          </a:prstGeom>
          <a:noFill/>
        </p:spPr>
        <p:txBody>
          <a:bodyPr wrap="square">
            <a:spAutoFit/>
          </a:bodyPr>
          <a:lstStyle/>
          <a:p>
            <a:pPr marL="228600" algn="just">
              <a:lnSpc>
                <a:spcPct val="115000"/>
              </a:lnSpc>
              <a:spcAft>
                <a:spcPts val="600"/>
              </a:spcAft>
            </a:pPr>
            <a:r>
              <a:rPr lang="en-GB" b="1" dirty="0">
                <a:ea typeface="DengXian" panose="02010600030101010101" pitchFamily="2" charset="-122"/>
                <a:cs typeface="Times New Roman" panose="02020603050405020304" pitchFamily="18" charset="0"/>
              </a:rPr>
              <a:t>Another mistake involves using a pronoun which could refer to more than one subject.</a:t>
            </a:r>
          </a:p>
        </p:txBody>
      </p:sp>
      <p:pic>
        <p:nvPicPr>
          <p:cNvPr id="7" name="Picture 6">
            <a:extLst>
              <a:ext uri="{FF2B5EF4-FFF2-40B4-BE49-F238E27FC236}">
                <a16:creationId xmlns:a16="http://schemas.microsoft.com/office/drawing/2014/main" id="{601A63E4-9B76-496B-AD37-C0D84319F8D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624446" y="5083658"/>
            <a:ext cx="8922326" cy="929215"/>
          </a:xfrm>
          <a:prstGeom prst="rect">
            <a:avLst/>
          </a:prstGeom>
          <a:noFill/>
          <a:ln>
            <a:noFill/>
          </a:ln>
        </p:spPr>
      </p:pic>
      <p:sp>
        <p:nvSpPr>
          <p:cNvPr id="2" name="Oval 1"/>
          <p:cNvSpPr/>
          <p:nvPr/>
        </p:nvSpPr>
        <p:spPr>
          <a:xfrm>
            <a:off x="1496291" y="2632363"/>
            <a:ext cx="1737360" cy="393470"/>
          </a:xfrm>
          <a:prstGeom prst="ellipse">
            <a:avLst/>
          </a:prstGeom>
          <a:noFill/>
          <a:ln>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8182494" y="2632363"/>
            <a:ext cx="828502" cy="393470"/>
          </a:xfrm>
          <a:prstGeom prst="ellipse">
            <a:avLst/>
          </a:prstGeom>
          <a:noFill/>
          <a:ln>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624445" y="5154795"/>
            <a:ext cx="2340725" cy="393470"/>
          </a:xfrm>
          <a:prstGeom prst="ellipse">
            <a:avLst/>
          </a:prstGeom>
          <a:noFill/>
          <a:ln>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078382" y="5154795"/>
            <a:ext cx="3583479" cy="474908"/>
          </a:xfrm>
          <a:prstGeom prst="ellipse">
            <a:avLst/>
          </a:prstGeom>
          <a:noFill/>
          <a:ln>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528858" y="5195514"/>
            <a:ext cx="939338" cy="393470"/>
          </a:xfrm>
          <a:prstGeom prst="ellipse">
            <a:avLst/>
          </a:prstGeom>
          <a:noFill/>
          <a:ln>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1346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C256659-9951-2848-B296-D7DE64B4118A}"/>
              </a:ext>
            </a:extLst>
          </p:cNvPr>
          <p:cNvSpPr>
            <a:spLocks noGrp="1"/>
          </p:cNvSpPr>
          <p:nvPr>
            <p:ph type="sldNum" sz="quarter" idx="12"/>
          </p:nvPr>
        </p:nvSpPr>
        <p:spPr/>
        <p:txBody>
          <a:bodyPr/>
          <a:lstStyle/>
          <a:p>
            <a:fld id="{D57F1E4F-1CFF-5643-939E-217C01CDF565}" type="slidenum">
              <a:rPr lang="en-US" smtClean="0"/>
              <a:pPr/>
              <a:t>39</a:t>
            </a:fld>
            <a:endParaRPr lang="en-US" dirty="0"/>
          </a:p>
        </p:txBody>
      </p:sp>
      <p:sp>
        <p:nvSpPr>
          <p:cNvPr id="5" name="TextBox 4">
            <a:extLst>
              <a:ext uri="{FF2B5EF4-FFF2-40B4-BE49-F238E27FC236}">
                <a16:creationId xmlns:a16="http://schemas.microsoft.com/office/drawing/2014/main" id="{D281637D-0096-4161-80C9-750830A94719}"/>
              </a:ext>
            </a:extLst>
          </p:cNvPr>
          <p:cNvSpPr txBox="1"/>
          <p:nvPr/>
        </p:nvSpPr>
        <p:spPr>
          <a:xfrm>
            <a:off x="2046615" y="1045808"/>
            <a:ext cx="8754340" cy="3246210"/>
          </a:xfrm>
          <a:prstGeom prst="rect">
            <a:avLst/>
          </a:prstGeom>
          <a:noFill/>
        </p:spPr>
        <p:txBody>
          <a:bodyPr wrap="square">
            <a:spAutoFit/>
          </a:bodyPr>
          <a:lstStyle/>
          <a:p>
            <a:pPr lvl="0" algn="just">
              <a:lnSpc>
                <a:spcPct val="115000"/>
              </a:lnSpc>
            </a:pPr>
            <a:r>
              <a:rPr lang="en-GB" sz="2000" dirty="0">
                <a:solidFill>
                  <a:srgbClr val="0070C0"/>
                </a:solidFill>
                <a:effectLst/>
                <a:ea typeface="PMingLiU" panose="02020500000000000000" pitchFamily="18" charset="-120"/>
                <a:cs typeface="Calibri" panose="020F0502020204030204" pitchFamily="34" charset="0"/>
              </a:rPr>
              <a:t>A pronoun must agree with its antecedent </a:t>
            </a:r>
            <a:r>
              <a:rPr lang="en-GB" sz="2000" dirty="0">
                <a:solidFill>
                  <a:srgbClr val="000000"/>
                </a:solidFill>
                <a:effectLst/>
                <a:ea typeface="PMingLiU" panose="02020500000000000000" pitchFamily="18" charset="-120"/>
                <a:cs typeface="Calibri" panose="020F0502020204030204" pitchFamily="34" charset="0"/>
              </a:rPr>
              <a:t>(i.e. the noun to which the pronoun refers) and the relationship between the two must be clear and unambiguous. Vague pronoun reference occurs when this relationship is not clear. </a:t>
            </a:r>
          </a:p>
          <a:p>
            <a:pPr lvl="0" algn="just">
              <a:lnSpc>
                <a:spcPct val="115000"/>
              </a:lnSpc>
            </a:pPr>
            <a:endParaRPr lang="en-GB" sz="2000" dirty="0">
              <a:solidFill>
                <a:srgbClr val="000000"/>
              </a:solidFill>
              <a:effectLst/>
              <a:ea typeface="PMingLiU" panose="02020500000000000000" pitchFamily="18" charset="-120"/>
              <a:cs typeface="Calibri" panose="020F0502020204030204" pitchFamily="34" charset="0"/>
            </a:endParaRPr>
          </a:p>
          <a:p>
            <a:pPr lvl="0" algn="just">
              <a:lnSpc>
                <a:spcPct val="115000"/>
              </a:lnSpc>
            </a:pPr>
            <a:r>
              <a:rPr lang="en-GB" sz="2000" dirty="0">
                <a:solidFill>
                  <a:srgbClr val="0070C0"/>
                </a:solidFill>
                <a:effectLst/>
                <a:ea typeface="PMingLiU" panose="02020500000000000000" pitchFamily="18" charset="-120"/>
                <a:cs typeface="Calibri" panose="020F0502020204030204" pitchFamily="34" charset="0"/>
              </a:rPr>
              <a:t>A pronoun can only be used to replace a noun</a:t>
            </a:r>
            <a:r>
              <a:rPr lang="en-GB" sz="2000" dirty="0">
                <a:solidFill>
                  <a:srgbClr val="000000"/>
                </a:solidFill>
                <a:effectLst/>
                <a:ea typeface="PMingLiU" panose="02020500000000000000" pitchFamily="18" charset="-120"/>
                <a:cs typeface="Calibri" panose="020F0502020204030204" pitchFamily="34" charset="0"/>
              </a:rPr>
              <a:t> if its reference is immediately obvious and not confusing. Check that if you are referring to a person, you use the </a:t>
            </a:r>
            <a:r>
              <a:rPr lang="en-GB" sz="2000" dirty="0">
                <a:solidFill>
                  <a:srgbClr val="0070C0"/>
                </a:solidFill>
                <a:effectLst/>
                <a:ea typeface="PMingLiU" panose="02020500000000000000" pitchFamily="18" charset="-120"/>
                <a:cs typeface="Calibri" panose="020F0502020204030204" pitchFamily="34" charset="0"/>
              </a:rPr>
              <a:t>correct pronoun, i.e. ‘he’ or ‘she’, </a:t>
            </a:r>
            <a:r>
              <a:rPr lang="en-GB" sz="2000" dirty="0">
                <a:solidFill>
                  <a:srgbClr val="000000"/>
                </a:solidFill>
                <a:effectLst/>
                <a:ea typeface="PMingLiU" panose="02020500000000000000" pitchFamily="18" charset="-120"/>
                <a:cs typeface="Calibri" panose="020F0502020204030204" pitchFamily="34" charset="0"/>
              </a:rPr>
              <a:t>and generally that your use of pronouns is not misleading.</a:t>
            </a:r>
          </a:p>
        </p:txBody>
      </p:sp>
    </p:spTree>
    <p:extLst>
      <p:ext uri="{BB962C8B-B14F-4D97-AF65-F5344CB8AC3E}">
        <p14:creationId xmlns:p14="http://schemas.microsoft.com/office/powerpoint/2010/main" val="278708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81F01-3C6A-413F-C9D0-4BE8F4FDE8D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F88CB7E-C2FE-B793-DC57-5D79EEC0F482}"/>
              </a:ext>
            </a:extLst>
          </p:cNvPr>
          <p:cNvSpPr>
            <a:spLocks noGrp="1"/>
          </p:cNvSpPr>
          <p:nvPr>
            <p:ph type="sldNum" sz="quarter" idx="12"/>
          </p:nvPr>
        </p:nvSpPr>
        <p:spPr/>
        <p:txBody>
          <a:bodyPr/>
          <a:lstStyle/>
          <a:p>
            <a:fld id="{D57F1E4F-1CFF-5643-939E-217C01CDF565}" type="slidenum">
              <a:rPr lang="en-US" smtClean="0"/>
              <a:pPr/>
              <a:t>40</a:t>
            </a:fld>
            <a:endParaRPr lang="en-US" dirty="0"/>
          </a:p>
        </p:txBody>
      </p:sp>
      <p:sp>
        <p:nvSpPr>
          <p:cNvPr id="5" name="TextBox 4">
            <a:extLst>
              <a:ext uri="{FF2B5EF4-FFF2-40B4-BE49-F238E27FC236}">
                <a16:creationId xmlns:a16="http://schemas.microsoft.com/office/drawing/2014/main" id="{2DF6070B-C46F-C8EA-8D44-E2A1A9863152}"/>
              </a:ext>
            </a:extLst>
          </p:cNvPr>
          <p:cNvSpPr txBox="1"/>
          <p:nvPr/>
        </p:nvSpPr>
        <p:spPr>
          <a:xfrm>
            <a:off x="2046615" y="618836"/>
            <a:ext cx="9471130" cy="5123647"/>
          </a:xfrm>
          <a:prstGeom prst="rect">
            <a:avLst/>
          </a:prstGeom>
          <a:noFill/>
        </p:spPr>
        <p:txBody>
          <a:bodyPr wrap="square">
            <a:spAutoFit/>
          </a:bodyPr>
          <a:lstStyle/>
          <a:p>
            <a:r>
              <a:rPr lang="en-US" dirty="0"/>
              <a:t> </a:t>
            </a:r>
            <a:endParaRPr lang="en-HK" dirty="0"/>
          </a:p>
          <a:p>
            <a:pPr lvl="0"/>
            <a:r>
              <a:rPr lang="en-US" sz="2400" b="1" dirty="0"/>
              <a:t>2. Demonstratives of the definite article ‘the’ + a signaling noun</a:t>
            </a:r>
            <a:endParaRPr lang="en-HK" sz="2400" dirty="0"/>
          </a:p>
          <a:p>
            <a:r>
              <a:rPr lang="en-US" sz="2400" dirty="0"/>
              <a:t>e.g. this, that, these, those, such, the + NOUN</a:t>
            </a:r>
          </a:p>
          <a:p>
            <a:endParaRPr lang="en-HK" sz="2400" dirty="0"/>
          </a:p>
          <a:p>
            <a:pPr marL="285750" lvl="0" indent="-285750">
              <a:buFont typeface="Arial" panose="020B0604020202020204" pitchFamily="34" charset="0"/>
              <a:buChar char="•"/>
            </a:pPr>
            <a:r>
              <a:rPr lang="en-US" sz="2400" dirty="0"/>
              <a:t>However, the researchers also conducted </a:t>
            </a:r>
            <a:r>
              <a:rPr lang="en-US" sz="2400" dirty="0">
                <a:solidFill>
                  <a:srgbClr val="0070C0"/>
                </a:solidFill>
              </a:rPr>
              <a:t>a subsequent study. </a:t>
            </a:r>
            <a:r>
              <a:rPr lang="en-US" sz="2400" b="1" u="sng" dirty="0">
                <a:solidFill>
                  <a:srgbClr val="0070C0"/>
                </a:solidFill>
              </a:rPr>
              <a:t>This </a:t>
            </a:r>
            <a:r>
              <a:rPr lang="en-US" sz="2400" b="1" dirty="0">
                <a:solidFill>
                  <a:srgbClr val="0070C0"/>
                </a:solidFill>
              </a:rPr>
              <a:t>study</a:t>
            </a:r>
            <a:r>
              <a:rPr lang="en-US" sz="2400" dirty="0"/>
              <a:t> strongly confirmed the results of the previous one.</a:t>
            </a:r>
            <a:endParaRPr lang="en-HK" sz="2400" dirty="0"/>
          </a:p>
          <a:p>
            <a:pPr marL="285750" lvl="0" indent="-285750">
              <a:buFont typeface="Arial" panose="020B0604020202020204" pitchFamily="34" charset="0"/>
              <a:buChar char="•"/>
            </a:pPr>
            <a:r>
              <a:rPr lang="en-US" sz="2400" dirty="0"/>
              <a:t>The qualities of a good critic </a:t>
            </a:r>
            <a:r>
              <a:rPr lang="en-US" sz="2400" dirty="0">
                <a:solidFill>
                  <a:srgbClr val="0070C0"/>
                </a:solidFill>
              </a:rPr>
              <a:t>are clear perception, fine sensibility and eloquence. </a:t>
            </a:r>
            <a:r>
              <a:rPr lang="en-US" sz="2400" b="1" u="sng" dirty="0">
                <a:solidFill>
                  <a:srgbClr val="0070C0"/>
                </a:solidFill>
              </a:rPr>
              <a:t>These</a:t>
            </a:r>
            <a:r>
              <a:rPr lang="en-US" sz="2400" dirty="0">
                <a:solidFill>
                  <a:srgbClr val="0070C0"/>
                </a:solidFill>
              </a:rPr>
              <a:t> </a:t>
            </a:r>
            <a:r>
              <a:rPr lang="en-US" sz="2400" dirty="0"/>
              <a:t>same qualities are needed by lecturers.</a:t>
            </a:r>
            <a:endParaRPr lang="en-HK" sz="2400" dirty="0"/>
          </a:p>
          <a:p>
            <a:pPr marL="285750" lvl="0" indent="-285750">
              <a:buFont typeface="Arial" panose="020B0604020202020204" pitchFamily="34" charset="0"/>
              <a:buChar char="•"/>
            </a:pPr>
            <a:r>
              <a:rPr lang="en-US" sz="2400" dirty="0"/>
              <a:t>He was faced with a </a:t>
            </a:r>
            <a:r>
              <a:rPr lang="en-US" sz="2400" dirty="0">
                <a:solidFill>
                  <a:srgbClr val="0070C0"/>
                </a:solidFill>
              </a:rPr>
              <a:t>difficult choice. </a:t>
            </a:r>
            <a:r>
              <a:rPr lang="en-US" sz="2400" b="1" u="sng" dirty="0">
                <a:solidFill>
                  <a:srgbClr val="0070C0"/>
                </a:solidFill>
              </a:rPr>
              <a:t>The</a:t>
            </a:r>
            <a:r>
              <a:rPr lang="en-US" sz="2400" b="1" dirty="0">
                <a:solidFill>
                  <a:srgbClr val="0070C0"/>
                </a:solidFill>
              </a:rPr>
              <a:t> choice</a:t>
            </a:r>
            <a:r>
              <a:rPr lang="en-US" sz="2400" dirty="0">
                <a:solidFill>
                  <a:srgbClr val="0070C0"/>
                </a:solidFill>
              </a:rPr>
              <a:t> </a:t>
            </a:r>
            <a:r>
              <a:rPr lang="en-US" sz="2400" dirty="0"/>
              <a:t>he made demonstrated his ability to make sound decisions under extreme pressure.</a:t>
            </a:r>
            <a:endParaRPr lang="en-HK" sz="2400" dirty="0"/>
          </a:p>
          <a:p>
            <a:pPr lvl="0" algn="just">
              <a:lnSpc>
                <a:spcPct val="115000"/>
              </a:lnSpc>
            </a:pPr>
            <a:endParaRPr lang="en-GB" sz="2000" dirty="0">
              <a:solidFill>
                <a:srgbClr val="000000"/>
              </a:solidFill>
              <a:effectLst/>
              <a:ea typeface="PMingLiU" panose="02020500000000000000" pitchFamily="18" charset="-120"/>
              <a:cs typeface="Calibri" panose="020F0502020204030204" pitchFamily="34" charset="0"/>
            </a:endParaRPr>
          </a:p>
        </p:txBody>
      </p:sp>
    </p:spTree>
    <p:extLst>
      <p:ext uri="{BB962C8B-B14F-4D97-AF65-F5344CB8AC3E}">
        <p14:creationId xmlns:p14="http://schemas.microsoft.com/office/powerpoint/2010/main" val="11662242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98435-3A41-BD0E-BF54-755BA70E818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D9AC4D1-E86D-4C4B-020F-57E1D90DCB2D}"/>
              </a:ext>
            </a:extLst>
          </p:cNvPr>
          <p:cNvSpPr>
            <a:spLocks noGrp="1"/>
          </p:cNvSpPr>
          <p:nvPr>
            <p:ph type="sldNum" sz="quarter" idx="12"/>
          </p:nvPr>
        </p:nvSpPr>
        <p:spPr/>
        <p:txBody>
          <a:bodyPr/>
          <a:lstStyle/>
          <a:p>
            <a:fld id="{D57F1E4F-1CFF-5643-939E-217C01CDF565}" type="slidenum">
              <a:rPr lang="en-US" smtClean="0"/>
              <a:pPr/>
              <a:t>41</a:t>
            </a:fld>
            <a:endParaRPr lang="en-US" dirty="0"/>
          </a:p>
        </p:txBody>
      </p:sp>
      <p:sp>
        <p:nvSpPr>
          <p:cNvPr id="5" name="TextBox 4">
            <a:extLst>
              <a:ext uri="{FF2B5EF4-FFF2-40B4-BE49-F238E27FC236}">
                <a16:creationId xmlns:a16="http://schemas.microsoft.com/office/drawing/2014/main" id="{E205C448-2E34-2ACD-A699-3450EFEB28FD}"/>
              </a:ext>
            </a:extLst>
          </p:cNvPr>
          <p:cNvSpPr txBox="1"/>
          <p:nvPr/>
        </p:nvSpPr>
        <p:spPr>
          <a:xfrm>
            <a:off x="1603269" y="-240145"/>
            <a:ext cx="10136149" cy="7524304"/>
          </a:xfrm>
          <a:prstGeom prst="rect">
            <a:avLst/>
          </a:prstGeom>
          <a:noFill/>
        </p:spPr>
        <p:txBody>
          <a:bodyPr wrap="square">
            <a:spAutoFit/>
          </a:bodyPr>
          <a:lstStyle/>
          <a:p>
            <a:r>
              <a:rPr lang="en-US" dirty="0"/>
              <a:t> </a:t>
            </a:r>
            <a:endParaRPr lang="en-HK" dirty="0"/>
          </a:p>
          <a:p>
            <a:pPr lvl="0" algn="just">
              <a:lnSpc>
                <a:spcPct val="115000"/>
              </a:lnSpc>
              <a:spcAft>
                <a:spcPts val="600"/>
              </a:spcAft>
            </a:pPr>
            <a:r>
              <a:rPr lang="en-US" sz="2400" b="1" dirty="0">
                <a:effectLst/>
                <a:latin typeface="Calibri" panose="020F0502020204030204" pitchFamily="34" charset="0"/>
                <a:ea typeface="DengXian" panose="02010600030101010101" pitchFamily="2" charset="-122"/>
                <a:cs typeface="Times New Roman" panose="02020603050405020304" pitchFamily="18" charset="0"/>
              </a:rPr>
              <a:t>3. Comparatives</a:t>
            </a:r>
            <a:endParaRPr lang="en-HK" sz="2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600"/>
              </a:spcAft>
              <a:buNone/>
            </a:pPr>
            <a:r>
              <a:rPr lang="en-US" sz="2400" dirty="0">
                <a:effectLst/>
                <a:latin typeface="Calibri" panose="020F0502020204030204" pitchFamily="34" charset="0"/>
                <a:ea typeface="DengXian" panose="02010600030101010101" pitchFamily="2" charset="-122"/>
                <a:cs typeface="Times New Roman" panose="02020603050405020304" pitchFamily="18" charset="0"/>
              </a:rPr>
              <a:t>e.g. another, other, both, similar, the same, better, earlier, previous, later, subsequent</a:t>
            </a:r>
            <a:endParaRPr lang="en-HK" sz="24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Symbol" panose="05050102010706020507" pitchFamily="18" charset="2"/>
              <a:buChar char=""/>
            </a:pPr>
            <a:r>
              <a:rPr lang="en-US" sz="2400" dirty="0">
                <a:solidFill>
                  <a:srgbClr val="388600"/>
                </a:solidFill>
                <a:effectLst/>
                <a:latin typeface="Calibri" panose="020F0502020204030204" pitchFamily="34" charset="0"/>
                <a:ea typeface="DengXian" panose="02010600030101010101" pitchFamily="2" charset="-122"/>
                <a:cs typeface="Times New Roman" panose="02020603050405020304" pitchFamily="18" charset="0"/>
              </a:rPr>
              <a:t>The research has undoubtedly revolutionized thinking in the field</a:t>
            </a:r>
            <a:r>
              <a:rPr lang="en-US" sz="2400" dirty="0">
                <a:effectLst/>
                <a:latin typeface="Calibri" panose="020F0502020204030204" pitchFamily="34" charset="0"/>
                <a:ea typeface="DengXian" panose="02010600030101010101" pitchFamily="2" charset="-122"/>
                <a:cs typeface="Times New Roman" panose="02020603050405020304" pitchFamily="18" charset="0"/>
              </a:rPr>
              <a:t>. </a:t>
            </a:r>
            <a:r>
              <a:rPr lang="en-US" sz="2400" b="1" u="sng"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The same</a:t>
            </a:r>
            <a:r>
              <a:rPr lang="en-US" sz="2400"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 </a:t>
            </a:r>
            <a:r>
              <a:rPr lang="en-US" sz="2400" dirty="0">
                <a:effectLst/>
                <a:latin typeface="Calibri" panose="020F0502020204030204" pitchFamily="34" charset="0"/>
                <a:ea typeface="DengXian" panose="02010600030101010101" pitchFamily="2" charset="-122"/>
                <a:cs typeface="Times New Roman" panose="02020603050405020304" pitchFamily="18" charset="0"/>
              </a:rPr>
              <a:t>could be said of </a:t>
            </a:r>
            <a:r>
              <a:rPr lang="en-US" sz="2400" dirty="0" err="1">
                <a:effectLst/>
                <a:latin typeface="Calibri" panose="020F0502020204030204" pitchFamily="34" charset="0"/>
                <a:ea typeface="DengXian" panose="02010600030101010101" pitchFamily="2" charset="-122"/>
                <a:cs typeface="Times New Roman" panose="02020603050405020304" pitchFamily="18" charset="0"/>
              </a:rPr>
              <a:t>Druy’s</a:t>
            </a:r>
            <a:r>
              <a:rPr lang="en-US" sz="2400" dirty="0">
                <a:effectLst/>
                <a:latin typeface="Calibri" panose="020F0502020204030204" pitchFamily="34" charset="0"/>
                <a:ea typeface="DengXian" panose="02010600030101010101" pitchFamily="2" charset="-122"/>
                <a:cs typeface="Times New Roman" panose="02020603050405020304" pitchFamily="18" charset="0"/>
              </a:rPr>
              <a:t> (2003) later research.</a:t>
            </a:r>
            <a:endParaRPr lang="en-HK" sz="24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Symbol" panose="05050102010706020507" pitchFamily="18" charset="2"/>
              <a:buChar char=""/>
            </a:pPr>
            <a:r>
              <a:rPr lang="en-US" sz="2400" dirty="0">
                <a:effectLst/>
                <a:latin typeface="Calibri" panose="020F0502020204030204" pitchFamily="34" charset="0"/>
                <a:ea typeface="DengXian" panose="02010600030101010101" pitchFamily="2" charset="-122"/>
                <a:cs typeface="Times New Roman" panose="02020603050405020304" pitchFamily="18" charset="0"/>
              </a:rPr>
              <a:t>…it has been shown that in the absence of </a:t>
            </a:r>
            <a:r>
              <a:rPr lang="en-US" sz="2400" dirty="0">
                <a:solidFill>
                  <a:srgbClr val="388600"/>
                </a:solidFill>
                <a:effectLst/>
                <a:latin typeface="Calibri" panose="020F0502020204030204" pitchFamily="34" charset="0"/>
                <a:ea typeface="DengXian" panose="02010600030101010101" pitchFamily="2" charset="-122"/>
                <a:cs typeface="Times New Roman" panose="02020603050405020304" pitchFamily="18" charset="0"/>
              </a:rPr>
              <a:t>another meal</a:t>
            </a:r>
            <a:r>
              <a:rPr lang="en-US" sz="2400" dirty="0">
                <a:effectLst/>
                <a:latin typeface="Calibri" panose="020F0502020204030204" pitchFamily="34" charset="0"/>
                <a:ea typeface="DengXian" panose="02010600030101010101" pitchFamily="2" charset="-122"/>
                <a:cs typeface="Times New Roman" panose="02020603050405020304" pitchFamily="18" charset="0"/>
              </a:rPr>
              <a:t>, </a:t>
            </a:r>
            <a:r>
              <a:rPr lang="en-US" sz="2400" b="1" u="sng"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the previous one</a:t>
            </a:r>
            <a:r>
              <a:rPr lang="en-US" sz="2400"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 </a:t>
            </a:r>
            <a:r>
              <a:rPr lang="en-US" sz="2400" dirty="0">
                <a:effectLst/>
                <a:latin typeface="Calibri" panose="020F0502020204030204" pitchFamily="34" charset="0"/>
                <a:ea typeface="DengXian" panose="02010600030101010101" pitchFamily="2" charset="-122"/>
                <a:cs typeface="Times New Roman" panose="02020603050405020304" pitchFamily="18" charset="0"/>
              </a:rPr>
              <a:t>may be kept in the stomach for more than twice as long as usual (Chitty, 1938), presumably with a gradual increase in stomach acidity, …</a:t>
            </a:r>
            <a:endParaRPr lang="en-HK" sz="24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Symbol" panose="05050102010706020507" pitchFamily="18" charset="2"/>
              <a:buChar char=""/>
            </a:pPr>
            <a:r>
              <a:rPr lang="en-US" sz="2400" dirty="0">
                <a:solidFill>
                  <a:srgbClr val="388600"/>
                </a:solidFill>
                <a:effectLst/>
                <a:latin typeface="Calibri" panose="020F0502020204030204" pitchFamily="34" charset="0"/>
                <a:ea typeface="DengXian" panose="02010600030101010101" pitchFamily="2" charset="-122"/>
                <a:cs typeface="Times New Roman" panose="02020603050405020304" pitchFamily="18" charset="0"/>
              </a:rPr>
              <a:t>The algorithm could in principle reduce crime but aggravate</a:t>
            </a:r>
            <a:r>
              <a:rPr lang="en-US" sz="2400" dirty="0">
                <a:effectLst/>
                <a:latin typeface="Calibri" panose="020F0502020204030204" pitchFamily="34" charset="0"/>
                <a:ea typeface="DengXian" panose="02010600030101010101" pitchFamily="2" charset="-122"/>
                <a:cs typeface="Times New Roman" panose="02020603050405020304" pitchFamily="18" charset="0"/>
              </a:rPr>
              <a:t>… Yet, </a:t>
            </a:r>
            <a:r>
              <a:rPr lang="en-US" sz="2400" b="1" u="sng"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the opposite</a:t>
            </a:r>
            <a:r>
              <a:rPr lang="en-US" sz="2400"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 </a:t>
            </a:r>
            <a:r>
              <a:rPr lang="en-US" sz="2400" dirty="0">
                <a:effectLst/>
                <a:latin typeface="Calibri" panose="020F0502020204030204" pitchFamily="34" charset="0"/>
                <a:ea typeface="DengXian" panose="02010600030101010101" pitchFamily="2" charset="-122"/>
                <a:cs typeface="Times New Roman" panose="02020603050405020304" pitchFamily="18" charset="0"/>
              </a:rPr>
              <a:t>appears to be true in our data.</a:t>
            </a:r>
            <a:endParaRPr lang="en-HK" sz="24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600"/>
              </a:spcAft>
              <a:buFont typeface="Symbol" panose="05050102010706020507" pitchFamily="18" charset="2"/>
              <a:buChar char=""/>
            </a:pPr>
            <a:r>
              <a:rPr lang="en-US" sz="2400" dirty="0">
                <a:solidFill>
                  <a:srgbClr val="212121"/>
                </a:solidFill>
                <a:effectLst/>
                <a:latin typeface="Calibri" panose="020F0502020204030204" pitchFamily="34" charset="0"/>
                <a:ea typeface="DengXian" panose="02010600030101010101" pitchFamily="2" charset="-122"/>
                <a:cs typeface="Times New Roman" panose="02020603050405020304" pitchFamily="18" charset="0"/>
              </a:rPr>
              <a:t>The more precise terms that he uses are ‘</a:t>
            </a:r>
            <a:r>
              <a:rPr lang="en-US" sz="2400" dirty="0">
                <a:solidFill>
                  <a:srgbClr val="388600"/>
                </a:solidFill>
                <a:effectLst/>
                <a:latin typeface="Calibri" panose="020F0502020204030204" pitchFamily="34" charset="0"/>
                <a:ea typeface="DengXian" panose="02010600030101010101" pitchFamily="2" charset="-122"/>
                <a:cs typeface="Times New Roman" panose="02020603050405020304" pitchFamily="18" charset="0"/>
              </a:rPr>
              <a:t>isotropic</a:t>
            </a:r>
            <a:r>
              <a:rPr lang="en-US" sz="2400" dirty="0">
                <a:solidFill>
                  <a:srgbClr val="212121"/>
                </a:solidFill>
                <a:effectLst/>
                <a:latin typeface="Calibri" panose="020F0502020204030204" pitchFamily="34" charset="0"/>
                <a:ea typeface="DengXian" panose="02010600030101010101" pitchFamily="2" charset="-122"/>
                <a:cs typeface="Times New Roman" panose="02020603050405020304" pitchFamily="18" charset="0"/>
              </a:rPr>
              <a:t>’ and ‘</a:t>
            </a:r>
            <a:r>
              <a:rPr lang="en-US" sz="2400" dirty="0" err="1">
                <a:solidFill>
                  <a:srgbClr val="388600"/>
                </a:solidFill>
                <a:effectLst/>
                <a:latin typeface="Calibri" panose="020F0502020204030204" pitchFamily="34" charset="0"/>
                <a:ea typeface="DengXian" panose="02010600030101010101" pitchFamily="2" charset="-122"/>
                <a:cs typeface="Times New Roman" panose="02020603050405020304" pitchFamily="18" charset="0"/>
              </a:rPr>
              <a:t>Quinean</a:t>
            </a:r>
            <a:r>
              <a:rPr lang="en-US" sz="2400" dirty="0">
                <a:solidFill>
                  <a:srgbClr val="212121"/>
                </a:solidFill>
                <a:effectLst/>
                <a:latin typeface="Calibri" panose="020F0502020204030204" pitchFamily="34" charset="0"/>
                <a:ea typeface="DengXian" panose="02010600030101010101" pitchFamily="2" charset="-122"/>
                <a:cs typeface="Times New Roman" panose="02020603050405020304" pitchFamily="18" charset="0"/>
              </a:rPr>
              <a:t>’. </a:t>
            </a:r>
            <a:r>
              <a:rPr lang="en-US" sz="2400" b="1" u="sng"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The former</a:t>
            </a:r>
            <a:r>
              <a:rPr lang="en-US" sz="2400"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 </a:t>
            </a:r>
            <a:r>
              <a:rPr lang="en-US" sz="2400" dirty="0">
                <a:solidFill>
                  <a:srgbClr val="212121"/>
                </a:solidFill>
                <a:effectLst/>
                <a:latin typeface="Calibri" panose="020F0502020204030204" pitchFamily="34" charset="0"/>
                <a:ea typeface="DengXian" panose="02010600030101010101" pitchFamily="2" charset="-122"/>
                <a:cs typeface="Times New Roman" panose="02020603050405020304" pitchFamily="18" charset="0"/>
              </a:rPr>
              <a:t>means that anything in the domain of belief is potentially relevant to what is being considered; </a:t>
            </a:r>
            <a:r>
              <a:rPr lang="en-US" sz="2400" b="1" u="sng"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the latter</a:t>
            </a:r>
            <a:r>
              <a:rPr lang="en-US" sz="2400" dirty="0">
                <a:solidFill>
                  <a:srgbClr val="007BB8"/>
                </a:solidFill>
                <a:effectLst/>
                <a:latin typeface="Calibri" panose="020F0502020204030204" pitchFamily="34" charset="0"/>
                <a:ea typeface="DengXian" panose="02010600030101010101" pitchFamily="2" charset="-122"/>
                <a:cs typeface="Times New Roman" panose="02020603050405020304" pitchFamily="18" charset="0"/>
              </a:rPr>
              <a:t> </a:t>
            </a:r>
            <a:r>
              <a:rPr lang="en-US" sz="2400" dirty="0">
                <a:solidFill>
                  <a:srgbClr val="212121"/>
                </a:solidFill>
                <a:effectLst/>
                <a:latin typeface="Calibri" panose="020F0502020204030204" pitchFamily="34" charset="0"/>
                <a:ea typeface="DengXian" panose="02010600030101010101" pitchFamily="2" charset="-122"/>
                <a:cs typeface="Times New Roman" panose="02020603050405020304" pitchFamily="18" charset="0"/>
              </a:rPr>
              <a:t>means that the falsification or verification of propositions is done relative to their status in a scientific theory (and, by extension, in a belief system).</a:t>
            </a:r>
            <a:endParaRPr lang="en-HK" sz="2400" dirty="0">
              <a:effectLst/>
              <a:latin typeface="Calibri" panose="020F0502020204030204" pitchFamily="34" charset="0"/>
              <a:ea typeface="DengXian" panose="02010600030101010101" pitchFamily="2" charset="-122"/>
              <a:cs typeface="Times New Roman" panose="02020603050405020304" pitchFamily="18" charset="0"/>
            </a:endParaRPr>
          </a:p>
          <a:p>
            <a:pPr lvl="0" algn="just">
              <a:lnSpc>
                <a:spcPct val="115000"/>
              </a:lnSpc>
            </a:pPr>
            <a:endParaRPr lang="en-GB" sz="2000" dirty="0">
              <a:solidFill>
                <a:srgbClr val="000000"/>
              </a:solidFill>
              <a:effectLst/>
              <a:ea typeface="PMingLiU" panose="02020500000000000000" pitchFamily="18" charset="-120"/>
              <a:cs typeface="Calibri" panose="020F0502020204030204" pitchFamily="34" charset="0"/>
            </a:endParaRPr>
          </a:p>
        </p:txBody>
      </p:sp>
    </p:spTree>
    <p:extLst>
      <p:ext uri="{BB962C8B-B14F-4D97-AF65-F5344CB8AC3E}">
        <p14:creationId xmlns:p14="http://schemas.microsoft.com/office/powerpoint/2010/main" val="2277645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57371-3833-0527-C7CA-7A636C00113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B57C6E-E758-BFA5-F15D-5206F3B1DAB6}"/>
              </a:ext>
            </a:extLst>
          </p:cNvPr>
          <p:cNvSpPr>
            <a:spLocks noGrp="1"/>
          </p:cNvSpPr>
          <p:nvPr>
            <p:ph type="sldNum" sz="quarter" idx="12"/>
          </p:nvPr>
        </p:nvSpPr>
        <p:spPr/>
        <p:txBody>
          <a:bodyPr/>
          <a:lstStyle/>
          <a:p>
            <a:fld id="{D57F1E4F-1CFF-5643-939E-217C01CDF565}" type="slidenum">
              <a:rPr lang="en-US" smtClean="0"/>
              <a:pPr/>
              <a:t>42</a:t>
            </a:fld>
            <a:endParaRPr lang="en-US" dirty="0"/>
          </a:p>
        </p:txBody>
      </p:sp>
      <p:sp>
        <p:nvSpPr>
          <p:cNvPr id="5" name="TextBox 4">
            <a:extLst>
              <a:ext uri="{FF2B5EF4-FFF2-40B4-BE49-F238E27FC236}">
                <a16:creationId xmlns:a16="http://schemas.microsoft.com/office/drawing/2014/main" id="{775F26EF-823D-AB1A-00D7-413EA1633133}"/>
              </a:ext>
            </a:extLst>
          </p:cNvPr>
          <p:cNvSpPr txBox="1"/>
          <p:nvPr/>
        </p:nvSpPr>
        <p:spPr>
          <a:xfrm>
            <a:off x="1686397" y="314037"/>
            <a:ext cx="10136149" cy="6570197"/>
          </a:xfrm>
          <a:prstGeom prst="rect">
            <a:avLst/>
          </a:prstGeom>
          <a:noFill/>
        </p:spPr>
        <p:txBody>
          <a:bodyPr wrap="square">
            <a:spAutoFit/>
          </a:bodyPr>
          <a:lstStyle/>
          <a:p>
            <a:r>
              <a:rPr lang="en-US" dirty="0"/>
              <a:t> </a:t>
            </a:r>
            <a:endParaRPr lang="en-HK" dirty="0"/>
          </a:p>
          <a:p>
            <a:r>
              <a:rPr lang="en-US" sz="2400" b="1" dirty="0"/>
              <a:t>III. Lexical Chain</a:t>
            </a:r>
            <a:endParaRPr lang="en-HK" sz="2400" dirty="0"/>
          </a:p>
          <a:p>
            <a:r>
              <a:rPr lang="en-US" dirty="0"/>
              <a:t> </a:t>
            </a:r>
            <a:endParaRPr lang="en-HK" dirty="0"/>
          </a:p>
          <a:p>
            <a:pPr lvl="0"/>
            <a:r>
              <a:rPr lang="en-US" sz="2000" b="1" dirty="0"/>
              <a:t>1. Synonyms or antonyms</a:t>
            </a:r>
            <a:endParaRPr lang="en-HK" sz="2000" dirty="0"/>
          </a:p>
          <a:p>
            <a:r>
              <a:rPr lang="en-US" sz="2000" b="1" dirty="0"/>
              <a:t> </a:t>
            </a:r>
            <a:endParaRPr lang="en-HK" sz="2000" dirty="0"/>
          </a:p>
          <a:p>
            <a:pPr marL="342900" lvl="0" indent="-342900">
              <a:buFont typeface="Arial" panose="020B0604020202020204" pitchFamily="34" charset="0"/>
              <a:buChar char="•"/>
            </a:pPr>
            <a:r>
              <a:rPr lang="en-US" sz="2000" dirty="0"/>
              <a:t>HIV AIDS is a </a:t>
            </a:r>
            <a:r>
              <a:rPr lang="en-US" sz="2000" b="1" dirty="0">
                <a:solidFill>
                  <a:srgbClr val="0070C0"/>
                </a:solidFill>
              </a:rPr>
              <a:t>disease</a:t>
            </a:r>
            <a:r>
              <a:rPr lang="en-US" sz="2000" dirty="0">
                <a:solidFill>
                  <a:srgbClr val="0070C0"/>
                </a:solidFill>
              </a:rPr>
              <a:t> </a:t>
            </a:r>
            <a:r>
              <a:rPr lang="en-US" sz="2000" dirty="0"/>
              <a:t>which affects the immune system. Until recently, this </a:t>
            </a:r>
            <a:r>
              <a:rPr lang="en-US" sz="2000" b="1" dirty="0">
                <a:solidFill>
                  <a:srgbClr val="0070C0"/>
                </a:solidFill>
              </a:rPr>
              <a:t>condition</a:t>
            </a:r>
            <a:r>
              <a:rPr lang="en-US" sz="2000" dirty="0"/>
              <a:t> was little understood.</a:t>
            </a:r>
            <a:endParaRPr lang="en-HK" sz="2000" dirty="0"/>
          </a:p>
          <a:p>
            <a:pPr marL="342900" lvl="0" indent="-342900">
              <a:buFont typeface="Arial" panose="020B0604020202020204" pitchFamily="34" charset="0"/>
              <a:buChar char="•"/>
            </a:pPr>
            <a:r>
              <a:rPr lang="en-US" sz="2000" b="1" dirty="0">
                <a:solidFill>
                  <a:srgbClr val="00B050"/>
                </a:solidFill>
              </a:rPr>
              <a:t>The way in which money is currently allocated for research</a:t>
            </a:r>
            <a:r>
              <a:rPr lang="en-US" sz="2000" dirty="0"/>
              <a:t> encourages poor quality research submissions. </a:t>
            </a:r>
            <a:r>
              <a:rPr lang="en-US" sz="2000" b="1" dirty="0">
                <a:solidFill>
                  <a:srgbClr val="00B050"/>
                </a:solidFill>
              </a:rPr>
              <a:t>This funding mechanism</a:t>
            </a:r>
            <a:r>
              <a:rPr lang="en-US" sz="2000" dirty="0">
                <a:solidFill>
                  <a:srgbClr val="00B050"/>
                </a:solidFill>
              </a:rPr>
              <a:t> </a:t>
            </a:r>
            <a:r>
              <a:rPr lang="en-US" sz="2000" dirty="0"/>
              <a:t>is in urgent need of overhaul.</a:t>
            </a:r>
            <a:endParaRPr lang="en-HK" sz="2000" dirty="0"/>
          </a:p>
          <a:p>
            <a:pPr marL="342900" lvl="0" indent="-342900">
              <a:buFont typeface="Arial" panose="020B0604020202020204" pitchFamily="34" charset="0"/>
              <a:buChar char="•"/>
            </a:pPr>
            <a:r>
              <a:rPr lang="en-US" sz="2000" dirty="0"/>
              <a:t>The </a:t>
            </a:r>
            <a:r>
              <a:rPr lang="en-US" sz="2000" b="1" dirty="0">
                <a:solidFill>
                  <a:srgbClr val="FF0000"/>
                </a:solidFill>
              </a:rPr>
              <a:t>mental well-being</a:t>
            </a:r>
            <a:r>
              <a:rPr lang="en-US" sz="2000" dirty="0">
                <a:solidFill>
                  <a:srgbClr val="FF0000"/>
                </a:solidFill>
              </a:rPr>
              <a:t> </a:t>
            </a:r>
            <a:r>
              <a:rPr lang="en-US" sz="2000" dirty="0"/>
              <a:t>of these children is equally important. </a:t>
            </a:r>
            <a:r>
              <a:rPr lang="en-US" sz="2000" b="1" dirty="0">
                <a:solidFill>
                  <a:srgbClr val="FF0000"/>
                </a:solidFill>
              </a:rPr>
              <a:t>Unhappiness</a:t>
            </a:r>
            <a:r>
              <a:rPr lang="en-US" sz="2000" dirty="0">
                <a:solidFill>
                  <a:srgbClr val="FF0000"/>
                </a:solidFill>
              </a:rPr>
              <a:t> </a:t>
            </a:r>
            <a:r>
              <a:rPr lang="en-US" sz="2000" dirty="0"/>
              <a:t>and </a:t>
            </a:r>
            <a:r>
              <a:rPr lang="en-US" sz="2000" b="1" dirty="0"/>
              <a:t>i</a:t>
            </a:r>
            <a:r>
              <a:rPr lang="en-US" sz="2000" b="1" dirty="0">
                <a:solidFill>
                  <a:srgbClr val="FF0000"/>
                </a:solidFill>
              </a:rPr>
              <a:t>nstability</a:t>
            </a:r>
            <a:r>
              <a:rPr lang="en-US" sz="2000" dirty="0"/>
              <a:t> impact significantly on their chances of long-term survival.</a:t>
            </a:r>
            <a:endParaRPr lang="en-HK" sz="2000" dirty="0"/>
          </a:p>
          <a:p>
            <a:r>
              <a:rPr lang="en-US" sz="2000" dirty="0"/>
              <a:t> </a:t>
            </a:r>
            <a:endParaRPr lang="en-HK" sz="2000" dirty="0"/>
          </a:p>
          <a:p>
            <a:pPr lvl="0"/>
            <a:r>
              <a:rPr lang="en-US" sz="2000" b="1" dirty="0"/>
              <a:t>2. </a:t>
            </a:r>
            <a:r>
              <a:rPr lang="en-US" sz="2000" b="1" dirty="0" err="1"/>
              <a:t>Categorisation</a:t>
            </a:r>
            <a:r>
              <a:rPr lang="en-US" sz="2000" b="1" dirty="0"/>
              <a:t> (part to whole; or whole to part)</a:t>
            </a:r>
            <a:endParaRPr lang="en-HK" sz="2000" dirty="0"/>
          </a:p>
          <a:p>
            <a:r>
              <a:rPr lang="en-US" sz="2000" b="1" dirty="0"/>
              <a:t> </a:t>
            </a:r>
            <a:endParaRPr lang="en-HK" sz="2000" dirty="0"/>
          </a:p>
          <a:p>
            <a:pPr marL="342900" lvl="0" indent="-342900">
              <a:buFont typeface="Arial" panose="020B0604020202020204" pitchFamily="34" charset="0"/>
              <a:buChar char="•"/>
            </a:pPr>
            <a:r>
              <a:rPr lang="en-US" sz="2000" dirty="0"/>
              <a:t>The majority of </a:t>
            </a:r>
            <a:r>
              <a:rPr lang="en-US" sz="2000" b="1" dirty="0">
                <a:solidFill>
                  <a:srgbClr val="00B050"/>
                </a:solidFill>
              </a:rPr>
              <a:t>percussion instruments</a:t>
            </a:r>
            <a:r>
              <a:rPr lang="en-US" sz="2000" dirty="0">
                <a:solidFill>
                  <a:srgbClr val="00B050"/>
                </a:solidFill>
              </a:rPr>
              <a:t> </a:t>
            </a:r>
            <a:r>
              <a:rPr lang="en-US" sz="2000" dirty="0"/>
              <a:t>entered Western </a:t>
            </a:r>
            <a:r>
              <a:rPr lang="en-US" sz="2000" b="1" dirty="0">
                <a:solidFill>
                  <a:srgbClr val="00B050"/>
                </a:solidFill>
              </a:rPr>
              <a:t>orchestras</a:t>
            </a:r>
            <a:r>
              <a:rPr lang="en-US" sz="2000" dirty="0"/>
              <a:t> and the orchestral repertoire in the late 19</a:t>
            </a:r>
            <a:r>
              <a:rPr lang="en-US" sz="2000" baseline="30000" dirty="0"/>
              <a:t>th</a:t>
            </a:r>
            <a:r>
              <a:rPr lang="en-US" sz="2000" dirty="0"/>
              <a:t> century.</a:t>
            </a:r>
            <a:endParaRPr lang="en-HK" sz="2000" dirty="0"/>
          </a:p>
          <a:p>
            <a:pPr marL="342900" lvl="0" indent="-342900">
              <a:buFont typeface="Arial" panose="020B0604020202020204" pitchFamily="34" charset="0"/>
              <a:buChar char="•"/>
            </a:pPr>
            <a:r>
              <a:rPr lang="en-US" sz="2000" dirty="0"/>
              <a:t>Although </a:t>
            </a:r>
            <a:r>
              <a:rPr lang="en-US" sz="2000" b="1" dirty="0">
                <a:solidFill>
                  <a:srgbClr val="0070C0"/>
                </a:solidFill>
              </a:rPr>
              <a:t>drums</a:t>
            </a:r>
            <a:r>
              <a:rPr lang="en-US" sz="2000" dirty="0"/>
              <a:t> of various kinds had long been a feature of Western orchestral music, </a:t>
            </a:r>
            <a:r>
              <a:rPr lang="en-US" sz="2000" b="1" dirty="0">
                <a:solidFill>
                  <a:srgbClr val="0070C0"/>
                </a:solidFill>
              </a:rPr>
              <a:t>mallet percussion instruments </a:t>
            </a:r>
            <a:r>
              <a:rPr lang="en-US" sz="2000" dirty="0"/>
              <a:t>were only present from the mid-1800s onwards.</a:t>
            </a:r>
            <a:endParaRPr lang="en-HK" sz="2000" dirty="0"/>
          </a:p>
          <a:p>
            <a:pPr lvl="0" algn="just">
              <a:lnSpc>
                <a:spcPct val="115000"/>
              </a:lnSpc>
            </a:pPr>
            <a:endParaRPr lang="en-GB" sz="2000" dirty="0">
              <a:solidFill>
                <a:srgbClr val="000000"/>
              </a:solidFill>
              <a:effectLst/>
              <a:ea typeface="PMingLiU" panose="02020500000000000000" pitchFamily="18" charset="-120"/>
              <a:cs typeface="Calibri" panose="020F0502020204030204" pitchFamily="34" charset="0"/>
            </a:endParaRPr>
          </a:p>
        </p:txBody>
      </p:sp>
    </p:spTree>
    <p:extLst>
      <p:ext uri="{BB962C8B-B14F-4D97-AF65-F5344CB8AC3E}">
        <p14:creationId xmlns:p14="http://schemas.microsoft.com/office/powerpoint/2010/main" val="13057674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287279-4795-5349-A983-06DEEB58567F}"/>
              </a:ext>
            </a:extLst>
          </p:cNvPr>
          <p:cNvSpPr>
            <a:spLocks noGrp="1"/>
          </p:cNvSpPr>
          <p:nvPr>
            <p:ph type="sldNum" sz="quarter" idx="12"/>
          </p:nvPr>
        </p:nvSpPr>
        <p:spPr/>
        <p:txBody>
          <a:bodyPr/>
          <a:lstStyle/>
          <a:p>
            <a:fld id="{D57F1E4F-1CFF-5643-939E-217C01CDF565}" type="slidenum">
              <a:rPr lang="en-US" smtClean="0"/>
              <a:pPr/>
              <a:t>43</a:t>
            </a:fld>
            <a:endParaRPr lang="en-US" dirty="0"/>
          </a:p>
        </p:txBody>
      </p:sp>
      <p:sp>
        <p:nvSpPr>
          <p:cNvPr id="9" name="TextBox 8">
            <a:extLst>
              <a:ext uri="{FF2B5EF4-FFF2-40B4-BE49-F238E27FC236}">
                <a16:creationId xmlns:a16="http://schemas.microsoft.com/office/drawing/2014/main" id="{C83404BC-776B-4FBF-9224-1C6BCF75CB6A}"/>
              </a:ext>
            </a:extLst>
          </p:cNvPr>
          <p:cNvSpPr txBox="1"/>
          <p:nvPr/>
        </p:nvSpPr>
        <p:spPr>
          <a:xfrm>
            <a:off x="1489364" y="445373"/>
            <a:ext cx="9834961" cy="1450462"/>
          </a:xfrm>
          <a:prstGeom prst="rect">
            <a:avLst/>
          </a:prstGeom>
          <a:noFill/>
        </p:spPr>
        <p:txBody>
          <a:bodyPr wrap="square">
            <a:spAutoFit/>
          </a:bodyPr>
          <a:lstStyle/>
          <a:p>
            <a:pPr marL="228600" algn="just">
              <a:lnSpc>
                <a:spcPct val="115000"/>
              </a:lnSpc>
              <a:spcAft>
                <a:spcPts val="600"/>
              </a:spcAft>
            </a:pPr>
            <a:r>
              <a:rPr lang="en-GB" sz="2000" b="1" dirty="0">
                <a:effectLst/>
                <a:ea typeface="DengXian" panose="02010600030101010101" pitchFamily="2" charset="-122"/>
                <a:cs typeface="Times New Roman" panose="02020603050405020304" pitchFamily="18" charset="0"/>
              </a:rPr>
              <a:t>IV. Anaphoric Nouns</a:t>
            </a:r>
          </a:p>
          <a:p>
            <a:pPr marL="468000" lvl="0" indent="-468000" algn="just">
              <a:lnSpc>
                <a:spcPct val="115000"/>
              </a:lnSpc>
              <a:spcAft>
                <a:spcPts val="600"/>
              </a:spcAft>
            </a:pPr>
            <a:r>
              <a:rPr lang="en-GB" dirty="0">
                <a:effectLst/>
                <a:ea typeface="DengXian" panose="02010600030101010101" pitchFamily="2" charset="-122"/>
                <a:cs typeface="Times New Roman" panose="02020603050405020304" pitchFamily="18" charset="0"/>
              </a:rPr>
              <a:t>        Another useful way to show the connection between the ideas in a paragraph is what Gill Francis calls anaphoric nouns (or summary nouns). Look at the following text:</a:t>
            </a:r>
          </a:p>
        </p:txBody>
      </p:sp>
      <p:sp>
        <p:nvSpPr>
          <p:cNvPr id="6" name="TextBox 5">
            <a:extLst>
              <a:ext uri="{FF2B5EF4-FFF2-40B4-BE49-F238E27FC236}">
                <a16:creationId xmlns:a16="http://schemas.microsoft.com/office/drawing/2014/main" id="{A95F296C-FE34-4D13-90F3-38015FF60331}"/>
              </a:ext>
            </a:extLst>
          </p:cNvPr>
          <p:cNvSpPr txBox="1"/>
          <p:nvPr/>
        </p:nvSpPr>
        <p:spPr>
          <a:xfrm>
            <a:off x="1810870" y="2146342"/>
            <a:ext cx="9513455" cy="1754326"/>
          </a:xfrm>
          <a:prstGeom prst="rect">
            <a:avLst/>
          </a:prstGeom>
          <a:noFill/>
        </p:spPr>
        <p:style>
          <a:lnRef idx="2">
            <a:schemeClr val="dk1"/>
          </a:lnRef>
          <a:fillRef idx="1">
            <a:schemeClr val="lt1"/>
          </a:fillRef>
          <a:effectRef idx="0">
            <a:schemeClr val="dk1"/>
          </a:effectRef>
          <a:fontRef idx="minor">
            <a:schemeClr val="dk1"/>
          </a:fontRef>
        </p:style>
        <p:txBody>
          <a:bodyPr wrap="square">
            <a:spAutoFit/>
          </a:bodyPr>
          <a:lstStyle/>
          <a:p>
            <a:pPr algn="just"/>
            <a:r>
              <a:rPr lang="en-GB" sz="1800" dirty="0">
                <a:effectLst/>
                <a:ea typeface="DengXian" panose="02010600030101010101" pitchFamily="2" charset="-122"/>
                <a:cs typeface="Times New Roman" panose="02020603050405020304" pitchFamily="18" charset="0"/>
              </a:rPr>
              <a:t>Moulds do not usually grow fast, and conditions had to be found in which large quantities of Penicillium notatum could be produced as quickly as they were wanted. The solution to </a:t>
            </a:r>
            <a:r>
              <a:rPr lang="en-GB" sz="1800" b="1" i="1" dirty="0">
                <a:effectLst/>
                <a:ea typeface="DengXian" panose="02010600030101010101" pitchFamily="2" charset="-122"/>
                <a:cs typeface="Times New Roman" panose="02020603050405020304" pitchFamily="18" charset="0"/>
              </a:rPr>
              <a:t>this problem </a:t>
            </a:r>
            <a:r>
              <a:rPr lang="en-GB" sz="1800" dirty="0">
                <a:effectLst/>
                <a:ea typeface="DengXian" panose="02010600030101010101" pitchFamily="2" charset="-122"/>
                <a:cs typeface="Times New Roman" panose="02020603050405020304" pitchFamily="18" charset="0"/>
              </a:rPr>
              <a:t>was helped by N. G. Heatley, a young biochemist also from Hopkins's laboratory in Cambridge, who had been prevented by the outbreak of war from going to work in the Carlsberg laboratories in Copenhagen.</a:t>
            </a:r>
            <a:endParaRPr lang="en-GB" dirty="0"/>
          </a:p>
        </p:txBody>
      </p:sp>
      <p:sp>
        <p:nvSpPr>
          <p:cNvPr id="8" name="TextBox 7">
            <a:extLst>
              <a:ext uri="{FF2B5EF4-FFF2-40B4-BE49-F238E27FC236}">
                <a16:creationId xmlns:a16="http://schemas.microsoft.com/office/drawing/2014/main" id="{1892DE51-0D1D-4149-80BA-2544BD9080F8}"/>
              </a:ext>
            </a:extLst>
          </p:cNvPr>
          <p:cNvSpPr txBox="1"/>
          <p:nvPr/>
        </p:nvSpPr>
        <p:spPr>
          <a:xfrm>
            <a:off x="1810870" y="4326312"/>
            <a:ext cx="9251577" cy="710707"/>
          </a:xfrm>
          <a:prstGeom prst="rect">
            <a:avLst/>
          </a:prstGeom>
          <a:noFill/>
        </p:spPr>
        <p:txBody>
          <a:bodyPr wrap="square">
            <a:spAutoFit/>
          </a:bodyPr>
          <a:lstStyle/>
          <a:p>
            <a:pPr algn="just">
              <a:lnSpc>
                <a:spcPct val="115000"/>
              </a:lnSpc>
              <a:spcAft>
                <a:spcPts val="600"/>
              </a:spcAft>
            </a:pPr>
            <a:r>
              <a:rPr lang="en-GB" dirty="0">
                <a:solidFill>
                  <a:schemeClr val="dk1"/>
                </a:solidFill>
                <a:ea typeface="DengXian" panose="02010600030101010101" pitchFamily="2" charset="-122"/>
                <a:cs typeface="Times New Roman" panose="02020603050405020304" pitchFamily="18" charset="0"/>
              </a:rPr>
              <a:t>The phrase "</a:t>
            </a:r>
            <a:r>
              <a:rPr lang="en-GB" b="1" dirty="0">
                <a:solidFill>
                  <a:schemeClr val="dk1"/>
                </a:solidFill>
                <a:ea typeface="DengXian" panose="02010600030101010101" pitchFamily="2" charset="-122"/>
                <a:cs typeface="Times New Roman" panose="02020603050405020304" pitchFamily="18" charset="0"/>
              </a:rPr>
              <a:t>this problem</a:t>
            </a:r>
            <a:r>
              <a:rPr lang="en-GB" dirty="0">
                <a:solidFill>
                  <a:schemeClr val="dk1"/>
                </a:solidFill>
                <a:ea typeface="DengXian" panose="02010600030101010101" pitchFamily="2" charset="-122"/>
                <a:cs typeface="Times New Roman" panose="02020603050405020304" pitchFamily="18" charset="0"/>
              </a:rPr>
              <a:t>" summarises the text in the first sentence and thus provides the connection between the two sentences.</a:t>
            </a:r>
          </a:p>
        </p:txBody>
      </p:sp>
    </p:spTree>
    <p:extLst>
      <p:ext uri="{BB962C8B-B14F-4D97-AF65-F5344CB8AC3E}">
        <p14:creationId xmlns:p14="http://schemas.microsoft.com/office/powerpoint/2010/main" val="380979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287279-4795-5349-A983-06DEEB58567F}"/>
              </a:ext>
            </a:extLst>
          </p:cNvPr>
          <p:cNvSpPr>
            <a:spLocks noGrp="1"/>
          </p:cNvSpPr>
          <p:nvPr>
            <p:ph type="sldNum" sz="quarter" idx="12"/>
          </p:nvPr>
        </p:nvSpPr>
        <p:spPr/>
        <p:txBody>
          <a:bodyPr/>
          <a:lstStyle/>
          <a:p>
            <a:fld id="{D57F1E4F-1CFF-5643-939E-217C01CDF565}" type="slidenum">
              <a:rPr lang="en-US" smtClean="0"/>
              <a:pPr/>
              <a:t>44</a:t>
            </a:fld>
            <a:endParaRPr lang="en-US" dirty="0"/>
          </a:p>
        </p:txBody>
      </p:sp>
      <p:sp>
        <p:nvSpPr>
          <p:cNvPr id="6" name="TextBox 5">
            <a:extLst>
              <a:ext uri="{FF2B5EF4-FFF2-40B4-BE49-F238E27FC236}">
                <a16:creationId xmlns:a16="http://schemas.microsoft.com/office/drawing/2014/main" id="{A95F296C-FE34-4D13-90F3-38015FF60331}"/>
              </a:ext>
            </a:extLst>
          </p:cNvPr>
          <p:cNvSpPr txBox="1"/>
          <p:nvPr/>
        </p:nvSpPr>
        <p:spPr>
          <a:xfrm>
            <a:off x="1622612" y="1152907"/>
            <a:ext cx="9674820" cy="1477328"/>
          </a:xfrm>
          <a:prstGeom prst="rect">
            <a:avLst/>
          </a:prstGeom>
          <a:noFill/>
        </p:spPr>
        <p:style>
          <a:lnRef idx="2">
            <a:schemeClr val="dk1"/>
          </a:lnRef>
          <a:fillRef idx="1">
            <a:schemeClr val="lt1"/>
          </a:fillRef>
          <a:effectRef idx="0">
            <a:schemeClr val="dk1"/>
          </a:effectRef>
          <a:fontRef idx="minor">
            <a:schemeClr val="dk1"/>
          </a:fontRef>
        </p:style>
        <p:txBody>
          <a:bodyPr wrap="square">
            <a:spAutoFit/>
          </a:bodyPr>
          <a:lstStyle/>
          <a:p>
            <a:pPr algn="just"/>
            <a:r>
              <a:rPr lang="en-GB" sz="1800" dirty="0">
                <a:effectLst/>
                <a:ea typeface="DengXian" panose="02010600030101010101" pitchFamily="2" charset="-122"/>
                <a:cs typeface="Times New Roman" panose="02020603050405020304" pitchFamily="18" charset="0"/>
              </a:rPr>
              <a:t>Reports of original work, headed often by the names of many joint authors, became too full of jargon to be understood even by trained scientists who were not working in the particular field. </a:t>
            </a:r>
            <a:r>
              <a:rPr lang="en-GB" sz="1800" b="1" i="1" dirty="0">
                <a:effectLst/>
                <a:ea typeface="DengXian" panose="02010600030101010101" pitchFamily="2" charset="-122"/>
                <a:cs typeface="Times New Roman" panose="02020603050405020304" pitchFamily="18" charset="0"/>
              </a:rPr>
              <a:t>This situation</a:t>
            </a:r>
            <a:r>
              <a:rPr lang="en-GB" sz="1800" dirty="0">
                <a:effectLst/>
                <a:ea typeface="DengXian" panose="02010600030101010101" pitchFamily="2" charset="-122"/>
                <a:cs typeface="Times New Roman" panose="02020603050405020304" pitchFamily="18" charset="0"/>
              </a:rPr>
              <a:t> persists today, though strong movements towards interdisciplinary research help to avoid total fragmentation of scientific understanding.</a:t>
            </a:r>
            <a:endParaRPr lang="en-GB" dirty="0"/>
          </a:p>
        </p:txBody>
      </p:sp>
      <p:sp>
        <p:nvSpPr>
          <p:cNvPr id="8" name="TextBox 7">
            <a:extLst>
              <a:ext uri="{FF2B5EF4-FFF2-40B4-BE49-F238E27FC236}">
                <a16:creationId xmlns:a16="http://schemas.microsoft.com/office/drawing/2014/main" id="{1892DE51-0D1D-4149-80BA-2544BD9080F8}"/>
              </a:ext>
            </a:extLst>
          </p:cNvPr>
          <p:cNvSpPr txBox="1"/>
          <p:nvPr/>
        </p:nvSpPr>
        <p:spPr>
          <a:xfrm>
            <a:off x="1622611" y="3528454"/>
            <a:ext cx="9251577" cy="1630383"/>
          </a:xfrm>
          <a:prstGeom prst="rect">
            <a:avLst/>
          </a:prstGeom>
          <a:noFill/>
        </p:spPr>
        <p:txBody>
          <a:bodyPr wrap="square">
            <a:spAutoFit/>
          </a:bodyPr>
          <a:lstStyle/>
          <a:p>
            <a:pPr algn="just">
              <a:lnSpc>
                <a:spcPct val="115000"/>
              </a:lnSpc>
              <a:spcAft>
                <a:spcPts val="600"/>
              </a:spcAft>
            </a:pPr>
            <a:r>
              <a:rPr lang="en-GB" sz="2000" dirty="0">
                <a:solidFill>
                  <a:schemeClr val="dk1"/>
                </a:solidFill>
                <a:ea typeface="DengXian" panose="02010600030101010101" pitchFamily="2" charset="-122"/>
                <a:cs typeface="Times New Roman" panose="02020603050405020304" pitchFamily="18" charset="0"/>
              </a:rPr>
              <a:t>Again, the phrase "</a:t>
            </a:r>
            <a:r>
              <a:rPr lang="en-GB" sz="2000" b="1" dirty="0">
                <a:solidFill>
                  <a:schemeClr val="dk1"/>
                </a:solidFill>
                <a:ea typeface="DengXian" panose="02010600030101010101" pitchFamily="2" charset="-122"/>
                <a:cs typeface="Times New Roman" panose="02020603050405020304" pitchFamily="18" charset="0"/>
              </a:rPr>
              <a:t>This situation</a:t>
            </a:r>
            <a:r>
              <a:rPr lang="en-GB" sz="2000" dirty="0">
                <a:solidFill>
                  <a:schemeClr val="dk1"/>
                </a:solidFill>
                <a:ea typeface="DengXian" panose="02010600030101010101" pitchFamily="2" charset="-122"/>
                <a:cs typeface="Times New Roman" panose="02020603050405020304" pitchFamily="18" charset="0"/>
              </a:rPr>
              <a:t>" summarises the first sentence.</a:t>
            </a:r>
          </a:p>
          <a:p>
            <a:pPr algn="just">
              <a:lnSpc>
                <a:spcPct val="115000"/>
              </a:lnSpc>
              <a:spcAft>
                <a:spcPts val="600"/>
              </a:spcAft>
            </a:pPr>
            <a:r>
              <a:rPr lang="en-GB" sz="2000" dirty="0">
                <a:solidFill>
                  <a:schemeClr val="dk1"/>
                </a:solidFill>
                <a:ea typeface="DengXian" panose="02010600030101010101" pitchFamily="2" charset="-122"/>
                <a:cs typeface="Times New Roman" panose="02020603050405020304" pitchFamily="18" charset="0"/>
              </a:rPr>
              <a:t>The phrase:  This (or These) + noun(s)</a:t>
            </a:r>
          </a:p>
          <a:p>
            <a:pPr marL="540000" indent="-540000" algn="just">
              <a:lnSpc>
                <a:spcPct val="115000"/>
              </a:lnSpc>
              <a:spcAft>
                <a:spcPts val="600"/>
              </a:spcAft>
            </a:pPr>
            <a:r>
              <a:rPr lang="en-GB" sz="2000" dirty="0">
                <a:solidFill>
                  <a:schemeClr val="dk1"/>
                </a:solidFill>
                <a:ea typeface="DengXian" panose="02010600030101010101" pitchFamily="2" charset="-122"/>
                <a:cs typeface="Times New Roman" panose="02020603050405020304" pitchFamily="18" charset="0"/>
              </a:rPr>
              <a:t>-	is very useful in showing the connection between sentences and therefore in  making sure that the paragraph flows. </a:t>
            </a:r>
          </a:p>
        </p:txBody>
      </p:sp>
    </p:spTree>
    <p:extLst>
      <p:ext uri="{BB962C8B-B14F-4D97-AF65-F5344CB8AC3E}">
        <p14:creationId xmlns:p14="http://schemas.microsoft.com/office/powerpoint/2010/main" val="10099280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1BED9-11A0-954F-9E5C-04CD0CDFD2B7}"/>
              </a:ext>
            </a:extLst>
          </p:cNvPr>
          <p:cNvSpPr>
            <a:spLocks noGrp="1"/>
          </p:cNvSpPr>
          <p:nvPr>
            <p:ph type="title"/>
          </p:nvPr>
        </p:nvSpPr>
        <p:spPr>
          <a:xfrm>
            <a:off x="1695400" y="383620"/>
            <a:ext cx="1677486" cy="808323"/>
          </a:xfrm>
        </p:spPr>
        <p:txBody>
          <a:bodyPr>
            <a:normAutofit/>
          </a:bodyPr>
          <a:lstStyle/>
          <a:p>
            <a:r>
              <a:rPr lang="en-US" dirty="0"/>
              <a:t>Task 8</a:t>
            </a:r>
          </a:p>
        </p:txBody>
      </p:sp>
      <p:sp>
        <p:nvSpPr>
          <p:cNvPr id="3" name="Slide Number Placeholder 2">
            <a:extLst>
              <a:ext uri="{FF2B5EF4-FFF2-40B4-BE49-F238E27FC236}">
                <a16:creationId xmlns:a16="http://schemas.microsoft.com/office/drawing/2014/main" id="{3C256659-9951-2848-B296-D7DE64B4118A}"/>
              </a:ext>
            </a:extLst>
          </p:cNvPr>
          <p:cNvSpPr>
            <a:spLocks noGrp="1"/>
          </p:cNvSpPr>
          <p:nvPr>
            <p:ph type="sldNum" sz="quarter" idx="12"/>
          </p:nvPr>
        </p:nvSpPr>
        <p:spPr/>
        <p:txBody>
          <a:bodyPr/>
          <a:lstStyle/>
          <a:p>
            <a:fld id="{D57F1E4F-1CFF-5643-939E-217C01CDF565}" type="slidenum">
              <a:rPr lang="en-US" smtClean="0"/>
              <a:pPr/>
              <a:t>45</a:t>
            </a:fld>
            <a:endParaRPr lang="en-US" dirty="0"/>
          </a:p>
        </p:txBody>
      </p:sp>
      <p:sp>
        <p:nvSpPr>
          <p:cNvPr id="7" name="TextBox 6">
            <a:extLst>
              <a:ext uri="{FF2B5EF4-FFF2-40B4-BE49-F238E27FC236}">
                <a16:creationId xmlns:a16="http://schemas.microsoft.com/office/drawing/2014/main" id="{80370CEB-A4D6-4DEF-8743-C74D2E79070F}"/>
              </a:ext>
            </a:extLst>
          </p:cNvPr>
          <p:cNvSpPr txBox="1"/>
          <p:nvPr/>
        </p:nvSpPr>
        <p:spPr>
          <a:xfrm>
            <a:off x="1695400" y="1330231"/>
            <a:ext cx="8928085" cy="662233"/>
          </a:xfrm>
          <a:prstGeom prst="rect">
            <a:avLst/>
          </a:prstGeom>
          <a:noFill/>
        </p:spPr>
        <p:txBody>
          <a:bodyPr wrap="square">
            <a:spAutoFit/>
          </a:bodyPr>
          <a:lstStyle/>
          <a:p>
            <a:pPr lvl="0" algn="just">
              <a:lnSpc>
                <a:spcPct val="107000"/>
              </a:lnSpc>
              <a:spcAft>
                <a:spcPts val="800"/>
              </a:spcAft>
            </a:pPr>
            <a:r>
              <a:rPr lang="en-GB" sz="1800" dirty="0">
                <a:effectLst/>
                <a:ea typeface="DengXian" panose="02010600030101010101" pitchFamily="2" charset="-122"/>
                <a:cs typeface="Times New Roman" panose="02020603050405020304" pitchFamily="18" charset="0"/>
              </a:rPr>
              <a:t>Now look at the following sentences and fill in each blank with an appropriate summary noun.</a:t>
            </a:r>
            <a:endParaRPr lang="en-GB" sz="1600" dirty="0">
              <a:effectLst/>
              <a:ea typeface="DengXian" panose="02010600030101010101" pitchFamily="2" charset="-122"/>
              <a:cs typeface="Times New Roman" panose="02020603050405020304" pitchFamily="18" charset="0"/>
            </a:endParaRPr>
          </a:p>
        </p:txBody>
      </p:sp>
      <p:sp>
        <p:nvSpPr>
          <p:cNvPr id="10" name="TextBox 9">
            <a:extLst>
              <a:ext uri="{FF2B5EF4-FFF2-40B4-BE49-F238E27FC236}">
                <a16:creationId xmlns:a16="http://schemas.microsoft.com/office/drawing/2014/main" id="{A5779C82-3626-47CA-A2CB-754DCA46D1F3}"/>
              </a:ext>
            </a:extLst>
          </p:cNvPr>
          <p:cNvSpPr txBox="1"/>
          <p:nvPr/>
        </p:nvSpPr>
        <p:spPr>
          <a:xfrm>
            <a:off x="1695400" y="2506065"/>
            <a:ext cx="9111707" cy="3721853"/>
          </a:xfrm>
          <a:prstGeom prst="rect">
            <a:avLst/>
          </a:prstGeom>
          <a:noFill/>
        </p:spPr>
        <p:txBody>
          <a:bodyPr wrap="square">
            <a:spAutoFit/>
          </a:bodyPr>
          <a:lstStyle/>
          <a:p>
            <a:pPr marL="342900" lvl="0" indent="-342900" algn="just">
              <a:lnSpc>
                <a:spcPct val="115000"/>
              </a:lnSpc>
              <a:spcAft>
                <a:spcPts val="600"/>
              </a:spcAft>
              <a:buFont typeface="+mj-lt"/>
              <a:buAutoNum type="arabicPeriod"/>
            </a:pPr>
            <a:r>
              <a:rPr lang="en-GB" dirty="0">
                <a:ea typeface="DengXian" panose="02010600030101010101" pitchFamily="2" charset="-122"/>
                <a:cs typeface="Times New Roman" panose="02020603050405020304" pitchFamily="18" charset="0"/>
              </a:rPr>
              <a:t>According to a recent survey, 32% of adults in Hong Kong, down from 39% twenty years ago, now smoke. This _______________________ can be partly attributed to the mounting evidence linking smoking with fatal diseases such as cancer.</a:t>
            </a:r>
          </a:p>
          <a:p>
            <a:pPr marL="342900" lvl="0" indent="-342900" algn="just">
              <a:lnSpc>
                <a:spcPct val="115000"/>
              </a:lnSpc>
              <a:spcAft>
                <a:spcPts val="600"/>
              </a:spcAft>
              <a:buFont typeface="+mj-lt"/>
              <a:buAutoNum type="arabicPeriod"/>
            </a:pPr>
            <a:r>
              <a:rPr lang="en-GB" dirty="0">
                <a:ea typeface="DengXian" panose="02010600030101010101" pitchFamily="2" charset="-122"/>
                <a:cs typeface="Times New Roman" panose="02020603050405020304" pitchFamily="18" charset="0"/>
              </a:rPr>
              <a:t>Nowadays, notebook computers are lighter, more powerful and easier to use than they were five years ago. These _____________________</a:t>
            </a:r>
            <a:r>
              <a:rPr lang="en-US" dirty="0">
                <a:ea typeface="DengXian" panose="02010600030101010101" pitchFamily="2" charset="-122"/>
                <a:cs typeface="Times New Roman" panose="02020603050405020304" pitchFamily="18" charset="0"/>
              </a:rPr>
              <a:t>______</a:t>
            </a:r>
            <a:r>
              <a:rPr lang="en-GB" dirty="0">
                <a:ea typeface="DengXian" panose="02010600030101010101" pitchFamily="2" charset="-122"/>
                <a:cs typeface="Times New Roman" panose="02020603050405020304" pitchFamily="18" charset="0"/>
              </a:rPr>
              <a:t> have led to an increase in the sales of these machines.</a:t>
            </a:r>
          </a:p>
          <a:p>
            <a:pPr marL="342900" lvl="0" indent="-342900" algn="just">
              <a:lnSpc>
                <a:spcPct val="115000"/>
              </a:lnSpc>
              <a:spcAft>
                <a:spcPts val="600"/>
              </a:spcAft>
              <a:buFont typeface="+mj-lt"/>
              <a:buAutoNum type="arabicPeriod"/>
            </a:pPr>
            <a:r>
              <a:rPr lang="en-GB" dirty="0">
                <a:ea typeface="DengXian" panose="02010600030101010101" pitchFamily="2" charset="-122"/>
                <a:cs typeface="Times New Roman" panose="02020603050405020304" pitchFamily="18" charset="0"/>
              </a:rPr>
              <a:t>Ozone levels in the world increased 3% from 1990-92, another 4.5% from 1992=94, and an additional 6% from 1994-96. Environmental protection organisations are concerned that if this ___________________ continues, serious environmental damage may occur.</a:t>
            </a:r>
          </a:p>
        </p:txBody>
      </p:sp>
      <p:sp>
        <p:nvSpPr>
          <p:cNvPr id="5" name="TextBox 4">
            <a:extLst>
              <a:ext uri="{FF2B5EF4-FFF2-40B4-BE49-F238E27FC236}">
                <a16:creationId xmlns:a16="http://schemas.microsoft.com/office/drawing/2014/main" id="{AA0FEE3F-D1A5-4436-B2DC-B4BABB4B65CA}"/>
              </a:ext>
            </a:extLst>
          </p:cNvPr>
          <p:cNvSpPr txBox="1"/>
          <p:nvPr/>
        </p:nvSpPr>
        <p:spPr>
          <a:xfrm>
            <a:off x="6631388" y="2788589"/>
            <a:ext cx="1849224" cy="365869"/>
          </a:xfrm>
          <a:prstGeom prst="rect">
            <a:avLst/>
          </a:prstGeom>
          <a:noFill/>
        </p:spPr>
        <p:txBody>
          <a:bodyPr wrap="square">
            <a:spAutoFit/>
          </a:bodyPr>
          <a:lstStyle/>
          <a:p>
            <a:pPr lvl="0" algn="just">
              <a:lnSpc>
                <a:spcPct val="107000"/>
              </a:lnSpc>
              <a:spcAft>
                <a:spcPts val="800"/>
              </a:spcAft>
            </a:pPr>
            <a:r>
              <a:rPr lang="en-GB" sz="1800" dirty="0">
                <a:solidFill>
                  <a:srgbClr val="0070C0"/>
                </a:solidFill>
                <a:effectLst/>
                <a:ea typeface="DengXian" panose="02010600030101010101" pitchFamily="2" charset="-122"/>
                <a:cs typeface="Times New Roman" panose="02020603050405020304" pitchFamily="18" charset="0"/>
              </a:rPr>
              <a:t>trend/pattern</a:t>
            </a:r>
            <a:endParaRPr lang="en-GB" sz="1600" dirty="0">
              <a:solidFill>
                <a:srgbClr val="0070C0"/>
              </a:solidFill>
              <a:effectLst/>
              <a:ea typeface="DengXian" panose="02010600030101010101" pitchFamily="2" charset="-122"/>
              <a:cs typeface="Times New Roman" panose="02020603050405020304" pitchFamily="18" charset="0"/>
            </a:endParaRPr>
          </a:p>
        </p:txBody>
      </p:sp>
      <p:sp>
        <p:nvSpPr>
          <p:cNvPr id="6" name="TextBox 5">
            <a:extLst>
              <a:ext uri="{FF2B5EF4-FFF2-40B4-BE49-F238E27FC236}">
                <a16:creationId xmlns:a16="http://schemas.microsoft.com/office/drawing/2014/main" id="{C6DEADF9-A662-46FD-AE23-347B0A7EDEDC}"/>
              </a:ext>
            </a:extLst>
          </p:cNvPr>
          <p:cNvSpPr txBox="1"/>
          <p:nvPr/>
        </p:nvSpPr>
        <p:spPr>
          <a:xfrm>
            <a:off x="6408425" y="4089444"/>
            <a:ext cx="2880166" cy="365869"/>
          </a:xfrm>
          <a:prstGeom prst="rect">
            <a:avLst/>
          </a:prstGeom>
          <a:noFill/>
        </p:spPr>
        <p:txBody>
          <a:bodyPr wrap="square">
            <a:spAutoFit/>
          </a:bodyPr>
          <a:lstStyle/>
          <a:p>
            <a:pPr lvl="0" algn="just">
              <a:lnSpc>
                <a:spcPct val="107000"/>
              </a:lnSpc>
              <a:spcAft>
                <a:spcPts val="800"/>
              </a:spcAft>
            </a:pPr>
            <a:r>
              <a:rPr lang="en-GB" sz="1800" dirty="0">
                <a:solidFill>
                  <a:srgbClr val="0070C0"/>
                </a:solidFill>
                <a:effectLst/>
                <a:ea typeface="DengXian" panose="02010600030101010101" pitchFamily="2" charset="-122"/>
                <a:cs typeface="Times New Roman" panose="02020603050405020304" pitchFamily="18" charset="0"/>
              </a:rPr>
              <a:t>features/characteristics</a:t>
            </a:r>
            <a:endParaRPr lang="en-GB" sz="1600" dirty="0">
              <a:solidFill>
                <a:srgbClr val="0070C0"/>
              </a:solidFill>
              <a:effectLst/>
              <a:ea typeface="DengXian" panose="02010600030101010101" pitchFamily="2" charset="-122"/>
              <a:cs typeface="Times New Roman" panose="02020603050405020304" pitchFamily="18" charset="0"/>
            </a:endParaRPr>
          </a:p>
        </p:txBody>
      </p:sp>
      <p:sp>
        <p:nvSpPr>
          <p:cNvPr id="8" name="TextBox 7">
            <a:extLst>
              <a:ext uri="{FF2B5EF4-FFF2-40B4-BE49-F238E27FC236}">
                <a16:creationId xmlns:a16="http://schemas.microsoft.com/office/drawing/2014/main" id="{1AD58CAE-38B0-4170-83DE-A6F00B69FE6E}"/>
              </a:ext>
            </a:extLst>
          </p:cNvPr>
          <p:cNvSpPr txBox="1"/>
          <p:nvPr/>
        </p:nvSpPr>
        <p:spPr>
          <a:xfrm>
            <a:off x="6658282" y="5434373"/>
            <a:ext cx="1795436" cy="365869"/>
          </a:xfrm>
          <a:prstGeom prst="rect">
            <a:avLst/>
          </a:prstGeom>
          <a:noFill/>
        </p:spPr>
        <p:txBody>
          <a:bodyPr wrap="square">
            <a:spAutoFit/>
          </a:bodyPr>
          <a:lstStyle/>
          <a:p>
            <a:pPr lvl="0" algn="just">
              <a:lnSpc>
                <a:spcPct val="107000"/>
              </a:lnSpc>
              <a:spcAft>
                <a:spcPts val="800"/>
              </a:spcAft>
            </a:pPr>
            <a:r>
              <a:rPr lang="en-GB" sz="1800" dirty="0">
                <a:solidFill>
                  <a:srgbClr val="0070C0"/>
                </a:solidFill>
                <a:effectLst/>
                <a:ea typeface="DengXian" panose="02010600030101010101" pitchFamily="2" charset="-122"/>
                <a:cs typeface="Times New Roman" panose="02020603050405020304" pitchFamily="18" charset="0"/>
              </a:rPr>
              <a:t>trend/pattern</a:t>
            </a:r>
            <a:endParaRPr lang="en-GB" sz="1600" dirty="0">
              <a:solidFill>
                <a:srgbClr val="0070C0"/>
              </a:solidFill>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9484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1BED9-11A0-954F-9E5C-04CD0CDFD2B7}"/>
              </a:ext>
            </a:extLst>
          </p:cNvPr>
          <p:cNvSpPr>
            <a:spLocks noGrp="1"/>
          </p:cNvSpPr>
          <p:nvPr>
            <p:ph type="title"/>
          </p:nvPr>
        </p:nvSpPr>
        <p:spPr>
          <a:xfrm>
            <a:off x="1725123" y="442873"/>
            <a:ext cx="1677486" cy="808323"/>
          </a:xfrm>
        </p:spPr>
        <p:txBody>
          <a:bodyPr>
            <a:normAutofit/>
          </a:bodyPr>
          <a:lstStyle/>
          <a:p>
            <a:r>
              <a:rPr lang="en-US" dirty="0"/>
              <a:t>Task 8</a:t>
            </a:r>
          </a:p>
        </p:txBody>
      </p:sp>
      <p:sp>
        <p:nvSpPr>
          <p:cNvPr id="3" name="Slide Number Placeholder 2">
            <a:extLst>
              <a:ext uri="{FF2B5EF4-FFF2-40B4-BE49-F238E27FC236}">
                <a16:creationId xmlns:a16="http://schemas.microsoft.com/office/drawing/2014/main" id="{3C256659-9951-2848-B296-D7DE64B4118A}"/>
              </a:ext>
            </a:extLst>
          </p:cNvPr>
          <p:cNvSpPr>
            <a:spLocks noGrp="1"/>
          </p:cNvSpPr>
          <p:nvPr>
            <p:ph type="sldNum" sz="quarter" idx="12"/>
          </p:nvPr>
        </p:nvSpPr>
        <p:spPr/>
        <p:txBody>
          <a:bodyPr/>
          <a:lstStyle/>
          <a:p>
            <a:fld id="{D57F1E4F-1CFF-5643-939E-217C01CDF565}" type="slidenum">
              <a:rPr lang="en-US" smtClean="0"/>
              <a:pPr/>
              <a:t>46</a:t>
            </a:fld>
            <a:endParaRPr lang="en-US" dirty="0"/>
          </a:p>
        </p:txBody>
      </p:sp>
      <p:sp>
        <p:nvSpPr>
          <p:cNvPr id="7" name="TextBox 6">
            <a:extLst>
              <a:ext uri="{FF2B5EF4-FFF2-40B4-BE49-F238E27FC236}">
                <a16:creationId xmlns:a16="http://schemas.microsoft.com/office/drawing/2014/main" id="{80370CEB-A4D6-4DEF-8743-C74D2E79070F}"/>
              </a:ext>
            </a:extLst>
          </p:cNvPr>
          <p:cNvSpPr txBox="1"/>
          <p:nvPr/>
        </p:nvSpPr>
        <p:spPr>
          <a:xfrm>
            <a:off x="1725123" y="1507998"/>
            <a:ext cx="8928085" cy="662233"/>
          </a:xfrm>
          <a:prstGeom prst="rect">
            <a:avLst/>
          </a:prstGeom>
          <a:noFill/>
        </p:spPr>
        <p:txBody>
          <a:bodyPr wrap="square">
            <a:spAutoFit/>
          </a:bodyPr>
          <a:lstStyle/>
          <a:p>
            <a:pPr lvl="0" algn="just">
              <a:lnSpc>
                <a:spcPct val="107000"/>
              </a:lnSpc>
              <a:spcAft>
                <a:spcPts val="800"/>
              </a:spcAft>
            </a:pPr>
            <a:r>
              <a:rPr lang="en-GB" sz="1800" dirty="0">
                <a:effectLst/>
                <a:ea typeface="DengXian" panose="02010600030101010101" pitchFamily="2" charset="-122"/>
                <a:cs typeface="Times New Roman" panose="02020603050405020304" pitchFamily="18" charset="0"/>
              </a:rPr>
              <a:t>Now look at the following sentences and fill in each blank with an appropriate summary noun.</a:t>
            </a:r>
            <a:endParaRPr lang="en-GB" sz="1600" dirty="0">
              <a:effectLst/>
              <a:ea typeface="DengXian" panose="02010600030101010101" pitchFamily="2" charset="-122"/>
              <a:cs typeface="Times New Roman" panose="02020603050405020304" pitchFamily="18" charset="0"/>
            </a:endParaRPr>
          </a:p>
        </p:txBody>
      </p:sp>
      <p:sp>
        <p:nvSpPr>
          <p:cNvPr id="10" name="TextBox 9">
            <a:extLst>
              <a:ext uri="{FF2B5EF4-FFF2-40B4-BE49-F238E27FC236}">
                <a16:creationId xmlns:a16="http://schemas.microsoft.com/office/drawing/2014/main" id="{A5779C82-3626-47CA-A2CB-754DCA46D1F3}"/>
              </a:ext>
            </a:extLst>
          </p:cNvPr>
          <p:cNvSpPr txBox="1"/>
          <p:nvPr/>
        </p:nvSpPr>
        <p:spPr>
          <a:xfrm>
            <a:off x="1725123" y="2856619"/>
            <a:ext cx="8827538" cy="3084755"/>
          </a:xfrm>
          <a:prstGeom prst="rect">
            <a:avLst/>
          </a:prstGeom>
          <a:noFill/>
        </p:spPr>
        <p:txBody>
          <a:bodyPr wrap="square">
            <a:spAutoFit/>
          </a:bodyPr>
          <a:lstStyle/>
          <a:p>
            <a:pPr marL="342900" lvl="0" indent="-342900" algn="just">
              <a:lnSpc>
                <a:spcPct val="115000"/>
              </a:lnSpc>
              <a:spcAft>
                <a:spcPts val="600"/>
              </a:spcAft>
              <a:buFont typeface="+mj-lt"/>
              <a:buAutoNum type="arabicPeriod" startAt="4"/>
            </a:pPr>
            <a:r>
              <a:rPr lang="en-GB" dirty="0">
                <a:ea typeface="DengXian" panose="02010600030101010101" pitchFamily="2" charset="-122"/>
                <a:cs typeface="Times New Roman" panose="02020603050405020304" pitchFamily="18" charset="0"/>
              </a:rPr>
              <a:t>The local manufacturers have decided they will more strongly support the pollution control of the Environmental Protection Department. This _____________ was a major factor in the drafting of new regulations.</a:t>
            </a:r>
          </a:p>
          <a:p>
            <a:pPr marL="342900" lvl="0" indent="-342900" algn="just">
              <a:lnSpc>
                <a:spcPct val="115000"/>
              </a:lnSpc>
              <a:spcAft>
                <a:spcPts val="600"/>
              </a:spcAft>
              <a:buFont typeface="+mj-lt"/>
              <a:buAutoNum type="arabicPeriod" startAt="4"/>
            </a:pPr>
            <a:r>
              <a:rPr lang="en-GB" dirty="0">
                <a:ea typeface="DengXian" panose="02010600030101010101" pitchFamily="2" charset="-122"/>
                <a:cs typeface="Times New Roman" panose="02020603050405020304" pitchFamily="18" charset="0"/>
              </a:rPr>
              <a:t>Research has revealed that 20 of the 320 known toxic chemicals in the air probably cause more than 2000 cases of cancer annually. While this _____________ may not seem high, it is still a cause for concern.</a:t>
            </a:r>
          </a:p>
          <a:p>
            <a:pPr marL="342900" lvl="0" indent="-342900" algn="just">
              <a:lnSpc>
                <a:spcPct val="115000"/>
              </a:lnSpc>
              <a:spcAft>
                <a:spcPts val="600"/>
              </a:spcAft>
              <a:buFont typeface="+mj-lt"/>
              <a:buAutoNum type="arabicPeriod" startAt="4"/>
            </a:pPr>
            <a:r>
              <a:rPr lang="en-GB" dirty="0">
                <a:ea typeface="DengXian" panose="02010600030101010101" pitchFamily="2" charset="-122"/>
                <a:cs typeface="Times New Roman" panose="02020603050405020304" pitchFamily="18" charset="0"/>
              </a:rPr>
              <a:t>English teachers know that students need to understand the differences between formal and informal language. However, this _________________ cannot usually be acquired quickly.</a:t>
            </a:r>
          </a:p>
        </p:txBody>
      </p:sp>
      <p:sp>
        <p:nvSpPr>
          <p:cNvPr id="4" name="TextBox 3">
            <a:extLst>
              <a:ext uri="{FF2B5EF4-FFF2-40B4-BE49-F238E27FC236}">
                <a16:creationId xmlns:a16="http://schemas.microsoft.com/office/drawing/2014/main" id="{12F73422-A9B6-4BD2-B3B0-1F22598DCB51}"/>
              </a:ext>
            </a:extLst>
          </p:cNvPr>
          <p:cNvSpPr txBox="1"/>
          <p:nvPr/>
        </p:nvSpPr>
        <p:spPr>
          <a:xfrm>
            <a:off x="8882682" y="5180393"/>
            <a:ext cx="1491601" cy="685059"/>
          </a:xfrm>
          <a:prstGeom prst="rect">
            <a:avLst/>
          </a:prstGeom>
          <a:noFill/>
        </p:spPr>
        <p:txBody>
          <a:bodyPr wrap="square">
            <a:spAutoFit/>
          </a:bodyPr>
          <a:lstStyle/>
          <a:p>
            <a:pPr lvl="0" algn="just">
              <a:lnSpc>
                <a:spcPct val="107000"/>
              </a:lnSpc>
              <a:spcAft>
                <a:spcPts val="800"/>
              </a:spcAft>
            </a:pPr>
            <a:r>
              <a:rPr lang="en-GB" dirty="0">
                <a:solidFill>
                  <a:srgbClr val="0070C0"/>
                </a:solidFill>
                <a:ea typeface="DengXian" panose="02010600030101010101" pitchFamily="2" charset="-122"/>
                <a:cs typeface="Times New Roman" panose="02020603050405020304" pitchFamily="18" charset="0"/>
              </a:rPr>
              <a:t>d</a:t>
            </a:r>
            <a:r>
              <a:rPr lang="en-GB" sz="1800" dirty="0">
                <a:solidFill>
                  <a:srgbClr val="0070C0"/>
                </a:solidFill>
                <a:effectLst/>
                <a:ea typeface="DengXian" panose="02010600030101010101" pitchFamily="2" charset="-122"/>
                <a:cs typeface="Times New Roman" panose="02020603050405020304" pitchFamily="18" charset="0"/>
              </a:rPr>
              <a:t>istinction/knowledge</a:t>
            </a:r>
            <a:endParaRPr lang="en-GB" sz="1600" dirty="0">
              <a:solidFill>
                <a:srgbClr val="0070C0"/>
              </a:solidFill>
              <a:effectLst/>
              <a:ea typeface="DengXian" panose="02010600030101010101" pitchFamily="2" charset="-122"/>
              <a:cs typeface="Times New Roman" panose="02020603050405020304" pitchFamily="18" charset="0"/>
            </a:endParaRPr>
          </a:p>
        </p:txBody>
      </p:sp>
      <p:sp>
        <p:nvSpPr>
          <p:cNvPr id="9" name="TextBox 8">
            <a:extLst>
              <a:ext uri="{FF2B5EF4-FFF2-40B4-BE49-F238E27FC236}">
                <a16:creationId xmlns:a16="http://schemas.microsoft.com/office/drawing/2014/main" id="{3E3755C8-6D05-4F63-B7EE-1413EAC62E6D}"/>
              </a:ext>
            </a:extLst>
          </p:cNvPr>
          <p:cNvSpPr txBox="1"/>
          <p:nvPr/>
        </p:nvSpPr>
        <p:spPr>
          <a:xfrm>
            <a:off x="2049682" y="4551225"/>
            <a:ext cx="1796175" cy="365869"/>
          </a:xfrm>
          <a:prstGeom prst="rect">
            <a:avLst/>
          </a:prstGeom>
          <a:noFill/>
        </p:spPr>
        <p:txBody>
          <a:bodyPr wrap="square">
            <a:spAutoFit/>
          </a:bodyPr>
          <a:lstStyle/>
          <a:p>
            <a:pPr lvl="0" algn="just">
              <a:lnSpc>
                <a:spcPct val="107000"/>
              </a:lnSpc>
              <a:spcAft>
                <a:spcPts val="800"/>
              </a:spcAft>
            </a:pPr>
            <a:r>
              <a:rPr lang="en-GB" sz="1800" dirty="0">
                <a:solidFill>
                  <a:srgbClr val="0070C0"/>
                </a:solidFill>
                <a:effectLst/>
                <a:ea typeface="DengXian" panose="02010600030101010101" pitchFamily="2" charset="-122"/>
                <a:cs typeface="Times New Roman" panose="02020603050405020304" pitchFamily="18" charset="0"/>
              </a:rPr>
              <a:t>number/result</a:t>
            </a:r>
            <a:endParaRPr lang="en-GB" sz="1600" dirty="0">
              <a:solidFill>
                <a:srgbClr val="0070C0"/>
              </a:solidFill>
              <a:effectLst/>
              <a:ea typeface="DengXian" panose="02010600030101010101" pitchFamily="2" charset="-122"/>
              <a:cs typeface="Times New Roman" panose="02020603050405020304" pitchFamily="18" charset="0"/>
            </a:endParaRPr>
          </a:p>
        </p:txBody>
      </p:sp>
      <p:sp>
        <p:nvSpPr>
          <p:cNvPr id="13" name="TextBox 12">
            <a:extLst>
              <a:ext uri="{FF2B5EF4-FFF2-40B4-BE49-F238E27FC236}">
                <a16:creationId xmlns:a16="http://schemas.microsoft.com/office/drawing/2014/main" id="{A27E5E64-B7B4-4E7C-9D5C-5E0C0E73AED3}"/>
              </a:ext>
            </a:extLst>
          </p:cNvPr>
          <p:cNvSpPr txBox="1"/>
          <p:nvPr/>
        </p:nvSpPr>
        <p:spPr>
          <a:xfrm>
            <a:off x="2251758" y="3526947"/>
            <a:ext cx="1392024" cy="365869"/>
          </a:xfrm>
          <a:prstGeom prst="rect">
            <a:avLst/>
          </a:prstGeom>
          <a:noFill/>
        </p:spPr>
        <p:txBody>
          <a:bodyPr wrap="square">
            <a:spAutoFit/>
          </a:bodyPr>
          <a:lstStyle/>
          <a:p>
            <a:pPr lvl="0" algn="just">
              <a:lnSpc>
                <a:spcPct val="107000"/>
              </a:lnSpc>
              <a:spcAft>
                <a:spcPts val="800"/>
              </a:spcAft>
            </a:pPr>
            <a:r>
              <a:rPr lang="en-GB" sz="1800" dirty="0">
                <a:solidFill>
                  <a:srgbClr val="0070C0"/>
                </a:solidFill>
                <a:effectLst/>
                <a:ea typeface="DengXian" panose="02010600030101010101" pitchFamily="2" charset="-122"/>
                <a:cs typeface="Times New Roman" panose="02020603050405020304" pitchFamily="18" charset="0"/>
              </a:rPr>
              <a:t>decision</a:t>
            </a:r>
            <a:endParaRPr lang="en-GB" sz="1600" dirty="0">
              <a:solidFill>
                <a:srgbClr val="0070C0"/>
              </a:solidFill>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4017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287279-4795-5349-A983-06DEEB58567F}"/>
              </a:ext>
            </a:extLst>
          </p:cNvPr>
          <p:cNvSpPr>
            <a:spLocks noGrp="1"/>
          </p:cNvSpPr>
          <p:nvPr>
            <p:ph type="sldNum" sz="quarter" idx="12"/>
          </p:nvPr>
        </p:nvSpPr>
        <p:spPr/>
        <p:txBody>
          <a:bodyPr/>
          <a:lstStyle/>
          <a:p>
            <a:fld id="{D57F1E4F-1CFF-5643-939E-217C01CDF565}" type="slidenum">
              <a:rPr lang="en-US" smtClean="0"/>
              <a:pPr/>
              <a:t>47</a:t>
            </a:fld>
            <a:endParaRPr lang="en-US" dirty="0"/>
          </a:p>
        </p:txBody>
      </p:sp>
      <p:sp>
        <p:nvSpPr>
          <p:cNvPr id="9" name="TextBox 8">
            <a:extLst>
              <a:ext uri="{FF2B5EF4-FFF2-40B4-BE49-F238E27FC236}">
                <a16:creationId xmlns:a16="http://schemas.microsoft.com/office/drawing/2014/main" id="{C83404BC-776B-4FBF-9224-1C6BCF75CB6A}"/>
              </a:ext>
            </a:extLst>
          </p:cNvPr>
          <p:cNvSpPr txBox="1"/>
          <p:nvPr/>
        </p:nvSpPr>
        <p:spPr>
          <a:xfrm>
            <a:off x="1311578" y="0"/>
            <a:ext cx="9932681" cy="1415067"/>
          </a:xfrm>
          <a:prstGeom prst="rect">
            <a:avLst/>
          </a:prstGeom>
          <a:noFill/>
        </p:spPr>
        <p:txBody>
          <a:bodyPr wrap="square">
            <a:spAutoFit/>
          </a:bodyPr>
          <a:lstStyle/>
          <a:p>
            <a:pPr marL="228600" algn="just">
              <a:lnSpc>
                <a:spcPct val="115000"/>
              </a:lnSpc>
              <a:spcAft>
                <a:spcPts val="600"/>
              </a:spcAft>
            </a:pPr>
            <a:r>
              <a:rPr lang="en-GB" b="1" dirty="0">
                <a:effectLst/>
                <a:ea typeface="DengXian" panose="02010600030101010101" pitchFamily="2" charset="-122"/>
                <a:cs typeface="Times New Roman" panose="02020603050405020304" pitchFamily="18" charset="0"/>
              </a:rPr>
              <a:t>IV.	Substitution and Ellipsis</a:t>
            </a:r>
          </a:p>
          <a:p>
            <a:pPr marL="228600" algn="just">
              <a:lnSpc>
                <a:spcPct val="115000"/>
              </a:lnSpc>
              <a:spcAft>
                <a:spcPts val="600"/>
              </a:spcAft>
            </a:pPr>
            <a:r>
              <a:rPr lang="en-GB" dirty="0">
                <a:effectLst/>
                <a:ea typeface="DengXian" panose="02010600030101010101" pitchFamily="2" charset="-122"/>
                <a:cs typeface="Times New Roman" panose="02020603050405020304" pitchFamily="18" charset="0"/>
              </a:rPr>
              <a:t>Substitution is the replacement of one item by another and ellipsis is the omission of the item. Substitution is one of the methods of cohesion examined by M.A.K. Halliday and Ruqaiya Hasan in their influential text Cohesion in English (1976).</a:t>
            </a:r>
          </a:p>
        </p:txBody>
      </p:sp>
      <p:sp>
        <p:nvSpPr>
          <p:cNvPr id="8" name="TextBox 7">
            <a:extLst>
              <a:ext uri="{FF2B5EF4-FFF2-40B4-BE49-F238E27FC236}">
                <a16:creationId xmlns:a16="http://schemas.microsoft.com/office/drawing/2014/main" id="{1892DE51-0D1D-4149-80BA-2544BD9080F8}"/>
              </a:ext>
            </a:extLst>
          </p:cNvPr>
          <p:cNvSpPr txBox="1"/>
          <p:nvPr/>
        </p:nvSpPr>
        <p:spPr>
          <a:xfrm>
            <a:off x="1545149" y="1521958"/>
            <a:ext cx="9465538" cy="5439951"/>
          </a:xfrm>
          <a:prstGeom prst="rect">
            <a:avLst/>
          </a:prstGeom>
          <a:noFill/>
        </p:spPr>
        <p:txBody>
          <a:bodyPr wrap="square">
            <a:spAutoFit/>
          </a:bodyPr>
          <a:lstStyle/>
          <a:p>
            <a:pPr marL="396000" indent="-396000" algn="just">
              <a:lnSpc>
                <a:spcPts val="1700"/>
              </a:lnSpc>
              <a:spcAft>
                <a:spcPts val="600"/>
              </a:spcAft>
            </a:pPr>
            <a:r>
              <a:rPr lang="en-GB" dirty="0">
                <a:solidFill>
                  <a:schemeClr val="dk1"/>
                </a:solidFill>
                <a:ea typeface="DengXian" panose="02010600030101010101" pitchFamily="2" charset="-122"/>
                <a:cs typeface="Times New Roman" panose="02020603050405020304" pitchFamily="18" charset="0"/>
              </a:rPr>
              <a:t>•	Substitution in text can be of a </a:t>
            </a:r>
            <a:r>
              <a:rPr lang="en-GB" dirty="0">
                <a:solidFill>
                  <a:srgbClr val="0070C0"/>
                </a:solidFill>
                <a:ea typeface="DengXian" panose="02010600030101010101" pitchFamily="2" charset="-122"/>
                <a:cs typeface="Times New Roman" panose="02020603050405020304" pitchFamily="18" charset="0"/>
              </a:rPr>
              <a:t>noun/noun phrase or clause</a:t>
            </a:r>
            <a:r>
              <a:rPr lang="en-GB" dirty="0">
                <a:solidFill>
                  <a:schemeClr val="dk1"/>
                </a:solidFill>
                <a:ea typeface="DengXian" panose="02010600030101010101" pitchFamily="2" charset="-122"/>
                <a:cs typeface="Times New Roman" panose="02020603050405020304" pitchFamily="18" charset="0"/>
              </a:rPr>
              <a:t>. We replace countable nouns or noun phrases with the pronouns one/ones after adjectives or demonstratives, e.g. The first book was critical, the second </a:t>
            </a:r>
            <a:r>
              <a:rPr lang="en-GB" i="1" dirty="0">
                <a:solidFill>
                  <a:schemeClr val="dk1"/>
                </a:solidFill>
                <a:ea typeface="DengXian" panose="02010600030101010101" pitchFamily="2" charset="-122"/>
                <a:cs typeface="Times New Roman" panose="02020603050405020304" pitchFamily="18" charset="0"/>
              </a:rPr>
              <a:t>one</a:t>
            </a:r>
            <a:r>
              <a:rPr lang="en-GB" dirty="0">
                <a:solidFill>
                  <a:schemeClr val="dk1"/>
                </a:solidFill>
                <a:ea typeface="DengXian" panose="02010600030101010101" pitchFamily="2" charset="-122"/>
                <a:cs typeface="Times New Roman" panose="02020603050405020304" pitchFamily="18" charset="0"/>
              </a:rPr>
              <a:t> was not.</a:t>
            </a:r>
          </a:p>
          <a:p>
            <a:pPr algn="just">
              <a:lnSpc>
                <a:spcPts val="1700"/>
              </a:lnSpc>
              <a:spcAft>
                <a:spcPts val="600"/>
              </a:spcAft>
            </a:pPr>
            <a:endParaRPr lang="en-GB" dirty="0">
              <a:solidFill>
                <a:schemeClr val="dk1"/>
              </a:solidFill>
              <a:ea typeface="DengXian" panose="02010600030101010101" pitchFamily="2" charset="-122"/>
              <a:cs typeface="Times New Roman" panose="02020603050405020304" pitchFamily="18" charset="0"/>
            </a:endParaRPr>
          </a:p>
          <a:p>
            <a:pPr marL="396000" indent="-396000" algn="just">
              <a:lnSpc>
                <a:spcPts val="1700"/>
              </a:lnSpc>
              <a:spcAft>
                <a:spcPts val="600"/>
              </a:spcAft>
            </a:pPr>
            <a:r>
              <a:rPr lang="en-GB" dirty="0">
                <a:solidFill>
                  <a:schemeClr val="dk1"/>
                </a:solidFill>
                <a:ea typeface="DengXian" panose="02010600030101010101" pitchFamily="2" charset="-122"/>
                <a:cs typeface="Times New Roman" panose="02020603050405020304" pitchFamily="18" charset="0"/>
              </a:rPr>
              <a:t>•	Verbs or verb phrases can be substituted by </a:t>
            </a:r>
            <a:r>
              <a:rPr lang="en-GB" dirty="0">
                <a:solidFill>
                  <a:srgbClr val="0070C0"/>
                </a:solidFill>
                <a:ea typeface="DengXian" panose="02010600030101010101" pitchFamily="2" charset="-122"/>
                <a:cs typeface="Times New Roman" panose="02020603050405020304" pitchFamily="18" charset="0"/>
              </a:rPr>
              <a:t>‘do’, </a:t>
            </a:r>
            <a:r>
              <a:rPr lang="en-GB" dirty="0">
                <a:solidFill>
                  <a:schemeClr val="dk1"/>
                </a:solidFill>
                <a:ea typeface="DengXian" panose="02010600030101010101" pitchFamily="2" charset="-122"/>
                <a:cs typeface="Times New Roman" panose="02020603050405020304" pitchFamily="18" charset="0"/>
              </a:rPr>
              <a:t>e.g. The first interviewee responded emphatically to the question, the second one </a:t>
            </a:r>
            <a:r>
              <a:rPr lang="en-GB" i="1" dirty="0">
                <a:solidFill>
                  <a:schemeClr val="dk1"/>
                </a:solidFill>
                <a:ea typeface="DengXian" panose="02010600030101010101" pitchFamily="2" charset="-122"/>
                <a:cs typeface="Times New Roman" panose="02020603050405020304" pitchFamily="18" charset="0"/>
              </a:rPr>
              <a:t>did not</a:t>
            </a:r>
            <a:r>
              <a:rPr lang="en-GB" dirty="0">
                <a:solidFill>
                  <a:schemeClr val="dk1"/>
                </a:solidFill>
                <a:ea typeface="DengXian" panose="02010600030101010101" pitchFamily="2" charset="-122"/>
                <a:cs typeface="Times New Roman" panose="02020603050405020304" pitchFamily="18" charset="0"/>
              </a:rPr>
              <a:t>.</a:t>
            </a:r>
          </a:p>
          <a:p>
            <a:pPr algn="just">
              <a:lnSpc>
                <a:spcPts val="1700"/>
              </a:lnSpc>
              <a:spcAft>
                <a:spcPts val="600"/>
              </a:spcAft>
            </a:pPr>
            <a:endParaRPr lang="en-GB" dirty="0">
              <a:solidFill>
                <a:schemeClr val="dk1"/>
              </a:solidFill>
              <a:ea typeface="DengXian" panose="02010600030101010101" pitchFamily="2" charset="-122"/>
              <a:cs typeface="Times New Roman" panose="02020603050405020304" pitchFamily="18" charset="0"/>
            </a:endParaRPr>
          </a:p>
          <a:p>
            <a:pPr marL="396000" indent="-396000" algn="just">
              <a:lnSpc>
                <a:spcPts val="1700"/>
              </a:lnSpc>
              <a:spcAft>
                <a:spcPts val="600"/>
              </a:spcAft>
            </a:pPr>
            <a:r>
              <a:rPr lang="en-GB" dirty="0">
                <a:solidFill>
                  <a:schemeClr val="dk1"/>
                </a:solidFill>
                <a:ea typeface="DengXian" panose="02010600030101010101" pitchFamily="2" charset="-122"/>
                <a:cs typeface="Times New Roman" panose="02020603050405020304" pitchFamily="18" charset="0"/>
              </a:rPr>
              <a:t>•	A verb or verb phrase can also be substituted by </a:t>
            </a:r>
            <a:r>
              <a:rPr lang="en-GB" dirty="0">
                <a:solidFill>
                  <a:srgbClr val="0070C0"/>
                </a:solidFill>
                <a:ea typeface="DengXian" panose="02010600030101010101" pitchFamily="2" charset="-122"/>
                <a:cs typeface="Times New Roman" panose="02020603050405020304" pitchFamily="18" charset="0"/>
              </a:rPr>
              <a:t>‘do so/it/that’, </a:t>
            </a:r>
            <a:r>
              <a:rPr lang="en-GB" dirty="0">
                <a:solidFill>
                  <a:schemeClr val="dk1"/>
                </a:solidFill>
                <a:ea typeface="DengXian" panose="02010600030101010101" pitchFamily="2" charset="-122"/>
                <a:cs typeface="Times New Roman" panose="02020603050405020304" pitchFamily="18" charset="0"/>
              </a:rPr>
              <a:t>e.g. Many people would like to smoke in public places, but they are banned from </a:t>
            </a:r>
            <a:r>
              <a:rPr lang="en-GB" i="1" dirty="0">
                <a:solidFill>
                  <a:schemeClr val="dk1"/>
                </a:solidFill>
                <a:ea typeface="DengXian" panose="02010600030101010101" pitchFamily="2" charset="-122"/>
                <a:cs typeface="Times New Roman" panose="02020603050405020304" pitchFamily="18" charset="0"/>
              </a:rPr>
              <a:t>doing so.</a:t>
            </a:r>
          </a:p>
          <a:p>
            <a:pPr algn="just">
              <a:lnSpc>
                <a:spcPts val="1700"/>
              </a:lnSpc>
              <a:spcAft>
                <a:spcPts val="600"/>
              </a:spcAft>
            </a:pPr>
            <a:endParaRPr lang="en-GB" dirty="0">
              <a:solidFill>
                <a:schemeClr val="dk1"/>
              </a:solidFill>
              <a:ea typeface="DengXian" panose="02010600030101010101" pitchFamily="2" charset="-122"/>
              <a:cs typeface="Times New Roman" panose="02020603050405020304" pitchFamily="18" charset="0"/>
            </a:endParaRPr>
          </a:p>
          <a:p>
            <a:pPr marL="396000" indent="-396000" algn="just">
              <a:lnSpc>
                <a:spcPts val="1700"/>
              </a:lnSpc>
              <a:spcAft>
                <a:spcPts val="600"/>
              </a:spcAft>
            </a:pPr>
            <a:r>
              <a:rPr lang="en-GB" dirty="0">
                <a:solidFill>
                  <a:schemeClr val="dk1"/>
                </a:solidFill>
                <a:ea typeface="DengXian" panose="02010600030101010101" pitchFamily="2" charset="-122"/>
                <a:cs typeface="Times New Roman" panose="02020603050405020304" pitchFamily="18" charset="0"/>
              </a:rPr>
              <a:t>•	If clauses can be replaced by </a:t>
            </a:r>
            <a:r>
              <a:rPr lang="en-GB" dirty="0">
                <a:solidFill>
                  <a:srgbClr val="0070C0"/>
                </a:solidFill>
                <a:ea typeface="DengXian" panose="02010600030101010101" pitchFamily="2" charset="-122"/>
                <a:cs typeface="Times New Roman" panose="02020603050405020304" pitchFamily="18" charset="0"/>
              </a:rPr>
              <a:t>‘if so’ or ‘if not’, </a:t>
            </a:r>
            <a:r>
              <a:rPr lang="en-GB" dirty="0">
                <a:solidFill>
                  <a:schemeClr val="dk1"/>
                </a:solidFill>
                <a:ea typeface="DengXian" panose="02010600030101010101" pitchFamily="2" charset="-122"/>
                <a:cs typeface="Times New Roman" panose="02020603050405020304" pitchFamily="18" charset="0"/>
              </a:rPr>
              <a:t>e.g. This paper expects subjects to be more confident in English after an academic writing course; </a:t>
            </a:r>
            <a:r>
              <a:rPr lang="en-GB" i="1" dirty="0">
                <a:solidFill>
                  <a:schemeClr val="dk1"/>
                </a:solidFill>
                <a:ea typeface="DengXian" panose="02010600030101010101" pitchFamily="2" charset="-122"/>
                <a:cs typeface="Times New Roman" panose="02020603050405020304" pitchFamily="18" charset="0"/>
              </a:rPr>
              <a:t>if not</a:t>
            </a:r>
            <a:r>
              <a:rPr lang="en-GB" dirty="0">
                <a:solidFill>
                  <a:schemeClr val="dk1"/>
                </a:solidFill>
                <a:ea typeface="DengXian" panose="02010600030101010101" pitchFamily="2" charset="-122"/>
                <a:cs typeface="Times New Roman" panose="02020603050405020304" pitchFamily="18" charset="0"/>
              </a:rPr>
              <a:t>, suggestions will be given to improve individually.</a:t>
            </a:r>
          </a:p>
          <a:p>
            <a:pPr algn="just">
              <a:lnSpc>
                <a:spcPts val="1700"/>
              </a:lnSpc>
              <a:spcAft>
                <a:spcPts val="600"/>
              </a:spcAft>
            </a:pPr>
            <a:endParaRPr lang="en-GB" dirty="0">
              <a:solidFill>
                <a:schemeClr val="dk1"/>
              </a:solidFill>
              <a:ea typeface="DengXian" panose="02010600030101010101" pitchFamily="2" charset="-122"/>
              <a:cs typeface="Times New Roman" panose="02020603050405020304" pitchFamily="18" charset="0"/>
            </a:endParaRPr>
          </a:p>
          <a:p>
            <a:pPr marL="396000" indent="-396000" algn="just">
              <a:lnSpc>
                <a:spcPts val="1700"/>
              </a:lnSpc>
              <a:spcAft>
                <a:spcPts val="600"/>
              </a:spcAft>
            </a:pPr>
            <a:r>
              <a:rPr lang="en-GB" dirty="0">
                <a:solidFill>
                  <a:schemeClr val="dk1"/>
                </a:solidFill>
                <a:ea typeface="DengXian" panose="02010600030101010101" pitchFamily="2" charset="-122"/>
                <a:cs typeface="Times New Roman" panose="02020603050405020304" pitchFamily="18" charset="0"/>
              </a:rPr>
              <a:t>•	Ellipsis is the </a:t>
            </a:r>
            <a:r>
              <a:rPr lang="en-GB" dirty="0">
                <a:solidFill>
                  <a:srgbClr val="0070C0"/>
                </a:solidFill>
                <a:ea typeface="DengXian" panose="02010600030101010101" pitchFamily="2" charset="-122"/>
                <a:cs typeface="Times New Roman" panose="02020603050405020304" pitchFamily="18" charset="0"/>
              </a:rPr>
              <a:t>omission of a noun/pronoun, verb, infinitive or </a:t>
            </a:r>
            <a:r>
              <a:rPr lang="en-GB" dirty="0" err="1">
                <a:solidFill>
                  <a:srgbClr val="0070C0"/>
                </a:solidFill>
                <a:ea typeface="DengXian" panose="02010600030101010101" pitchFamily="2" charset="-122"/>
                <a:cs typeface="Times New Roman" panose="02020603050405020304" pitchFamily="18" charset="0"/>
              </a:rPr>
              <a:t>wh</a:t>
            </a:r>
            <a:r>
              <a:rPr lang="en-GB" dirty="0">
                <a:solidFill>
                  <a:srgbClr val="0070C0"/>
                </a:solidFill>
                <a:ea typeface="DengXian" panose="02010600030101010101" pitchFamily="2" charset="-122"/>
                <a:cs typeface="Times New Roman" panose="02020603050405020304" pitchFamily="18" charset="0"/>
              </a:rPr>
              <a:t>- clause</a:t>
            </a:r>
            <a:r>
              <a:rPr lang="en-GB" dirty="0">
                <a:solidFill>
                  <a:schemeClr val="dk1"/>
                </a:solidFill>
                <a:ea typeface="DengXian" panose="02010600030101010101" pitchFamily="2" charset="-122"/>
                <a:cs typeface="Times New Roman" panose="02020603050405020304" pitchFamily="18" charset="0"/>
              </a:rPr>
              <a:t>. The noun or pronoun is often left out in the second of two coordinate clauses, e.g. I investigated climate change and </a:t>
            </a:r>
            <a:r>
              <a:rPr lang="en-GB" i="1" dirty="0">
                <a:solidFill>
                  <a:schemeClr val="dk1"/>
                </a:solidFill>
                <a:ea typeface="DengXian" panose="02010600030101010101" pitchFamily="2" charset="-122"/>
                <a:cs typeface="Times New Roman" panose="02020603050405020304" pitchFamily="18" charset="0"/>
              </a:rPr>
              <a:t>(I)</a:t>
            </a:r>
            <a:r>
              <a:rPr lang="en-GB" dirty="0">
                <a:solidFill>
                  <a:schemeClr val="dk1"/>
                </a:solidFill>
                <a:ea typeface="DengXian" panose="02010600030101010101" pitchFamily="2" charset="-122"/>
                <a:cs typeface="Times New Roman" panose="02020603050405020304" pitchFamily="18" charset="0"/>
              </a:rPr>
              <a:t> examined the impact on land resources.</a:t>
            </a:r>
          </a:p>
          <a:p>
            <a:pPr algn="just">
              <a:lnSpc>
                <a:spcPts val="1700"/>
              </a:lnSpc>
              <a:spcAft>
                <a:spcPts val="600"/>
              </a:spcAft>
            </a:pPr>
            <a:endParaRPr lang="en-GB" dirty="0">
              <a:solidFill>
                <a:schemeClr val="dk1"/>
              </a:solidFill>
              <a:ea typeface="DengXian" panose="02010600030101010101" pitchFamily="2" charset="-122"/>
              <a:cs typeface="Times New Roman" panose="02020603050405020304" pitchFamily="18" charset="0"/>
            </a:endParaRPr>
          </a:p>
          <a:p>
            <a:pPr marL="396000" indent="-396000" algn="just">
              <a:lnSpc>
                <a:spcPts val="1700"/>
              </a:lnSpc>
              <a:spcAft>
                <a:spcPts val="600"/>
              </a:spcAft>
            </a:pPr>
            <a:r>
              <a:rPr lang="en-GB" dirty="0">
                <a:solidFill>
                  <a:schemeClr val="dk1"/>
                </a:solidFill>
                <a:ea typeface="DengXian" panose="02010600030101010101" pitchFamily="2" charset="-122"/>
                <a:cs typeface="Times New Roman" panose="02020603050405020304" pitchFamily="18" charset="0"/>
              </a:rPr>
              <a:t>•	Although not the case for modals and auxiliaries, </a:t>
            </a:r>
            <a:r>
              <a:rPr lang="en-GB" dirty="0">
                <a:solidFill>
                  <a:srgbClr val="0070C0"/>
                </a:solidFill>
                <a:ea typeface="DengXian" panose="02010600030101010101" pitchFamily="2" charset="-122"/>
                <a:cs typeface="Times New Roman" panose="02020603050405020304" pitchFamily="18" charset="0"/>
              </a:rPr>
              <a:t>verbs can be omitted </a:t>
            </a:r>
            <a:r>
              <a:rPr lang="en-GB" dirty="0">
                <a:solidFill>
                  <a:schemeClr val="dk1"/>
                </a:solidFill>
                <a:ea typeface="DengXian" panose="02010600030101010101" pitchFamily="2" charset="-122"/>
                <a:cs typeface="Times New Roman" panose="02020603050405020304" pitchFamily="18" charset="0"/>
              </a:rPr>
              <a:t>to avoid repeating them, e.g. Coffee appeals to some, tea </a:t>
            </a:r>
            <a:r>
              <a:rPr lang="en-GB" i="1" dirty="0">
                <a:solidFill>
                  <a:schemeClr val="dk1"/>
                </a:solidFill>
                <a:ea typeface="DengXian" panose="02010600030101010101" pitchFamily="2" charset="-122"/>
                <a:cs typeface="Times New Roman" panose="02020603050405020304" pitchFamily="18" charset="0"/>
              </a:rPr>
              <a:t>(appeals) </a:t>
            </a:r>
            <a:r>
              <a:rPr lang="en-GB" dirty="0">
                <a:solidFill>
                  <a:schemeClr val="dk1"/>
                </a:solidFill>
                <a:ea typeface="DengXian" panose="02010600030101010101" pitchFamily="2" charset="-122"/>
                <a:cs typeface="Times New Roman" panose="02020603050405020304" pitchFamily="18" charset="0"/>
              </a:rPr>
              <a:t>to others.</a:t>
            </a:r>
          </a:p>
        </p:txBody>
      </p:sp>
    </p:spTree>
    <p:extLst>
      <p:ext uri="{BB962C8B-B14F-4D97-AF65-F5344CB8AC3E}">
        <p14:creationId xmlns:p14="http://schemas.microsoft.com/office/powerpoint/2010/main" val="24291250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BE5400CADFA0469A091337646547C3" ma:contentTypeVersion="20" ma:contentTypeDescription="Create a new document." ma:contentTypeScope="" ma:versionID="b78887411d6cc3e631e7bada18af1c54">
  <xsd:schema xmlns:xsd="http://www.w3.org/2001/XMLSchema" xmlns:xs="http://www.w3.org/2001/XMLSchema" xmlns:p="http://schemas.microsoft.com/office/2006/metadata/properties" xmlns:ns3="30d3476f-ec53-4671-8980-d10767fdaaec" xmlns:ns4="4b97df95-d6ed-4c71-86d4-bf7c4bd3aaf0" targetNamespace="http://schemas.microsoft.com/office/2006/metadata/properties" ma:root="true" ma:fieldsID="71dd77aa0cbb7db7c0126b2e9affe4ae" ns3:_="" ns4:_="">
    <xsd:import namespace="30d3476f-ec53-4671-8980-d10767fdaaec"/>
    <xsd:import namespace="4b97df95-d6ed-4c71-86d4-bf7c4bd3aaf0"/>
    <xsd:element name="properties">
      <xsd:complexType>
        <xsd:sequence>
          <xsd:element name="documentManagement">
            <xsd:complexType>
              <xsd:all>
                <xsd:element ref="ns3:MigrationWizId" minOccurs="0"/>
                <xsd:element ref="ns3:MigrationWizIdPermissions" minOccurs="0"/>
                <xsd:element ref="ns3:MigrationWizIdVersion"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LengthInSecond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3476f-ec53-4671-8980-d10767fdaae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20" nillable="true" ma:displayName="Tags" ma:internalName="MediaServiceAutoTag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ternalName="MediaServiceLocation" ma:readOnly="true">
      <xsd:simpleType>
        <xsd:restriction base="dms:Text"/>
      </xsd:simpleType>
    </xsd:element>
    <xsd:element name="_activity" ma:index="25" nillable="true" ma:displayName="_activity" ma:hidden="true" ma:internalName="_activity">
      <xsd:simpleType>
        <xsd:restriction base="dms:Note"/>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97df95-d6ed-4c71-86d4-bf7c4bd3aaf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igrationWizId xmlns="30d3476f-ec53-4671-8980-d10767fdaaec" xsi:nil="true"/>
    <MigrationWizIdPermissions xmlns="30d3476f-ec53-4671-8980-d10767fdaaec" xsi:nil="true"/>
    <_activity xmlns="30d3476f-ec53-4671-8980-d10767fdaaec" xsi:nil="true"/>
    <MigrationWizIdVersion xmlns="30d3476f-ec53-4671-8980-d10767fdaae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A85040-7556-4C3C-BA10-9126E5C323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d3476f-ec53-4671-8980-d10767fdaaec"/>
    <ds:schemaRef ds:uri="4b97df95-d6ed-4c71-86d4-bf7c4bd3aa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A3C98A6-5CB9-4A4E-B340-2F8E9C79B0BC}">
  <ds:schemaRefs>
    <ds:schemaRef ds:uri="http://schemas.microsoft.com/office/2006/documentManagement/types"/>
    <ds:schemaRef ds:uri="http://www.w3.org/XML/1998/namespace"/>
    <ds:schemaRef ds:uri="http://purl.org/dc/elements/1.1/"/>
    <ds:schemaRef ds:uri="30d3476f-ec53-4671-8980-d10767fdaaec"/>
    <ds:schemaRef ds:uri="http://schemas.microsoft.com/office/2006/metadata/properties"/>
    <ds:schemaRef ds:uri="http://schemas.microsoft.com/office/infopath/2007/PartnerControls"/>
    <ds:schemaRef ds:uri="http://schemas.openxmlformats.org/package/2006/metadata/core-properties"/>
    <ds:schemaRef ds:uri="4b97df95-d6ed-4c71-86d4-bf7c4bd3aaf0"/>
    <ds:schemaRef ds:uri="http://purl.org/dc/dcmitype/"/>
    <ds:schemaRef ds:uri="http://purl.org/dc/terms/"/>
  </ds:schemaRefs>
</ds:datastoreItem>
</file>

<file path=customXml/itemProps3.xml><?xml version="1.0" encoding="utf-8"?>
<ds:datastoreItem xmlns:ds="http://schemas.openxmlformats.org/officeDocument/2006/customXml" ds:itemID="{372B2550-1B51-4248-AF62-F288CEC0EE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2661</TotalTime>
  <Words>5294</Words>
  <Application>Microsoft Office PowerPoint</Application>
  <PresentationFormat>Widescreen</PresentationFormat>
  <Paragraphs>385</Paragraphs>
  <Slides>47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DengXian</vt:lpstr>
      <vt:lpstr>PMingLiU</vt:lpstr>
      <vt:lpstr>Arial</vt:lpstr>
      <vt:lpstr>Calibri</vt:lpstr>
      <vt:lpstr>Century Gothic</vt:lpstr>
      <vt:lpstr>Symbol</vt:lpstr>
      <vt:lpstr>Times New Roman</vt:lpstr>
      <vt:lpstr>Wingdings 3</vt:lpstr>
      <vt:lpstr>Wisp</vt:lpstr>
      <vt:lpstr>MCCP6020 Advanced English for Academic Purposes</vt:lpstr>
      <vt:lpstr>Learning Outcomes</vt:lpstr>
      <vt:lpstr>Warm-up Task</vt:lpstr>
      <vt:lpstr>PowerPoint Presentation</vt:lpstr>
      <vt:lpstr>Task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2</vt:lpstr>
      <vt:lpstr>PowerPoint Presentation</vt:lpstr>
      <vt:lpstr>PowerPoint Presentation</vt:lpstr>
      <vt:lpstr>Task 3</vt:lpstr>
      <vt:lpstr>PowerPoint Presentation</vt:lpstr>
      <vt:lpstr>PowerPoint Presentation</vt:lpstr>
      <vt:lpstr>PowerPoint Presentation</vt:lpstr>
      <vt:lpstr>HKBU Student Theses and Dissertations</vt:lpstr>
      <vt:lpstr>Task 4</vt:lpstr>
      <vt:lpstr>PowerPoint Presentation</vt:lpstr>
      <vt:lpstr>PowerPoint Presentation</vt:lpstr>
      <vt:lpstr> Part 1: Have a look at the titles of a few papers that you have been reading. What are some features of a good title?</vt:lpstr>
      <vt:lpstr>Steps for Creating a Research Paper Title</vt:lpstr>
      <vt:lpstr>PowerPoint Presentation</vt:lpstr>
      <vt:lpstr>Task 6</vt:lpstr>
      <vt:lpstr>Task 6</vt:lpstr>
      <vt:lpstr>Task 6</vt:lpstr>
      <vt:lpstr>Task 6</vt:lpstr>
      <vt:lpstr>Task 6</vt:lpstr>
      <vt:lpstr>PowerPoint Presentation</vt:lpstr>
      <vt:lpstr>PowerPoint Presentation</vt:lpstr>
      <vt:lpstr>Cohesion – Practice Task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Task 8</vt:lpstr>
      <vt:lpstr>Task 8</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MCCP7020 Advanced English for Academic Purposes</dc:title>
  <dc:creator>Law Yuen Yi</dc:creator>
  <cp:lastModifiedBy>Yuen Yi LAW</cp:lastModifiedBy>
  <cp:revision>205</cp:revision>
  <dcterms:created xsi:type="dcterms:W3CDTF">2020-08-06T15:26:08Z</dcterms:created>
  <dcterms:modified xsi:type="dcterms:W3CDTF">2025-10-04T06:31:24Z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0x0101006CBE5400CADFA0469A091337646547C3</vt:lpwstr>
  </property>
</Properties>
</file>